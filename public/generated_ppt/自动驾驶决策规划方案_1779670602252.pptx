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2571750"/>
          </a:xfrm>
          <a:prstGeom prst="rect">
            <a:avLst/>
          </a:prstGeom>
          <a:solidFill>
            <a:srgbClr val="47ACC5"/>
          </a:solidFill>
          <a:ln/>
        </p:spPr>
      </p:sp>
      <p:sp>
        <p:nvSpPr>
          <p:cNvPr id="3" name="Shape 1"/>
          <p:cNvSpPr/>
          <p:nvPr/>
        </p:nvSpPr>
        <p:spPr>
          <a:xfrm>
            <a:off x="0" y="2571750"/>
            <a:ext cx="9144000" cy="2571750"/>
          </a:xfrm>
          <a:prstGeom prst="rect">
            <a:avLst/>
          </a:prstGeom>
          <a:solidFill>
            <a:srgbClr val="F2F2F2"/>
          </a:solidFill>
          <a:ln/>
        </p:spPr>
      </p:sp>
      <p:sp>
        <p:nvSpPr>
          <p:cNvPr id="4" name="Shape 2"/>
          <p:cNvSpPr/>
          <p:nvPr/>
        </p:nvSpPr>
        <p:spPr>
          <a:xfrm>
            <a:off x="365760" y="356616"/>
            <a:ext cx="8412480" cy="4407408"/>
          </a:xfrm>
          <a:prstGeom prst="roundRect">
            <a:avLst>
              <a:gd name="adj" fmla="val 2635"/>
            </a:avLst>
          </a:prstGeom>
          <a:solidFill>
            <a:srgbClr val="FFFFFF"/>
          </a:solidFill>
          <a:ln/>
          <a:effectLst>
            <a:outerShdw sx="100000" sy="100000" kx="0" ky="0" algn="bl" rotWithShape="0" blurRad="76200" dist="38100" dir="16200000">
              <a:srgbClr val="808080">
                <a:alpha val="20000"/>
              </a:srgbClr>
            </a:outerShdw>
          </a:effectLst>
        </p:spPr>
      </p:sp>
      <p:sp>
        <p:nvSpPr>
          <p:cNvPr id="5" name="Text 3"/>
          <p:cNvSpPr/>
          <p:nvPr/>
        </p:nvSpPr>
        <p:spPr>
          <a:xfrm>
            <a:off x="822960" y="1426464"/>
            <a:ext cx="7498080" cy="923544"/>
          </a:xfrm>
          <a:prstGeom prst="rect">
            <a:avLst/>
          </a:prstGeom>
          <a:noFill/>
          <a:ln/>
        </p:spPr>
        <p:txBody>
          <a:bodyPr wrap="square" rtlCol="0" anchor="ctr"/>
          <a:lstStyle/>
          <a:p>
            <a:pPr algn="ctr" indent="0" marL="0">
              <a:buNone/>
            </a:pPr>
            <a:r>
              <a:rPr lang="en-US" sz="4100" b="1" dirty="0">
                <a:solidFill>
                  <a:srgbClr val="000000"/>
                </a:solidFill>
                <a:latin typeface="Microsoft YaHei" pitchFamily="34" charset="0"/>
                <a:ea typeface="Microsoft YaHei" pitchFamily="34" charset="-122"/>
                <a:cs typeface="Microsoft YaHei" pitchFamily="34" charset="-120"/>
              </a:rPr>
              <a:t>面向量产/示范运营的自动驾驶决策规划系统</a:t>
            </a:r>
            <a:endParaRPr lang="en-US" sz="4100" dirty="0"/>
          </a:p>
        </p:txBody>
      </p:sp>
      <p:sp>
        <p:nvSpPr>
          <p:cNvPr id="6" name="Text 4"/>
          <p:cNvSpPr/>
          <p:nvPr/>
        </p:nvSpPr>
        <p:spPr>
          <a:xfrm>
            <a:off x="822960" y="2552336"/>
            <a:ext cx="7498080" cy="621792"/>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模板封面正文模板封面正文模板封面正文模板封面正文模板封面正文模板封面正文模板封面正文模板封面正文模板封面正文模板封面正文模板封面正文模板封面正文模板封面正文</a:t>
            </a:r>
            <a:endParaRPr lang="en-US" sz="1200" dirty="0"/>
          </a:p>
        </p:txBody>
      </p:sp>
      <p:sp>
        <p:nvSpPr>
          <p:cNvPr id="7" name="Shape 5"/>
          <p:cNvSpPr/>
          <p:nvPr/>
        </p:nvSpPr>
        <p:spPr>
          <a:xfrm>
            <a:off x="0" y="4038633"/>
            <a:ext cx="9144000" cy="1355872"/>
          </a:xfrm>
          <a:prstGeom prst="rect">
            <a:avLst/>
          </a:prstGeom>
          <a:solidFill>
            <a:srgbClr val="47ACC5"/>
          </a:solidFill>
          <a:ln/>
        </p:spPr>
      </p:sp>
      <p:sp>
        <p:nvSpPr>
          <p:cNvPr id="8" name="Shape 6"/>
          <p:cNvSpPr/>
          <p:nvPr/>
        </p:nvSpPr>
        <p:spPr>
          <a:xfrm>
            <a:off x="3497472" y="2398940"/>
            <a:ext cx="18288" cy="9144"/>
          </a:xfrm>
          <a:prstGeom prst="line">
            <a:avLst/>
          </a:prstGeom>
          <a:noFill/>
          <a:ln w="25400">
            <a:solidFill>
              <a:srgbClr val="47ACC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8306749" y="0"/>
            <a:ext cx="4820125" cy="5143500"/>
          </a:xfrm>
          <a:prstGeom prst="rect">
            <a:avLst/>
          </a:prstGeom>
          <a:solidFill>
            <a:srgbClr val="47ACC5"/>
          </a:solidFill>
          <a:ln/>
        </p:spPr>
      </p:sp>
      <p:sp>
        <p:nvSpPr>
          <p:cNvPr id="3" name="Shape 1"/>
          <p:cNvSpPr/>
          <p:nvPr/>
        </p:nvSpPr>
        <p:spPr>
          <a:xfrm>
            <a:off x="-1119272" y="0"/>
            <a:ext cx="4820125" cy="5143500"/>
          </a:xfrm>
          <a:prstGeom prst="rect">
            <a:avLst/>
          </a:prstGeom>
          <a:solidFill>
            <a:srgbClr val="47ACC5"/>
          </a:solidFill>
          <a:ln/>
        </p:spPr>
      </p:sp>
      <p:sp>
        <p:nvSpPr>
          <p:cNvPr id="4" name="Text 2"/>
          <p:cNvSpPr/>
          <p:nvPr/>
        </p:nvSpPr>
        <p:spPr>
          <a:xfrm>
            <a:off x="1114569" y="1565910"/>
            <a:ext cx="1355872" cy="1005840"/>
          </a:xfrm>
          <a:prstGeom prst="rect">
            <a:avLst/>
          </a:prstGeom>
          <a:noFill/>
          <a:ln/>
        </p:spPr>
        <p:txBody>
          <a:bodyPr wrap="square" rtlCol="0" anchor="ctr"/>
          <a:lstStyle/>
          <a:p>
            <a:pPr algn="ctr" indent="0" marL="0">
              <a:buNone/>
            </a:pPr>
            <a:r>
              <a:rPr lang="en-US" sz="4500" dirty="0">
                <a:solidFill>
                  <a:srgbClr val="FFFFFF"/>
                </a:solidFill>
                <a:latin typeface="Microsoft YaHei" pitchFamily="34" charset="0"/>
                <a:ea typeface="Microsoft YaHei" pitchFamily="34" charset="-122"/>
                <a:cs typeface="Microsoft YaHei" pitchFamily="34" charset="-120"/>
              </a:rPr>
              <a:t>目录</a:t>
            </a:r>
            <a:endParaRPr lang="en-US" sz="4500" dirty="0"/>
          </a:p>
        </p:txBody>
      </p:sp>
      <p:sp>
        <p:nvSpPr>
          <p:cNvPr id="5" name="Shape 3"/>
          <p:cNvSpPr/>
          <p:nvPr/>
        </p:nvSpPr>
        <p:spPr>
          <a:xfrm>
            <a:off x="1409471" y="2571750"/>
            <a:ext cx="18288" cy="9144"/>
          </a:xfrm>
          <a:prstGeom prst="line">
            <a:avLst/>
          </a:prstGeom>
          <a:noFill/>
          <a:ln w="25400">
            <a:solidFill>
              <a:srgbClr val="FFFFFF"/>
            </a:solidFill>
            <a:prstDash val="solid"/>
          </a:ln>
        </p:spPr>
      </p:sp>
      <p:sp>
        <p:nvSpPr>
          <p:cNvPr id="6" name="Text 4"/>
          <p:cNvSpPr/>
          <p:nvPr/>
        </p:nvSpPr>
        <p:spPr>
          <a:xfrm>
            <a:off x="609507" y="2636217"/>
            <a:ext cx="2365996" cy="621792"/>
          </a:xfrm>
          <a:prstGeom prst="rect">
            <a:avLst/>
          </a:prstGeom>
          <a:noFill/>
          <a:ln/>
        </p:spPr>
        <p:txBody>
          <a:bodyPr wrap="square" rtlCol="0" anchor="ctr"/>
          <a:lstStyle/>
          <a:p>
            <a:pPr algn="ctr" indent="0" marL="0">
              <a:buNone/>
            </a:pPr>
            <a:r>
              <a:rPr lang="en-US" sz="2400" dirty="0">
                <a:solidFill>
                  <a:srgbClr val="FFFFFF"/>
                </a:solidFill>
                <a:latin typeface="Microsoft YaHei" pitchFamily="34" charset="0"/>
                <a:ea typeface="Microsoft YaHei" pitchFamily="34" charset="-122"/>
                <a:cs typeface="Microsoft YaHei" pitchFamily="34" charset="-120"/>
              </a:rPr>
              <a:t>CONTENTS</a:t>
            </a:r>
            <a:endParaRPr lang="en-US" sz="2400" dirty="0"/>
          </a:p>
        </p:txBody>
      </p:sp>
      <p:sp>
        <p:nvSpPr>
          <p:cNvPr id="7" name="Shape 5"/>
          <p:cNvSpPr/>
          <p:nvPr/>
        </p:nvSpPr>
        <p:spPr>
          <a:xfrm>
            <a:off x="4694071" y="1913628"/>
            <a:ext cx="18288" cy="9144"/>
          </a:xfrm>
          <a:prstGeom prst="line">
            <a:avLst/>
          </a:prstGeom>
          <a:noFill/>
          <a:ln w="25400">
            <a:solidFill>
              <a:srgbClr val="969696"/>
            </a:solidFill>
            <a:prstDash val="solid"/>
          </a:ln>
        </p:spPr>
      </p:sp>
      <p:sp>
        <p:nvSpPr>
          <p:cNvPr id="8" name="Shape 6"/>
          <p:cNvSpPr/>
          <p:nvPr/>
        </p:nvSpPr>
        <p:spPr>
          <a:xfrm>
            <a:off x="4694071" y="2951918"/>
            <a:ext cx="18288" cy="9144"/>
          </a:xfrm>
          <a:prstGeom prst="line">
            <a:avLst/>
          </a:prstGeom>
          <a:noFill/>
          <a:ln w="25400">
            <a:solidFill>
              <a:srgbClr val="969696"/>
            </a:solidFill>
            <a:prstDash val="solid"/>
          </a:ln>
        </p:spPr>
      </p:sp>
      <p:sp>
        <p:nvSpPr>
          <p:cNvPr id="9" name="Text 7"/>
          <p:cNvSpPr/>
          <p:nvPr/>
        </p:nvSpPr>
        <p:spPr>
          <a:xfrm>
            <a:off x="4802541" y="1810289"/>
            <a:ext cx="3457473" cy="484632"/>
          </a:xfrm>
          <a:prstGeom prst="rect">
            <a:avLst/>
          </a:prstGeom>
          <a:noFill/>
          <a:ln/>
        </p:spPr>
        <p:txBody>
          <a:bodyPr wrap="square" rtlCol="0" anchor="ctr"/>
          <a:lstStyle/>
          <a:p>
            <a:pPr algn="l" indent="0" marL="0">
              <a:buNone/>
            </a:pPr>
            <a:r>
              <a:rPr lang="en-US" sz="1700" dirty="0">
                <a:solidFill>
                  <a:srgbClr val="000000"/>
                </a:solidFill>
                <a:latin typeface="Microsoft YaHei" pitchFamily="34" charset="0"/>
                <a:ea typeface="Microsoft YaHei" pitchFamily="34" charset="-122"/>
                <a:cs typeface="Microsoft YaHei" pitchFamily="34" charset="-120"/>
              </a:rPr>
              <a:t>项目背景与目标</a:t>
            </a:r>
            <a:endParaRPr lang="en-US" sz="1700" dirty="0"/>
          </a:p>
        </p:txBody>
      </p:sp>
      <p:sp>
        <p:nvSpPr>
          <p:cNvPr id="10" name="Text 8"/>
          <p:cNvSpPr/>
          <p:nvPr/>
        </p:nvSpPr>
        <p:spPr>
          <a:xfrm>
            <a:off x="3948341" y="1686845"/>
            <a:ext cx="671157" cy="731520"/>
          </a:xfrm>
          <a:prstGeom prst="rect">
            <a:avLst/>
          </a:prstGeom>
          <a:noFill/>
          <a:ln/>
        </p:spPr>
        <p:txBody>
          <a:bodyPr wrap="square" rtlCol="0" anchor="ctr"/>
          <a:lstStyle/>
          <a:p>
            <a:pPr algn="ctr" indent="0" marL="0">
              <a:buNone/>
            </a:pPr>
            <a:r>
              <a:rPr lang="en-US" sz="3000" b="1" dirty="0">
                <a:solidFill>
                  <a:srgbClr val="000000"/>
                </a:solidFill>
                <a:latin typeface="Microsoft YaHei" pitchFamily="34" charset="0"/>
                <a:ea typeface="Microsoft YaHei" pitchFamily="34" charset="-122"/>
                <a:cs typeface="Microsoft YaHei" pitchFamily="34" charset="-120"/>
              </a:rPr>
              <a:t>01</a:t>
            </a:r>
            <a:endParaRPr lang="en-US" sz="3000" dirty="0"/>
          </a:p>
        </p:txBody>
      </p:sp>
      <p:sp>
        <p:nvSpPr>
          <p:cNvPr id="11" name="Text 9"/>
          <p:cNvSpPr/>
          <p:nvPr/>
        </p:nvSpPr>
        <p:spPr>
          <a:xfrm>
            <a:off x="4802541" y="2848579"/>
            <a:ext cx="3457473" cy="484632"/>
          </a:xfrm>
          <a:prstGeom prst="rect">
            <a:avLst/>
          </a:prstGeom>
          <a:noFill/>
          <a:ln/>
        </p:spPr>
        <p:txBody>
          <a:bodyPr wrap="square" rtlCol="0" anchor="ctr"/>
          <a:lstStyle/>
          <a:p>
            <a:pPr algn="l" indent="0" marL="0">
              <a:buNone/>
            </a:pPr>
            <a:r>
              <a:rPr lang="en-US" sz="1700" dirty="0">
                <a:solidFill>
                  <a:srgbClr val="000000"/>
                </a:solidFill>
                <a:latin typeface="Microsoft YaHei" pitchFamily="34" charset="0"/>
                <a:ea typeface="Microsoft YaHei" pitchFamily="34" charset="-122"/>
                <a:cs typeface="Microsoft YaHei" pitchFamily="34" charset="-120"/>
              </a:rPr>
              <a:t>核心技术架构</a:t>
            </a:r>
            <a:endParaRPr lang="en-US" sz="1700" dirty="0"/>
          </a:p>
        </p:txBody>
      </p:sp>
      <p:sp>
        <p:nvSpPr>
          <p:cNvPr id="12" name="Text 10"/>
          <p:cNvSpPr/>
          <p:nvPr/>
        </p:nvSpPr>
        <p:spPr>
          <a:xfrm>
            <a:off x="3948341" y="2725135"/>
            <a:ext cx="671157" cy="731520"/>
          </a:xfrm>
          <a:prstGeom prst="rect">
            <a:avLst/>
          </a:prstGeom>
          <a:noFill/>
          <a:ln/>
        </p:spPr>
        <p:txBody>
          <a:bodyPr wrap="square" rtlCol="0" anchor="ctr"/>
          <a:lstStyle/>
          <a:p>
            <a:pPr algn="ctr" indent="0" marL="0">
              <a:buNone/>
            </a:pPr>
            <a:r>
              <a:rPr lang="en-US" sz="3000" b="1" dirty="0">
                <a:solidFill>
                  <a:srgbClr val="000000"/>
                </a:solidFill>
                <a:latin typeface="Microsoft YaHei" pitchFamily="34" charset="0"/>
                <a:ea typeface="Microsoft YaHei" pitchFamily="34" charset="-122"/>
                <a:cs typeface="Microsoft YaHei" pitchFamily="34" charset="-120"/>
              </a:rPr>
              <a:t>02</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45060" y="1910762"/>
            <a:ext cx="8053879" cy="1321975"/>
          </a:xfrm>
          <a:prstGeom prst="roundRect">
            <a:avLst>
              <a:gd name="adj" fmla="val 4487"/>
            </a:avLst>
          </a:prstGeom>
          <a:solidFill>
            <a:srgbClr val="FFFFFF"/>
          </a:solidFill>
          <a:ln/>
          <a:effectLst>
            <a:outerShdw sx="100000" sy="100000" kx="0" ky="0" algn="bl" rotWithShape="0" blurRad="9525" dist="9525" dir="16200000">
              <a:srgbClr val="969696">
                <a:alpha val="20000"/>
              </a:srgbClr>
            </a:outerShdw>
          </a:effectLst>
        </p:spPr>
      </p:sp>
      <p:sp>
        <p:nvSpPr>
          <p:cNvPr id="3" name="Text 1"/>
          <p:cNvSpPr/>
          <p:nvPr/>
        </p:nvSpPr>
        <p:spPr>
          <a:xfrm>
            <a:off x="2839819" y="2178558"/>
            <a:ext cx="5532066" cy="786384"/>
          </a:xfrm>
          <a:prstGeom prst="rect">
            <a:avLst/>
          </a:prstGeom>
          <a:noFill/>
          <a:ln/>
        </p:spPr>
        <p:txBody>
          <a:bodyPr wrap="square" rtlCol="0" anchor="ctr"/>
          <a:lstStyle/>
          <a:p>
            <a:pPr algn="l" indent="0" marL="0">
              <a:buNone/>
            </a:pPr>
            <a:r>
              <a:rPr lang="en-US" sz="3300" b="1" dirty="0">
                <a:solidFill>
                  <a:srgbClr val="000000"/>
                </a:solidFill>
                <a:latin typeface="Microsoft YaHei" pitchFamily="34" charset="0"/>
                <a:ea typeface="Microsoft YaHei" pitchFamily="34" charset="-122"/>
                <a:cs typeface="Microsoft YaHei" pitchFamily="34" charset="-120"/>
              </a:rPr>
              <a:t>第一章：项目背景与目标</a:t>
            </a:r>
            <a:endParaRPr lang="en-US" sz="3300" dirty="0"/>
          </a:p>
        </p:txBody>
      </p:sp>
      <p:sp>
        <p:nvSpPr>
          <p:cNvPr id="4" name="Shape 2"/>
          <p:cNvSpPr/>
          <p:nvPr/>
        </p:nvSpPr>
        <p:spPr>
          <a:xfrm>
            <a:off x="545060" y="827288"/>
            <a:ext cx="1410107" cy="2894786"/>
          </a:xfrm>
          <a:prstGeom prst="rect">
            <a:avLst/>
          </a:prstGeom>
          <a:solidFill>
            <a:srgbClr val="47ACC5"/>
          </a:solidFill>
          <a:ln/>
        </p:spPr>
      </p:sp>
      <p:sp>
        <p:nvSpPr>
          <p:cNvPr id="5" name="Shape 3"/>
          <p:cNvSpPr/>
          <p:nvPr/>
        </p:nvSpPr>
        <p:spPr>
          <a:xfrm>
            <a:off x="921623" y="1544981"/>
            <a:ext cx="1410107" cy="2894786"/>
          </a:xfrm>
          <a:prstGeom prst="rect">
            <a:avLst/>
          </a:prstGeom>
          <a:solidFill>
            <a:srgbClr val="47ACC5"/>
          </a:solidFill>
          <a:ln/>
        </p:spPr>
      </p:sp>
      <p:sp>
        <p:nvSpPr>
          <p:cNvPr id="6" name="Shape 4"/>
          <p:cNvSpPr/>
          <p:nvPr/>
        </p:nvSpPr>
        <p:spPr>
          <a:xfrm>
            <a:off x="1754378" y="703733"/>
            <a:ext cx="1410107" cy="2894786"/>
          </a:xfrm>
          <a:prstGeom prst="rect">
            <a:avLst/>
          </a:prstGeom>
          <a:solidFill>
            <a:srgbClr val="47ACC5"/>
          </a:solidFill>
          <a:ln/>
        </p:spPr>
      </p:sp>
      <p:sp>
        <p:nvSpPr>
          <p:cNvPr id="7" name="Text 5"/>
          <p:cNvSpPr/>
          <p:nvPr/>
        </p:nvSpPr>
        <p:spPr>
          <a:xfrm>
            <a:off x="1123268" y="1986534"/>
            <a:ext cx="1254181" cy="1170432"/>
          </a:xfrm>
          <a:prstGeom prst="rect">
            <a:avLst/>
          </a:prstGeom>
          <a:noFill/>
          <a:ln/>
        </p:spPr>
        <p:txBody>
          <a:bodyPr wrap="square" rtlCol="0" anchor="ctr"/>
          <a:lstStyle/>
          <a:p>
            <a:pPr algn="ctr" indent="0" marL="0">
              <a:buNone/>
            </a:pPr>
            <a:r>
              <a:rPr lang="en-US" sz="5400" b="1" dirty="0">
                <a:solidFill>
                  <a:srgbClr val="FFFFFF"/>
                </a:solidFill>
                <a:latin typeface="Microsoft YaHei" pitchFamily="34" charset="0"/>
                <a:ea typeface="Microsoft YaHei" pitchFamily="34" charset="-122"/>
                <a:cs typeface="Microsoft YaHei" pitchFamily="34" charset="-120"/>
              </a:rPr>
              <a:t>01</a:t>
            </a:r>
            <a:endParaRPr lang="en-US"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58634" y="254997"/>
            <a:ext cx="454217" cy="454217"/>
          </a:xfrm>
          <a:prstGeom prst="rect">
            <a:avLst/>
          </a:prstGeom>
          <a:solidFill>
            <a:srgbClr val="47ACC5"/>
          </a:solidFill>
          <a:ln/>
        </p:spPr>
      </p:sp>
      <p:sp>
        <p:nvSpPr>
          <p:cNvPr id="3" name="Shape 1"/>
          <p:cNvSpPr/>
          <p:nvPr/>
        </p:nvSpPr>
        <p:spPr>
          <a:xfrm>
            <a:off x="1192137" y="1607805"/>
            <a:ext cx="2926080" cy="3030322"/>
          </a:xfrm>
          <a:prstGeom prst="roundRect">
            <a:avLst>
              <a:gd name="adj" fmla="val 2341"/>
            </a:avLst>
          </a:prstGeom>
          <a:solidFill>
            <a:srgbClr val="47ACC5"/>
          </a:solidFill>
          <a:ln/>
        </p:spPr>
      </p:sp>
      <p:sp>
        <p:nvSpPr>
          <p:cNvPr id="4" name="Shape 2"/>
          <p:cNvSpPr/>
          <p:nvPr/>
        </p:nvSpPr>
        <p:spPr>
          <a:xfrm>
            <a:off x="1283577" y="1686793"/>
            <a:ext cx="2825496" cy="2942242"/>
          </a:xfrm>
          <a:prstGeom prst="roundRect">
            <a:avLst>
              <a:gd name="adj" fmla="val 2365"/>
            </a:avLst>
          </a:prstGeom>
          <a:solidFill>
            <a:srgbClr val="FFFFFF"/>
          </a:solidFill>
          <a:ln/>
        </p:spPr>
      </p:sp>
      <p:sp>
        <p:nvSpPr>
          <p:cNvPr id="5" name="Shape 3"/>
          <p:cNvSpPr/>
          <p:nvPr/>
        </p:nvSpPr>
        <p:spPr>
          <a:xfrm>
            <a:off x="2241636" y="1194264"/>
            <a:ext cx="827082" cy="827082"/>
          </a:xfrm>
          <a:prstGeom prst="rect">
            <a:avLst/>
          </a:prstGeom>
          <a:solidFill>
            <a:srgbClr val="47ACC5"/>
          </a:solidFill>
          <a:ln/>
        </p:spPr>
      </p:sp>
      <p:sp>
        <p:nvSpPr>
          <p:cNvPr id="6" name="Text 4"/>
          <p:cNvSpPr/>
          <p:nvPr/>
        </p:nvSpPr>
        <p:spPr>
          <a:xfrm>
            <a:off x="1361601" y="2121481"/>
            <a:ext cx="2587151"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7" name="Shape 5"/>
          <p:cNvSpPr/>
          <p:nvPr/>
        </p:nvSpPr>
        <p:spPr>
          <a:xfrm>
            <a:off x="5025783" y="1607805"/>
            <a:ext cx="2926080" cy="3030322"/>
          </a:xfrm>
          <a:prstGeom prst="roundRect">
            <a:avLst>
              <a:gd name="adj" fmla="val 2341"/>
            </a:avLst>
          </a:prstGeom>
          <a:solidFill>
            <a:srgbClr val="47ACC5"/>
          </a:solidFill>
          <a:ln/>
        </p:spPr>
      </p:sp>
      <p:sp>
        <p:nvSpPr>
          <p:cNvPr id="8" name="Shape 6"/>
          <p:cNvSpPr/>
          <p:nvPr/>
        </p:nvSpPr>
        <p:spPr>
          <a:xfrm>
            <a:off x="5117223" y="1686793"/>
            <a:ext cx="2825496" cy="2942242"/>
          </a:xfrm>
          <a:prstGeom prst="roundRect">
            <a:avLst>
              <a:gd name="adj" fmla="val 2365"/>
            </a:avLst>
          </a:prstGeom>
          <a:solidFill>
            <a:srgbClr val="FFFFFF"/>
          </a:solidFill>
          <a:ln/>
        </p:spPr>
      </p:sp>
      <p:sp>
        <p:nvSpPr>
          <p:cNvPr id="9" name="Shape 7"/>
          <p:cNvSpPr/>
          <p:nvPr/>
        </p:nvSpPr>
        <p:spPr>
          <a:xfrm>
            <a:off x="6075282" y="1194264"/>
            <a:ext cx="827082" cy="827082"/>
          </a:xfrm>
          <a:prstGeom prst="rect">
            <a:avLst/>
          </a:prstGeom>
          <a:solidFill>
            <a:srgbClr val="47ACC5"/>
          </a:solidFill>
          <a:ln/>
        </p:spPr>
      </p:sp>
      <p:sp>
        <p:nvSpPr>
          <p:cNvPr id="10" name="Text 8"/>
          <p:cNvSpPr/>
          <p:nvPr/>
        </p:nvSpPr>
        <p:spPr>
          <a:xfrm>
            <a:off x="5195248" y="2121481"/>
            <a:ext cx="2587151"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11" name="Text 9"/>
          <p:cNvSpPr/>
          <p:nvPr/>
        </p:nvSpPr>
        <p:spPr>
          <a:xfrm>
            <a:off x="809498" y="143778"/>
            <a:ext cx="8019982" cy="676656"/>
          </a:xfrm>
          <a:prstGeom prst="rect">
            <a:avLst/>
          </a:prstGeom>
          <a:noFill/>
          <a:ln/>
        </p:spPr>
        <p:txBody>
          <a:bodyPr wrap="square" rtlCol="0" anchor="ctr"/>
          <a:lstStyle/>
          <a:p>
            <a:pPr algn="l" indent="0" marL="0">
              <a:buNone/>
            </a:pPr>
            <a:r>
              <a:rPr lang="en-US" sz="2700" dirty="0">
                <a:solidFill>
                  <a:srgbClr val="000000"/>
                </a:solidFill>
                <a:latin typeface="Microsoft YaHei" pitchFamily="34" charset="0"/>
                <a:ea typeface="Microsoft YaHei" pitchFamily="34" charset="-122"/>
                <a:cs typeface="Microsoft YaHei" pitchFamily="34" charset="-120"/>
              </a:rPr>
              <a:t>自动驾驶系统全景</a:t>
            </a:r>
            <a:endParaRPr lang="en-US" sz="2700" dirty="0"/>
          </a:p>
        </p:txBody>
      </p:sp>
      <p:sp>
        <p:nvSpPr>
          <p:cNvPr id="12" name="Text 10"/>
          <p:cNvSpPr/>
          <p:nvPr/>
        </p:nvSpPr>
        <p:spPr>
          <a:xfrm>
            <a:off x="1361601" y="2551249"/>
            <a:ext cx="2587151"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系统完整链路：展示自动驾驶系统（感知、定位、预测、决策规划、控制、执行）的完整链路。</a:t>
            </a:r>
            <a:endParaRPr lang="en-US" sz="1200" dirty="0"/>
          </a:p>
        </p:txBody>
      </p:sp>
      <p:sp>
        <p:nvSpPr>
          <p:cNvPr id="13" name="Text 11"/>
          <p:cNvSpPr/>
          <p:nvPr/>
        </p:nvSpPr>
        <p:spPr>
          <a:xfrm>
            <a:off x="5195248" y="2551249"/>
            <a:ext cx="2587151"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决策规划模块的核心地位：突出决策规划模块作为“大脑”的核心地位，是连接环境理解与车辆控制的中枢。</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58634" y="254997"/>
            <a:ext cx="454217" cy="454217"/>
          </a:xfrm>
          <a:prstGeom prst="rect">
            <a:avLst/>
          </a:prstGeom>
          <a:solidFill>
            <a:srgbClr val="47ACC5"/>
          </a:solidFill>
          <a:ln/>
        </p:spPr>
      </p:sp>
      <p:sp>
        <p:nvSpPr>
          <p:cNvPr id="3" name="Shape 1"/>
          <p:cNvSpPr/>
          <p:nvPr/>
        </p:nvSpPr>
        <p:spPr>
          <a:xfrm>
            <a:off x="480399" y="1600082"/>
            <a:ext cx="2560320" cy="3030322"/>
          </a:xfrm>
          <a:prstGeom prst="roundRect">
            <a:avLst>
              <a:gd name="adj" fmla="val 2341"/>
            </a:avLst>
          </a:prstGeom>
          <a:solidFill>
            <a:srgbClr val="47ACC5"/>
          </a:solidFill>
          <a:ln/>
        </p:spPr>
      </p:sp>
      <p:sp>
        <p:nvSpPr>
          <p:cNvPr id="4" name="Shape 2"/>
          <p:cNvSpPr/>
          <p:nvPr/>
        </p:nvSpPr>
        <p:spPr>
          <a:xfrm>
            <a:off x="545652" y="1658731"/>
            <a:ext cx="2485923" cy="2962580"/>
          </a:xfrm>
          <a:prstGeom prst="roundRect">
            <a:avLst>
              <a:gd name="adj" fmla="val 2365"/>
            </a:avLst>
          </a:prstGeom>
          <a:solidFill>
            <a:srgbClr val="FFFFFF"/>
          </a:solidFill>
          <a:ln/>
        </p:spPr>
      </p:sp>
      <p:sp>
        <p:nvSpPr>
          <p:cNvPr id="5" name="Shape 3"/>
          <p:cNvSpPr/>
          <p:nvPr/>
        </p:nvSpPr>
        <p:spPr>
          <a:xfrm>
            <a:off x="1347018" y="1186541"/>
            <a:ext cx="827082" cy="827082"/>
          </a:xfrm>
          <a:prstGeom prst="rect">
            <a:avLst/>
          </a:prstGeom>
          <a:solidFill>
            <a:srgbClr val="47ACC5"/>
          </a:solidFill>
          <a:ln/>
        </p:spPr>
      </p:sp>
      <p:sp>
        <p:nvSpPr>
          <p:cNvPr id="6" name="Text 4"/>
          <p:cNvSpPr/>
          <p:nvPr/>
        </p:nvSpPr>
        <p:spPr>
          <a:xfrm>
            <a:off x="616930" y="2127317"/>
            <a:ext cx="2332358"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7" name="Shape 5"/>
          <p:cNvSpPr/>
          <p:nvPr/>
        </p:nvSpPr>
        <p:spPr>
          <a:xfrm>
            <a:off x="3291840" y="1600082"/>
            <a:ext cx="2560320" cy="3030322"/>
          </a:xfrm>
          <a:prstGeom prst="roundRect">
            <a:avLst>
              <a:gd name="adj" fmla="val 2341"/>
            </a:avLst>
          </a:prstGeom>
          <a:solidFill>
            <a:srgbClr val="47ACC5"/>
          </a:solidFill>
          <a:ln/>
        </p:spPr>
      </p:sp>
      <p:sp>
        <p:nvSpPr>
          <p:cNvPr id="8" name="Shape 6"/>
          <p:cNvSpPr/>
          <p:nvPr/>
        </p:nvSpPr>
        <p:spPr>
          <a:xfrm>
            <a:off x="3357093" y="1658731"/>
            <a:ext cx="2485923" cy="2962580"/>
          </a:xfrm>
          <a:prstGeom prst="roundRect">
            <a:avLst>
              <a:gd name="adj" fmla="val 2365"/>
            </a:avLst>
          </a:prstGeom>
          <a:solidFill>
            <a:srgbClr val="FFFFFF"/>
          </a:solidFill>
          <a:ln/>
        </p:spPr>
      </p:sp>
      <p:sp>
        <p:nvSpPr>
          <p:cNvPr id="9" name="Shape 7"/>
          <p:cNvSpPr/>
          <p:nvPr/>
        </p:nvSpPr>
        <p:spPr>
          <a:xfrm>
            <a:off x="4158459" y="1186541"/>
            <a:ext cx="827082" cy="827082"/>
          </a:xfrm>
          <a:prstGeom prst="rect">
            <a:avLst/>
          </a:prstGeom>
          <a:solidFill>
            <a:srgbClr val="47ACC5"/>
          </a:solidFill>
          <a:ln/>
        </p:spPr>
      </p:sp>
      <p:sp>
        <p:nvSpPr>
          <p:cNvPr id="10" name="Text 8"/>
          <p:cNvSpPr/>
          <p:nvPr/>
        </p:nvSpPr>
        <p:spPr>
          <a:xfrm>
            <a:off x="3428371" y="2127317"/>
            <a:ext cx="2332358"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11" name="Shape 9"/>
          <p:cNvSpPr/>
          <p:nvPr/>
        </p:nvSpPr>
        <p:spPr>
          <a:xfrm>
            <a:off x="6103281" y="1600082"/>
            <a:ext cx="2560320" cy="3030322"/>
          </a:xfrm>
          <a:prstGeom prst="roundRect">
            <a:avLst>
              <a:gd name="adj" fmla="val 2341"/>
            </a:avLst>
          </a:prstGeom>
          <a:solidFill>
            <a:srgbClr val="47ACC5"/>
          </a:solidFill>
          <a:ln/>
        </p:spPr>
      </p:sp>
      <p:sp>
        <p:nvSpPr>
          <p:cNvPr id="12" name="Shape 10"/>
          <p:cNvSpPr/>
          <p:nvPr/>
        </p:nvSpPr>
        <p:spPr>
          <a:xfrm>
            <a:off x="6168534" y="1658731"/>
            <a:ext cx="2485923" cy="2962580"/>
          </a:xfrm>
          <a:prstGeom prst="roundRect">
            <a:avLst>
              <a:gd name="adj" fmla="val 2365"/>
            </a:avLst>
          </a:prstGeom>
          <a:solidFill>
            <a:srgbClr val="FFFFFF"/>
          </a:solidFill>
          <a:ln/>
        </p:spPr>
      </p:sp>
      <p:sp>
        <p:nvSpPr>
          <p:cNvPr id="13" name="Shape 11"/>
          <p:cNvSpPr/>
          <p:nvPr/>
        </p:nvSpPr>
        <p:spPr>
          <a:xfrm>
            <a:off x="6969900" y="1186541"/>
            <a:ext cx="827082" cy="827082"/>
          </a:xfrm>
          <a:prstGeom prst="rect">
            <a:avLst/>
          </a:prstGeom>
          <a:solidFill>
            <a:srgbClr val="47ACC5"/>
          </a:solidFill>
          <a:ln/>
        </p:spPr>
      </p:sp>
      <p:sp>
        <p:nvSpPr>
          <p:cNvPr id="14" name="Text 12"/>
          <p:cNvSpPr/>
          <p:nvPr/>
        </p:nvSpPr>
        <p:spPr>
          <a:xfrm>
            <a:off x="6239812" y="2127317"/>
            <a:ext cx="2332358"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15" name="Text 13"/>
          <p:cNvSpPr/>
          <p:nvPr/>
        </p:nvSpPr>
        <p:spPr>
          <a:xfrm>
            <a:off x="809498" y="143778"/>
            <a:ext cx="8019982" cy="676656"/>
          </a:xfrm>
          <a:prstGeom prst="rect">
            <a:avLst/>
          </a:prstGeom>
          <a:noFill/>
          <a:ln/>
        </p:spPr>
        <p:txBody>
          <a:bodyPr wrap="square" rtlCol="0" anchor="ctr"/>
          <a:lstStyle/>
          <a:p>
            <a:pPr algn="l" indent="0" marL="0">
              <a:buNone/>
            </a:pPr>
            <a:r>
              <a:rPr lang="en-US" sz="2700" dirty="0">
                <a:solidFill>
                  <a:srgbClr val="000000"/>
                </a:solidFill>
                <a:latin typeface="Microsoft YaHei" pitchFamily="34" charset="0"/>
                <a:ea typeface="Microsoft YaHei" pitchFamily="34" charset="-122"/>
                <a:cs typeface="Microsoft YaHei" pitchFamily="34" charset="-120"/>
              </a:rPr>
              <a:t>核心挑战与设计目标</a:t>
            </a:r>
            <a:endParaRPr lang="en-US" sz="2700" dirty="0"/>
          </a:p>
        </p:txBody>
      </p:sp>
      <p:sp>
        <p:nvSpPr>
          <p:cNvPr id="16" name="Text 14"/>
          <p:cNvSpPr/>
          <p:nvPr/>
        </p:nvSpPr>
        <p:spPr>
          <a:xfrm>
            <a:off x="616930" y="2557085"/>
            <a:ext cx="2332358"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主要挑战：当前决策规划面临的主要挑战包括长尾场景、实时性要求、功能安全等。</a:t>
            </a:r>
            <a:endParaRPr lang="en-US" sz="1200" dirty="0"/>
          </a:p>
        </p:txBody>
      </p:sp>
      <p:sp>
        <p:nvSpPr>
          <p:cNvPr id="17" name="Text 15"/>
          <p:cNvSpPr/>
          <p:nvPr/>
        </p:nvSpPr>
        <p:spPr>
          <a:xfrm>
            <a:off x="3428371" y="2557085"/>
            <a:ext cx="2332358"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安全性：零碰撞，符合功能安全标准。</a:t>
            </a:r>
            <a:endParaRPr lang="en-US" sz="1200" dirty="0"/>
          </a:p>
        </p:txBody>
      </p:sp>
      <p:sp>
        <p:nvSpPr>
          <p:cNvPr id="18" name="Text 16"/>
          <p:cNvSpPr/>
          <p:nvPr/>
        </p:nvSpPr>
        <p:spPr>
          <a:xfrm>
            <a:off x="6239812" y="2557085"/>
            <a:ext cx="2332358"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合规性与舒适性：严格遵守交通规则，乘客体验良好（低加速度、低jerk）。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3527" y="0"/>
            <a:ext cx="9144000" cy="5143500"/>
          </a:xfrm>
          <a:prstGeom prst="rect">
            <a:avLst/>
          </a:prstGeom>
          <a:solidFill>
            <a:srgbClr val="FFFFFF"/>
          </a:solidFill>
          <a:ln/>
        </p:spPr>
      </p:sp>
      <p:sp>
        <p:nvSpPr>
          <p:cNvPr id="3" name="Shape 1"/>
          <p:cNvSpPr/>
          <p:nvPr/>
        </p:nvSpPr>
        <p:spPr>
          <a:xfrm>
            <a:off x="233252" y="1985335"/>
            <a:ext cx="109728" cy="9144"/>
          </a:xfrm>
          <a:prstGeom prst="line">
            <a:avLst/>
          </a:prstGeom>
          <a:noFill/>
          <a:ln w="152400">
            <a:solidFill>
              <a:srgbClr val="47ACC5"/>
            </a:solidFill>
            <a:prstDash val="solid"/>
          </a:ln>
        </p:spPr>
      </p:sp>
      <p:sp>
        <p:nvSpPr>
          <p:cNvPr id="4" name="Shape 2"/>
          <p:cNvSpPr/>
          <p:nvPr/>
        </p:nvSpPr>
        <p:spPr>
          <a:xfrm>
            <a:off x="4847446" y="-406939"/>
            <a:ext cx="5957378" cy="5957378"/>
          </a:xfrm>
          <a:prstGeom prst="rect">
            <a:avLst/>
          </a:prstGeom>
          <a:solidFill>
            <a:srgbClr val="000000"/>
          </a:solidFill>
          <a:ln/>
        </p:spPr>
      </p:sp>
      <p:sp>
        <p:nvSpPr>
          <p:cNvPr id="5" name="Shape 3"/>
          <p:cNvSpPr/>
          <p:nvPr/>
        </p:nvSpPr>
        <p:spPr>
          <a:xfrm>
            <a:off x="6900752" y="1646367"/>
            <a:ext cx="1850765" cy="1850765"/>
          </a:xfrm>
          <a:prstGeom prst="rect">
            <a:avLst/>
          </a:prstGeom>
          <a:solidFill>
            <a:srgbClr val="47ACC5"/>
          </a:solidFill>
          <a:ln/>
        </p:spPr>
      </p:sp>
      <p:sp>
        <p:nvSpPr>
          <p:cNvPr id="6" name="Text 4"/>
          <p:cNvSpPr/>
          <p:nvPr/>
        </p:nvSpPr>
        <p:spPr>
          <a:xfrm>
            <a:off x="250158" y="2178558"/>
            <a:ext cx="5911601" cy="786384"/>
          </a:xfrm>
          <a:prstGeom prst="rect">
            <a:avLst/>
          </a:prstGeom>
          <a:noFill/>
          <a:ln/>
        </p:spPr>
        <p:txBody>
          <a:bodyPr wrap="square" rtlCol="0" anchor="ctr"/>
          <a:lstStyle/>
          <a:p>
            <a:pPr algn="l" indent="0" marL="0">
              <a:buNone/>
            </a:pPr>
            <a:r>
              <a:rPr lang="en-US" sz="3300" b="1" dirty="0">
                <a:solidFill>
                  <a:srgbClr val="000000"/>
                </a:solidFill>
                <a:latin typeface="Microsoft YaHei" pitchFamily="34" charset="0"/>
                <a:ea typeface="Microsoft YaHei" pitchFamily="34" charset="-122"/>
                <a:cs typeface="Microsoft YaHei" pitchFamily="34" charset="-120"/>
              </a:rPr>
              <a:t>第二章：核心技术架构</a:t>
            </a:r>
            <a:endParaRPr lang="en-US" sz="3300" dirty="0"/>
          </a:p>
        </p:txBody>
      </p:sp>
      <p:sp>
        <p:nvSpPr>
          <p:cNvPr id="7" name="Shape 5"/>
          <p:cNvSpPr/>
          <p:nvPr/>
        </p:nvSpPr>
        <p:spPr>
          <a:xfrm>
            <a:off x="236246" y="3158794"/>
            <a:ext cx="109728" cy="9144"/>
          </a:xfrm>
          <a:prstGeom prst="line">
            <a:avLst/>
          </a:prstGeom>
          <a:noFill/>
          <a:ln w="152400">
            <a:solidFill>
              <a:srgbClr val="47ACC5"/>
            </a:solidFill>
            <a:prstDash val="solid"/>
          </a:ln>
        </p:spPr>
      </p:sp>
      <p:sp>
        <p:nvSpPr>
          <p:cNvPr id="8" name="Text 6"/>
          <p:cNvSpPr/>
          <p:nvPr/>
        </p:nvSpPr>
        <p:spPr>
          <a:xfrm>
            <a:off x="250158" y="3497133"/>
            <a:ext cx="4597288" cy="621792"/>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模板小节过渡正文模板小节过渡正文模板小节过渡正文模板小节过渡正文模板小节过渡正文模板小节过渡正文模板小节过渡正文</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58634" y="254997"/>
            <a:ext cx="454217" cy="454217"/>
          </a:xfrm>
          <a:prstGeom prst="rect">
            <a:avLst/>
          </a:prstGeom>
          <a:solidFill>
            <a:srgbClr val="47ACC5"/>
          </a:solidFill>
          <a:ln/>
        </p:spPr>
      </p:sp>
      <p:sp>
        <p:nvSpPr>
          <p:cNvPr id="3" name="Shape 1"/>
          <p:cNvSpPr/>
          <p:nvPr/>
        </p:nvSpPr>
        <p:spPr>
          <a:xfrm>
            <a:off x="108576" y="1619314"/>
            <a:ext cx="2194560" cy="3030322"/>
          </a:xfrm>
          <a:prstGeom prst="roundRect">
            <a:avLst>
              <a:gd name="adj" fmla="val 2341"/>
            </a:avLst>
          </a:prstGeom>
          <a:solidFill>
            <a:srgbClr val="47ACC5"/>
          </a:solidFill>
          <a:ln/>
        </p:spPr>
      </p:sp>
      <p:sp>
        <p:nvSpPr>
          <p:cNvPr id="4" name="Shape 2"/>
          <p:cNvSpPr/>
          <p:nvPr/>
        </p:nvSpPr>
        <p:spPr>
          <a:xfrm>
            <a:off x="164860" y="1677963"/>
            <a:ext cx="2129131" cy="2962580"/>
          </a:xfrm>
          <a:prstGeom prst="roundRect">
            <a:avLst>
              <a:gd name="adj" fmla="val 2365"/>
            </a:avLst>
          </a:prstGeom>
          <a:solidFill>
            <a:srgbClr val="FFFFFF"/>
          </a:solidFill>
          <a:ln/>
        </p:spPr>
      </p:sp>
      <p:sp>
        <p:nvSpPr>
          <p:cNvPr id="5" name="Shape 3"/>
          <p:cNvSpPr/>
          <p:nvPr/>
        </p:nvSpPr>
        <p:spPr>
          <a:xfrm>
            <a:off x="792315" y="1205773"/>
            <a:ext cx="827082" cy="827082"/>
          </a:xfrm>
          <a:prstGeom prst="rect">
            <a:avLst/>
          </a:prstGeom>
          <a:solidFill>
            <a:srgbClr val="47ACC5"/>
          </a:solidFill>
          <a:ln/>
        </p:spPr>
      </p:sp>
      <p:sp>
        <p:nvSpPr>
          <p:cNvPr id="6" name="Text 4"/>
          <p:cNvSpPr/>
          <p:nvPr/>
        </p:nvSpPr>
        <p:spPr>
          <a:xfrm>
            <a:off x="200016" y="2146549"/>
            <a:ext cx="2011680"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7" name="Shape 5"/>
          <p:cNvSpPr/>
          <p:nvPr/>
        </p:nvSpPr>
        <p:spPr>
          <a:xfrm>
            <a:off x="2352672" y="1619314"/>
            <a:ext cx="2194560" cy="3030322"/>
          </a:xfrm>
          <a:prstGeom prst="roundRect">
            <a:avLst>
              <a:gd name="adj" fmla="val 2341"/>
            </a:avLst>
          </a:prstGeom>
          <a:solidFill>
            <a:srgbClr val="47ACC5"/>
          </a:solidFill>
          <a:ln/>
        </p:spPr>
      </p:sp>
      <p:sp>
        <p:nvSpPr>
          <p:cNvPr id="8" name="Shape 6"/>
          <p:cNvSpPr/>
          <p:nvPr/>
        </p:nvSpPr>
        <p:spPr>
          <a:xfrm>
            <a:off x="2408957" y="1677963"/>
            <a:ext cx="2129131" cy="2962580"/>
          </a:xfrm>
          <a:prstGeom prst="roundRect">
            <a:avLst>
              <a:gd name="adj" fmla="val 2365"/>
            </a:avLst>
          </a:prstGeom>
          <a:solidFill>
            <a:srgbClr val="FFFFFF"/>
          </a:solidFill>
          <a:ln/>
        </p:spPr>
      </p:sp>
      <p:sp>
        <p:nvSpPr>
          <p:cNvPr id="9" name="Shape 7"/>
          <p:cNvSpPr/>
          <p:nvPr/>
        </p:nvSpPr>
        <p:spPr>
          <a:xfrm>
            <a:off x="3036411" y="1205773"/>
            <a:ext cx="827082" cy="827082"/>
          </a:xfrm>
          <a:prstGeom prst="rect">
            <a:avLst/>
          </a:prstGeom>
          <a:solidFill>
            <a:srgbClr val="47ACC5"/>
          </a:solidFill>
          <a:ln/>
        </p:spPr>
      </p:sp>
      <p:sp>
        <p:nvSpPr>
          <p:cNvPr id="10" name="Text 8"/>
          <p:cNvSpPr/>
          <p:nvPr/>
        </p:nvSpPr>
        <p:spPr>
          <a:xfrm>
            <a:off x="2444112" y="2146549"/>
            <a:ext cx="2011680"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11" name="Shape 9"/>
          <p:cNvSpPr/>
          <p:nvPr/>
        </p:nvSpPr>
        <p:spPr>
          <a:xfrm>
            <a:off x="4596768" y="1619314"/>
            <a:ext cx="2194560" cy="3030322"/>
          </a:xfrm>
          <a:prstGeom prst="roundRect">
            <a:avLst>
              <a:gd name="adj" fmla="val 2341"/>
            </a:avLst>
          </a:prstGeom>
          <a:solidFill>
            <a:srgbClr val="47ACC5"/>
          </a:solidFill>
          <a:ln/>
        </p:spPr>
      </p:sp>
      <p:sp>
        <p:nvSpPr>
          <p:cNvPr id="12" name="Shape 10"/>
          <p:cNvSpPr/>
          <p:nvPr/>
        </p:nvSpPr>
        <p:spPr>
          <a:xfrm>
            <a:off x="4653053" y="1677963"/>
            <a:ext cx="2129131" cy="2962580"/>
          </a:xfrm>
          <a:prstGeom prst="roundRect">
            <a:avLst>
              <a:gd name="adj" fmla="val 2365"/>
            </a:avLst>
          </a:prstGeom>
          <a:solidFill>
            <a:srgbClr val="FFFFFF"/>
          </a:solidFill>
          <a:ln/>
        </p:spPr>
      </p:sp>
      <p:sp>
        <p:nvSpPr>
          <p:cNvPr id="13" name="Shape 11"/>
          <p:cNvSpPr/>
          <p:nvPr/>
        </p:nvSpPr>
        <p:spPr>
          <a:xfrm>
            <a:off x="5280507" y="1205773"/>
            <a:ext cx="827082" cy="827082"/>
          </a:xfrm>
          <a:prstGeom prst="rect">
            <a:avLst/>
          </a:prstGeom>
          <a:solidFill>
            <a:srgbClr val="47ACC5"/>
          </a:solidFill>
          <a:ln/>
        </p:spPr>
      </p:sp>
      <p:sp>
        <p:nvSpPr>
          <p:cNvPr id="14" name="Text 12"/>
          <p:cNvSpPr/>
          <p:nvPr/>
        </p:nvSpPr>
        <p:spPr>
          <a:xfrm>
            <a:off x="4688208" y="2146549"/>
            <a:ext cx="2011680"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15" name="Shape 13"/>
          <p:cNvSpPr/>
          <p:nvPr/>
        </p:nvSpPr>
        <p:spPr>
          <a:xfrm>
            <a:off x="6840864" y="1619314"/>
            <a:ext cx="2194560" cy="3030322"/>
          </a:xfrm>
          <a:prstGeom prst="roundRect">
            <a:avLst>
              <a:gd name="adj" fmla="val 2341"/>
            </a:avLst>
          </a:prstGeom>
          <a:solidFill>
            <a:srgbClr val="47ACC5"/>
          </a:solidFill>
          <a:ln/>
        </p:spPr>
      </p:sp>
      <p:sp>
        <p:nvSpPr>
          <p:cNvPr id="16" name="Shape 14"/>
          <p:cNvSpPr/>
          <p:nvPr/>
        </p:nvSpPr>
        <p:spPr>
          <a:xfrm>
            <a:off x="6897149" y="1677963"/>
            <a:ext cx="2129131" cy="2962580"/>
          </a:xfrm>
          <a:prstGeom prst="roundRect">
            <a:avLst>
              <a:gd name="adj" fmla="val 2365"/>
            </a:avLst>
          </a:prstGeom>
          <a:solidFill>
            <a:srgbClr val="FFFFFF"/>
          </a:solidFill>
          <a:ln/>
        </p:spPr>
      </p:sp>
      <p:sp>
        <p:nvSpPr>
          <p:cNvPr id="17" name="Shape 15"/>
          <p:cNvSpPr/>
          <p:nvPr/>
        </p:nvSpPr>
        <p:spPr>
          <a:xfrm>
            <a:off x="7524604" y="1205773"/>
            <a:ext cx="827082" cy="827082"/>
          </a:xfrm>
          <a:prstGeom prst="rect">
            <a:avLst/>
          </a:prstGeom>
          <a:solidFill>
            <a:srgbClr val="47ACC5"/>
          </a:solidFill>
          <a:ln/>
        </p:spPr>
      </p:sp>
      <p:sp>
        <p:nvSpPr>
          <p:cNvPr id="18" name="Text 16"/>
          <p:cNvSpPr/>
          <p:nvPr/>
        </p:nvSpPr>
        <p:spPr>
          <a:xfrm>
            <a:off x="6932304" y="2146549"/>
            <a:ext cx="2011680" cy="429768"/>
          </a:xfrm>
          <a:prstGeom prst="rect">
            <a:avLst/>
          </a:prstGeom>
          <a:noFill/>
          <a:ln/>
        </p:spPr>
        <p:txBody>
          <a:bodyPr wrap="square" rtlCol="0" anchor="ctr"/>
          <a:lstStyle/>
          <a:p>
            <a:pPr algn="ctr" indent="0" marL="0">
              <a:buNone/>
            </a:pPr>
            <a:r>
              <a:rPr lang="en-US" sz="1400" b="1" dirty="0">
                <a:solidFill>
                  <a:srgbClr val="000000"/>
                </a:solidFill>
                <a:latin typeface="Microsoft YaHei" pitchFamily="34" charset="0"/>
                <a:ea typeface="Microsoft YaHei" pitchFamily="34" charset="-122"/>
                <a:cs typeface="Microsoft YaHei" pitchFamily="34" charset="-120"/>
              </a:rPr>
              <a:t>内容项标题</a:t>
            </a:r>
            <a:endParaRPr lang="en-US" sz="1400" dirty="0"/>
          </a:p>
        </p:txBody>
      </p:sp>
      <p:sp>
        <p:nvSpPr>
          <p:cNvPr id="19" name="Text 17"/>
          <p:cNvSpPr/>
          <p:nvPr/>
        </p:nvSpPr>
        <p:spPr>
          <a:xfrm>
            <a:off x="809498" y="143778"/>
            <a:ext cx="8019982" cy="676656"/>
          </a:xfrm>
          <a:prstGeom prst="rect">
            <a:avLst/>
          </a:prstGeom>
          <a:noFill/>
          <a:ln/>
        </p:spPr>
        <p:txBody>
          <a:bodyPr wrap="square" rtlCol="0" anchor="ctr"/>
          <a:lstStyle/>
          <a:p>
            <a:pPr algn="l" indent="0" marL="0">
              <a:buNone/>
            </a:pPr>
            <a:r>
              <a:rPr lang="en-US" sz="2700" dirty="0">
                <a:solidFill>
                  <a:srgbClr val="000000"/>
                </a:solidFill>
                <a:latin typeface="Microsoft YaHei" pitchFamily="34" charset="0"/>
                <a:ea typeface="Microsoft YaHei" pitchFamily="34" charset="-122"/>
                <a:cs typeface="Microsoft YaHei" pitchFamily="34" charset="-120"/>
              </a:rPr>
              <a:t>分层决策规划架构总览</a:t>
            </a:r>
            <a:endParaRPr lang="en-US" sz="2700" dirty="0"/>
          </a:p>
        </p:txBody>
      </p:sp>
      <p:sp>
        <p:nvSpPr>
          <p:cNvPr id="20" name="Text 18"/>
          <p:cNvSpPr/>
          <p:nvPr/>
        </p:nvSpPr>
        <p:spPr>
          <a:xfrm>
            <a:off x="200016" y="2576317"/>
            <a:ext cx="2011680"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全局路径规划：宏观路线（A点到B点）。</a:t>
            </a:r>
            <a:endParaRPr lang="en-US" sz="1200" dirty="0"/>
          </a:p>
        </p:txBody>
      </p:sp>
      <p:sp>
        <p:nvSpPr>
          <p:cNvPr id="21" name="Text 19"/>
          <p:cNvSpPr/>
          <p:nvPr/>
        </p:nvSpPr>
        <p:spPr>
          <a:xfrm>
            <a:off x="2444112" y="2576317"/>
            <a:ext cx="2011680"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行为决策：驾驶行为选择（跟车、变道、超车、停车）。</a:t>
            </a:r>
            <a:endParaRPr lang="en-US" sz="1200" dirty="0"/>
          </a:p>
        </p:txBody>
      </p:sp>
      <p:sp>
        <p:nvSpPr>
          <p:cNvPr id="22" name="Text 20"/>
          <p:cNvSpPr/>
          <p:nvPr/>
        </p:nvSpPr>
        <p:spPr>
          <a:xfrm>
            <a:off x="4688208" y="2576317"/>
            <a:ext cx="2011680"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局部路径规划：具体行驶路径（Frenet坐标系下的轨迹生成）。</a:t>
            </a:r>
            <a:endParaRPr lang="en-US" sz="1200" dirty="0"/>
          </a:p>
        </p:txBody>
      </p:sp>
      <p:sp>
        <p:nvSpPr>
          <p:cNvPr id="23" name="Text 21"/>
          <p:cNvSpPr/>
          <p:nvPr/>
        </p:nvSpPr>
        <p:spPr>
          <a:xfrm>
            <a:off x="6932304" y="2576317"/>
            <a:ext cx="2011680"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速度规划与轨迹优化：生成最终的可执行轨迹（含速度、加速度约束）。</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30473" cy="5143500"/>
          </a:xfrm>
          <a:prstGeom prst="rect">
            <a:avLst/>
          </a:prstGeom>
          <a:solidFill>
            <a:srgbClr val="47ACC5"/>
          </a:solidFill>
          <a:ln/>
        </p:spPr>
      </p:sp>
      <p:sp>
        <p:nvSpPr>
          <p:cNvPr id="3" name="Shape 1"/>
          <p:cNvSpPr/>
          <p:nvPr/>
        </p:nvSpPr>
        <p:spPr>
          <a:xfrm>
            <a:off x="195923" y="188805"/>
            <a:ext cx="8467420" cy="4610841"/>
          </a:xfrm>
          <a:prstGeom prst="rect">
            <a:avLst/>
          </a:prstGeom>
          <a:solidFill>
            <a:srgbClr val="000000"/>
          </a:solidFill>
          <a:ln/>
        </p:spPr>
      </p:sp>
      <p:sp>
        <p:nvSpPr>
          <p:cNvPr id="4" name="Shape 2"/>
          <p:cNvSpPr/>
          <p:nvPr/>
        </p:nvSpPr>
        <p:spPr>
          <a:xfrm>
            <a:off x="429730" y="348039"/>
            <a:ext cx="8467420" cy="4610841"/>
          </a:xfrm>
          <a:prstGeom prst="rect">
            <a:avLst/>
          </a:prstGeom>
          <a:solidFill>
            <a:srgbClr val="000000"/>
          </a:solidFill>
          <a:ln/>
        </p:spPr>
      </p:sp>
      <p:sp>
        <p:nvSpPr>
          <p:cNvPr id="5" name="Shape 3"/>
          <p:cNvSpPr/>
          <p:nvPr/>
        </p:nvSpPr>
        <p:spPr>
          <a:xfrm>
            <a:off x="1794498" y="1714225"/>
            <a:ext cx="2555819" cy="2643950"/>
          </a:xfrm>
          <a:prstGeom prst="roundRect">
            <a:avLst>
              <a:gd name="adj" fmla="val 1608"/>
            </a:avLst>
          </a:prstGeom>
          <a:solidFill>
            <a:srgbClr val="FFFFFF"/>
          </a:solidFill>
          <a:ln/>
        </p:spPr>
      </p:sp>
      <p:sp>
        <p:nvSpPr>
          <p:cNvPr id="6" name="Text 4"/>
          <p:cNvSpPr/>
          <p:nvPr/>
        </p:nvSpPr>
        <p:spPr>
          <a:xfrm>
            <a:off x="1894081" y="1998193"/>
            <a:ext cx="2356653" cy="429768"/>
          </a:xfrm>
          <a:prstGeom prst="rect">
            <a:avLst/>
          </a:prstGeom>
          <a:noFill/>
          <a:ln/>
        </p:spPr>
        <p:txBody>
          <a:bodyPr wrap="square" rtlCol="0" anchor="ctr"/>
          <a:lstStyle/>
          <a:p>
            <a:pPr algn="ctr" indent="0" marL="0">
              <a:buNone/>
            </a:pPr>
            <a:r>
              <a:rPr lang="en-US" sz="1400" b="1" dirty="0">
                <a:solidFill>
                  <a:srgbClr val="47ACC5"/>
                </a:solidFill>
                <a:latin typeface="Microsoft YaHei" pitchFamily="34" charset="0"/>
                <a:ea typeface="Microsoft YaHei" pitchFamily="34" charset="-122"/>
                <a:cs typeface="Microsoft YaHei" pitchFamily="34" charset="-120"/>
              </a:rPr>
              <a:t>内容项标题</a:t>
            </a:r>
            <a:endParaRPr lang="en-US" sz="1400" dirty="0"/>
          </a:p>
        </p:txBody>
      </p:sp>
      <p:sp>
        <p:nvSpPr>
          <p:cNvPr id="7" name="Shape 5"/>
          <p:cNvSpPr/>
          <p:nvPr/>
        </p:nvSpPr>
        <p:spPr>
          <a:xfrm>
            <a:off x="2485993" y="2494226"/>
            <a:ext cx="18288" cy="9144"/>
          </a:xfrm>
          <a:prstGeom prst="line">
            <a:avLst/>
          </a:prstGeom>
          <a:noFill/>
          <a:ln w="25400">
            <a:solidFill>
              <a:srgbClr val="47ACC5"/>
            </a:solidFill>
            <a:prstDash val="solid"/>
          </a:ln>
        </p:spPr>
      </p:sp>
      <p:sp>
        <p:nvSpPr>
          <p:cNvPr id="8" name="Shape 6"/>
          <p:cNvSpPr/>
          <p:nvPr/>
        </p:nvSpPr>
        <p:spPr>
          <a:xfrm>
            <a:off x="4793683" y="1714225"/>
            <a:ext cx="2555819" cy="2643950"/>
          </a:xfrm>
          <a:prstGeom prst="roundRect">
            <a:avLst>
              <a:gd name="adj" fmla="val 1608"/>
            </a:avLst>
          </a:prstGeom>
          <a:solidFill>
            <a:srgbClr val="FFFFFF"/>
          </a:solidFill>
          <a:ln/>
        </p:spPr>
      </p:sp>
      <p:sp>
        <p:nvSpPr>
          <p:cNvPr id="9" name="Text 7"/>
          <p:cNvSpPr/>
          <p:nvPr/>
        </p:nvSpPr>
        <p:spPr>
          <a:xfrm>
            <a:off x="4893266" y="1998193"/>
            <a:ext cx="2356653" cy="429768"/>
          </a:xfrm>
          <a:prstGeom prst="rect">
            <a:avLst/>
          </a:prstGeom>
          <a:noFill/>
          <a:ln/>
        </p:spPr>
        <p:txBody>
          <a:bodyPr wrap="square" rtlCol="0" anchor="ctr"/>
          <a:lstStyle/>
          <a:p>
            <a:pPr algn="ctr" indent="0" marL="0">
              <a:buNone/>
            </a:pPr>
            <a:r>
              <a:rPr lang="en-US" sz="1400" b="1" dirty="0">
                <a:solidFill>
                  <a:srgbClr val="47ACC5"/>
                </a:solidFill>
                <a:latin typeface="Microsoft YaHei" pitchFamily="34" charset="0"/>
                <a:ea typeface="Microsoft YaHei" pitchFamily="34" charset="-122"/>
                <a:cs typeface="Microsoft YaHei" pitchFamily="34" charset="-120"/>
              </a:rPr>
              <a:t>内容项标题</a:t>
            </a:r>
            <a:endParaRPr lang="en-US" sz="1400" dirty="0"/>
          </a:p>
        </p:txBody>
      </p:sp>
      <p:sp>
        <p:nvSpPr>
          <p:cNvPr id="10" name="Shape 8"/>
          <p:cNvSpPr/>
          <p:nvPr/>
        </p:nvSpPr>
        <p:spPr>
          <a:xfrm>
            <a:off x="5485178" y="2494226"/>
            <a:ext cx="18288" cy="9144"/>
          </a:xfrm>
          <a:prstGeom prst="line">
            <a:avLst/>
          </a:prstGeom>
          <a:noFill/>
          <a:ln w="25400">
            <a:solidFill>
              <a:srgbClr val="47ACC5"/>
            </a:solidFill>
            <a:prstDash val="solid"/>
          </a:ln>
        </p:spPr>
      </p:sp>
      <p:sp>
        <p:nvSpPr>
          <p:cNvPr id="11" name="Text 9"/>
          <p:cNvSpPr/>
          <p:nvPr/>
        </p:nvSpPr>
        <p:spPr>
          <a:xfrm>
            <a:off x="762016" y="645450"/>
            <a:ext cx="7606441" cy="621792"/>
          </a:xfrm>
          <a:prstGeom prst="rect">
            <a:avLst/>
          </a:prstGeom>
          <a:noFill/>
          <a:ln/>
        </p:spPr>
        <p:txBody>
          <a:bodyPr wrap="square" rtlCol="0" anchor="ctr"/>
          <a:lstStyle/>
          <a:p>
            <a:pPr algn="ctr" indent="0" marL="0">
              <a:buNone/>
            </a:pPr>
            <a:r>
              <a:rPr lang="en-US" sz="2400" b="1" dirty="0">
                <a:solidFill>
                  <a:srgbClr val="FFFFFF"/>
                </a:solidFill>
                <a:latin typeface="Microsoft YaHei" pitchFamily="34" charset="0"/>
                <a:ea typeface="Microsoft YaHei" pitchFamily="34" charset="-122"/>
                <a:cs typeface="Microsoft YaHei" pitchFamily="34" charset="-120"/>
              </a:rPr>
              <a:t>混合行为决策策略</a:t>
            </a:r>
            <a:endParaRPr lang="en-US" sz="2400" dirty="0"/>
          </a:p>
        </p:txBody>
      </p:sp>
      <p:sp>
        <p:nvSpPr>
          <p:cNvPr id="12" name="Text 10"/>
          <p:cNvSpPr/>
          <p:nvPr/>
        </p:nvSpPr>
        <p:spPr>
          <a:xfrm>
            <a:off x="1894081" y="2571750"/>
            <a:ext cx="2356653"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规则决策：基于明确交通规则（如红灯停、让行）的硬约束。</a:t>
            </a:r>
            <a:endParaRPr lang="en-US" sz="1200" dirty="0"/>
          </a:p>
        </p:txBody>
      </p:sp>
      <p:sp>
        <p:nvSpPr>
          <p:cNvPr id="13" name="Text 11"/>
          <p:cNvSpPr/>
          <p:nvPr/>
        </p:nvSpPr>
        <p:spPr>
          <a:xfrm>
            <a:off x="4893266" y="2571750"/>
            <a:ext cx="2356653"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代价评估：对多个候选行为（如变道 vs. 跟车）进行代价函数计算（安全性、效率、舒适性）。</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30473" cy="5143500"/>
          </a:xfrm>
          <a:prstGeom prst="rect">
            <a:avLst/>
          </a:prstGeom>
          <a:solidFill>
            <a:srgbClr val="47ACC5"/>
          </a:solidFill>
          <a:ln/>
        </p:spPr>
      </p:sp>
      <p:sp>
        <p:nvSpPr>
          <p:cNvPr id="3" name="Shape 1"/>
          <p:cNvSpPr/>
          <p:nvPr/>
        </p:nvSpPr>
        <p:spPr>
          <a:xfrm>
            <a:off x="195923" y="188805"/>
            <a:ext cx="8467420" cy="4610841"/>
          </a:xfrm>
          <a:prstGeom prst="rect">
            <a:avLst/>
          </a:prstGeom>
          <a:solidFill>
            <a:srgbClr val="000000"/>
          </a:solidFill>
          <a:ln/>
        </p:spPr>
      </p:sp>
      <p:sp>
        <p:nvSpPr>
          <p:cNvPr id="4" name="Shape 2"/>
          <p:cNvSpPr/>
          <p:nvPr/>
        </p:nvSpPr>
        <p:spPr>
          <a:xfrm>
            <a:off x="429730" y="348039"/>
            <a:ext cx="8467420" cy="4610841"/>
          </a:xfrm>
          <a:prstGeom prst="rect">
            <a:avLst/>
          </a:prstGeom>
          <a:solidFill>
            <a:srgbClr val="000000"/>
          </a:solidFill>
          <a:ln/>
        </p:spPr>
      </p:sp>
      <p:sp>
        <p:nvSpPr>
          <p:cNvPr id="5" name="Shape 3"/>
          <p:cNvSpPr/>
          <p:nvPr/>
        </p:nvSpPr>
        <p:spPr>
          <a:xfrm>
            <a:off x="619649" y="1714225"/>
            <a:ext cx="2555819" cy="2643950"/>
          </a:xfrm>
          <a:prstGeom prst="roundRect">
            <a:avLst>
              <a:gd name="adj" fmla="val 1608"/>
            </a:avLst>
          </a:prstGeom>
          <a:solidFill>
            <a:srgbClr val="FFFFFF"/>
          </a:solidFill>
          <a:ln/>
        </p:spPr>
      </p:sp>
      <p:sp>
        <p:nvSpPr>
          <p:cNvPr id="6" name="Text 4"/>
          <p:cNvSpPr/>
          <p:nvPr/>
        </p:nvSpPr>
        <p:spPr>
          <a:xfrm>
            <a:off x="719232" y="1998193"/>
            <a:ext cx="2356653" cy="429768"/>
          </a:xfrm>
          <a:prstGeom prst="rect">
            <a:avLst/>
          </a:prstGeom>
          <a:noFill/>
          <a:ln/>
        </p:spPr>
        <p:txBody>
          <a:bodyPr wrap="square" rtlCol="0" anchor="ctr"/>
          <a:lstStyle/>
          <a:p>
            <a:pPr algn="ctr" indent="0" marL="0">
              <a:buNone/>
            </a:pPr>
            <a:r>
              <a:rPr lang="en-US" sz="1400" b="1" dirty="0">
                <a:solidFill>
                  <a:srgbClr val="47ACC5"/>
                </a:solidFill>
                <a:latin typeface="Microsoft YaHei" pitchFamily="34" charset="0"/>
                <a:ea typeface="Microsoft YaHei" pitchFamily="34" charset="-122"/>
                <a:cs typeface="Microsoft YaHei" pitchFamily="34" charset="-120"/>
              </a:rPr>
              <a:t>内容项标题</a:t>
            </a:r>
            <a:endParaRPr lang="en-US" sz="1400" dirty="0"/>
          </a:p>
        </p:txBody>
      </p:sp>
      <p:sp>
        <p:nvSpPr>
          <p:cNvPr id="7" name="Shape 5"/>
          <p:cNvSpPr/>
          <p:nvPr/>
        </p:nvSpPr>
        <p:spPr>
          <a:xfrm>
            <a:off x="1311144" y="2494226"/>
            <a:ext cx="18288" cy="9144"/>
          </a:xfrm>
          <a:prstGeom prst="line">
            <a:avLst/>
          </a:prstGeom>
          <a:noFill/>
          <a:ln w="25400">
            <a:solidFill>
              <a:srgbClr val="47ACC5"/>
            </a:solidFill>
            <a:prstDash val="solid"/>
          </a:ln>
        </p:spPr>
      </p:sp>
      <p:sp>
        <p:nvSpPr>
          <p:cNvPr id="8" name="Shape 6"/>
          <p:cNvSpPr/>
          <p:nvPr/>
        </p:nvSpPr>
        <p:spPr>
          <a:xfrm>
            <a:off x="3279866" y="1714225"/>
            <a:ext cx="2555819" cy="2643950"/>
          </a:xfrm>
          <a:prstGeom prst="roundRect">
            <a:avLst>
              <a:gd name="adj" fmla="val 1608"/>
            </a:avLst>
          </a:prstGeom>
          <a:solidFill>
            <a:srgbClr val="FFFFFF"/>
          </a:solidFill>
          <a:ln/>
        </p:spPr>
      </p:sp>
      <p:sp>
        <p:nvSpPr>
          <p:cNvPr id="9" name="Text 7"/>
          <p:cNvSpPr/>
          <p:nvPr/>
        </p:nvSpPr>
        <p:spPr>
          <a:xfrm>
            <a:off x="3379449" y="1998193"/>
            <a:ext cx="2356653" cy="429768"/>
          </a:xfrm>
          <a:prstGeom prst="rect">
            <a:avLst/>
          </a:prstGeom>
          <a:noFill/>
          <a:ln/>
        </p:spPr>
        <p:txBody>
          <a:bodyPr wrap="square" rtlCol="0" anchor="ctr"/>
          <a:lstStyle/>
          <a:p>
            <a:pPr algn="ctr" indent="0" marL="0">
              <a:buNone/>
            </a:pPr>
            <a:r>
              <a:rPr lang="en-US" sz="1400" b="1" dirty="0">
                <a:solidFill>
                  <a:srgbClr val="47ACC5"/>
                </a:solidFill>
                <a:latin typeface="Microsoft YaHei" pitchFamily="34" charset="0"/>
                <a:ea typeface="Microsoft YaHei" pitchFamily="34" charset="-122"/>
                <a:cs typeface="Microsoft YaHei" pitchFamily="34" charset="-120"/>
              </a:rPr>
              <a:t>内容项标题</a:t>
            </a:r>
            <a:endParaRPr lang="en-US" sz="1400" dirty="0"/>
          </a:p>
        </p:txBody>
      </p:sp>
      <p:sp>
        <p:nvSpPr>
          <p:cNvPr id="10" name="Shape 8"/>
          <p:cNvSpPr/>
          <p:nvPr/>
        </p:nvSpPr>
        <p:spPr>
          <a:xfrm>
            <a:off x="3971361" y="2494226"/>
            <a:ext cx="18288" cy="9144"/>
          </a:xfrm>
          <a:prstGeom prst="line">
            <a:avLst/>
          </a:prstGeom>
          <a:noFill/>
          <a:ln w="25400">
            <a:solidFill>
              <a:srgbClr val="47ACC5"/>
            </a:solidFill>
            <a:prstDash val="solid"/>
          </a:ln>
        </p:spPr>
      </p:sp>
      <p:sp>
        <p:nvSpPr>
          <p:cNvPr id="11" name="Shape 9"/>
          <p:cNvSpPr/>
          <p:nvPr/>
        </p:nvSpPr>
        <p:spPr>
          <a:xfrm>
            <a:off x="5940083" y="1714225"/>
            <a:ext cx="2555819" cy="2643950"/>
          </a:xfrm>
          <a:prstGeom prst="roundRect">
            <a:avLst>
              <a:gd name="adj" fmla="val 1608"/>
            </a:avLst>
          </a:prstGeom>
          <a:solidFill>
            <a:srgbClr val="FFFFFF"/>
          </a:solidFill>
          <a:ln/>
        </p:spPr>
      </p:sp>
      <p:sp>
        <p:nvSpPr>
          <p:cNvPr id="12" name="Text 10"/>
          <p:cNvSpPr/>
          <p:nvPr/>
        </p:nvSpPr>
        <p:spPr>
          <a:xfrm>
            <a:off x="6039666" y="1998193"/>
            <a:ext cx="2356653" cy="429768"/>
          </a:xfrm>
          <a:prstGeom prst="rect">
            <a:avLst/>
          </a:prstGeom>
          <a:noFill/>
          <a:ln/>
        </p:spPr>
        <p:txBody>
          <a:bodyPr wrap="square" rtlCol="0" anchor="ctr"/>
          <a:lstStyle/>
          <a:p>
            <a:pPr algn="ctr" indent="0" marL="0">
              <a:buNone/>
            </a:pPr>
            <a:r>
              <a:rPr lang="en-US" sz="1400" b="1" dirty="0">
                <a:solidFill>
                  <a:srgbClr val="47ACC5"/>
                </a:solidFill>
                <a:latin typeface="Microsoft YaHei" pitchFamily="34" charset="0"/>
                <a:ea typeface="Microsoft YaHei" pitchFamily="34" charset="-122"/>
                <a:cs typeface="Microsoft YaHei" pitchFamily="34" charset="-120"/>
              </a:rPr>
              <a:t>内容项标题</a:t>
            </a:r>
            <a:endParaRPr lang="en-US" sz="1400" dirty="0"/>
          </a:p>
        </p:txBody>
      </p:sp>
      <p:sp>
        <p:nvSpPr>
          <p:cNvPr id="13" name="Shape 11"/>
          <p:cNvSpPr/>
          <p:nvPr/>
        </p:nvSpPr>
        <p:spPr>
          <a:xfrm>
            <a:off x="6631578" y="2494226"/>
            <a:ext cx="18288" cy="9144"/>
          </a:xfrm>
          <a:prstGeom prst="line">
            <a:avLst/>
          </a:prstGeom>
          <a:noFill/>
          <a:ln w="25400">
            <a:solidFill>
              <a:srgbClr val="47ACC5"/>
            </a:solidFill>
            <a:prstDash val="solid"/>
          </a:ln>
        </p:spPr>
      </p:sp>
      <p:sp>
        <p:nvSpPr>
          <p:cNvPr id="14" name="Text 12"/>
          <p:cNvSpPr/>
          <p:nvPr/>
        </p:nvSpPr>
        <p:spPr>
          <a:xfrm>
            <a:off x="762016" y="645450"/>
            <a:ext cx="7606441" cy="621792"/>
          </a:xfrm>
          <a:prstGeom prst="rect">
            <a:avLst/>
          </a:prstGeom>
          <a:noFill/>
          <a:ln/>
        </p:spPr>
        <p:txBody>
          <a:bodyPr wrap="square" rtlCol="0" anchor="ctr"/>
          <a:lstStyle/>
          <a:p>
            <a:pPr algn="ctr" indent="0" marL="0">
              <a:buNone/>
            </a:pPr>
            <a:r>
              <a:rPr lang="en-US" sz="2400" b="1" dirty="0">
                <a:solidFill>
                  <a:srgbClr val="FFFFFF"/>
                </a:solidFill>
                <a:latin typeface="Microsoft YaHei" pitchFamily="34" charset="0"/>
                <a:ea typeface="Microsoft YaHei" pitchFamily="34" charset="-122"/>
                <a:cs typeface="Microsoft YaHei" pitchFamily="34" charset="-120"/>
              </a:rPr>
              <a:t>核心算法详解：路径与速度规划</a:t>
            </a:r>
            <a:endParaRPr lang="en-US" sz="2400" dirty="0"/>
          </a:p>
        </p:txBody>
      </p:sp>
      <p:sp>
        <p:nvSpPr>
          <p:cNvPr id="15" name="Text 13"/>
          <p:cNvSpPr/>
          <p:nvPr/>
        </p:nvSpPr>
        <p:spPr>
          <a:xfrm>
            <a:off x="719232" y="2571750"/>
            <a:ext cx="2356653"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路径规划：基于Frenet采样生成候选路径 -&gt; 碰撞检测 -&gt; 代价函数筛选（平滑性、偏离度）。</a:t>
            </a:r>
            <a:endParaRPr lang="en-US" sz="1200" dirty="0"/>
          </a:p>
        </p:txBody>
      </p:sp>
      <p:sp>
        <p:nvSpPr>
          <p:cNvPr id="16" name="Text 14"/>
          <p:cNvSpPr/>
          <p:nvPr/>
        </p:nvSpPr>
        <p:spPr>
          <a:xfrm>
            <a:off x="3379449" y="2571750"/>
            <a:ext cx="2356653"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速度规划：采用ST图（速度-时间图）方法，将动态障碍物映射为时空障碍，规划出安全、高效的速度曲线。</a:t>
            </a:r>
            <a:endParaRPr lang="en-US" sz="1200" dirty="0"/>
          </a:p>
        </p:txBody>
      </p:sp>
      <p:sp>
        <p:nvSpPr>
          <p:cNvPr id="17" name="Text 15"/>
          <p:cNvSpPr/>
          <p:nvPr/>
        </p:nvSpPr>
        <p:spPr>
          <a:xfrm>
            <a:off x="6039666" y="2571750"/>
            <a:ext cx="2356653" cy="1280160"/>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轨迹优化：融合路径与速度结果，进行二次优化，确保轨迹满足车辆动力学约束（最大转向角、最大加速度）。</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7ACC5"/>
          </a:solidFill>
          <a:ln/>
        </p:spPr>
      </p:sp>
      <p:sp>
        <p:nvSpPr>
          <p:cNvPr id="3" name="Shape 1"/>
          <p:cNvSpPr/>
          <p:nvPr/>
        </p:nvSpPr>
        <p:spPr>
          <a:xfrm>
            <a:off x="90247" y="1680328"/>
            <a:ext cx="2194560" cy="2643530"/>
          </a:xfrm>
          <a:prstGeom prst="roundRect">
            <a:avLst>
              <a:gd name="adj" fmla="val 1608"/>
            </a:avLst>
          </a:prstGeom>
          <a:solidFill>
            <a:srgbClr val="FFFFFF"/>
          </a:solidFill>
          <a:ln/>
        </p:spPr>
      </p:sp>
      <p:sp>
        <p:nvSpPr>
          <p:cNvPr id="4" name="Text 2"/>
          <p:cNvSpPr/>
          <p:nvPr/>
        </p:nvSpPr>
        <p:spPr>
          <a:xfrm>
            <a:off x="155269" y="2056328"/>
            <a:ext cx="2064516" cy="402336"/>
          </a:xfrm>
          <a:prstGeom prst="rect">
            <a:avLst/>
          </a:prstGeom>
          <a:noFill/>
          <a:ln/>
        </p:spPr>
        <p:txBody>
          <a:bodyPr wrap="square" rtlCol="0" anchor="ctr"/>
          <a:lstStyle/>
          <a:p>
            <a:pPr algn="ctr" indent="0" marL="0">
              <a:buNone/>
            </a:pPr>
            <a:r>
              <a:rPr lang="en-US" sz="1200" b="1" dirty="0">
                <a:solidFill>
                  <a:srgbClr val="47ACC5"/>
                </a:solidFill>
                <a:latin typeface="Microsoft YaHei" pitchFamily="34" charset="0"/>
                <a:ea typeface="Microsoft YaHei" pitchFamily="34" charset="-122"/>
                <a:cs typeface="Microsoft YaHei" pitchFamily="34" charset="-120"/>
              </a:rPr>
              <a:t>内容项标题</a:t>
            </a:r>
            <a:endParaRPr lang="en-US" sz="1200" dirty="0"/>
          </a:p>
        </p:txBody>
      </p:sp>
      <p:sp>
        <p:nvSpPr>
          <p:cNvPr id="5" name="Shape 3"/>
          <p:cNvSpPr/>
          <p:nvPr/>
        </p:nvSpPr>
        <p:spPr>
          <a:xfrm>
            <a:off x="781041" y="2504414"/>
            <a:ext cx="18288" cy="9144"/>
          </a:xfrm>
          <a:prstGeom prst="line">
            <a:avLst/>
          </a:prstGeom>
          <a:noFill/>
          <a:ln w="25400">
            <a:solidFill>
              <a:srgbClr val="47ACC5"/>
            </a:solidFill>
            <a:prstDash val="solid"/>
          </a:ln>
        </p:spPr>
      </p:sp>
      <p:sp>
        <p:nvSpPr>
          <p:cNvPr id="6" name="Shape 4"/>
          <p:cNvSpPr/>
          <p:nvPr/>
        </p:nvSpPr>
        <p:spPr>
          <a:xfrm>
            <a:off x="2346562" y="1680328"/>
            <a:ext cx="2194560" cy="2643530"/>
          </a:xfrm>
          <a:prstGeom prst="roundRect">
            <a:avLst>
              <a:gd name="adj" fmla="val 1608"/>
            </a:avLst>
          </a:prstGeom>
          <a:solidFill>
            <a:srgbClr val="FFFFFF"/>
          </a:solidFill>
          <a:ln/>
        </p:spPr>
      </p:sp>
      <p:sp>
        <p:nvSpPr>
          <p:cNvPr id="7" name="Text 5"/>
          <p:cNvSpPr/>
          <p:nvPr/>
        </p:nvSpPr>
        <p:spPr>
          <a:xfrm>
            <a:off x="2411584" y="2056328"/>
            <a:ext cx="2064516" cy="402336"/>
          </a:xfrm>
          <a:prstGeom prst="rect">
            <a:avLst/>
          </a:prstGeom>
          <a:noFill/>
          <a:ln/>
        </p:spPr>
        <p:txBody>
          <a:bodyPr wrap="square" rtlCol="0" anchor="ctr"/>
          <a:lstStyle/>
          <a:p>
            <a:pPr algn="ctr" indent="0" marL="0">
              <a:buNone/>
            </a:pPr>
            <a:r>
              <a:rPr lang="en-US" sz="1200" b="1" dirty="0">
                <a:solidFill>
                  <a:srgbClr val="47ACC5"/>
                </a:solidFill>
                <a:latin typeface="Microsoft YaHei" pitchFamily="34" charset="0"/>
                <a:ea typeface="Microsoft YaHei" pitchFamily="34" charset="-122"/>
                <a:cs typeface="Microsoft YaHei" pitchFamily="34" charset="-120"/>
              </a:rPr>
              <a:t>内容项标题</a:t>
            </a:r>
            <a:endParaRPr lang="en-US" sz="1200" dirty="0"/>
          </a:p>
        </p:txBody>
      </p:sp>
      <p:sp>
        <p:nvSpPr>
          <p:cNvPr id="8" name="Shape 6"/>
          <p:cNvSpPr/>
          <p:nvPr/>
        </p:nvSpPr>
        <p:spPr>
          <a:xfrm>
            <a:off x="3037356" y="2504414"/>
            <a:ext cx="18288" cy="9144"/>
          </a:xfrm>
          <a:prstGeom prst="line">
            <a:avLst/>
          </a:prstGeom>
          <a:noFill/>
          <a:ln w="25400">
            <a:solidFill>
              <a:srgbClr val="47ACC5"/>
            </a:solidFill>
            <a:prstDash val="solid"/>
          </a:ln>
        </p:spPr>
      </p:sp>
      <p:sp>
        <p:nvSpPr>
          <p:cNvPr id="9" name="Shape 7"/>
          <p:cNvSpPr/>
          <p:nvPr/>
        </p:nvSpPr>
        <p:spPr>
          <a:xfrm>
            <a:off x="4602878" y="1680328"/>
            <a:ext cx="2194560" cy="2643530"/>
          </a:xfrm>
          <a:prstGeom prst="roundRect">
            <a:avLst>
              <a:gd name="adj" fmla="val 1608"/>
            </a:avLst>
          </a:prstGeom>
          <a:solidFill>
            <a:srgbClr val="FFFFFF"/>
          </a:solidFill>
          <a:ln/>
        </p:spPr>
      </p:sp>
      <p:sp>
        <p:nvSpPr>
          <p:cNvPr id="10" name="Text 8"/>
          <p:cNvSpPr/>
          <p:nvPr/>
        </p:nvSpPr>
        <p:spPr>
          <a:xfrm>
            <a:off x="4667900" y="2056328"/>
            <a:ext cx="2064516" cy="402336"/>
          </a:xfrm>
          <a:prstGeom prst="rect">
            <a:avLst/>
          </a:prstGeom>
          <a:noFill/>
          <a:ln/>
        </p:spPr>
        <p:txBody>
          <a:bodyPr wrap="square" rtlCol="0" anchor="ctr"/>
          <a:lstStyle/>
          <a:p>
            <a:pPr algn="ctr" indent="0" marL="0">
              <a:buNone/>
            </a:pPr>
            <a:r>
              <a:rPr lang="en-US" sz="1200" b="1" dirty="0">
                <a:solidFill>
                  <a:srgbClr val="47ACC5"/>
                </a:solidFill>
                <a:latin typeface="Microsoft YaHei" pitchFamily="34" charset="0"/>
                <a:ea typeface="Microsoft YaHei" pitchFamily="34" charset="-122"/>
                <a:cs typeface="Microsoft YaHei" pitchFamily="34" charset="-120"/>
              </a:rPr>
              <a:t>内容项标题</a:t>
            </a:r>
            <a:endParaRPr lang="en-US" sz="1200" dirty="0"/>
          </a:p>
        </p:txBody>
      </p:sp>
      <p:sp>
        <p:nvSpPr>
          <p:cNvPr id="11" name="Shape 9"/>
          <p:cNvSpPr/>
          <p:nvPr/>
        </p:nvSpPr>
        <p:spPr>
          <a:xfrm>
            <a:off x="5293671" y="2504414"/>
            <a:ext cx="18288" cy="9144"/>
          </a:xfrm>
          <a:prstGeom prst="line">
            <a:avLst/>
          </a:prstGeom>
          <a:noFill/>
          <a:ln w="25400">
            <a:solidFill>
              <a:srgbClr val="47ACC5"/>
            </a:solidFill>
            <a:prstDash val="solid"/>
          </a:ln>
        </p:spPr>
      </p:sp>
      <p:sp>
        <p:nvSpPr>
          <p:cNvPr id="12" name="Shape 10"/>
          <p:cNvSpPr/>
          <p:nvPr/>
        </p:nvSpPr>
        <p:spPr>
          <a:xfrm>
            <a:off x="6859193" y="1680328"/>
            <a:ext cx="2194560" cy="2643530"/>
          </a:xfrm>
          <a:prstGeom prst="roundRect">
            <a:avLst>
              <a:gd name="adj" fmla="val 1608"/>
            </a:avLst>
          </a:prstGeom>
          <a:solidFill>
            <a:srgbClr val="FFFFFF"/>
          </a:solidFill>
          <a:ln/>
        </p:spPr>
      </p:sp>
      <p:sp>
        <p:nvSpPr>
          <p:cNvPr id="13" name="Text 11"/>
          <p:cNvSpPr/>
          <p:nvPr/>
        </p:nvSpPr>
        <p:spPr>
          <a:xfrm>
            <a:off x="6924215" y="2056328"/>
            <a:ext cx="2064516" cy="402336"/>
          </a:xfrm>
          <a:prstGeom prst="rect">
            <a:avLst/>
          </a:prstGeom>
          <a:noFill/>
          <a:ln/>
        </p:spPr>
        <p:txBody>
          <a:bodyPr wrap="square" rtlCol="0" anchor="ctr"/>
          <a:lstStyle/>
          <a:p>
            <a:pPr algn="ctr" indent="0" marL="0">
              <a:buNone/>
            </a:pPr>
            <a:r>
              <a:rPr lang="en-US" sz="1200" b="1" dirty="0">
                <a:solidFill>
                  <a:srgbClr val="47ACC5"/>
                </a:solidFill>
                <a:latin typeface="Microsoft YaHei" pitchFamily="34" charset="0"/>
                <a:ea typeface="Microsoft YaHei" pitchFamily="34" charset="-122"/>
                <a:cs typeface="Microsoft YaHei" pitchFamily="34" charset="-120"/>
              </a:rPr>
              <a:t>内容项标题</a:t>
            </a:r>
            <a:endParaRPr lang="en-US" sz="1200" dirty="0"/>
          </a:p>
        </p:txBody>
      </p:sp>
      <p:sp>
        <p:nvSpPr>
          <p:cNvPr id="14" name="Shape 12"/>
          <p:cNvSpPr/>
          <p:nvPr/>
        </p:nvSpPr>
        <p:spPr>
          <a:xfrm>
            <a:off x="7549987" y="2504414"/>
            <a:ext cx="18288" cy="9144"/>
          </a:xfrm>
          <a:prstGeom prst="line">
            <a:avLst/>
          </a:prstGeom>
          <a:noFill/>
          <a:ln w="25400">
            <a:solidFill>
              <a:srgbClr val="47ACC5"/>
            </a:solidFill>
            <a:prstDash val="solid"/>
          </a:ln>
        </p:spPr>
      </p:sp>
      <p:sp>
        <p:nvSpPr>
          <p:cNvPr id="15" name="Shape 13"/>
          <p:cNvSpPr/>
          <p:nvPr/>
        </p:nvSpPr>
        <p:spPr>
          <a:xfrm>
            <a:off x="196991" y="77720"/>
            <a:ext cx="18288" cy="9144"/>
          </a:xfrm>
          <a:prstGeom prst="line">
            <a:avLst/>
          </a:prstGeom>
          <a:noFill/>
          <a:ln w="25400">
            <a:solidFill>
              <a:srgbClr val="FFFFFF"/>
            </a:solidFill>
            <a:prstDash val="solid"/>
          </a:ln>
        </p:spPr>
      </p:sp>
      <p:sp>
        <p:nvSpPr>
          <p:cNvPr id="16" name="Shape 14"/>
          <p:cNvSpPr/>
          <p:nvPr/>
        </p:nvSpPr>
        <p:spPr>
          <a:xfrm>
            <a:off x="90247" y="175766"/>
            <a:ext cx="18288" cy="9144"/>
          </a:xfrm>
          <a:prstGeom prst="line">
            <a:avLst/>
          </a:prstGeom>
          <a:noFill/>
          <a:ln w="25400">
            <a:solidFill>
              <a:srgbClr val="FFFFFF"/>
            </a:solidFill>
            <a:prstDash val="solid"/>
          </a:ln>
        </p:spPr>
      </p:sp>
      <p:sp>
        <p:nvSpPr>
          <p:cNvPr id="17" name="Text 15"/>
          <p:cNvSpPr/>
          <p:nvPr/>
        </p:nvSpPr>
        <p:spPr>
          <a:xfrm>
            <a:off x="762016" y="557319"/>
            <a:ext cx="7606441" cy="621792"/>
          </a:xfrm>
          <a:prstGeom prst="rect">
            <a:avLst/>
          </a:prstGeom>
          <a:noFill/>
          <a:ln/>
        </p:spPr>
        <p:txBody>
          <a:bodyPr wrap="square" rtlCol="0" anchor="ctr"/>
          <a:lstStyle/>
          <a:p>
            <a:pPr algn="ctr" indent="0" marL="0">
              <a:buNone/>
            </a:pPr>
            <a:r>
              <a:rPr lang="en-US" sz="2400" b="1" dirty="0">
                <a:solidFill>
                  <a:srgbClr val="FFFFFF"/>
                </a:solidFill>
                <a:latin typeface="Microsoft YaHei" pitchFamily="34" charset="0"/>
                <a:ea typeface="Microsoft YaHei" pitchFamily="34" charset="-122"/>
                <a:cs typeface="Microsoft YaHei" pitchFamily="34" charset="-120"/>
              </a:rPr>
              <a:t>安全监控与降级策略</a:t>
            </a:r>
            <a:endParaRPr lang="en-US" sz="2400" dirty="0"/>
          </a:p>
        </p:txBody>
      </p:sp>
      <p:sp>
        <p:nvSpPr>
          <p:cNvPr id="18" name="Text 16"/>
          <p:cNvSpPr/>
          <p:nvPr/>
        </p:nvSpPr>
        <p:spPr>
          <a:xfrm>
            <a:off x="155169" y="2559248"/>
            <a:ext cx="2064715" cy="1499616"/>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独立安全监控器：实时监控规划轨迹的安全性（如碰撞风险、超出边界）。</a:t>
            </a:r>
            <a:endParaRPr lang="en-US" sz="1200" dirty="0"/>
          </a:p>
        </p:txBody>
      </p:sp>
      <p:sp>
        <p:nvSpPr>
          <p:cNvPr id="19" name="Text 17"/>
          <p:cNvSpPr/>
          <p:nvPr/>
        </p:nvSpPr>
        <p:spPr>
          <a:xfrm>
            <a:off x="2411485" y="2559248"/>
            <a:ext cx="2064715" cy="1499616"/>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降级策略：当主规划器失效或检测到风险时，触发降级行为（如紧急制动、靠边停车、请求人工接管）。</a:t>
            </a:r>
            <a:endParaRPr lang="en-US" sz="1200" dirty="0"/>
          </a:p>
        </p:txBody>
      </p:sp>
      <p:sp>
        <p:nvSpPr>
          <p:cNvPr id="20" name="Text 18"/>
          <p:cNvSpPr/>
          <p:nvPr/>
        </p:nvSpPr>
        <p:spPr>
          <a:xfrm>
            <a:off x="4667800" y="2559248"/>
            <a:ext cx="2064715" cy="1499616"/>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预期功能安全：处理传感器噪声、算法局限性导致的潜在风险。</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3527" y="0"/>
            <a:ext cx="9144000" cy="5143500"/>
          </a:xfrm>
          <a:prstGeom prst="rect">
            <a:avLst/>
          </a:prstGeom>
          <a:solidFill>
            <a:srgbClr val="FFFFFF"/>
          </a:solidFill>
          <a:ln/>
        </p:spPr>
      </p:sp>
      <p:sp>
        <p:nvSpPr>
          <p:cNvPr id="3" name="Shape 1"/>
          <p:cNvSpPr/>
          <p:nvPr/>
        </p:nvSpPr>
        <p:spPr>
          <a:xfrm>
            <a:off x="2382251" y="2283627"/>
            <a:ext cx="109728" cy="9144"/>
          </a:xfrm>
          <a:prstGeom prst="line">
            <a:avLst/>
          </a:prstGeom>
          <a:noFill/>
          <a:ln w="152400">
            <a:solidFill>
              <a:srgbClr val="47ACC5"/>
            </a:solidFill>
            <a:prstDash val="solid"/>
          </a:ln>
        </p:spPr>
      </p:sp>
      <p:sp>
        <p:nvSpPr>
          <p:cNvPr id="4" name="Shape 2"/>
          <p:cNvSpPr/>
          <p:nvPr/>
        </p:nvSpPr>
        <p:spPr>
          <a:xfrm>
            <a:off x="3900827" y="507435"/>
            <a:ext cx="1355872" cy="1355872"/>
          </a:xfrm>
          <a:prstGeom prst="rect">
            <a:avLst/>
          </a:prstGeom>
          <a:solidFill>
            <a:srgbClr val="47ACC5"/>
          </a:solidFill>
          <a:ln/>
        </p:spPr>
      </p:sp>
      <p:sp>
        <p:nvSpPr>
          <p:cNvPr id="5" name="Text 3"/>
          <p:cNvSpPr/>
          <p:nvPr/>
        </p:nvSpPr>
        <p:spPr>
          <a:xfrm>
            <a:off x="585721" y="2476850"/>
            <a:ext cx="7986085" cy="786384"/>
          </a:xfrm>
          <a:prstGeom prst="rect">
            <a:avLst/>
          </a:prstGeom>
          <a:noFill/>
          <a:ln/>
        </p:spPr>
        <p:txBody>
          <a:bodyPr wrap="square" rtlCol="0" anchor="ctr"/>
          <a:lstStyle/>
          <a:p>
            <a:pPr algn="ctr" indent="0" marL="0">
              <a:buNone/>
            </a:pPr>
            <a:r>
              <a:rPr lang="en-US" sz="3300" b="1" dirty="0">
                <a:solidFill>
                  <a:srgbClr val="000000"/>
                </a:solidFill>
                <a:latin typeface="Microsoft YaHei" pitchFamily="34" charset="0"/>
                <a:ea typeface="Microsoft YaHei" pitchFamily="34" charset="-122"/>
                <a:cs typeface="Microsoft YaHei" pitchFamily="34" charset="-120"/>
              </a:rPr>
              <a:t>第三章：成果与应用验证</a:t>
            </a:r>
            <a:endParaRPr lang="en-US" sz="3300" dirty="0"/>
          </a:p>
        </p:txBody>
      </p:sp>
      <p:sp>
        <p:nvSpPr>
          <p:cNvPr id="6" name="Shape 4"/>
          <p:cNvSpPr/>
          <p:nvPr/>
        </p:nvSpPr>
        <p:spPr>
          <a:xfrm>
            <a:off x="2382251" y="3457086"/>
            <a:ext cx="109728" cy="9144"/>
          </a:xfrm>
          <a:prstGeom prst="line">
            <a:avLst/>
          </a:prstGeom>
          <a:noFill/>
          <a:ln w="152400">
            <a:solidFill>
              <a:srgbClr val="47ACC5"/>
            </a:solidFill>
            <a:prstDash val="solid"/>
          </a:ln>
        </p:spPr>
      </p:sp>
      <p:sp>
        <p:nvSpPr>
          <p:cNvPr id="7" name="Text 5"/>
          <p:cNvSpPr/>
          <p:nvPr/>
        </p:nvSpPr>
        <p:spPr>
          <a:xfrm>
            <a:off x="1497103" y="3775086"/>
            <a:ext cx="6163320" cy="621792"/>
          </a:xfrm>
          <a:prstGeom prst="rect">
            <a:avLst/>
          </a:prstGeom>
          <a:noFill/>
          <a:ln/>
        </p:spPr>
        <p:txBody>
          <a:bodyPr wrap="square" rtlCol="0" anchor="ctr"/>
          <a:lstStyle/>
          <a:p>
            <a:pPr algn="ctr" indent="0" marL="0">
              <a:buNone/>
            </a:pPr>
            <a:r>
              <a:rPr lang="en-US" sz="1100" dirty="0">
                <a:solidFill>
                  <a:srgbClr val="000000"/>
                </a:solidFill>
                <a:latin typeface="Microsoft YaHei" pitchFamily="34" charset="0"/>
                <a:ea typeface="Microsoft YaHei" pitchFamily="34" charset="-122"/>
                <a:cs typeface="Microsoft YaHei" pitchFamily="34" charset="-120"/>
              </a:rPr>
              <a:t>模板小节过渡正文模板小节过渡正文模板小节过渡正文模板小节过渡正文模板小节过渡正文模板小节过渡正文模板小节过渡正文</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90451"/>
            <a:ext cx="551915" cy="551915"/>
          </a:xfrm>
          <a:prstGeom prst="rect">
            <a:avLst/>
          </a:prstGeom>
          <a:solidFill>
            <a:srgbClr val="47ACC5"/>
          </a:solidFill>
          <a:ln/>
        </p:spPr>
      </p:sp>
      <p:sp>
        <p:nvSpPr>
          <p:cNvPr id="3" name="Shape 1"/>
          <p:cNvSpPr/>
          <p:nvPr/>
        </p:nvSpPr>
        <p:spPr>
          <a:xfrm>
            <a:off x="0" y="744579"/>
            <a:ext cx="18288" cy="9144"/>
          </a:xfrm>
          <a:prstGeom prst="line">
            <a:avLst/>
          </a:prstGeom>
          <a:noFill/>
          <a:ln w="25400">
            <a:solidFill>
              <a:srgbClr val="47ACC5"/>
            </a:solidFill>
            <a:prstDash val="solid"/>
          </a:ln>
        </p:spPr>
      </p:sp>
      <p:sp>
        <p:nvSpPr>
          <p:cNvPr id="4" name="Shape 2"/>
          <p:cNvSpPr/>
          <p:nvPr/>
        </p:nvSpPr>
        <p:spPr>
          <a:xfrm>
            <a:off x="89525" y="279976"/>
            <a:ext cx="372865" cy="372865"/>
          </a:xfrm>
          <a:prstGeom prst="rect">
            <a:avLst/>
          </a:prstGeom>
          <a:solidFill>
            <a:srgbClr val="FFFFFF"/>
          </a:solidFill>
          <a:ln/>
        </p:spPr>
      </p:sp>
      <p:sp>
        <p:nvSpPr>
          <p:cNvPr id="5" name="Shape 3"/>
          <p:cNvSpPr/>
          <p:nvPr/>
        </p:nvSpPr>
        <p:spPr>
          <a:xfrm>
            <a:off x="0" y="202719"/>
            <a:ext cx="18288" cy="9144"/>
          </a:xfrm>
          <a:prstGeom prst="line">
            <a:avLst/>
          </a:prstGeom>
          <a:noFill/>
          <a:ln w="25400">
            <a:solidFill>
              <a:srgbClr val="47ACC5"/>
            </a:solidFill>
            <a:prstDash val="solid"/>
          </a:ln>
        </p:spPr>
      </p:sp>
      <p:sp>
        <p:nvSpPr>
          <p:cNvPr id="6" name="Text 4"/>
          <p:cNvSpPr/>
          <p:nvPr/>
        </p:nvSpPr>
        <p:spPr>
          <a:xfrm>
            <a:off x="4218475" y="1451569"/>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7" name="Text 5"/>
          <p:cNvSpPr/>
          <p:nvPr/>
        </p:nvSpPr>
        <p:spPr>
          <a:xfrm>
            <a:off x="4218475" y="3156161"/>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8" name="Shape 6"/>
          <p:cNvSpPr/>
          <p:nvPr/>
        </p:nvSpPr>
        <p:spPr>
          <a:xfrm>
            <a:off x="551915" y="1211810"/>
            <a:ext cx="3482557" cy="3482557"/>
          </a:xfrm>
          <a:prstGeom prst="rect">
            <a:avLst/>
          </a:prstGeom>
          <a:solidFill>
            <a:srgbClr val="47ACC5"/>
          </a:solidFill>
          <a:ln/>
        </p:spPr>
      </p:sp>
      <p:sp>
        <p:nvSpPr>
          <p:cNvPr id="9" name="Shape 7"/>
          <p:cNvSpPr/>
          <p:nvPr/>
        </p:nvSpPr>
        <p:spPr>
          <a:xfrm>
            <a:off x="8961120" y="1211810"/>
            <a:ext cx="182880" cy="3482557"/>
          </a:xfrm>
          <a:prstGeom prst="rect">
            <a:avLst/>
          </a:prstGeom>
          <a:solidFill>
            <a:srgbClr val="47ACC5"/>
          </a:solidFill>
          <a:ln/>
        </p:spPr>
      </p:sp>
      <p:sp>
        <p:nvSpPr>
          <p:cNvPr id="10" name="Text 8"/>
          <p:cNvSpPr/>
          <p:nvPr/>
        </p:nvSpPr>
        <p:spPr>
          <a:xfrm>
            <a:off x="551915" y="157150"/>
            <a:ext cx="7836940" cy="621792"/>
          </a:xfrm>
          <a:prstGeom prst="rect">
            <a:avLst/>
          </a:prstGeom>
          <a:noFill/>
          <a:ln/>
        </p:spPr>
        <p:txBody>
          <a:bodyPr wrap="square" rtlCol="0" anchor="ctr"/>
          <a:lstStyle/>
          <a:p>
            <a:pPr algn="l" indent="0" marL="0">
              <a:buNone/>
            </a:pPr>
            <a:r>
              <a:rPr lang="en-US" sz="2400" dirty="0">
                <a:solidFill>
                  <a:srgbClr val="000000"/>
                </a:solidFill>
                <a:latin typeface="Microsoft YaHei" pitchFamily="34" charset="0"/>
                <a:ea typeface="Microsoft YaHei" pitchFamily="34" charset="-122"/>
                <a:cs typeface="Microsoft YaHei" pitchFamily="34" charset="-120"/>
              </a:rPr>
              <a:t>支持的应用场景（ODD）</a:t>
            </a:r>
            <a:endParaRPr lang="en-US" sz="2400" dirty="0"/>
          </a:p>
        </p:txBody>
      </p:sp>
      <p:sp>
        <p:nvSpPr>
          <p:cNvPr id="11" name="Text 9"/>
          <p:cNvSpPr/>
          <p:nvPr/>
        </p:nvSpPr>
        <p:spPr>
          <a:xfrm>
            <a:off x="4218475" y="1908769"/>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高速道路：巡航、自动变道、进出匝道。</a:t>
            </a:r>
            <a:endParaRPr lang="en-US" sz="1100" dirty="0"/>
          </a:p>
        </p:txBody>
      </p:sp>
      <p:sp>
        <p:nvSpPr>
          <p:cNvPr id="12" name="Text 10"/>
          <p:cNvSpPr/>
          <p:nvPr/>
        </p:nvSpPr>
        <p:spPr>
          <a:xfrm>
            <a:off x="4218475" y="3613361"/>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城市道路：路口通行、行人/非机动车避让、红绿灯响应。</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90451"/>
            <a:ext cx="551915" cy="551915"/>
          </a:xfrm>
          <a:prstGeom prst="rect">
            <a:avLst/>
          </a:prstGeom>
          <a:solidFill>
            <a:srgbClr val="47ACC5"/>
          </a:solidFill>
          <a:ln/>
        </p:spPr>
      </p:sp>
      <p:sp>
        <p:nvSpPr>
          <p:cNvPr id="3" name="Shape 1"/>
          <p:cNvSpPr/>
          <p:nvPr/>
        </p:nvSpPr>
        <p:spPr>
          <a:xfrm>
            <a:off x="0" y="744579"/>
            <a:ext cx="18288" cy="9144"/>
          </a:xfrm>
          <a:prstGeom prst="line">
            <a:avLst/>
          </a:prstGeom>
          <a:noFill/>
          <a:ln w="25400">
            <a:solidFill>
              <a:srgbClr val="47ACC5"/>
            </a:solidFill>
            <a:prstDash val="solid"/>
          </a:ln>
        </p:spPr>
      </p:sp>
      <p:sp>
        <p:nvSpPr>
          <p:cNvPr id="4" name="Shape 2"/>
          <p:cNvSpPr/>
          <p:nvPr/>
        </p:nvSpPr>
        <p:spPr>
          <a:xfrm>
            <a:off x="89525" y="279976"/>
            <a:ext cx="372865" cy="372865"/>
          </a:xfrm>
          <a:prstGeom prst="rect">
            <a:avLst/>
          </a:prstGeom>
          <a:solidFill>
            <a:srgbClr val="FFFFFF"/>
          </a:solidFill>
          <a:ln/>
        </p:spPr>
      </p:sp>
      <p:sp>
        <p:nvSpPr>
          <p:cNvPr id="5" name="Shape 3"/>
          <p:cNvSpPr/>
          <p:nvPr/>
        </p:nvSpPr>
        <p:spPr>
          <a:xfrm>
            <a:off x="0" y="202719"/>
            <a:ext cx="18288" cy="9144"/>
          </a:xfrm>
          <a:prstGeom prst="line">
            <a:avLst/>
          </a:prstGeom>
          <a:noFill/>
          <a:ln w="25400">
            <a:solidFill>
              <a:srgbClr val="47ACC5"/>
            </a:solidFill>
            <a:prstDash val="solid"/>
          </a:ln>
        </p:spPr>
      </p:sp>
      <p:sp>
        <p:nvSpPr>
          <p:cNvPr id="6" name="Shape 4"/>
          <p:cNvSpPr/>
          <p:nvPr/>
        </p:nvSpPr>
        <p:spPr>
          <a:xfrm>
            <a:off x="551915" y="1211810"/>
            <a:ext cx="3482557" cy="3482557"/>
          </a:xfrm>
          <a:prstGeom prst="rect">
            <a:avLst/>
          </a:prstGeom>
          <a:solidFill>
            <a:srgbClr val="47ACC5"/>
          </a:solidFill>
          <a:ln/>
        </p:spPr>
      </p:sp>
      <p:sp>
        <p:nvSpPr>
          <p:cNvPr id="7" name="Shape 5"/>
          <p:cNvSpPr/>
          <p:nvPr/>
        </p:nvSpPr>
        <p:spPr>
          <a:xfrm>
            <a:off x="8961120" y="1211810"/>
            <a:ext cx="182880" cy="3482557"/>
          </a:xfrm>
          <a:prstGeom prst="rect">
            <a:avLst/>
          </a:prstGeom>
          <a:solidFill>
            <a:srgbClr val="47ACC5"/>
          </a:solidFill>
          <a:ln/>
        </p:spPr>
      </p:sp>
      <p:sp>
        <p:nvSpPr>
          <p:cNvPr id="8" name="Text 6"/>
          <p:cNvSpPr/>
          <p:nvPr/>
        </p:nvSpPr>
        <p:spPr>
          <a:xfrm>
            <a:off x="551915" y="157150"/>
            <a:ext cx="7836940" cy="621792"/>
          </a:xfrm>
          <a:prstGeom prst="rect">
            <a:avLst/>
          </a:prstGeom>
          <a:noFill/>
          <a:ln/>
        </p:spPr>
        <p:txBody>
          <a:bodyPr wrap="square" rtlCol="0" anchor="ctr"/>
          <a:lstStyle/>
          <a:p>
            <a:pPr algn="l" indent="0" marL="0">
              <a:buNone/>
            </a:pPr>
            <a:r>
              <a:rPr lang="en-US" sz="2400" dirty="0">
                <a:solidFill>
                  <a:srgbClr val="000000"/>
                </a:solidFill>
                <a:latin typeface="Microsoft YaHei" pitchFamily="34" charset="0"/>
                <a:ea typeface="Microsoft YaHei" pitchFamily="34" charset="-122"/>
                <a:cs typeface="Microsoft YaHei" pitchFamily="34" charset="-120"/>
              </a:rPr>
              <a:t>仿真验证平台与测试场景库</a:t>
            </a:r>
            <a:endParaRPr lang="en-US" sz="2400" dirty="0"/>
          </a:p>
        </p:txBody>
      </p:sp>
      <p:sp>
        <p:nvSpPr>
          <p:cNvPr id="9" name="Text 7"/>
          <p:cNvSpPr/>
          <p:nvPr/>
        </p:nvSpPr>
        <p:spPr>
          <a:xfrm>
            <a:off x="4470385" y="1633277"/>
            <a:ext cx="3638290" cy="621792"/>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仿真平台：Carla、LGSVL等主流仿真器。</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90451"/>
            <a:ext cx="551915" cy="551915"/>
          </a:xfrm>
          <a:prstGeom prst="rect">
            <a:avLst/>
          </a:prstGeom>
          <a:solidFill>
            <a:srgbClr val="47ACC5"/>
          </a:solidFill>
          <a:ln/>
        </p:spPr>
      </p:sp>
      <p:sp>
        <p:nvSpPr>
          <p:cNvPr id="3" name="Shape 1"/>
          <p:cNvSpPr/>
          <p:nvPr/>
        </p:nvSpPr>
        <p:spPr>
          <a:xfrm>
            <a:off x="0" y="744579"/>
            <a:ext cx="18288" cy="9144"/>
          </a:xfrm>
          <a:prstGeom prst="line">
            <a:avLst/>
          </a:prstGeom>
          <a:noFill/>
          <a:ln w="25400">
            <a:solidFill>
              <a:srgbClr val="47ACC5"/>
            </a:solidFill>
            <a:prstDash val="solid"/>
          </a:ln>
        </p:spPr>
      </p:sp>
      <p:sp>
        <p:nvSpPr>
          <p:cNvPr id="4" name="Shape 2"/>
          <p:cNvSpPr/>
          <p:nvPr/>
        </p:nvSpPr>
        <p:spPr>
          <a:xfrm>
            <a:off x="89525" y="279976"/>
            <a:ext cx="372865" cy="372865"/>
          </a:xfrm>
          <a:prstGeom prst="rect">
            <a:avLst/>
          </a:prstGeom>
          <a:solidFill>
            <a:srgbClr val="FFFFFF"/>
          </a:solidFill>
          <a:ln/>
        </p:spPr>
      </p:sp>
      <p:sp>
        <p:nvSpPr>
          <p:cNvPr id="5" name="Shape 3"/>
          <p:cNvSpPr/>
          <p:nvPr/>
        </p:nvSpPr>
        <p:spPr>
          <a:xfrm>
            <a:off x="0" y="202719"/>
            <a:ext cx="18288" cy="9144"/>
          </a:xfrm>
          <a:prstGeom prst="line">
            <a:avLst/>
          </a:prstGeom>
          <a:noFill/>
          <a:ln w="25400">
            <a:solidFill>
              <a:srgbClr val="47ACC5"/>
            </a:solidFill>
            <a:prstDash val="solid"/>
          </a:ln>
        </p:spPr>
      </p:sp>
      <p:sp>
        <p:nvSpPr>
          <p:cNvPr id="6" name="Shape 4"/>
          <p:cNvSpPr/>
          <p:nvPr/>
        </p:nvSpPr>
        <p:spPr>
          <a:xfrm>
            <a:off x="3423652" y="1369431"/>
            <a:ext cx="2093466" cy="3140199"/>
          </a:xfrm>
          <a:prstGeom prst="rect">
            <a:avLst/>
          </a:prstGeom>
          <a:solidFill>
            <a:srgbClr val="47ACC5"/>
          </a:solidFill>
          <a:ln/>
        </p:spPr>
      </p:sp>
      <p:sp>
        <p:nvSpPr>
          <p:cNvPr id="7" name="Text 5"/>
          <p:cNvSpPr/>
          <p:nvPr/>
        </p:nvSpPr>
        <p:spPr>
          <a:xfrm>
            <a:off x="260370" y="1369431"/>
            <a:ext cx="2996477" cy="457200"/>
          </a:xfrm>
          <a:prstGeom prst="rect">
            <a:avLst/>
          </a:prstGeom>
          <a:noFill/>
          <a:ln/>
        </p:spPr>
        <p:txBody>
          <a:bodyPr wrap="square" rtlCol="0" anchor="ctr"/>
          <a:lstStyle/>
          <a:p>
            <a:pPr algn="r"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8" name="Text 6"/>
          <p:cNvSpPr/>
          <p:nvPr/>
        </p:nvSpPr>
        <p:spPr>
          <a:xfrm>
            <a:off x="260370" y="3074022"/>
            <a:ext cx="2996477" cy="457200"/>
          </a:xfrm>
          <a:prstGeom prst="rect">
            <a:avLst/>
          </a:prstGeom>
          <a:noFill/>
          <a:ln/>
        </p:spPr>
        <p:txBody>
          <a:bodyPr wrap="square" rtlCol="0" anchor="ctr"/>
          <a:lstStyle/>
          <a:p>
            <a:pPr algn="r"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9" name="Text 7"/>
          <p:cNvSpPr/>
          <p:nvPr/>
        </p:nvSpPr>
        <p:spPr>
          <a:xfrm>
            <a:off x="5666828" y="2290306"/>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10" name="Text 8"/>
          <p:cNvSpPr/>
          <p:nvPr/>
        </p:nvSpPr>
        <p:spPr>
          <a:xfrm>
            <a:off x="551915" y="157150"/>
            <a:ext cx="7836940" cy="621792"/>
          </a:xfrm>
          <a:prstGeom prst="rect">
            <a:avLst/>
          </a:prstGeom>
          <a:noFill/>
          <a:ln/>
        </p:spPr>
        <p:txBody>
          <a:bodyPr wrap="square" rtlCol="0" anchor="ctr"/>
          <a:lstStyle/>
          <a:p>
            <a:pPr algn="l" indent="0" marL="0">
              <a:buNone/>
            </a:pPr>
            <a:r>
              <a:rPr lang="en-US" sz="2400" dirty="0">
                <a:solidFill>
                  <a:srgbClr val="000000"/>
                </a:solidFill>
                <a:latin typeface="Microsoft YaHei" pitchFamily="34" charset="0"/>
                <a:ea typeface="Microsoft YaHei" pitchFamily="34" charset="-122"/>
                <a:cs typeface="Microsoft YaHei" pitchFamily="34" charset="-120"/>
              </a:rPr>
              <a:t>核心评价指标与结果</a:t>
            </a:r>
            <a:endParaRPr lang="en-US" sz="2400" dirty="0"/>
          </a:p>
        </p:txBody>
      </p:sp>
      <p:sp>
        <p:nvSpPr>
          <p:cNvPr id="11" name="Text 9"/>
          <p:cNvSpPr/>
          <p:nvPr/>
        </p:nvSpPr>
        <p:spPr>
          <a:xfrm>
            <a:off x="551915" y="1826631"/>
            <a:ext cx="2704931" cy="841248"/>
          </a:xfrm>
          <a:prstGeom prst="rect">
            <a:avLst/>
          </a:prstGeom>
          <a:noFill/>
          <a:ln/>
        </p:spPr>
        <p:txBody>
          <a:bodyPr wrap="square" rtlCol="0" anchor="ctr"/>
          <a:lstStyle/>
          <a:p>
            <a:pPr algn="r" indent="0" marL="0">
              <a:buNone/>
            </a:pPr>
            <a:r>
              <a:rPr lang="en-US" sz="1100" dirty="0">
                <a:solidFill>
                  <a:srgbClr val="000000"/>
                </a:solidFill>
                <a:latin typeface="Microsoft YaHei" pitchFamily="34" charset="0"/>
                <a:ea typeface="Microsoft YaHei" pitchFamily="34" charset="-122"/>
                <a:cs typeface="Microsoft YaHei" pitchFamily="34" charset="-120"/>
              </a:rPr>
              <a:t>安全性：碰撞率（0%）、最小TTC（&gt; 2.0s）。</a:t>
            </a:r>
            <a:endParaRPr lang="en-US" sz="1100" dirty="0"/>
          </a:p>
        </p:txBody>
      </p:sp>
      <p:sp>
        <p:nvSpPr>
          <p:cNvPr id="12" name="Text 10"/>
          <p:cNvSpPr/>
          <p:nvPr/>
        </p:nvSpPr>
        <p:spPr>
          <a:xfrm>
            <a:off x="551915" y="3531222"/>
            <a:ext cx="2704931" cy="841248"/>
          </a:xfrm>
          <a:prstGeom prst="rect">
            <a:avLst/>
          </a:prstGeom>
          <a:noFill/>
          <a:ln/>
        </p:spPr>
        <p:txBody>
          <a:bodyPr wrap="square" rtlCol="0" anchor="ctr"/>
          <a:lstStyle/>
          <a:p>
            <a:pPr algn="r" indent="0" marL="0">
              <a:buNone/>
            </a:pPr>
            <a:r>
              <a:rPr lang="en-US" sz="1100" dirty="0">
                <a:solidFill>
                  <a:srgbClr val="000000"/>
                </a:solidFill>
                <a:latin typeface="Microsoft YaHei" pitchFamily="34" charset="0"/>
                <a:ea typeface="Microsoft YaHei" pitchFamily="34" charset="-122"/>
                <a:cs typeface="Microsoft YaHei" pitchFamily="34" charset="-120"/>
              </a:rPr>
              <a:t>舒适性：最大加速度（&lt; 2.0 m/s²）、最大jerk（&lt; 1.0 m/s³）。</a:t>
            </a:r>
            <a:endParaRPr lang="en-US" sz="1100" dirty="0"/>
          </a:p>
        </p:txBody>
      </p:sp>
      <p:sp>
        <p:nvSpPr>
          <p:cNvPr id="13" name="Text 11"/>
          <p:cNvSpPr/>
          <p:nvPr/>
        </p:nvSpPr>
        <p:spPr>
          <a:xfrm>
            <a:off x="5666828" y="2747506"/>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合规性与效率：超速率（&lt; 1%）、压线率（&lt; 0.5%）；平均速度、通行时间接近人工驾驶水平。</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3527" y="0"/>
            <a:ext cx="9144000" cy="5143500"/>
          </a:xfrm>
          <a:prstGeom prst="rect">
            <a:avLst/>
          </a:prstGeom>
          <a:solidFill>
            <a:srgbClr val="FFFFFF"/>
          </a:solidFill>
          <a:ln/>
        </p:spPr>
      </p:sp>
      <p:sp>
        <p:nvSpPr>
          <p:cNvPr id="3" name="Text 1"/>
          <p:cNvSpPr/>
          <p:nvPr/>
        </p:nvSpPr>
        <p:spPr>
          <a:xfrm>
            <a:off x="3866931" y="466699"/>
            <a:ext cx="1423665" cy="1389888"/>
          </a:xfrm>
          <a:prstGeom prst="rect">
            <a:avLst/>
          </a:prstGeom>
          <a:noFill/>
          <a:ln/>
        </p:spPr>
        <p:txBody>
          <a:bodyPr wrap="square" rtlCol="0" anchor="ctr"/>
          <a:lstStyle/>
          <a:p>
            <a:pPr algn="ctr" indent="0" marL="0">
              <a:buNone/>
            </a:pPr>
            <a:r>
              <a:rPr lang="en-US" sz="6600" b="1" dirty="0">
                <a:solidFill>
                  <a:srgbClr val="47ACC5"/>
                </a:solidFill>
                <a:latin typeface="Microsoft YaHei" pitchFamily="34" charset="0"/>
                <a:ea typeface="Microsoft YaHei" pitchFamily="34" charset="-122"/>
                <a:cs typeface="Microsoft YaHei" pitchFamily="34" charset="-120"/>
              </a:rPr>
              <a:t>01</a:t>
            </a:r>
            <a:endParaRPr lang="en-US" sz="6600" dirty="0"/>
          </a:p>
        </p:txBody>
      </p:sp>
      <p:sp>
        <p:nvSpPr>
          <p:cNvPr id="4" name="Shape 2"/>
          <p:cNvSpPr/>
          <p:nvPr/>
        </p:nvSpPr>
        <p:spPr>
          <a:xfrm>
            <a:off x="1443310" y="1856587"/>
            <a:ext cx="6270907" cy="2250747"/>
          </a:xfrm>
          <a:prstGeom prst="roundRect">
            <a:avLst>
              <a:gd name="adj" fmla="val 2485"/>
            </a:avLst>
          </a:prstGeom>
          <a:solidFill>
            <a:srgbClr val="000000"/>
          </a:solidFill>
          <a:ln/>
        </p:spPr>
      </p:sp>
      <p:sp>
        <p:nvSpPr>
          <p:cNvPr id="5" name="Shape 3"/>
          <p:cNvSpPr/>
          <p:nvPr/>
        </p:nvSpPr>
        <p:spPr>
          <a:xfrm>
            <a:off x="1561867" y="1981924"/>
            <a:ext cx="6270907" cy="2250747"/>
          </a:xfrm>
          <a:prstGeom prst="roundRect">
            <a:avLst>
              <a:gd name="adj" fmla="val 2485"/>
            </a:avLst>
          </a:prstGeom>
          <a:solidFill>
            <a:srgbClr val="000000"/>
          </a:solidFill>
          <a:ln/>
        </p:spPr>
      </p:sp>
      <p:sp>
        <p:nvSpPr>
          <p:cNvPr id="6" name="Text 4"/>
          <p:cNvSpPr/>
          <p:nvPr/>
        </p:nvSpPr>
        <p:spPr>
          <a:xfrm>
            <a:off x="1734822" y="2251710"/>
            <a:ext cx="5809911" cy="731520"/>
          </a:xfrm>
          <a:prstGeom prst="rect">
            <a:avLst/>
          </a:prstGeom>
          <a:noFill/>
          <a:ln/>
        </p:spPr>
        <p:txBody>
          <a:bodyPr wrap="square" rtlCol="0" anchor="ctr"/>
          <a:lstStyle/>
          <a:p>
            <a:pPr algn="ctr" indent="0" marL="0">
              <a:buNone/>
            </a:pPr>
            <a:r>
              <a:rPr lang="en-US" sz="3000" b="1" dirty="0">
                <a:solidFill>
                  <a:srgbClr val="000000"/>
                </a:solidFill>
                <a:latin typeface="Microsoft YaHei" pitchFamily="34" charset="0"/>
                <a:ea typeface="Microsoft YaHei" pitchFamily="34" charset="-122"/>
                <a:cs typeface="Microsoft YaHei" pitchFamily="34" charset="-120"/>
              </a:rPr>
              <a:t>第四章：实施路线与规划</a:t>
            </a:r>
            <a:endParaRPr lang="en-US" sz="3000" dirty="0"/>
          </a:p>
        </p:txBody>
      </p:sp>
      <p:sp>
        <p:nvSpPr>
          <p:cNvPr id="7" name="Text 5"/>
          <p:cNvSpPr/>
          <p:nvPr/>
        </p:nvSpPr>
        <p:spPr>
          <a:xfrm>
            <a:off x="1734822" y="3049695"/>
            <a:ext cx="5809911" cy="621792"/>
          </a:xfrm>
          <a:prstGeom prst="rect">
            <a:avLst/>
          </a:prstGeom>
          <a:noFill/>
          <a:ln/>
        </p:spPr>
        <p:txBody>
          <a:bodyPr wrap="square" rtlCol="0" anchor="ctr"/>
          <a:lstStyle/>
          <a:p>
            <a:pPr algn="ctr" indent="0" marL="0">
              <a:buNone/>
            </a:pPr>
            <a:r>
              <a:rPr lang="en-US" sz="1100" dirty="0">
                <a:solidFill>
                  <a:srgbClr val="000000"/>
                </a:solidFill>
                <a:latin typeface="Microsoft YaHei" pitchFamily="34" charset="0"/>
                <a:ea typeface="Microsoft YaHei" pitchFamily="34" charset="-122"/>
                <a:cs typeface="Microsoft YaHei" pitchFamily="34" charset="-120"/>
              </a:rPr>
              <a:t>模板小节过渡正文模板小节过渡正文模板小节过渡正文模板小节过渡正文模板小节过渡正文模板小节过渡正文模板小节过渡正文</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90451"/>
            <a:ext cx="551915" cy="551915"/>
          </a:xfrm>
          <a:prstGeom prst="rect">
            <a:avLst/>
          </a:prstGeom>
          <a:solidFill>
            <a:srgbClr val="47ACC5"/>
          </a:solidFill>
          <a:ln/>
        </p:spPr>
      </p:sp>
      <p:sp>
        <p:nvSpPr>
          <p:cNvPr id="3" name="Shape 1"/>
          <p:cNvSpPr/>
          <p:nvPr/>
        </p:nvSpPr>
        <p:spPr>
          <a:xfrm>
            <a:off x="0" y="744579"/>
            <a:ext cx="18288" cy="9144"/>
          </a:xfrm>
          <a:prstGeom prst="line">
            <a:avLst/>
          </a:prstGeom>
          <a:noFill/>
          <a:ln w="25400">
            <a:solidFill>
              <a:srgbClr val="47ACC5"/>
            </a:solidFill>
            <a:prstDash val="solid"/>
          </a:ln>
        </p:spPr>
      </p:sp>
      <p:sp>
        <p:nvSpPr>
          <p:cNvPr id="4" name="Shape 2"/>
          <p:cNvSpPr/>
          <p:nvPr/>
        </p:nvSpPr>
        <p:spPr>
          <a:xfrm>
            <a:off x="89525" y="279976"/>
            <a:ext cx="372865" cy="372865"/>
          </a:xfrm>
          <a:prstGeom prst="rect">
            <a:avLst/>
          </a:prstGeom>
          <a:solidFill>
            <a:srgbClr val="FFFFFF"/>
          </a:solidFill>
          <a:ln/>
        </p:spPr>
      </p:sp>
      <p:sp>
        <p:nvSpPr>
          <p:cNvPr id="5" name="Shape 3"/>
          <p:cNvSpPr/>
          <p:nvPr/>
        </p:nvSpPr>
        <p:spPr>
          <a:xfrm>
            <a:off x="0" y="202719"/>
            <a:ext cx="18288" cy="9144"/>
          </a:xfrm>
          <a:prstGeom prst="line">
            <a:avLst/>
          </a:prstGeom>
          <a:noFill/>
          <a:ln w="25400">
            <a:solidFill>
              <a:srgbClr val="47ACC5"/>
            </a:solidFill>
            <a:prstDash val="solid"/>
          </a:ln>
        </p:spPr>
      </p:sp>
      <p:sp>
        <p:nvSpPr>
          <p:cNvPr id="6" name="Shape 4"/>
          <p:cNvSpPr/>
          <p:nvPr/>
        </p:nvSpPr>
        <p:spPr>
          <a:xfrm>
            <a:off x="3423652" y="1369431"/>
            <a:ext cx="2093466" cy="3140199"/>
          </a:xfrm>
          <a:prstGeom prst="rect">
            <a:avLst/>
          </a:prstGeom>
          <a:solidFill>
            <a:srgbClr val="47ACC5"/>
          </a:solidFill>
          <a:ln/>
        </p:spPr>
      </p:sp>
      <p:sp>
        <p:nvSpPr>
          <p:cNvPr id="7" name="Text 5"/>
          <p:cNvSpPr/>
          <p:nvPr/>
        </p:nvSpPr>
        <p:spPr>
          <a:xfrm>
            <a:off x="257670" y="2290306"/>
            <a:ext cx="2996477" cy="457200"/>
          </a:xfrm>
          <a:prstGeom prst="rect">
            <a:avLst/>
          </a:prstGeom>
          <a:noFill/>
          <a:ln/>
        </p:spPr>
        <p:txBody>
          <a:bodyPr wrap="square" rtlCol="0" anchor="ctr"/>
          <a:lstStyle/>
          <a:p>
            <a:pPr algn="r"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8" name="Text 6"/>
          <p:cNvSpPr/>
          <p:nvPr/>
        </p:nvSpPr>
        <p:spPr>
          <a:xfrm>
            <a:off x="5666828" y="1369431"/>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9" name="Text 7"/>
          <p:cNvSpPr/>
          <p:nvPr/>
        </p:nvSpPr>
        <p:spPr>
          <a:xfrm>
            <a:off x="5666828" y="3074022"/>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10" name="Text 8"/>
          <p:cNvSpPr/>
          <p:nvPr/>
        </p:nvSpPr>
        <p:spPr>
          <a:xfrm>
            <a:off x="551915" y="157150"/>
            <a:ext cx="7836940" cy="621792"/>
          </a:xfrm>
          <a:prstGeom prst="rect">
            <a:avLst/>
          </a:prstGeom>
          <a:noFill/>
          <a:ln/>
        </p:spPr>
        <p:txBody>
          <a:bodyPr wrap="square" rtlCol="0" anchor="ctr"/>
          <a:lstStyle/>
          <a:p>
            <a:pPr algn="l" indent="0" marL="0">
              <a:buNone/>
            </a:pPr>
            <a:r>
              <a:rPr lang="en-US" sz="2400" dirty="0">
                <a:solidFill>
                  <a:srgbClr val="000000"/>
                </a:solidFill>
                <a:latin typeface="Microsoft YaHei" pitchFamily="34" charset="0"/>
                <a:ea typeface="Microsoft YaHei" pitchFamily="34" charset="-122"/>
                <a:cs typeface="Microsoft YaHei" pitchFamily="34" charset="-120"/>
              </a:rPr>
              <a:t>三阶段实施路线图</a:t>
            </a:r>
            <a:endParaRPr lang="en-US" sz="2400" dirty="0"/>
          </a:p>
        </p:txBody>
      </p:sp>
      <p:sp>
        <p:nvSpPr>
          <p:cNvPr id="11" name="Text 9"/>
          <p:cNvSpPr/>
          <p:nvPr/>
        </p:nvSpPr>
        <p:spPr>
          <a:xfrm>
            <a:off x="549215" y="2747506"/>
            <a:ext cx="2704931" cy="841248"/>
          </a:xfrm>
          <a:prstGeom prst="rect">
            <a:avLst/>
          </a:prstGeom>
          <a:noFill/>
          <a:ln/>
        </p:spPr>
        <p:txBody>
          <a:bodyPr wrap="square" rtlCol="0" anchor="ctr"/>
          <a:lstStyle/>
          <a:p>
            <a:pPr algn="r" indent="0" marL="0">
              <a:buNone/>
            </a:pPr>
            <a:r>
              <a:rPr lang="en-US" sz="1100" dirty="0">
                <a:solidFill>
                  <a:srgbClr val="000000"/>
                </a:solidFill>
                <a:latin typeface="Microsoft YaHei" pitchFamily="34" charset="0"/>
                <a:ea typeface="Microsoft YaHei" pitchFamily="34" charset="-122"/>
                <a:cs typeface="Microsoft YaHei" pitchFamily="34" charset="-120"/>
              </a:rPr>
              <a:t>第一阶段：基础能力建设：目标：完成核心算法开发与仿真验证。交付：支持高速场景的基础决策规划功能。</a:t>
            </a:r>
            <a:endParaRPr lang="en-US" sz="1100" dirty="0"/>
          </a:p>
        </p:txBody>
      </p:sp>
      <p:sp>
        <p:nvSpPr>
          <p:cNvPr id="12" name="Text 10"/>
          <p:cNvSpPr/>
          <p:nvPr/>
        </p:nvSpPr>
        <p:spPr>
          <a:xfrm>
            <a:off x="5666828" y="1826631"/>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第二阶段：复杂场景能力增强：目标：攻克城市道路、园区等复杂场景。交付：支持多场景的混合决策与安全监控系统。</a:t>
            </a:r>
            <a:endParaRPr lang="en-US" sz="1100" dirty="0"/>
          </a:p>
        </p:txBody>
      </p:sp>
      <p:sp>
        <p:nvSpPr>
          <p:cNvPr id="13" name="Text 11"/>
          <p:cNvSpPr/>
          <p:nvPr/>
        </p:nvSpPr>
        <p:spPr>
          <a:xfrm>
            <a:off x="5666828" y="3531222"/>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第三阶段：实车测试与优化：目标：通过实车路测，打磨系统稳定性与舒适性。交付：量产或示范运营版本，通过安全评审。</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190451"/>
            <a:ext cx="551915" cy="551915"/>
          </a:xfrm>
          <a:prstGeom prst="rect">
            <a:avLst/>
          </a:prstGeom>
          <a:solidFill>
            <a:srgbClr val="47ACC5"/>
          </a:solidFill>
          <a:ln/>
        </p:spPr>
      </p:sp>
      <p:sp>
        <p:nvSpPr>
          <p:cNvPr id="3" name="Shape 1"/>
          <p:cNvSpPr/>
          <p:nvPr/>
        </p:nvSpPr>
        <p:spPr>
          <a:xfrm>
            <a:off x="0" y="744579"/>
            <a:ext cx="18288" cy="9144"/>
          </a:xfrm>
          <a:prstGeom prst="line">
            <a:avLst/>
          </a:prstGeom>
          <a:noFill/>
          <a:ln w="25400">
            <a:solidFill>
              <a:srgbClr val="47ACC5"/>
            </a:solidFill>
            <a:prstDash val="solid"/>
          </a:ln>
        </p:spPr>
      </p:sp>
      <p:sp>
        <p:nvSpPr>
          <p:cNvPr id="4" name="Shape 2"/>
          <p:cNvSpPr/>
          <p:nvPr/>
        </p:nvSpPr>
        <p:spPr>
          <a:xfrm>
            <a:off x="89525" y="279976"/>
            <a:ext cx="372865" cy="372865"/>
          </a:xfrm>
          <a:prstGeom prst="rect">
            <a:avLst/>
          </a:prstGeom>
          <a:solidFill>
            <a:srgbClr val="FFFFFF"/>
          </a:solidFill>
          <a:ln/>
        </p:spPr>
      </p:sp>
      <p:sp>
        <p:nvSpPr>
          <p:cNvPr id="5" name="Shape 3"/>
          <p:cNvSpPr/>
          <p:nvPr/>
        </p:nvSpPr>
        <p:spPr>
          <a:xfrm>
            <a:off x="0" y="202719"/>
            <a:ext cx="18288" cy="9144"/>
          </a:xfrm>
          <a:prstGeom prst="line">
            <a:avLst/>
          </a:prstGeom>
          <a:noFill/>
          <a:ln w="25400">
            <a:solidFill>
              <a:srgbClr val="47ACC5"/>
            </a:solidFill>
            <a:prstDash val="solid"/>
          </a:ln>
        </p:spPr>
      </p:sp>
      <p:sp>
        <p:nvSpPr>
          <p:cNvPr id="6" name="Shape 4"/>
          <p:cNvSpPr/>
          <p:nvPr/>
        </p:nvSpPr>
        <p:spPr>
          <a:xfrm>
            <a:off x="3423652" y="1369431"/>
            <a:ext cx="2093466" cy="3140199"/>
          </a:xfrm>
          <a:prstGeom prst="rect">
            <a:avLst/>
          </a:prstGeom>
          <a:solidFill>
            <a:srgbClr val="47ACC5"/>
          </a:solidFill>
          <a:ln/>
        </p:spPr>
      </p:sp>
      <p:sp>
        <p:nvSpPr>
          <p:cNvPr id="7" name="Text 5"/>
          <p:cNvSpPr/>
          <p:nvPr/>
        </p:nvSpPr>
        <p:spPr>
          <a:xfrm>
            <a:off x="260370" y="1369431"/>
            <a:ext cx="2996477" cy="457200"/>
          </a:xfrm>
          <a:prstGeom prst="rect">
            <a:avLst/>
          </a:prstGeom>
          <a:noFill/>
          <a:ln/>
        </p:spPr>
        <p:txBody>
          <a:bodyPr wrap="square" rtlCol="0" anchor="ctr"/>
          <a:lstStyle/>
          <a:p>
            <a:pPr algn="r"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8" name="Text 6"/>
          <p:cNvSpPr/>
          <p:nvPr/>
        </p:nvSpPr>
        <p:spPr>
          <a:xfrm>
            <a:off x="260370" y="3074022"/>
            <a:ext cx="2996477" cy="457200"/>
          </a:xfrm>
          <a:prstGeom prst="rect">
            <a:avLst/>
          </a:prstGeom>
          <a:noFill/>
          <a:ln/>
        </p:spPr>
        <p:txBody>
          <a:bodyPr wrap="square" rtlCol="0" anchor="ctr"/>
          <a:lstStyle/>
          <a:p>
            <a:pPr algn="r"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9" name="Text 7"/>
          <p:cNvSpPr/>
          <p:nvPr/>
        </p:nvSpPr>
        <p:spPr>
          <a:xfrm>
            <a:off x="5666828" y="1369431"/>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10" name="Text 8"/>
          <p:cNvSpPr/>
          <p:nvPr/>
        </p:nvSpPr>
        <p:spPr>
          <a:xfrm>
            <a:off x="5666828" y="3074022"/>
            <a:ext cx="2996477" cy="457200"/>
          </a:xfrm>
          <a:prstGeom prst="rect">
            <a:avLst/>
          </a:prstGeom>
          <a:noFill/>
          <a:ln/>
        </p:spPr>
        <p:txBody>
          <a:bodyPr wrap="square" rtlCol="0" anchor="ctr"/>
          <a:lstStyle/>
          <a:p>
            <a:pPr algn="l" indent="0" marL="0">
              <a:buNone/>
            </a:pPr>
            <a:r>
              <a:rPr lang="en-US" sz="1500" b="1" dirty="0">
                <a:solidFill>
                  <a:srgbClr val="000000"/>
                </a:solidFill>
                <a:latin typeface="Microsoft YaHei" pitchFamily="34" charset="0"/>
                <a:ea typeface="Microsoft YaHei" pitchFamily="34" charset="-122"/>
                <a:cs typeface="Microsoft YaHei" pitchFamily="34" charset="-120"/>
              </a:rPr>
              <a:t>内容项标题</a:t>
            </a:r>
            <a:endParaRPr lang="en-US" sz="1500" dirty="0"/>
          </a:p>
        </p:txBody>
      </p:sp>
      <p:sp>
        <p:nvSpPr>
          <p:cNvPr id="11" name="Text 9"/>
          <p:cNvSpPr/>
          <p:nvPr/>
        </p:nvSpPr>
        <p:spPr>
          <a:xfrm>
            <a:off x="551915" y="157150"/>
            <a:ext cx="7836940" cy="621792"/>
          </a:xfrm>
          <a:prstGeom prst="rect">
            <a:avLst/>
          </a:prstGeom>
          <a:noFill/>
          <a:ln/>
        </p:spPr>
        <p:txBody>
          <a:bodyPr wrap="square" rtlCol="0" anchor="ctr"/>
          <a:lstStyle/>
          <a:p>
            <a:pPr algn="l" indent="0" marL="0">
              <a:buNone/>
            </a:pPr>
            <a:r>
              <a:rPr lang="en-US" sz="2400" dirty="0">
                <a:solidFill>
                  <a:srgbClr val="000000"/>
                </a:solidFill>
                <a:latin typeface="Microsoft YaHei" pitchFamily="34" charset="0"/>
                <a:ea typeface="Microsoft YaHei" pitchFamily="34" charset="-122"/>
                <a:cs typeface="Microsoft YaHei" pitchFamily="34" charset="-120"/>
              </a:rPr>
              <a:t>关键里程碑与交付物</a:t>
            </a:r>
            <a:endParaRPr lang="en-US" sz="2400" dirty="0"/>
          </a:p>
        </p:txBody>
      </p:sp>
      <p:sp>
        <p:nvSpPr>
          <p:cNvPr id="12" name="Text 10"/>
          <p:cNvSpPr/>
          <p:nvPr/>
        </p:nvSpPr>
        <p:spPr>
          <a:xfrm>
            <a:off x="551915" y="1826631"/>
            <a:ext cx="2704931" cy="841248"/>
          </a:xfrm>
          <a:prstGeom prst="rect">
            <a:avLst/>
          </a:prstGeom>
          <a:noFill/>
          <a:ln/>
        </p:spPr>
        <p:txBody>
          <a:bodyPr wrap="square" rtlCol="0" anchor="ctr"/>
          <a:lstStyle/>
          <a:p>
            <a:pPr algn="r" indent="0" marL="0">
              <a:buNone/>
            </a:pPr>
            <a:r>
              <a:rPr lang="en-US" sz="1100" dirty="0">
                <a:solidFill>
                  <a:srgbClr val="000000"/>
                </a:solidFill>
                <a:latin typeface="Microsoft YaHei" pitchFamily="34" charset="0"/>
                <a:ea typeface="Microsoft YaHei" pitchFamily="34" charset="-122"/>
                <a:cs typeface="Microsoft YaHei" pitchFamily="34" charset="-120"/>
              </a:rPr>
              <a:t>M1：完成全局路径规划与基础行为决策模块。</a:t>
            </a:r>
            <a:endParaRPr lang="en-US" sz="1100" dirty="0"/>
          </a:p>
        </p:txBody>
      </p:sp>
      <p:sp>
        <p:nvSpPr>
          <p:cNvPr id="13" name="Text 11"/>
          <p:cNvSpPr/>
          <p:nvPr/>
        </p:nvSpPr>
        <p:spPr>
          <a:xfrm>
            <a:off x="551915" y="3531222"/>
            <a:ext cx="2704931" cy="841248"/>
          </a:xfrm>
          <a:prstGeom prst="rect">
            <a:avLst/>
          </a:prstGeom>
          <a:noFill/>
          <a:ln/>
        </p:spPr>
        <p:txBody>
          <a:bodyPr wrap="square" rtlCol="0" anchor="ctr"/>
          <a:lstStyle/>
          <a:p>
            <a:pPr algn="r" indent="0" marL="0">
              <a:buNone/>
            </a:pPr>
            <a:r>
              <a:rPr lang="en-US" sz="1100" dirty="0">
                <a:solidFill>
                  <a:srgbClr val="000000"/>
                </a:solidFill>
                <a:latin typeface="Microsoft YaHei" pitchFamily="34" charset="0"/>
                <a:ea typeface="Microsoft YaHei" pitchFamily="34" charset="-122"/>
                <a:cs typeface="Microsoft YaHei" pitchFamily="34" charset="-120"/>
              </a:rPr>
              <a:t>M2：完成ST图速度规划与轨迹优化模块。</a:t>
            </a:r>
            <a:endParaRPr lang="en-US" sz="1100" dirty="0"/>
          </a:p>
        </p:txBody>
      </p:sp>
      <p:sp>
        <p:nvSpPr>
          <p:cNvPr id="14" name="Text 12"/>
          <p:cNvSpPr/>
          <p:nvPr/>
        </p:nvSpPr>
        <p:spPr>
          <a:xfrm>
            <a:off x="5666828" y="1826631"/>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M3：完成安全监控与降级策略，通过仿真场景库测试。</a:t>
            </a:r>
            <a:endParaRPr lang="en-US" sz="1100" dirty="0"/>
          </a:p>
        </p:txBody>
      </p:sp>
      <p:sp>
        <p:nvSpPr>
          <p:cNvPr id="15" name="Text 13"/>
          <p:cNvSpPr/>
          <p:nvPr/>
        </p:nvSpPr>
        <p:spPr>
          <a:xfrm>
            <a:off x="5666828" y="3531222"/>
            <a:ext cx="2704931"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M4：完成实车集成与封闭场地测试。</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65760" y="1748790"/>
            <a:ext cx="1645920" cy="1645920"/>
          </a:xfrm>
          <a:prstGeom prst="rect">
            <a:avLst/>
          </a:prstGeom>
          <a:solidFill>
            <a:srgbClr val="47ACC5"/>
          </a:solidFill>
          <a:ln/>
        </p:spPr>
      </p:sp>
      <p:sp>
        <p:nvSpPr>
          <p:cNvPr id="3" name="Shape 1"/>
          <p:cNvSpPr/>
          <p:nvPr/>
        </p:nvSpPr>
        <p:spPr>
          <a:xfrm>
            <a:off x="2384274" y="2535174"/>
            <a:ext cx="9144" cy="9144"/>
          </a:xfrm>
          <a:prstGeom prst="line">
            <a:avLst/>
          </a:prstGeom>
          <a:noFill/>
          <a:ln w="12700">
            <a:solidFill>
              <a:srgbClr val="47ACC5"/>
            </a:solidFill>
            <a:prstDash val="solid"/>
          </a:ln>
        </p:spPr>
      </p:sp>
      <p:sp>
        <p:nvSpPr>
          <p:cNvPr id="4" name="Shape 2"/>
          <p:cNvSpPr/>
          <p:nvPr/>
        </p:nvSpPr>
        <p:spPr>
          <a:xfrm>
            <a:off x="0" y="0"/>
            <a:ext cx="9144000" cy="5143500"/>
          </a:xfrm>
          <a:prstGeom prst="rect">
            <a:avLst/>
          </a:prstGeom>
          <a:solidFill>
            <a:srgbClr val="47ACC5"/>
          </a:solidFill>
          <a:ln/>
        </p:spPr>
      </p:sp>
      <p:sp>
        <p:nvSpPr>
          <p:cNvPr id="5" name="Text 3"/>
          <p:cNvSpPr/>
          <p:nvPr/>
        </p:nvSpPr>
        <p:spPr>
          <a:xfrm>
            <a:off x="2297525" y="1748790"/>
            <a:ext cx="6175996" cy="786384"/>
          </a:xfrm>
          <a:prstGeom prst="rect">
            <a:avLst/>
          </a:prstGeom>
          <a:noFill/>
          <a:ln/>
        </p:spPr>
        <p:txBody>
          <a:bodyPr wrap="square" rtlCol="0" anchor="ctr"/>
          <a:lstStyle/>
          <a:p>
            <a:pPr algn="l" indent="0" marL="0">
              <a:buNone/>
            </a:pPr>
            <a:r>
              <a:rPr lang="en-US" sz="3300" dirty="0">
                <a:solidFill>
                  <a:srgbClr val="000000"/>
                </a:solidFill>
                <a:latin typeface="Microsoft YaHei" pitchFamily="34" charset="0"/>
                <a:ea typeface="Microsoft YaHei" pitchFamily="34" charset="-122"/>
                <a:cs typeface="Microsoft YaHei" pitchFamily="34" charset="-120"/>
              </a:rPr>
              <a:t>总结与展望</a:t>
            </a:r>
            <a:endParaRPr lang="en-US" sz="3300" dirty="0"/>
          </a:p>
        </p:txBody>
      </p:sp>
      <p:sp>
        <p:nvSpPr>
          <p:cNvPr id="6" name="Text 4"/>
          <p:cNvSpPr/>
          <p:nvPr/>
        </p:nvSpPr>
        <p:spPr>
          <a:xfrm>
            <a:off x="2297525" y="2571750"/>
            <a:ext cx="4087954"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模板小节过渡正文模板小节过渡正文模板小节过渡正文模板小节过渡正文模板小节过渡正文模板小节过渡正文模板小节过渡正文</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835155" y="1389221"/>
            <a:ext cx="353622" cy="353622"/>
          </a:xfrm>
          <a:prstGeom prst="rect">
            <a:avLst/>
          </a:prstGeom>
          <a:solidFill>
            <a:srgbClr val="47ACC5"/>
          </a:solidFill>
          <a:ln/>
        </p:spPr>
      </p:sp>
      <p:sp>
        <p:nvSpPr>
          <p:cNvPr id="3" name="Shape 1"/>
          <p:cNvSpPr/>
          <p:nvPr/>
        </p:nvSpPr>
        <p:spPr>
          <a:xfrm>
            <a:off x="3833092" y="1951502"/>
            <a:ext cx="18288" cy="9144"/>
          </a:xfrm>
          <a:prstGeom prst="line">
            <a:avLst/>
          </a:prstGeom>
          <a:noFill/>
          <a:ln w="25400">
            <a:solidFill>
              <a:srgbClr val="47ACC5"/>
            </a:solidFill>
            <a:prstDash val="solid"/>
          </a:ln>
        </p:spPr>
      </p:sp>
      <p:sp>
        <p:nvSpPr>
          <p:cNvPr id="4" name="Shape 2"/>
          <p:cNvSpPr/>
          <p:nvPr/>
        </p:nvSpPr>
        <p:spPr>
          <a:xfrm>
            <a:off x="0" y="-2034"/>
            <a:ext cx="3431712" cy="5147568"/>
          </a:xfrm>
          <a:prstGeom prst="rect">
            <a:avLst/>
          </a:prstGeom>
          <a:solidFill>
            <a:srgbClr val="47ACC5"/>
          </a:solidFill>
          <a:ln/>
        </p:spPr>
      </p:sp>
      <p:sp>
        <p:nvSpPr>
          <p:cNvPr id="5" name="Shape 3"/>
          <p:cNvSpPr/>
          <p:nvPr/>
        </p:nvSpPr>
        <p:spPr>
          <a:xfrm>
            <a:off x="4812292" y="3503975"/>
            <a:ext cx="18288" cy="9144"/>
          </a:xfrm>
          <a:prstGeom prst="line">
            <a:avLst/>
          </a:prstGeom>
          <a:noFill/>
          <a:ln w="25400">
            <a:solidFill>
              <a:srgbClr val="47ACC5"/>
            </a:solidFill>
            <a:prstDash val="solid"/>
          </a:ln>
        </p:spPr>
      </p:sp>
      <p:sp>
        <p:nvSpPr>
          <p:cNvPr id="6" name="Shape 4"/>
          <p:cNvSpPr/>
          <p:nvPr/>
        </p:nvSpPr>
        <p:spPr>
          <a:xfrm>
            <a:off x="4704009" y="3615754"/>
            <a:ext cx="18288" cy="9144"/>
          </a:xfrm>
          <a:prstGeom prst="line">
            <a:avLst/>
          </a:prstGeom>
          <a:noFill/>
          <a:ln w="25400">
            <a:solidFill>
              <a:srgbClr val="47ACC5"/>
            </a:solidFill>
            <a:prstDash val="solid"/>
          </a:ln>
        </p:spPr>
      </p:sp>
      <p:sp>
        <p:nvSpPr>
          <p:cNvPr id="7" name="Shape 5"/>
          <p:cNvSpPr/>
          <p:nvPr/>
        </p:nvSpPr>
        <p:spPr>
          <a:xfrm>
            <a:off x="7891564" y="107831"/>
            <a:ext cx="18288" cy="9144"/>
          </a:xfrm>
          <a:prstGeom prst="line">
            <a:avLst/>
          </a:prstGeom>
          <a:noFill/>
          <a:ln w="25400">
            <a:solidFill>
              <a:srgbClr val="47ACC5"/>
            </a:solidFill>
            <a:prstDash val="solid"/>
          </a:ln>
        </p:spPr>
      </p:sp>
      <p:sp>
        <p:nvSpPr>
          <p:cNvPr id="8" name="Text 6"/>
          <p:cNvSpPr/>
          <p:nvPr/>
        </p:nvSpPr>
        <p:spPr>
          <a:xfrm>
            <a:off x="4188777" y="1310000"/>
            <a:ext cx="4609964" cy="512064"/>
          </a:xfrm>
          <a:prstGeom prst="rect">
            <a:avLst/>
          </a:prstGeom>
          <a:noFill/>
          <a:ln/>
        </p:spPr>
        <p:txBody>
          <a:bodyPr wrap="square" rtlCol="0" anchor="ctr"/>
          <a:lstStyle/>
          <a:p>
            <a:pPr algn="l" indent="0" marL="0">
              <a:buNone/>
            </a:pPr>
            <a:r>
              <a:rPr lang="en-US" sz="2700" dirty="0">
                <a:solidFill>
                  <a:srgbClr val="47ACC5"/>
                </a:solidFill>
                <a:latin typeface="Microsoft YaHei" pitchFamily="34" charset="0"/>
                <a:ea typeface="Microsoft YaHei" pitchFamily="34" charset="-122"/>
                <a:cs typeface="Microsoft YaHei" pitchFamily="34" charset="-120"/>
              </a:rPr>
              <a:t>方案核心价值总结</a:t>
            </a:r>
            <a:endParaRPr lang="en-US" sz="2700" dirty="0"/>
          </a:p>
        </p:txBody>
      </p:sp>
      <p:sp>
        <p:nvSpPr>
          <p:cNvPr id="9" name="Text 7"/>
          <p:cNvSpPr/>
          <p:nvPr/>
        </p:nvSpPr>
        <p:spPr>
          <a:xfrm>
            <a:off x="3835155" y="2151126"/>
            <a:ext cx="4963587" cy="841248"/>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安全可靠：独立安全监控与降级策略保障。</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637873" y="348915"/>
            <a:ext cx="353622" cy="353622"/>
          </a:xfrm>
          <a:prstGeom prst="rect">
            <a:avLst/>
          </a:prstGeom>
          <a:solidFill>
            <a:srgbClr val="47ACC5"/>
          </a:solidFill>
          <a:ln/>
        </p:spPr>
      </p:sp>
      <p:sp>
        <p:nvSpPr>
          <p:cNvPr id="3" name="Shape 1"/>
          <p:cNvSpPr/>
          <p:nvPr/>
        </p:nvSpPr>
        <p:spPr>
          <a:xfrm>
            <a:off x="1635810" y="911196"/>
            <a:ext cx="18288" cy="9144"/>
          </a:xfrm>
          <a:prstGeom prst="line">
            <a:avLst/>
          </a:prstGeom>
          <a:noFill/>
          <a:ln w="25400">
            <a:solidFill>
              <a:srgbClr val="47ACC5"/>
            </a:solidFill>
            <a:prstDash val="solid"/>
          </a:ln>
        </p:spPr>
      </p:sp>
      <p:sp>
        <p:nvSpPr>
          <p:cNvPr id="4" name="Shape 2"/>
          <p:cNvSpPr/>
          <p:nvPr/>
        </p:nvSpPr>
        <p:spPr>
          <a:xfrm>
            <a:off x="4812292" y="3503975"/>
            <a:ext cx="18288" cy="9144"/>
          </a:xfrm>
          <a:prstGeom prst="line">
            <a:avLst/>
          </a:prstGeom>
          <a:noFill/>
          <a:ln w="25400">
            <a:solidFill>
              <a:srgbClr val="47ACC5"/>
            </a:solidFill>
            <a:prstDash val="solid"/>
          </a:ln>
        </p:spPr>
      </p:sp>
      <p:sp>
        <p:nvSpPr>
          <p:cNvPr id="5" name="Shape 3"/>
          <p:cNvSpPr/>
          <p:nvPr/>
        </p:nvSpPr>
        <p:spPr>
          <a:xfrm>
            <a:off x="4704009" y="3615754"/>
            <a:ext cx="18288" cy="9144"/>
          </a:xfrm>
          <a:prstGeom prst="line">
            <a:avLst/>
          </a:prstGeom>
          <a:noFill/>
          <a:ln w="25400">
            <a:solidFill>
              <a:srgbClr val="47ACC5"/>
            </a:solidFill>
            <a:prstDash val="solid"/>
          </a:ln>
        </p:spPr>
      </p:sp>
      <p:sp>
        <p:nvSpPr>
          <p:cNvPr id="6" name="Shape 4"/>
          <p:cNvSpPr/>
          <p:nvPr/>
        </p:nvSpPr>
        <p:spPr>
          <a:xfrm>
            <a:off x="7891564" y="107831"/>
            <a:ext cx="18288" cy="9144"/>
          </a:xfrm>
          <a:prstGeom prst="line">
            <a:avLst/>
          </a:prstGeom>
          <a:noFill/>
          <a:ln w="25400">
            <a:solidFill>
              <a:srgbClr val="47ACC5"/>
            </a:solidFill>
            <a:prstDash val="solid"/>
          </a:ln>
        </p:spPr>
      </p:sp>
      <p:sp>
        <p:nvSpPr>
          <p:cNvPr id="7" name="Text 5"/>
          <p:cNvSpPr/>
          <p:nvPr/>
        </p:nvSpPr>
        <p:spPr>
          <a:xfrm>
            <a:off x="1814684" y="959776"/>
            <a:ext cx="4701079" cy="457200"/>
          </a:xfrm>
          <a:prstGeom prst="rect">
            <a:avLst/>
          </a:prstGeom>
          <a:noFill/>
          <a:ln/>
        </p:spPr>
        <p:txBody>
          <a:bodyPr wrap="square" rtlCol="0" anchor="ctr"/>
          <a:lstStyle/>
          <a:p>
            <a:pPr algn="ctr" indent="0" marL="0">
              <a:buNone/>
            </a:pPr>
            <a:r>
              <a:rPr lang="en-US" sz="1500" b="1" dirty="0">
                <a:solidFill>
                  <a:srgbClr val="000000"/>
                </a:solidFill>
                <a:latin typeface="Microsoft YaHei" pitchFamily="34" charset="0"/>
                <a:ea typeface="Microsoft YaHei" pitchFamily="34" charset="-122"/>
                <a:cs typeface="Microsoft YaHei" pitchFamily="34" charset="-120"/>
              </a:rPr>
              <a:t>图像的标题</a:t>
            </a:r>
            <a:endParaRPr lang="en-US" sz="1500" dirty="0"/>
          </a:p>
        </p:txBody>
      </p:sp>
      <p:sp>
        <p:nvSpPr>
          <p:cNvPr id="8" name="Text 6"/>
          <p:cNvSpPr/>
          <p:nvPr/>
        </p:nvSpPr>
        <p:spPr>
          <a:xfrm>
            <a:off x="1991495" y="269694"/>
            <a:ext cx="4609964" cy="512064"/>
          </a:xfrm>
          <a:prstGeom prst="rect">
            <a:avLst/>
          </a:prstGeom>
          <a:noFill/>
          <a:ln/>
        </p:spPr>
        <p:txBody>
          <a:bodyPr wrap="square" rtlCol="0" anchor="ctr"/>
          <a:lstStyle/>
          <a:p>
            <a:pPr algn="l" indent="0" marL="0">
              <a:buNone/>
            </a:pPr>
            <a:r>
              <a:rPr lang="en-US" sz="2700" dirty="0">
                <a:solidFill>
                  <a:srgbClr val="47ACC5"/>
                </a:solidFill>
                <a:latin typeface="Microsoft YaHei" pitchFamily="34" charset="0"/>
                <a:ea typeface="Microsoft YaHei" pitchFamily="34" charset="-122"/>
                <a:cs typeface="Microsoft YaHei" pitchFamily="34" charset="-120"/>
              </a:rPr>
              <a:t>未来展望</a:t>
            </a:r>
            <a:endParaRPr lang="en-US" sz="2700" dirty="0"/>
          </a:p>
        </p:txBody>
      </p:sp>
      <p:sp>
        <p:nvSpPr>
          <p:cNvPr id="9" name="Text 7"/>
          <p:cNvSpPr/>
          <p:nvPr/>
        </p:nvSpPr>
        <p:spPr>
          <a:xfrm>
            <a:off x="1637873" y="1416976"/>
            <a:ext cx="5663606" cy="621792"/>
          </a:xfrm>
          <a:prstGeom prst="rect">
            <a:avLst/>
          </a:prstGeom>
          <a:noFill/>
          <a:ln/>
        </p:spPr>
        <p:txBody>
          <a:bodyPr wrap="square" rtlCol="0" anchor="ctr"/>
          <a:lstStyle/>
          <a:p>
            <a:pPr algn="l" indent="0" marL="0">
              <a:buNone/>
            </a:pPr>
            <a:r>
              <a:rPr lang="en-US" sz="1100" dirty="0">
                <a:solidFill>
                  <a:srgbClr val="000000"/>
                </a:solidFill>
                <a:latin typeface="Microsoft YaHei" pitchFamily="34" charset="0"/>
                <a:ea typeface="Microsoft YaHei" pitchFamily="34" charset="-122"/>
                <a:cs typeface="Microsoft YaHei" pitchFamily="34" charset="-120"/>
              </a:rPr>
              <a:t>端到端学习：探索更高效的决策规划一体化模型。</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2571750"/>
          </a:xfrm>
          <a:prstGeom prst="rect">
            <a:avLst/>
          </a:prstGeom>
          <a:solidFill>
            <a:srgbClr val="47ACC5"/>
          </a:solidFill>
          <a:ln/>
        </p:spPr>
      </p:sp>
      <p:sp>
        <p:nvSpPr>
          <p:cNvPr id="3" name="Shape 1"/>
          <p:cNvSpPr/>
          <p:nvPr/>
        </p:nvSpPr>
        <p:spPr>
          <a:xfrm>
            <a:off x="0" y="2571750"/>
            <a:ext cx="9144000" cy="2571750"/>
          </a:xfrm>
          <a:prstGeom prst="rect">
            <a:avLst/>
          </a:prstGeom>
          <a:solidFill>
            <a:srgbClr val="F2F2F2"/>
          </a:solidFill>
          <a:ln/>
        </p:spPr>
      </p:sp>
      <p:sp>
        <p:nvSpPr>
          <p:cNvPr id="4" name="Shape 2"/>
          <p:cNvSpPr/>
          <p:nvPr/>
        </p:nvSpPr>
        <p:spPr>
          <a:xfrm>
            <a:off x="365760" y="356616"/>
            <a:ext cx="8412480" cy="4407408"/>
          </a:xfrm>
          <a:prstGeom prst="roundRect">
            <a:avLst>
              <a:gd name="adj" fmla="val 2635"/>
            </a:avLst>
          </a:prstGeom>
          <a:solidFill>
            <a:srgbClr val="FFFFFF"/>
          </a:solidFill>
          <a:ln/>
          <a:effectLst>
            <a:outerShdw sx="100000" sy="100000" kx="0" ky="0" algn="bl" rotWithShape="0" blurRad="76200" dist="38100" dir="16200000">
              <a:srgbClr val="808080">
                <a:alpha val="20000"/>
              </a:srgbClr>
            </a:outerShdw>
          </a:effectLst>
        </p:spPr>
      </p:sp>
      <p:sp>
        <p:nvSpPr>
          <p:cNvPr id="5" name="Text 3"/>
          <p:cNvSpPr/>
          <p:nvPr/>
        </p:nvSpPr>
        <p:spPr>
          <a:xfrm>
            <a:off x="822960" y="1426464"/>
            <a:ext cx="7498080" cy="923544"/>
          </a:xfrm>
          <a:prstGeom prst="rect">
            <a:avLst/>
          </a:prstGeom>
          <a:noFill/>
          <a:ln/>
        </p:spPr>
        <p:txBody>
          <a:bodyPr wrap="square" rtlCol="0" anchor="ctr"/>
          <a:lstStyle/>
          <a:p>
            <a:pPr algn="ctr" indent="0" marL="0">
              <a:buNone/>
            </a:pPr>
            <a:r>
              <a:rPr lang="en-US" sz="4100" b="1" dirty="0">
                <a:solidFill>
                  <a:srgbClr val="000000"/>
                </a:solidFill>
                <a:latin typeface="Microsoft YaHei" pitchFamily="34" charset="0"/>
                <a:ea typeface="Microsoft YaHei" pitchFamily="34" charset="-122"/>
                <a:cs typeface="Microsoft YaHei" pitchFamily="34" charset="-120"/>
              </a:rPr>
              <a:t>谢谢！欢迎提问</a:t>
            </a:r>
            <a:endParaRPr lang="en-US" sz="4100" dirty="0"/>
          </a:p>
        </p:txBody>
      </p:sp>
      <p:sp>
        <p:nvSpPr>
          <p:cNvPr id="6" name="Text 4"/>
          <p:cNvSpPr/>
          <p:nvPr/>
        </p:nvSpPr>
        <p:spPr>
          <a:xfrm>
            <a:off x="822960" y="2552336"/>
            <a:ext cx="7498080" cy="402336"/>
          </a:xfrm>
          <a:prstGeom prst="rect">
            <a:avLst/>
          </a:prstGeom>
          <a:noFill/>
          <a:ln/>
        </p:spPr>
        <p:txBody>
          <a:bodyPr wrap="square" rtlCol="0" anchor="ctr"/>
          <a:lstStyle/>
          <a:p>
            <a:pPr algn="ctr" indent="0" marL="0">
              <a:buNone/>
            </a:pPr>
            <a:r>
              <a:rPr lang="en-US" sz="1200" dirty="0">
                <a:solidFill>
                  <a:srgbClr val="000000"/>
                </a:solidFill>
                <a:latin typeface="Microsoft YaHei" pitchFamily="34" charset="0"/>
                <a:ea typeface="Microsoft YaHei" pitchFamily="34" charset="-122"/>
                <a:cs typeface="Microsoft YaHei" pitchFamily="34" charset="-120"/>
              </a:rPr>
              <a:t>演讲人：xxx</a:t>
            </a:r>
            <a:endParaRPr lang="en-US" sz="1200" dirty="0"/>
          </a:p>
        </p:txBody>
      </p:sp>
      <p:sp>
        <p:nvSpPr>
          <p:cNvPr id="7" name="Shape 5"/>
          <p:cNvSpPr/>
          <p:nvPr/>
        </p:nvSpPr>
        <p:spPr>
          <a:xfrm>
            <a:off x="0" y="4038633"/>
            <a:ext cx="9144000" cy="1355872"/>
          </a:xfrm>
          <a:prstGeom prst="rect">
            <a:avLst/>
          </a:prstGeom>
          <a:solidFill>
            <a:srgbClr val="47ACC5"/>
          </a:solidFill>
          <a:ln/>
        </p:spPr>
      </p:sp>
      <p:sp>
        <p:nvSpPr>
          <p:cNvPr id="8" name="Shape 6"/>
          <p:cNvSpPr/>
          <p:nvPr/>
        </p:nvSpPr>
        <p:spPr>
          <a:xfrm>
            <a:off x="3497472" y="2398940"/>
            <a:ext cx="18288" cy="9144"/>
          </a:xfrm>
          <a:prstGeom prst="line">
            <a:avLst/>
          </a:prstGeom>
          <a:noFill/>
          <a:ln w="25400">
            <a:solidFill>
              <a:srgbClr val="47ACC5"/>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自动驾驶决策规划方案</dc:title>
  <dc:subject>PptxGenJS Presentation</dc:subject>
  <dc:creator>Tech Service Knowledge Graph</dc:creator>
  <cp:lastModifiedBy>Tech Service Knowledge Graph</cp:lastModifiedBy>
  <cp:revision>1</cp:revision>
  <dcterms:created xsi:type="dcterms:W3CDTF">2026-05-25T00:56:42Z</dcterms:created>
  <dcterms:modified xsi:type="dcterms:W3CDTF">2026-05-25T00:56:42Z</dcterms:modified>
</cp:coreProperties>
</file>