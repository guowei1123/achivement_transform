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71750"/>
          </a:xfrm>
          <a:prstGeom prst="rect">
            <a:avLst/>
          </a:prstGeom>
          <a:solidFill>
            <a:srgbClr val="47ACC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571750"/>
            <a:ext cx="9144000" cy="257175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356616"/>
            <a:ext cx="8412480" cy="4407408"/>
          </a:xfrm>
          <a:prstGeom prst="roundRect">
            <a:avLst>
              <a:gd name="adj" fmla="val 26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16200000">
              <a:srgbClr val="80808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426464"/>
            <a:ext cx="7498080" cy="9235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学习相关文档</a:t>
            </a:r>
            <a:endParaRPr lang="en-US" sz="100" dirty="0"/>
          </a:p>
        </p:txBody>
      </p:sp>
      <p:sp>
        <p:nvSpPr>
          <p:cNvPr id="6" name="Text 4"/>
          <p:cNvSpPr/>
          <p:nvPr/>
        </p:nvSpPr>
        <p:spPr>
          <a:xfrm>
            <a:off x="822960" y="2552336"/>
            <a:ext cx="7498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大模型应用开发工具链集成方案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0" y="4038633"/>
            <a:ext cx="9144000" cy="1355872"/>
          </a:xfrm>
          <a:prstGeom prst="rect">
            <a:avLst/>
          </a:prstGeom>
          <a:solidFill>
            <a:srgbClr val="47ACC5"/>
          </a:solidFill>
          <a:ln/>
        </p:spPr>
      </p:sp>
      <p:sp>
        <p:nvSpPr>
          <p:cNvPr id="8" name="Shape 6"/>
          <p:cNvSpPr/>
          <p:nvPr/>
        </p:nvSpPr>
        <p:spPr>
          <a:xfrm>
            <a:off x="3497472" y="2398940"/>
            <a:ext cx="2149057" cy="9144"/>
          </a:xfrm>
          <a:prstGeom prst="line">
            <a:avLst/>
          </a:prstGeom>
          <a:noFill/>
          <a:ln w="25400">
            <a:solidFill>
              <a:srgbClr val="47ACC5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06749" y="0"/>
            <a:ext cx="4820125" cy="5143500"/>
          </a:xfrm>
          <a:prstGeom prst="rect">
            <a:avLst/>
          </a:prstGeom>
          <a:solidFill>
            <a:srgbClr val="47ACC5"/>
          </a:solidFill>
          <a:ln/>
        </p:spPr>
      </p:sp>
      <p:sp>
        <p:nvSpPr>
          <p:cNvPr id="3" name="Shape 1"/>
          <p:cNvSpPr/>
          <p:nvPr/>
        </p:nvSpPr>
        <p:spPr>
          <a:xfrm>
            <a:off x="-1119272" y="0"/>
            <a:ext cx="4820125" cy="5143500"/>
          </a:xfrm>
          <a:prstGeom prst="rect">
            <a:avLst/>
          </a:prstGeom>
          <a:solidFill>
            <a:srgbClr val="47ACC5"/>
          </a:solidFill>
          <a:ln/>
        </p:spPr>
      </p:sp>
      <p:sp>
        <p:nvSpPr>
          <p:cNvPr id="4" name="Text 2"/>
          <p:cNvSpPr/>
          <p:nvPr/>
        </p:nvSpPr>
        <p:spPr>
          <a:xfrm>
            <a:off x="1114569" y="1565910"/>
            <a:ext cx="135587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100" dirty="0"/>
          </a:p>
        </p:txBody>
      </p:sp>
      <p:sp>
        <p:nvSpPr>
          <p:cNvPr id="5" name="Shape 3"/>
          <p:cNvSpPr/>
          <p:nvPr/>
        </p:nvSpPr>
        <p:spPr>
          <a:xfrm>
            <a:off x="1409471" y="2571750"/>
            <a:ext cx="766068" cy="9144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9507" y="2636217"/>
            <a:ext cx="236599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CONTENTS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694071" y="1913628"/>
            <a:ext cx="9144" cy="277954"/>
          </a:xfrm>
          <a:prstGeom prst="line">
            <a:avLst/>
          </a:prstGeom>
          <a:noFill/>
          <a:ln w="25400">
            <a:solidFill>
              <a:srgbClr val="96969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94071" y="2951918"/>
            <a:ext cx="9144" cy="277954"/>
          </a:xfrm>
          <a:prstGeom prst="line">
            <a:avLst/>
          </a:prstGeom>
          <a:noFill/>
          <a:ln w="25400">
            <a:solidFill>
              <a:srgbClr val="9696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2541" y="1810289"/>
            <a:ext cx="3457473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技术需求背景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948341" y="1686845"/>
            <a:ext cx="671157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02541" y="2848579"/>
            <a:ext cx="3457473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技术特点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948341" y="2725135"/>
            <a:ext cx="671157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5060" y="1910762"/>
            <a:ext cx="8053879" cy="1321975"/>
          </a:xfrm>
          <a:prstGeom prst="roundRect">
            <a:avLst>
              <a:gd name="adj" fmla="val 44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" dist="9525" dir="16200000">
              <a:srgbClr val="969696">
                <a:alpha val="2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2839819" y="2178558"/>
            <a:ext cx="5532066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技术需求背景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45060" y="827288"/>
            <a:ext cx="1410107" cy="2894786"/>
          </a:xfrm>
          <a:prstGeom prst="rect">
            <a:avLst/>
          </a:prstGeom>
          <a:solidFill>
            <a:srgbClr val="47ACC5"/>
          </a:solidFill>
          <a:ln/>
        </p:spPr>
      </p:sp>
      <p:sp>
        <p:nvSpPr>
          <p:cNvPr id="5" name="Shape 3"/>
          <p:cNvSpPr/>
          <p:nvPr/>
        </p:nvSpPr>
        <p:spPr>
          <a:xfrm>
            <a:off x="921623" y="1544981"/>
            <a:ext cx="1410107" cy="2894786"/>
          </a:xfrm>
          <a:prstGeom prst="rect">
            <a:avLst/>
          </a:prstGeom>
          <a:solidFill>
            <a:srgbClr val="47ACC5"/>
          </a:solidFill>
          <a:ln/>
        </p:spPr>
      </p:sp>
      <p:sp>
        <p:nvSpPr>
          <p:cNvPr id="6" name="Shape 4"/>
          <p:cNvSpPr/>
          <p:nvPr/>
        </p:nvSpPr>
        <p:spPr>
          <a:xfrm>
            <a:off x="1754378" y="703733"/>
            <a:ext cx="1410107" cy="2894786"/>
          </a:xfrm>
          <a:prstGeom prst="rect">
            <a:avLst/>
          </a:prstGeom>
          <a:solidFill>
            <a:srgbClr val="47ACC5"/>
          </a:solidFill>
          <a:ln/>
        </p:spPr>
      </p:sp>
      <p:sp>
        <p:nvSpPr>
          <p:cNvPr id="7" name="Text 5"/>
          <p:cNvSpPr/>
          <p:nvPr/>
        </p:nvSpPr>
        <p:spPr>
          <a:xfrm>
            <a:off x="1123268" y="1986534"/>
            <a:ext cx="1254181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8634" y="254997"/>
            <a:ext cx="454217" cy="454217"/>
          </a:xfrm>
          <a:prstGeom prst="rect">
            <a:avLst/>
          </a:prstGeom>
          <a:solidFill>
            <a:srgbClr val="47ACC5"/>
          </a:solidFill>
          <a:ln/>
        </p:spPr>
      </p:sp>
      <p:sp>
        <p:nvSpPr>
          <p:cNvPr id="3" name="Shape 1"/>
          <p:cNvSpPr/>
          <p:nvPr/>
        </p:nvSpPr>
        <p:spPr>
          <a:xfrm>
            <a:off x="1192137" y="1607805"/>
            <a:ext cx="2926080" cy="3030322"/>
          </a:xfrm>
          <a:prstGeom prst="roundRect">
            <a:avLst>
              <a:gd name="adj" fmla="val 2341"/>
            </a:avLst>
          </a:prstGeom>
          <a:solidFill>
            <a:srgbClr val="47ACC5"/>
          </a:solidFill>
          <a:ln/>
        </p:spPr>
      </p:sp>
      <p:sp>
        <p:nvSpPr>
          <p:cNvPr id="4" name="Shape 2"/>
          <p:cNvSpPr/>
          <p:nvPr/>
        </p:nvSpPr>
        <p:spPr>
          <a:xfrm>
            <a:off x="1283577" y="1686793"/>
            <a:ext cx="2825496" cy="2942242"/>
          </a:xfrm>
          <a:prstGeom prst="roundRect">
            <a:avLst>
              <a:gd name="adj" fmla="val 2365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2241636" y="1194264"/>
            <a:ext cx="827082" cy="827082"/>
          </a:xfrm>
          <a:prstGeom prst="rect">
            <a:avLst/>
          </a:prstGeom>
          <a:solidFill>
            <a:srgbClr val="47ACC5"/>
          </a:solidFill>
          <a:ln/>
        </p:spPr>
      </p:sp>
      <p:sp>
        <p:nvSpPr>
          <p:cNvPr id="6" name="Text 4"/>
          <p:cNvSpPr/>
          <p:nvPr/>
        </p:nvSpPr>
        <p:spPr>
          <a:xfrm>
            <a:off x="1361601" y="2121481"/>
            <a:ext cx="2587151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内容项标题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025783" y="1607805"/>
            <a:ext cx="2926080" cy="3030322"/>
          </a:xfrm>
          <a:prstGeom prst="roundRect">
            <a:avLst>
              <a:gd name="adj" fmla="val 2341"/>
            </a:avLst>
          </a:prstGeom>
          <a:solidFill>
            <a:srgbClr val="47ACC5"/>
          </a:solidFill>
          <a:ln/>
        </p:spPr>
      </p:sp>
      <p:sp>
        <p:nvSpPr>
          <p:cNvPr id="8" name="Shape 6"/>
          <p:cNvSpPr/>
          <p:nvPr/>
        </p:nvSpPr>
        <p:spPr>
          <a:xfrm>
            <a:off x="5117223" y="1686793"/>
            <a:ext cx="2825496" cy="2942242"/>
          </a:xfrm>
          <a:prstGeom prst="roundRect">
            <a:avLst>
              <a:gd name="adj" fmla="val 2365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6075282" y="1194264"/>
            <a:ext cx="827082" cy="827082"/>
          </a:xfrm>
          <a:prstGeom prst="rect">
            <a:avLst/>
          </a:prstGeom>
          <a:solidFill>
            <a:srgbClr val="47ACC5"/>
          </a:solidFill>
          <a:ln/>
        </p:spPr>
      </p:sp>
      <p:sp>
        <p:nvSpPr>
          <p:cNvPr id="10" name="Text 8"/>
          <p:cNvSpPr/>
          <p:nvPr/>
        </p:nvSpPr>
        <p:spPr>
          <a:xfrm>
            <a:off x="5195248" y="2121481"/>
            <a:ext cx="2587151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内容项标题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09498" y="143778"/>
            <a:ext cx="801998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大模型应用开发面临的核心问题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361601" y="2551249"/>
            <a:ext cx="2587151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大模型应用日益复杂：需整合多种数据源（网页、图数据库）和工具（爬虫、API）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195248" y="2551249"/>
            <a:ext cx="2587151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现有集成方案缺乏统一标准：导致开发效率低、部署困难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8634" y="254997"/>
            <a:ext cx="454217" cy="454217"/>
          </a:xfrm>
          <a:prstGeom prst="rect">
            <a:avLst/>
          </a:prstGeom>
          <a:solidFill>
            <a:srgbClr val="47ACC5"/>
          </a:solidFill>
          <a:ln/>
        </p:spPr>
      </p:sp>
      <p:sp>
        <p:nvSpPr>
          <p:cNvPr id="3" name="Shape 1"/>
          <p:cNvSpPr/>
          <p:nvPr/>
        </p:nvSpPr>
        <p:spPr>
          <a:xfrm>
            <a:off x="480399" y="1600082"/>
            <a:ext cx="2560320" cy="3030322"/>
          </a:xfrm>
          <a:prstGeom prst="roundRect">
            <a:avLst>
              <a:gd name="adj" fmla="val 2341"/>
            </a:avLst>
          </a:prstGeom>
          <a:solidFill>
            <a:srgbClr val="47ACC5"/>
          </a:solidFill>
          <a:ln/>
        </p:spPr>
      </p:sp>
      <p:sp>
        <p:nvSpPr>
          <p:cNvPr id="4" name="Shape 2"/>
          <p:cNvSpPr/>
          <p:nvPr/>
        </p:nvSpPr>
        <p:spPr>
          <a:xfrm>
            <a:off x="545652" y="1658731"/>
            <a:ext cx="2485923" cy="2962580"/>
          </a:xfrm>
          <a:prstGeom prst="roundRect">
            <a:avLst>
              <a:gd name="adj" fmla="val 2365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347018" y="1186541"/>
            <a:ext cx="827082" cy="827082"/>
          </a:xfrm>
          <a:prstGeom prst="rect">
            <a:avLst/>
          </a:prstGeom>
          <a:solidFill>
            <a:srgbClr val="47ACC5"/>
          </a:solidFill>
          <a:ln/>
        </p:spPr>
      </p:sp>
      <p:sp>
        <p:nvSpPr>
          <p:cNvPr id="6" name="Text 4"/>
          <p:cNvSpPr/>
          <p:nvPr/>
        </p:nvSpPr>
        <p:spPr>
          <a:xfrm>
            <a:off x="616930" y="2127317"/>
            <a:ext cx="233235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内容项标题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291840" y="1600082"/>
            <a:ext cx="2560320" cy="3030322"/>
          </a:xfrm>
          <a:prstGeom prst="roundRect">
            <a:avLst>
              <a:gd name="adj" fmla="val 2341"/>
            </a:avLst>
          </a:prstGeom>
          <a:solidFill>
            <a:srgbClr val="47ACC5"/>
          </a:solidFill>
          <a:ln/>
        </p:spPr>
      </p:sp>
      <p:sp>
        <p:nvSpPr>
          <p:cNvPr id="8" name="Shape 6"/>
          <p:cNvSpPr/>
          <p:nvPr/>
        </p:nvSpPr>
        <p:spPr>
          <a:xfrm>
            <a:off x="3357093" y="1658731"/>
            <a:ext cx="2485923" cy="2962580"/>
          </a:xfrm>
          <a:prstGeom prst="roundRect">
            <a:avLst>
              <a:gd name="adj" fmla="val 2365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4158459" y="1186541"/>
            <a:ext cx="827082" cy="827082"/>
          </a:xfrm>
          <a:prstGeom prst="rect">
            <a:avLst/>
          </a:prstGeom>
          <a:solidFill>
            <a:srgbClr val="47ACC5"/>
          </a:solidFill>
          <a:ln/>
        </p:spPr>
      </p:sp>
      <p:sp>
        <p:nvSpPr>
          <p:cNvPr id="10" name="Text 8"/>
          <p:cNvSpPr/>
          <p:nvPr/>
        </p:nvSpPr>
        <p:spPr>
          <a:xfrm>
            <a:off x="3428371" y="2127317"/>
            <a:ext cx="233235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内容项标题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6103281" y="1600082"/>
            <a:ext cx="2560320" cy="3030322"/>
          </a:xfrm>
          <a:prstGeom prst="roundRect">
            <a:avLst>
              <a:gd name="adj" fmla="val 2341"/>
            </a:avLst>
          </a:prstGeom>
          <a:solidFill>
            <a:srgbClr val="47ACC5"/>
          </a:solidFill>
          <a:ln/>
        </p:spPr>
      </p:sp>
      <p:sp>
        <p:nvSpPr>
          <p:cNvPr id="12" name="Shape 10"/>
          <p:cNvSpPr/>
          <p:nvPr/>
        </p:nvSpPr>
        <p:spPr>
          <a:xfrm>
            <a:off x="6168534" y="1658731"/>
            <a:ext cx="2485923" cy="2962580"/>
          </a:xfrm>
          <a:prstGeom prst="roundRect">
            <a:avLst>
              <a:gd name="adj" fmla="val 2365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6969900" y="1186541"/>
            <a:ext cx="827082" cy="827082"/>
          </a:xfrm>
          <a:prstGeom prst="rect">
            <a:avLst/>
          </a:prstGeom>
          <a:solidFill>
            <a:srgbClr val="47ACC5"/>
          </a:solidFill>
          <a:ln/>
        </p:spPr>
      </p:sp>
      <p:sp>
        <p:nvSpPr>
          <p:cNvPr id="14" name="Text 12"/>
          <p:cNvSpPr/>
          <p:nvPr/>
        </p:nvSpPr>
        <p:spPr>
          <a:xfrm>
            <a:off x="6239812" y="2127317"/>
            <a:ext cx="233235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内容项标题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09498" y="143778"/>
            <a:ext cx="801998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三大核心需求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16930" y="2557085"/>
            <a:ext cx="233235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MCP协议集成：如何让大模型（如Cursor）通过标准协议与Playwright等工具交互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428371" y="2557085"/>
            <a:ext cx="233235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容器化部署：Docker容器中如何访问宿主机Neo4j数据库（解决localhost指向容器自身问题）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239812" y="2557085"/>
            <a:ext cx="233235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数据获取与知识构建：利用Scrapy高效抓取网页数据，构建Graph RAG知识图谱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527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233252" y="1985335"/>
            <a:ext cx="4393025" cy="9144"/>
          </a:xfrm>
          <a:prstGeom prst="line">
            <a:avLst/>
          </a:prstGeom>
          <a:noFill/>
          <a:ln w="152400">
            <a:solidFill>
              <a:srgbClr val="47ACC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847446" y="-406939"/>
            <a:ext cx="5957378" cy="595737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6900752" y="1646367"/>
            <a:ext cx="1850765" cy="1850765"/>
          </a:xfrm>
          <a:prstGeom prst="rect">
            <a:avLst/>
          </a:prstGeom>
          <a:solidFill>
            <a:srgbClr val="47ACC5"/>
          </a:solidFill>
          <a:ln/>
        </p:spPr>
      </p:sp>
      <p:sp>
        <p:nvSpPr>
          <p:cNvPr id="6" name="Text 4"/>
          <p:cNvSpPr/>
          <p:nvPr/>
        </p:nvSpPr>
        <p:spPr>
          <a:xfrm>
            <a:off x="250158" y="2178558"/>
            <a:ext cx="5911601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技术特点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236246" y="3158794"/>
            <a:ext cx="4393025" cy="9144"/>
          </a:xfrm>
          <a:prstGeom prst="line">
            <a:avLst/>
          </a:prstGeom>
          <a:noFill/>
          <a:ln w="152400">
            <a:solidFill>
              <a:srgbClr val="47AC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0158" y="3497133"/>
            <a:ext cx="459728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标准化、容器化、可扩展的创新方案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8634" y="254997"/>
            <a:ext cx="454217" cy="454217"/>
          </a:xfrm>
          <a:prstGeom prst="rect">
            <a:avLst/>
          </a:prstGeom>
          <a:solidFill>
            <a:srgbClr val="47ACC5"/>
          </a:solidFill>
          <a:ln/>
        </p:spPr>
      </p:sp>
      <p:sp>
        <p:nvSpPr>
          <p:cNvPr id="3" name="Shape 1"/>
          <p:cNvSpPr/>
          <p:nvPr/>
        </p:nvSpPr>
        <p:spPr>
          <a:xfrm>
            <a:off x="108576" y="1619314"/>
            <a:ext cx="2194560" cy="3030322"/>
          </a:xfrm>
          <a:prstGeom prst="roundRect">
            <a:avLst>
              <a:gd name="adj" fmla="val 2341"/>
            </a:avLst>
          </a:prstGeom>
          <a:solidFill>
            <a:srgbClr val="47ACC5"/>
          </a:solidFill>
          <a:ln/>
        </p:spPr>
      </p:sp>
      <p:sp>
        <p:nvSpPr>
          <p:cNvPr id="4" name="Shape 2"/>
          <p:cNvSpPr/>
          <p:nvPr/>
        </p:nvSpPr>
        <p:spPr>
          <a:xfrm>
            <a:off x="164860" y="1677963"/>
            <a:ext cx="2129131" cy="2962580"/>
          </a:xfrm>
          <a:prstGeom prst="roundRect">
            <a:avLst>
              <a:gd name="adj" fmla="val 2365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92315" y="1205773"/>
            <a:ext cx="827082" cy="827082"/>
          </a:xfrm>
          <a:prstGeom prst="rect">
            <a:avLst/>
          </a:prstGeom>
          <a:solidFill>
            <a:srgbClr val="47ACC5"/>
          </a:solidFill>
          <a:ln/>
        </p:spPr>
      </p:sp>
      <p:sp>
        <p:nvSpPr>
          <p:cNvPr id="6" name="Text 4"/>
          <p:cNvSpPr/>
          <p:nvPr/>
        </p:nvSpPr>
        <p:spPr>
          <a:xfrm>
            <a:off x="200016" y="2146549"/>
            <a:ext cx="20116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内容项标题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2352672" y="1619314"/>
            <a:ext cx="2194560" cy="3030322"/>
          </a:xfrm>
          <a:prstGeom prst="roundRect">
            <a:avLst>
              <a:gd name="adj" fmla="val 2341"/>
            </a:avLst>
          </a:prstGeom>
          <a:solidFill>
            <a:srgbClr val="47ACC5"/>
          </a:solidFill>
          <a:ln/>
        </p:spPr>
      </p:sp>
      <p:sp>
        <p:nvSpPr>
          <p:cNvPr id="8" name="Shape 6"/>
          <p:cNvSpPr/>
          <p:nvPr/>
        </p:nvSpPr>
        <p:spPr>
          <a:xfrm>
            <a:off x="2408957" y="1677963"/>
            <a:ext cx="2129131" cy="2962580"/>
          </a:xfrm>
          <a:prstGeom prst="roundRect">
            <a:avLst>
              <a:gd name="adj" fmla="val 2365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3036411" y="1205773"/>
            <a:ext cx="827082" cy="827082"/>
          </a:xfrm>
          <a:prstGeom prst="rect">
            <a:avLst/>
          </a:prstGeom>
          <a:solidFill>
            <a:srgbClr val="47ACC5"/>
          </a:solidFill>
          <a:ln/>
        </p:spPr>
      </p:sp>
      <p:sp>
        <p:nvSpPr>
          <p:cNvPr id="10" name="Text 8"/>
          <p:cNvSpPr/>
          <p:nvPr/>
        </p:nvSpPr>
        <p:spPr>
          <a:xfrm>
            <a:off x="2444112" y="2146549"/>
            <a:ext cx="20116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内容项标题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596768" y="1619314"/>
            <a:ext cx="2194560" cy="3030322"/>
          </a:xfrm>
          <a:prstGeom prst="roundRect">
            <a:avLst>
              <a:gd name="adj" fmla="val 2341"/>
            </a:avLst>
          </a:prstGeom>
          <a:solidFill>
            <a:srgbClr val="47ACC5"/>
          </a:solidFill>
          <a:ln/>
        </p:spPr>
      </p:sp>
      <p:sp>
        <p:nvSpPr>
          <p:cNvPr id="12" name="Shape 10"/>
          <p:cNvSpPr/>
          <p:nvPr/>
        </p:nvSpPr>
        <p:spPr>
          <a:xfrm>
            <a:off x="4653053" y="1677963"/>
            <a:ext cx="2129131" cy="2962580"/>
          </a:xfrm>
          <a:prstGeom prst="roundRect">
            <a:avLst>
              <a:gd name="adj" fmla="val 2365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5280507" y="1205773"/>
            <a:ext cx="827082" cy="827082"/>
          </a:xfrm>
          <a:prstGeom prst="rect">
            <a:avLst/>
          </a:prstGeom>
          <a:solidFill>
            <a:srgbClr val="47ACC5"/>
          </a:solidFill>
          <a:ln/>
        </p:spPr>
      </p:sp>
      <p:sp>
        <p:nvSpPr>
          <p:cNvPr id="14" name="Text 12"/>
          <p:cNvSpPr/>
          <p:nvPr/>
        </p:nvSpPr>
        <p:spPr>
          <a:xfrm>
            <a:off x="4688208" y="2146549"/>
            <a:ext cx="20116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内容项标题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840864" y="1619314"/>
            <a:ext cx="2194560" cy="3030322"/>
          </a:xfrm>
          <a:prstGeom prst="roundRect">
            <a:avLst>
              <a:gd name="adj" fmla="val 2341"/>
            </a:avLst>
          </a:prstGeom>
          <a:solidFill>
            <a:srgbClr val="47ACC5"/>
          </a:solidFill>
          <a:ln/>
        </p:spPr>
      </p:sp>
      <p:sp>
        <p:nvSpPr>
          <p:cNvPr id="16" name="Shape 14"/>
          <p:cNvSpPr/>
          <p:nvPr/>
        </p:nvSpPr>
        <p:spPr>
          <a:xfrm>
            <a:off x="6897149" y="1677963"/>
            <a:ext cx="2129131" cy="2962580"/>
          </a:xfrm>
          <a:prstGeom prst="roundRect">
            <a:avLst>
              <a:gd name="adj" fmla="val 2365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524604" y="1205773"/>
            <a:ext cx="827082" cy="827082"/>
          </a:xfrm>
          <a:prstGeom prst="rect">
            <a:avLst/>
          </a:prstGeom>
          <a:solidFill>
            <a:srgbClr val="47ACC5"/>
          </a:solidFill>
          <a:ln/>
        </p:spPr>
      </p:sp>
      <p:sp>
        <p:nvSpPr>
          <p:cNvPr id="18" name="Text 16"/>
          <p:cNvSpPr/>
          <p:nvPr/>
        </p:nvSpPr>
        <p:spPr>
          <a:xfrm>
            <a:off x="6932304" y="2146549"/>
            <a:ext cx="20116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内容项标题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09498" y="143778"/>
            <a:ext cx="801998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MCP：大模型与外部工具的标准化桥梁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00016" y="2576317"/>
            <a:ext cx="2011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Playwright MCP：Cursor通过MCP直接控制Playwright，无需手动编写脚本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444112" y="2576317"/>
            <a:ext cx="2011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统一交互方式：降低大模型与浏览器自动化、数据库等工具的集成复杂度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688208" y="2576317"/>
            <a:ext cx="2011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优势：标准化协议，避免重复开发，提升开发效率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30473" cy="5143500"/>
          </a:xfrm>
          <a:prstGeom prst="rect">
            <a:avLst/>
          </a:prstGeom>
          <a:solidFill>
            <a:srgbClr val="47ACC5"/>
          </a:solidFill>
          <a:ln/>
        </p:spPr>
      </p:sp>
      <p:sp>
        <p:nvSpPr>
          <p:cNvPr id="3" name="Shape 1"/>
          <p:cNvSpPr/>
          <p:nvPr/>
        </p:nvSpPr>
        <p:spPr>
          <a:xfrm>
            <a:off x="195923" y="188805"/>
            <a:ext cx="8467420" cy="4610841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429730" y="348039"/>
            <a:ext cx="8467420" cy="4610841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1794498" y="1714225"/>
            <a:ext cx="2555819" cy="2643950"/>
          </a:xfrm>
          <a:prstGeom prst="roundRect">
            <a:avLst>
              <a:gd name="adj" fmla="val 1608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894081" y="1998193"/>
            <a:ext cx="2356653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47AC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内容项标题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2485993" y="2494226"/>
            <a:ext cx="1172829" cy="9144"/>
          </a:xfrm>
          <a:prstGeom prst="line">
            <a:avLst/>
          </a:prstGeom>
          <a:noFill/>
          <a:ln w="25400">
            <a:solidFill>
              <a:srgbClr val="47ACC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93683" y="1714225"/>
            <a:ext cx="2555819" cy="2643950"/>
          </a:xfrm>
          <a:prstGeom prst="roundRect">
            <a:avLst>
              <a:gd name="adj" fmla="val 1608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4893266" y="1998193"/>
            <a:ext cx="2356653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47AC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内容项标题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485178" y="2494226"/>
            <a:ext cx="1172829" cy="9144"/>
          </a:xfrm>
          <a:prstGeom prst="line">
            <a:avLst/>
          </a:prstGeom>
          <a:noFill/>
          <a:ln w="25400">
            <a:solidFill>
              <a:srgbClr val="47AC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2016" y="645450"/>
            <a:ext cx="7606441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五大关键技术特征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894081" y="2571750"/>
            <a:ext cx="2356653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Neo4j集成：通过host.docker.internal解决容器内访问宿主机Neo4j问题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93266" y="2571750"/>
            <a:ext cx="2356653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Scrapy爬虫：完整爬虫项目创建、Spider生成与运行流程，支持大规模数据抓取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30473" cy="5143500"/>
          </a:xfrm>
          <a:prstGeom prst="rect">
            <a:avLst/>
          </a:prstGeom>
          <a:solidFill>
            <a:srgbClr val="47ACC5"/>
          </a:solidFill>
          <a:ln/>
        </p:spPr>
      </p:sp>
      <p:sp>
        <p:nvSpPr>
          <p:cNvPr id="3" name="Shape 1"/>
          <p:cNvSpPr/>
          <p:nvPr/>
        </p:nvSpPr>
        <p:spPr>
          <a:xfrm>
            <a:off x="195923" y="188805"/>
            <a:ext cx="8467420" cy="4610841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429730" y="348039"/>
            <a:ext cx="8467420" cy="4610841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619649" y="1714225"/>
            <a:ext cx="2555819" cy="2643950"/>
          </a:xfrm>
          <a:prstGeom prst="roundRect">
            <a:avLst>
              <a:gd name="adj" fmla="val 1608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719232" y="1998193"/>
            <a:ext cx="2356653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47AC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内容项标题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1311144" y="2494226"/>
            <a:ext cx="1172829" cy="9144"/>
          </a:xfrm>
          <a:prstGeom prst="line">
            <a:avLst/>
          </a:prstGeom>
          <a:noFill/>
          <a:ln w="25400">
            <a:solidFill>
              <a:srgbClr val="47ACC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79866" y="1714225"/>
            <a:ext cx="2555819" cy="2643950"/>
          </a:xfrm>
          <a:prstGeom prst="roundRect">
            <a:avLst>
              <a:gd name="adj" fmla="val 1608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3379449" y="1998193"/>
            <a:ext cx="2356653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47AC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内容项标题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971361" y="2494226"/>
            <a:ext cx="1172829" cy="9144"/>
          </a:xfrm>
          <a:prstGeom prst="line">
            <a:avLst/>
          </a:prstGeom>
          <a:noFill/>
          <a:ln w="25400">
            <a:solidFill>
              <a:srgbClr val="47ACC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0083" y="1714225"/>
            <a:ext cx="2555819" cy="2643950"/>
          </a:xfrm>
          <a:prstGeom prst="roundRect">
            <a:avLst>
              <a:gd name="adj" fmla="val 1608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6039666" y="1998193"/>
            <a:ext cx="2356653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47AC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内容项标题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631578" y="2494226"/>
            <a:ext cx="1172829" cy="9144"/>
          </a:xfrm>
          <a:prstGeom prst="line">
            <a:avLst/>
          </a:prstGeom>
          <a:noFill/>
          <a:ln w="25400">
            <a:solidFill>
              <a:srgbClr val="47AC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2016" y="645450"/>
            <a:ext cx="7606441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相比现有技术的三大优势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19232" y="2571750"/>
            <a:ext cx="2356653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标准化：MCP协议统一交互方式，降低集成复杂度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379449" y="2571750"/>
            <a:ext cx="2356653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容器化：Docker部署简化环境配置，避免本地依赖冲突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039666" y="2571750"/>
            <a:ext cx="2356653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可扩展性：支持多种数据源（网页、图数据库）和工具（爬虫、API），适应不同场景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527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2382251" y="2283627"/>
            <a:ext cx="4393025" cy="9144"/>
          </a:xfrm>
          <a:prstGeom prst="line">
            <a:avLst/>
          </a:prstGeom>
          <a:noFill/>
          <a:ln w="152400">
            <a:solidFill>
              <a:srgbClr val="47ACC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900827" y="507435"/>
            <a:ext cx="1355872" cy="1355872"/>
          </a:xfrm>
          <a:prstGeom prst="rect">
            <a:avLst/>
          </a:prstGeom>
          <a:solidFill>
            <a:srgbClr val="47ACC5"/>
          </a:solidFill>
          <a:ln/>
        </p:spPr>
      </p:sp>
      <p:sp>
        <p:nvSpPr>
          <p:cNvPr id="5" name="Text 3"/>
          <p:cNvSpPr/>
          <p:nvPr/>
        </p:nvSpPr>
        <p:spPr>
          <a:xfrm>
            <a:off x="585721" y="2476850"/>
            <a:ext cx="7986085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技术前期应用成果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2382251" y="3457086"/>
            <a:ext cx="4393025" cy="9144"/>
          </a:xfrm>
          <a:prstGeom prst="line">
            <a:avLst/>
          </a:prstGeom>
          <a:noFill/>
          <a:ln w="152400">
            <a:solidFill>
              <a:srgbClr val="47AC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97103" y="3775086"/>
            <a:ext cx="6163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五大应用案例验证技术可行性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7ACC5"/>
          </a:solidFill>
          <a:ln/>
        </p:spPr>
      </p:sp>
      <p:sp>
        <p:nvSpPr>
          <p:cNvPr id="3" name="Shape 1"/>
          <p:cNvSpPr/>
          <p:nvPr/>
        </p:nvSpPr>
        <p:spPr>
          <a:xfrm>
            <a:off x="90247" y="1680328"/>
            <a:ext cx="2194560" cy="2643530"/>
          </a:xfrm>
          <a:prstGeom prst="roundRect">
            <a:avLst>
              <a:gd name="adj" fmla="val 1608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55269" y="2056328"/>
            <a:ext cx="20645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47AC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内容项标题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781041" y="2504414"/>
            <a:ext cx="813523" cy="9144"/>
          </a:xfrm>
          <a:prstGeom prst="line">
            <a:avLst/>
          </a:prstGeom>
          <a:noFill/>
          <a:ln w="25400">
            <a:solidFill>
              <a:srgbClr val="47ACC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46562" y="1680328"/>
            <a:ext cx="2194560" cy="2643530"/>
          </a:xfrm>
          <a:prstGeom prst="roundRect">
            <a:avLst>
              <a:gd name="adj" fmla="val 1608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2411584" y="2056328"/>
            <a:ext cx="20645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47AC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内容项标题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037356" y="2504414"/>
            <a:ext cx="813523" cy="9144"/>
          </a:xfrm>
          <a:prstGeom prst="line">
            <a:avLst/>
          </a:prstGeom>
          <a:noFill/>
          <a:ln w="25400">
            <a:solidFill>
              <a:srgbClr val="47AC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02878" y="1680328"/>
            <a:ext cx="2194560" cy="2643530"/>
          </a:xfrm>
          <a:prstGeom prst="roundRect">
            <a:avLst>
              <a:gd name="adj" fmla="val 1608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4667900" y="2056328"/>
            <a:ext cx="20645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47AC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内容项标题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293671" y="2504414"/>
            <a:ext cx="813523" cy="9144"/>
          </a:xfrm>
          <a:prstGeom prst="line">
            <a:avLst/>
          </a:prstGeom>
          <a:noFill/>
          <a:ln w="25400">
            <a:solidFill>
              <a:srgbClr val="47AC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9193" y="1680328"/>
            <a:ext cx="2194560" cy="2643530"/>
          </a:xfrm>
          <a:prstGeom prst="roundRect">
            <a:avLst>
              <a:gd name="adj" fmla="val 1608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924215" y="2056328"/>
            <a:ext cx="20645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47AC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内容项标题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7549987" y="2504414"/>
            <a:ext cx="813523" cy="9144"/>
          </a:xfrm>
          <a:prstGeom prst="line">
            <a:avLst/>
          </a:prstGeom>
          <a:noFill/>
          <a:ln w="25400">
            <a:solidFill>
              <a:srgbClr val="47ACC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6991" y="77720"/>
            <a:ext cx="4596406" cy="1003345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0247" y="175766"/>
            <a:ext cx="4596406" cy="1003345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2016" y="557319"/>
            <a:ext cx="7606441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Cursor + Playwright MCP：网页自动化新范式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55169" y="2559248"/>
            <a:ext cx="2064715" cy="1499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Cursor通过MCP协议直接调用Playwright：进行网页自动化操作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411485" y="2559248"/>
            <a:ext cx="2064715" cy="1499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应用场景：自动填写表单、抓取动态内容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667800" y="2559248"/>
            <a:ext cx="2064715" cy="1499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成果：提升开发效率，减少手动脚本编写（参考知乎文章）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90451"/>
            <a:ext cx="551915" cy="551915"/>
          </a:xfrm>
          <a:prstGeom prst="rect">
            <a:avLst/>
          </a:prstGeom>
          <a:solidFill>
            <a:srgbClr val="47ACC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4579"/>
            <a:ext cx="9138577" cy="9144"/>
          </a:xfrm>
          <a:prstGeom prst="line">
            <a:avLst/>
          </a:prstGeom>
          <a:noFill/>
          <a:ln w="25400">
            <a:solidFill>
              <a:srgbClr val="47ACC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525" y="279976"/>
            <a:ext cx="372865" cy="37286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202719"/>
            <a:ext cx="9138577" cy="9144"/>
          </a:xfrm>
          <a:prstGeom prst="line">
            <a:avLst/>
          </a:prstGeom>
          <a:noFill/>
          <a:ln w="25400">
            <a:solidFill>
              <a:srgbClr val="47ACC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18475" y="1451569"/>
            <a:ext cx="299647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内容项标题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218475" y="3156161"/>
            <a:ext cx="299647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内容项标题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51915" y="1211810"/>
            <a:ext cx="3482557" cy="3482557"/>
          </a:xfrm>
          <a:prstGeom prst="rect">
            <a:avLst/>
          </a:prstGeom>
          <a:solidFill>
            <a:srgbClr val="47ACC5"/>
          </a:solidFill>
          <a:ln/>
        </p:spPr>
      </p:sp>
      <p:sp>
        <p:nvSpPr>
          <p:cNvPr id="9" name="Shape 7"/>
          <p:cNvSpPr/>
          <p:nvPr/>
        </p:nvSpPr>
        <p:spPr>
          <a:xfrm>
            <a:off x="8961120" y="1211810"/>
            <a:ext cx="182880" cy="3482557"/>
          </a:xfrm>
          <a:prstGeom prst="rect">
            <a:avLst/>
          </a:prstGeom>
          <a:solidFill>
            <a:srgbClr val="47ACC5"/>
          </a:solidFill>
          <a:ln/>
        </p:spPr>
      </p:sp>
      <p:sp>
        <p:nvSpPr>
          <p:cNvPr id="10" name="Text 8"/>
          <p:cNvSpPr/>
          <p:nvPr/>
        </p:nvSpPr>
        <p:spPr>
          <a:xfrm>
            <a:off x="551915" y="157150"/>
            <a:ext cx="78369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Dify平台 + Neo4j：知识图谱查询与更新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218475" y="1908769"/>
            <a:ext cx="2704931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在Dify平台中通过HTTP请求访问Neo4j：解决容器访问问题：将localhost改为host.docker.internal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218475" y="3613361"/>
            <a:ext cx="2704931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成果：成功支持Graph RAG应用，实现知识图谱的查询与更新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90451"/>
            <a:ext cx="551915" cy="551915"/>
          </a:xfrm>
          <a:prstGeom prst="rect">
            <a:avLst/>
          </a:prstGeom>
          <a:solidFill>
            <a:srgbClr val="47ACC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4579"/>
            <a:ext cx="9138577" cy="9144"/>
          </a:xfrm>
          <a:prstGeom prst="line">
            <a:avLst/>
          </a:prstGeom>
          <a:noFill/>
          <a:ln w="25400">
            <a:solidFill>
              <a:srgbClr val="47ACC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525" y="279976"/>
            <a:ext cx="372865" cy="37286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202719"/>
            <a:ext cx="9138577" cy="9144"/>
          </a:xfrm>
          <a:prstGeom prst="line">
            <a:avLst/>
          </a:prstGeom>
          <a:noFill/>
          <a:ln w="25400">
            <a:solidFill>
              <a:srgbClr val="47ACC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51915" y="1211810"/>
            <a:ext cx="3482557" cy="3482557"/>
          </a:xfrm>
          <a:prstGeom prst="rect">
            <a:avLst/>
          </a:prstGeom>
          <a:solidFill>
            <a:srgbClr val="47ACC5"/>
          </a:solidFill>
          <a:ln/>
        </p:spPr>
      </p:sp>
      <p:sp>
        <p:nvSpPr>
          <p:cNvPr id="7" name="Shape 5"/>
          <p:cNvSpPr/>
          <p:nvPr/>
        </p:nvSpPr>
        <p:spPr>
          <a:xfrm>
            <a:off x="8961120" y="1211810"/>
            <a:ext cx="182880" cy="3482557"/>
          </a:xfrm>
          <a:prstGeom prst="rect">
            <a:avLst/>
          </a:prstGeom>
          <a:solidFill>
            <a:srgbClr val="47ACC5"/>
          </a:solidFill>
          <a:ln/>
        </p:spPr>
      </p:sp>
      <p:sp>
        <p:nvSpPr>
          <p:cNvPr id="8" name="Text 6"/>
          <p:cNvSpPr/>
          <p:nvPr/>
        </p:nvSpPr>
        <p:spPr>
          <a:xfrm>
            <a:off x="551915" y="157150"/>
            <a:ext cx="78369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Scrapy爬虫：大规模网页数据抓取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470385" y="1633277"/>
            <a:ext cx="363829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创建和运行爬虫项目：例如抓取4399.com等网站数据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90451"/>
            <a:ext cx="551915" cy="551915"/>
          </a:xfrm>
          <a:prstGeom prst="rect">
            <a:avLst/>
          </a:prstGeom>
          <a:solidFill>
            <a:srgbClr val="47ACC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4579"/>
            <a:ext cx="9138577" cy="9144"/>
          </a:xfrm>
          <a:prstGeom prst="line">
            <a:avLst/>
          </a:prstGeom>
          <a:noFill/>
          <a:ln w="25400">
            <a:solidFill>
              <a:srgbClr val="47ACC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525" y="279976"/>
            <a:ext cx="372865" cy="37286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202719"/>
            <a:ext cx="9138577" cy="9144"/>
          </a:xfrm>
          <a:prstGeom prst="line">
            <a:avLst/>
          </a:prstGeom>
          <a:noFill/>
          <a:ln w="25400">
            <a:solidFill>
              <a:srgbClr val="47ACC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23652" y="1369431"/>
            <a:ext cx="2093466" cy="3140199"/>
          </a:xfrm>
          <a:prstGeom prst="rect">
            <a:avLst/>
          </a:prstGeom>
          <a:solidFill>
            <a:srgbClr val="47ACC5"/>
          </a:solidFill>
          <a:ln/>
        </p:spPr>
      </p:sp>
      <p:sp>
        <p:nvSpPr>
          <p:cNvPr id="7" name="Text 5"/>
          <p:cNvSpPr/>
          <p:nvPr/>
        </p:nvSpPr>
        <p:spPr>
          <a:xfrm>
            <a:off x="260370" y="1369431"/>
            <a:ext cx="299647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内容项标题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60370" y="3074022"/>
            <a:ext cx="299647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内容项标题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666828" y="2290306"/>
            <a:ext cx="299647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内容项标题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51915" y="157150"/>
            <a:ext cx="78369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Dify平台 + 外部MCP市场：扩展AI能力边界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51915" y="1826631"/>
            <a:ext cx="2704931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配置外部MCP市场：如ModelScope MCP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51915" y="3531222"/>
            <a:ext cx="2704931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Dify能够调用多种第三方工具：扩展AI应用能力，实现工具链无缝集成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666828" y="2747506"/>
            <a:ext cx="2704931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成果：扩展AI应用能力，实现工具链无缝集成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90451"/>
            <a:ext cx="551915" cy="551915"/>
          </a:xfrm>
          <a:prstGeom prst="rect">
            <a:avLst/>
          </a:prstGeom>
          <a:solidFill>
            <a:srgbClr val="47ACC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4579"/>
            <a:ext cx="9138577" cy="9144"/>
          </a:xfrm>
          <a:prstGeom prst="line">
            <a:avLst/>
          </a:prstGeom>
          <a:noFill/>
          <a:ln w="25400">
            <a:solidFill>
              <a:srgbClr val="47ACC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525" y="279976"/>
            <a:ext cx="372865" cy="37286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202719"/>
            <a:ext cx="9138577" cy="9144"/>
          </a:xfrm>
          <a:prstGeom prst="line">
            <a:avLst/>
          </a:prstGeom>
          <a:noFill/>
          <a:ln w="25400">
            <a:solidFill>
              <a:srgbClr val="47ACC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23652" y="1369431"/>
            <a:ext cx="2093466" cy="3140199"/>
          </a:xfrm>
          <a:prstGeom prst="rect">
            <a:avLst/>
          </a:prstGeom>
          <a:solidFill>
            <a:srgbClr val="47ACC5"/>
          </a:solidFill>
          <a:ln/>
        </p:spPr>
      </p:sp>
      <p:sp>
        <p:nvSpPr>
          <p:cNvPr id="7" name="Text 5"/>
          <p:cNvSpPr/>
          <p:nvPr/>
        </p:nvSpPr>
        <p:spPr>
          <a:xfrm>
            <a:off x="257670" y="2290306"/>
            <a:ext cx="299647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内容项标题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666828" y="1369431"/>
            <a:ext cx="299647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内容项标题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666828" y="3074022"/>
            <a:ext cx="299647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内容项标题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51915" y="157150"/>
            <a:ext cx="78369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飞书开发者工具：平台与外部服务互联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49215" y="2747506"/>
            <a:ext cx="2704931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提供API ID和Secret：支持飞书平台与外部服务集成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666828" y="1826631"/>
            <a:ext cx="2704931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应用场景：通过API发送消息或查询数据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666828" y="3531222"/>
            <a:ext cx="2704931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成果：打通飞书与大模型应用，提升企业协作效率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71750"/>
          </a:xfrm>
          <a:prstGeom prst="rect">
            <a:avLst/>
          </a:prstGeom>
          <a:solidFill>
            <a:srgbClr val="47ACC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571750"/>
            <a:ext cx="9144000" cy="257175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356616"/>
            <a:ext cx="8412480" cy="4407408"/>
          </a:xfrm>
          <a:prstGeom prst="roundRect">
            <a:avLst>
              <a:gd name="adj" fmla="val 26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16200000">
              <a:srgbClr val="80808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426464"/>
            <a:ext cx="7498080" cy="9235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</a:t>
            </a:r>
            <a:endParaRPr lang="en-US" sz="100" dirty="0"/>
          </a:p>
        </p:txBody>
      </p:sp>
      <p:sp>
        <p:nvSpPr>
          <p:cNvPr id="6" name="Text 4"/>
          <p:cNvSpPr/>
          <p:nvPr/>
        </p:nvSpPr>
        <p:spPr>
          <a:xfrm>
            <a:off x="822960" y="2552336"/>
            <a:ext cx="7498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演讲人：xxx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0" y="4038633"/>
            <a:ext cx="9144000" cy="1355872"/>
          </a:xfrm>
          <a:prstGeom prst="rect">
            <a:avLst/>
          </a:prstGeom>
          <a:solidFill>
            <a:srgbClr val="47ACC5"/>
          </a:solidFill>
          <a:ln/>
        </p:spPr>
      </p:sp>
      <p:sp>
        <p:nvSpPr>
          <p:cNvPr id="8" name="Shape 6"/>
          <p:cNvSpPr/>
          <p:nvPr/>
        </p:nvSpPr>
        <p:spPr>
          <a:xfrm>
            <a:off x="3497472" y="2398940"/>
            <a:ext cx="2149057" cy="9144"/>
          </a:xfrm>
          <a:prstGeom prst="line">
            <a:avLst/>
          </a:prstGeom>
          <a:noFill/>
          <a:ln w="25400">
            <a:solidFill>
              <a:srgbClr val="47ACC5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学习相关文档</dc:title>
  <dc:subject>PptxGenJS Presentation</dc:subject>
  <dc:creator>技术成果PPT生成器</dc:creator>
  <cp:lastModifiedBy>技术成果PPT生成器</cp:lastModifiedBy>
  <cp:revision>1</cp:revision>
  <dcterms:created xsi:type="dcterms:W3CDTF">2026-05-18T01:27:40Z</dcterms:created>
  <dcterms:modified xsi:type="dcterms:W3CDTF">2026-05-18T01:27:40Z</dcterms:modified>
</cp:coreProperties>
</file>