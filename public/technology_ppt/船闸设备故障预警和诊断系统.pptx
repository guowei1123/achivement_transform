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2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viewProps" Target="viewProps.xml"/><Relationship Id="rId6" Type="http://schemas.openxmlformats.org/officeDocument/2006/relationships/tableStyles" Target="tableStyle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3" Type="http://schemas.openxmlformats.org/officeDocument/2006/relationships/slide" Target="slides/slide2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019800" y="1685543"/>
            <a:ext cx="5791200" cy="4351020"/>
          </a:xfrm>
          <a:prstGeom prst="rect">
            <a:avLst/>
          </a:prstGeom>
        </p:spPr>
      </p:pic>
      <p:sp>
        <p:nvSpPr>
          <p:cNvPr id="4" name="textbox 4"/>
          <p:cNvSpPr/>
          <p:nvPr/>
        </p:nvSpPr>
        <p:spPr>
          <a:xfrm>
            <a:off x="536112" y="1844368"/>
            <a:ext cx="5282565" cy="42284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9081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6000"/>
              </a:lnSpc>
              <a:tabLst/>
            </a:pP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船闸的核心设备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7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-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如闸门启闭机、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marL="13334" algn="l" rtl="0" eaLnBrk="0">
              <a:lnSpc>
                <a:spcPct val="157000"/>
              </a:lnSpc>
              <a:spcBef>
                <a:spcPts val="41"/>
              </a:spcBef>
              <a:tabLst/>
            </a:pP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液压系统、</a:t>
            </a:r>
            <a:r>
              <a:rPr sz="2700" kern="0" spc="-61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缆车导向系统、</a:t>
            </a:r>
            <a:r>
              <a:rPr sz="2700" kern="0" spc="-63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止水</a:t>
            </a:r>
            <a:r>
              <a:rPr sz="2700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装置等关键部件的运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行状态（如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振动、</a:t>
            </a:r>
            <a:r>
              <a:rPr sz="2700" kern="0" spc="-6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液压、</a:t>
            </a:r>
            <a:r>
              <a:rPr sz="2700" kern="0" spc="-6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温度、</a:t>
            </a:r>
            <a:r>
              <a:rPr sz="2700" kern="0" spc="-6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位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移等）</a:t>
            </a:r>
            <a:r>
              <a:rPr sz="2700" kern="0" spc="-5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的</a:t>
            </a:r>
            <a:r>
              <a:rPr sz="2700" kern="0" spc="6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在线监测与故障智能诊断</a:t>
            </a:r>
            <a:r>
              <a:rPr sz="2700" kern="0" spc="-3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6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提高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设备的可靠性</a:t>
            </a:r>
            <a:r>
              <a:rPr sz="2700" kern="0" spc="-37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，</a:t>
            </a:r>
            <a:r>
              <a:rPr sz="2700" kern="0" spc="-55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4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降低维护成本，</a:t>
            </a:r>
            <a:endParaRPr sz="27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3000"/>
              </a:lnSpc>
              <a:tabLst/>
            </a:pPr>
            <a:endParaRPr sz="1600" dirty="0">
              <a:latin typeface="Arial"/>
              <a:ea typeface="Arial"/>
              <a:cs typeface="Arial"/>
            </a:endParaRPr>
          </a:p>
          <a:p>
            <a:pPr algn="l" rtl="0" eaLnBrk="0">
              <a:lnSpc>
                <a:spcPct val="968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从而保证设备的连续可靠运行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textbox 6"/>
          <p:cNvSpPr/>
          <p:nvPr/>
        </p:nvSpPr>
        <p:spPr>
          <a:xfrm>
            <a:off x="1524" y="0"/>
            <a:ext cx="12190730" cy="620394"/>
          </a:xfrm>
          <a:prstGeom prst="rect">
            <a:avLst/>
          </a:prstGeom>
          <a:solidFill>
            <a:srgbClr val="004698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03000"/>
              </a:lnSpc>
              <a:tabLst/>
            </a:pPr>
            <a:endParaRPr sz="300" dirty="0">
              <a:latin typeface="Arial"/>
              <a:ea typeface="Arial"/>
              <a:cs typeface="Arial"/>
            </a:endParaRPr>
          </a:p>
          <a:p>
            <a:pPr marL="111760" algn="l" rtl="0" eaLnBrk="0">
              <a:lnSpc>
                <a:spcPts val="3608"/>
              </a:lnSpc>
              <a:spcBef>
                <a:spcPts val="1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2.4 </a:t>
            </a:r>
            <a:r>
              <a:rPr sz="2700" b="1" kern="0" spc="9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基于工业互联</a:t>
            </a:r>
            <a:r>
              <a:rPr sz="2700" b="1" kern="0" spc="80" dirty="0">
                <a:solidFill>
                  <a:srgbClr val="FFFFFF">
                    <a:alpha val="100000"/>
                  </a:srgbClr>
                </a:solidFill>
                <a:latin typeface="DengXian"/>
                <a:ea typeface="DengXian"/>
                <a:cs typeface="DengXian"/>
              </a:rPr>
              <a:t>网的船闸机设备故障预警和诊断系统</a:t>
            </a:r>
            <a:endParaRPr sz="2700" dirty="0">
              <a:latin typeface="DengXian"/>
              <a:ea typeface="DengXian"/>
              <a:cs typeface="DengXian"/>
            </a:endParaRPr>
          </a:p>
        </p:txBody>
      </p:sp>
      <p:sp>
        <p:nvSpPr>
          <p:cNvPr id="8" name="textbox 8"/>
          <p:cNvSpPr/>
          <p:nvPr/>
        </p:nvSpPr>
        <p:spPr>
          <a:xfrm>
            <a:off x="4741900" y="711771"/>
            <a:ext cx="2761614" cy="49021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8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技术需求背景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466344" y="3080003"/>
            <a:ext cx="10421112" cy="2941320"/>
          </a:xfrm>
          <a:prstGeom prst="rect">
            <a:avLst/>
          </a:prstGeom>
        </p:spPr>
      </p:pic>
      <p:sp>
        <p:nvSpPr>
          <p:cNvPr id="12" name="textbox 12"/>
          <p:cNvSpPr/>
          <p:nvPr/>
        </p:nvSpPr>
        <p:spPr>
          <a:xfrm>
            <a:off x="667842" y="192697"/>
            <a:ext cx="7160894" cy="286257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5393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algn="r" rtl="0" eaLnBrk="0">
              <a:lnSpc>
                <a:spcPct val="87000"/>
              </a:lnSpc>
              <a:tabLst/>
            </a:pPr>
            <a:r>
              <a:rPr sz="3500" b="1" kern="0" spc="9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主要内容与关键技术</a:t>
            </a:r>
            <a:endParaRPr sz="35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97000"/>
              </a:lnSpc>
              <a:tabLst/>
            </a:pPr>
            <a:endParaRPr sz="10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695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稳定可靠的工业物联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网数据采集平台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智能精准的设备故障预警模型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marL="12700" algn="l" rtl="0" eaLnBrk="0">
              <a:lnSpc>
                <a:spcPct val="96000"/>
              </a:lnSpc>
              <a:spcBef>
                <a:spcPts val="1671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10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完善有效的故障诊断知识库</a:t>
            </a:r>
            <a:endParaRPr sz="2300" dirty="0">
              <a:latin typeface="Microsoft YaHei"/>
              <a:ea typeface="Microsoft YaHei"/>
              <a:cs typeface="Microsoft YaHei"/>
            </a:endParaRPr>
          </a:p>
          <a:p>
            <a:pPr algn="l" rtl="0" eaLnBrk="0">
              <a:lnSpc>
                <a:spcPct val="107000"/>
              </a:lnSpc>
              <a:tabLst/>
            </a:pPr>
            <a:endParaRPr sz="13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96000"/>
              </a:lnSpc>
              <a:spcBef>
                <a:spcPts val="2"/>
              </a:spcBef>
              <a:tabLst>
                <a:tab pos="228600" algn="l"/>
              </a:tabLst>
            </a:pPr>
            <a:r>
              <a:rPr sz="2300" b="1" kern="0" spc="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	</a:t>
            </a:r>
            <a:r>
              <a:rPr sz="2300" b="1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   可视可知的设备画像应用</a:t>
            </a:r>
            <a:endParaRPr sz="2300" dirty="0"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680542" y="2704413"/>
            <a:ext cx="216408" cy="337718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600000">
            <a:off x="680542" y="2155773"/>
            <a:ext cx="216408" cy="337718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600000">
            <a:off x="680542" y="1607134"/>
            <a:ext cx="216408" cy="337718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1600000">
            <a:off x="680542" y="1058494"/>
            <a:ext cx="216408" cy="337718"/>
          </a:xfrm>
          <a:prstGeom prst="rect">
            <a:avLst/>
          </a:prstGeom>
        </p:spPr>
      </p:pic>
      <p:sp>
        <p:nvSpPr>
          <p:cNvPr id="22" name="textbox 22"/>
          <p:cNvSpPr/>
          <p:nvPr/>
        </p:nvSpPr>
        <p:spPr>
          <a:xfrm>
            <a:off x="3616020" y="6262839"/>
            <a:ext cx="4580890" cy="25336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0749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国产化专业的工业软件产品和工业互联网平台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1600000">
            <a:off x="6214871" y="2580132"/>
            <a:ext cx="5236463" cy="3480815"/>
          </a:xfrm>
          <a:prstGeom prst="rect">
            <a:avLst/>
          </a:prstGeom>
        </p:spPr>
      </p:pic>
      <p:pic>
        <p:nvPicPr>
          <p:cNvPr id="26" name="picture 2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21600000">
            <a:off x="833627" y="2580132"/>
            <a:ext cx="5160263" cy="3480815"/>
          </a:xfrm>
          <a:prstGeom prst="rect">
            <a:avLst/>
          </a:prstGeom>
        </p:spPr>
      </p:pic>
      <p:sp>
        <p:nvSpPr>
          <p:cNvPr id="28" name="textbox 28"/>
          <p:cNvSpPr/>
          <p:nvPr/>
        </p:nvSpPr>
        <p:spPr>
          <a:xfrm>
            <a:off x="833627" y="970788"/>
            <a:ext cx="6487795" cy="646430"/>
          </a:xfrm>
          <a:prstGeom prst="rect">
            <a:avLst/>
          </a:prstGeom>
          <a:solidFill>
            <a:srgbClr val="0070C0">
              <a:alpha val="100000"/>
            </a:srgbClr>
          </a:solidFill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114000"/>
              </a:lnSpc>
              <a:tabLst/>
            </a:pPr>
            <a:endParaRPr sz="500" dirty="0">
              <a:latin typeface="Arial"/>
              <a:ea typeface="Arial"/>
              <a:cs typeface="Arial"/>
            </a:endParaRPr>
          </a:p>
          <a:p>
            <a:pPr marL="96519" algn="l" rtl="0" eaLnBrk="0">
              <a:lnSpc>
                <a:spcPct val="88000"/>
              </a:lnSpc>
              <a:spcBef>
                <a:spcPts val="2"/>
              </a:spcBef>
              <a:tabLst/>
            </a:pP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大型船闸、</a:t>
            </a:r>
            <a:r>
              <a:rPr sz="2700" kern="0" spc="-65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水利工程的设备监</a:t>
            </a:r>
            <a:r>
              <a:rPr sz="2700" kern="0" spc="80" dirty="0">
                <a:solidFill>
                  <a:srgbClr val="FFFFFF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测和维护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textbox 30"/>
          <p:cNvSpPr/>
          <p:nvPr/>
        </p:nvSpPr>
        <p:spPr>
          <a:xfrm>
            <a:off x="887832" y="1870240"/>
            <a:ext cx="9598025" cy="38989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1807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9000"/>
              </a:lnSpc>
              <a:tabLst/>
            </a:pP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已应用于大渡河流域水电、</a:t>
            </a:r>
            <a:r>
              <a:rPr sz="2700" kern="0" spc="-6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广西桂冠电</a:t>
            </a:r>
            <a:r>
              <a:rPr sz="2700" kern="0" spc="8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力水电等水利水电工程</a:t>
            </a:r>
            <a:endParaRPr sz="2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textbox 32"/>
          <p:cNvSpPr/>
          <p:nvPr/>
        </p:nvSpPr>
        <p:spPr>
          <a:xfrm>
            <a:off x="5065991" y="321627"/>
            <a:ext cx="2305050" cy="492125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98236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7000"/>
              </a:lnSpc>
              <a:tabLst/>
            </a:pPr>
            <a:r>
              <a:rPr sz="3500" b="1" kern="0" spc="80" dirty="0">
                <a:solidFill>
                  <a:srgbClr val="C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成果与应用</a:t>
            </a:r>
            <a:endParaRPr sz="35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4" name="textbox 34"/>
          <p:cNvSpPr/>
          <p:nvPr/>
        </p:nvSpPr>
        <p:spPr>
          <a:xfrm>
            <a:off x="2806026" y="6276022"/>
            <a:ext cx="1165225" cy="252729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77298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8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大渡河水电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6" name="textbox 36"/>
          <p:cNvSpPr/>
          <p:nvPr/>
        </p:nvSpPr>
        <p:spPr>
          <a:xfrm>
            <a:off x="8335479" y="6182893"/>
            <a:ext cx="938530" cy="248920"/>
          </a:xfrm>
          <a:prstGeom prst="rect">
            <a:avLst/>
          </a:prstGeom>
          <a:noFill/>
          <a:ln w="0" cap="flat">
            <a:noFill/>
            <a:prstDash val="solid"/>
            <a:miter lim="0"/>
          </a:ln>
        </p:spPr>
        <p:txBody>
          <a:bodyPr vert="horz" wrap="square" lIns="0" tIns="0" rIns="0" bIns="0"/>
          <a:lstStyle/>
          <a:p>
            <a:pPr algn="l" rtl="0" eaLnBrk="0">
              <a:lnSpc>
                <a:spcPct val="86394"/>
              </a:lnSpc>
              <a:tabLst/>
            </a:pPr>
            <a:endParaRPr sz="100" dirty="0">
              <a:latin typeface="Arial"/>
              <a:ea typeface="Arial"/>
              <a:cs typeface="Arial"/>
            </a:endParaRPr>
          </a:p>
          <a:p>
            <a:pPr marL="12700" algn="l" rtl="0" eaLnBrk="0">
              <a:lnSpc>
                <a:spcPct val="86000"/>
              </a:lnSpc>
              <a:tabLst/>
            </a:pPr>
            <a:r>
              <a:rPr sz="1700" kern="0" spc="90" dirty="0">
                <a:solidFill>
                  <a:srgbClr val="000000">
                    <a:alpha val="100000"/>
                  </a:srgbClr>
                </a:solidFill>
                <a:latin typeface="Microsoft YaHei"/>
                <a:ea typeface="Microsoft YaHei"/>
                <a:cs typeface="Microsoft YaHei"/>
              </a:rPr>
              <a:t>桂冠水电</a:t>
            </a:r>
            <a:endParaRPr sz="1700" dirty="0">
              <a:latin typeface="Microsoft YaHei"/>
              <a:ea typeface="Microsoft YaHei"/>
              <a:cs typeface="Microsoft YaHe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satMod val="110000"/>
                <a:lum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satMod val="105000"/>
                <a:lum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shade val="94000"/>
              </a:schemeClr>
            </a:gs>
            <a:gs pos="50000">
              <a:schemeClr val="phClr">
                <a:lumMod val="110000"/>
                <a:satMod val="100000"/>
                <a:tint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ap:Properties xmlns:vt="http://schemas.openxmlformats.org/officeDocument/2006/docPropsVTypes" xmlns:ap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O">
    <vt:lpwstr>wqlLaW5nc29mdCBQREYgdG8gV1BTIDEyMA</vt:lpwstr>
  </property>
  <property fmtid="{D5CDD505-2E9C-101B-9397-08002B2CF9AE}" pid="3" name="Created">
    <vt:filetime>2026-05-21T21:38:41</vt:filetime>
  </property>
</Properties>
</file>