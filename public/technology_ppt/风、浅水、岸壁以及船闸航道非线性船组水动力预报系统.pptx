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3.png"/><Relationship Id="rId4" Type="http://schemas.openxmlformats.org/officeDocument/2006/relationships/image" Target="../media/image12.jpe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550278" y="1496098"/>
            <a:ext cx="6425565" cy="3977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风浅水岸壁船闸航道非线性船组水动力预报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3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风、浅水岸壁船组流场预报与流速检测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复杂船闸航道泥沙堆积环境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下船舶水动力预估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系缆力、船组运动响应预报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船舶兴波对航道岸壁影响评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全尺度船组阻力预报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复杂航道泥沙堆积流态预报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74992" y="1353311"/>
            <a:ext cx="4466844" cy="247345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74458" y="4328159"/>
            <a:ext cx="4466844" cy="2275332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3.1 风、</a:t>
            </a:r>
            <a:r>
              <a:rPr sz="2700" kern="0" spc="-6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岸壁以及船闸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航道非线性船组水动力预报系统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8317745" y="3849907"/>
            <a:ext cx="2275839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33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0020" indent="-147954" algn="l" rtl="0" eaLnBrk="0">
              <a:lnSpc>
                <a:spcPct val="93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间效应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运动响应预报与流场检测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8299891" y="6605032"/>
            <a:ext cx="251332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船组、岸壁、假底试验装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置架构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9447" y="3944543"/>
            <a:ext cx="4560854" cy="2095526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655726" y="420509"/>
            <a:ext cx="7658100" cy="3270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92804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复杂航道泥沙堆积多相流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CFD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DEM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333375" indent="-321309" algn="l" rtl="0" eaLnBrk="0">
              <a:lnSpc>
                <a:spcPct val="151000"/>
              </a:lnSpc>
              <a:spcBef>
                <a:spcPts val="364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考虑浅水、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船间效应的船组水动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力和下沉量试验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1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复杂船闸航道限制域非线性船舶运动智能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5"/>
              </a:lnSpc>
              <a:spcBef>
                <a:spcPts val="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限制域系缆力、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粘势流/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二因次船模-实船阻力切换技术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332487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8351456" y="950493"/>
            <a:ext cx="3730674" cy="5406263"/>
            <a:chOff x="0" y="0"/>
            <a:chExt cx="3730674" cy="5406263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730674" cy="5406263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1240557" y="5056356"/>
              <a:ext cx="1802129" cy="2120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5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船舶运动智能预报架构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988568" y="3764114"/>
            <a:ext cx="5954674" cy="2609215"/>
            <a:chOff x="0" y="0"/>
            <a:chExt cx="5954674" cy="2609215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954674" cy="2609215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5980429" cy="26441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61870" algn="l" rtl="0" eaLnBrk="0">
                <a:lnSpc>
                  <a:spcPct val="88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分域双数学模型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277812" y="4227512"/>
          <a:ext cx="11661140" cy="2630170"/>
        </p:xfrm>
        <a:graphic>
          <a:graphicData uri="http://schemas.openxmlformats.org/drawingml/2006/table">
            <a:tbl>
              <a:tblPr/>
              <a:tblGrid>
                <a:gridCol w="11372850"/>
                <a:gridCol w="288290"/>
              </a:tblGrid>
              <a:tr h="2630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76109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五船试验与双数学模型数值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结果对比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286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限制域多船舶试验平台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38544" y="1359407"/>
            <a:ext cx="4928616" cy="2699004"/>
          </a:xfrm>
          <a:prstGeom prst="rect">
            <a:avLst/>
          </a:prstGeom>
        </p:spPr>
      </p:pic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5820727" y="4515713"/>
          <a:ext cx="5830569" cy="2257425"/>
        </p:xfrm>
        <a:graphic>
          <a:graphicData uri="http://schemas.openxmlformats.org/drawingml/2006/table">
            <a:tbl>
              <a:tblPr/>
              <a:tblGrid>
                <a:gridCol w="1802764"/>
                <a:gridCol w="808355"/>
                <a:gridCol w="725804"/>
                <a:gridCol w="852170"/>
                <a:gridCol w="797559"/>
                <a:gridCol w="843915"/>
              </a:tblGrid>
              <a:tr h="795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038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船模阻力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9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3995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194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" indent="-101600" algn="l" rtl="0" eaLnBrk="0">
                        <a:lnSpc>
                          <a:spcPct val="10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智能工</a:t>
                      </a: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作船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6280" algn="l" rtl="0" eaLnBrk="0">
                        <a:lnSpc>
                          <a:spcPct val="6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EFD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1.76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740" algn="l" rtl="0" eaLnBrk="0">
                        <a:lnSpc>
                          <a:spcPts val="198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CFD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（双数学模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04850" algn="l" rtl="0" eaLnBrk="0">
                        <a:lnSpc>
                          <a:spcPts val="1989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486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/%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12.41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7479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18.24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-9.03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10.11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653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13.04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900683" y="1389888"/>
            <a:ext cx="3259835" cy="2555747"/>
            <a:chOff x="0" y="0"/>
            <a:chExt cx="3259835" cy="2555747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259835" cy="2555747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1617865" y="828811"/>
              <a:ext cx="694690" cy="1981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6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1000"/>
                </a:lnSpc>
                <a:tabLst/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LES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结果</a:t>
              </a:r>
              <a:endParaRPr sz="14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9723" y="4899660"/>
            <a:ext cx="3589020" cy="1720595"/>
          </a:xfrm>
          <a:prstGeom prst="rect">
            <a:avLst/>
          </a:prstGeom>
        </p:spPr>
      </p:pic>
      <p:sp>
        <p:nvSpPr>
          <p:cNvPr id="48" name="rect 48"/>
          <p:cNvSpPr/>
          <p:nvPr/>
        </p:nvSpPr>
        <p:spPr>
          <a:xfrm>
            <a:off x="6013703" y="882396"/>
            <a:ext cx="6178296" cy="4663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6070066" y="897089"/>
            <a:ext cx="6134734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98"/>
              </a:lnSpc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出版《船舶进出限制水域水动力与智能助航》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88848" y="4363211"/>
            <a:ext cx="38893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462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限制域多船舶试验测量技术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73836" y="882396"/>
            <a:ext cx="3023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4767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双数学模型预报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37497" y="3980028"/>
            <a:ext cx="5156200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53"/>
              </a:lnSpc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双数学模型在总体方面体现卓越性能（如高效、高精度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与高稳定）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6700" y="407136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43487" y="5591200"/>
            <a:ext cx="942429" cy="3384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2026-05-21T21:38:41</vt:filetime>
  </property>
</Properties>
</file>