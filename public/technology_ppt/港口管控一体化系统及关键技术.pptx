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2"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7" Type="http://schemas.openxmlformats.org/officeDocument/2006/relationships/tableStyles" Target="tableStyles.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3" Type="http://schemas.openxmlformats.org/officeDocument/2006/relationships/slide" Target="slides/slide2.xml"/><Relationship Id="rId2" Type="http://schemas.openxmlformats.org/officeDocument/2006/relationships/slide" Target="slides/slid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624986" y="711771"/>
            <a:ext cx="10945494" cy="4454525"/>
          </a:xfrm>
          <a:prstGeom prst="rect">
            <a:avLst/>
          </a:prstGeom>
          <a:noFill/>
          <a:ln w="0" cap="flat">
            <a:noFill/>
            <a:prstDash val="solid"/>
            <a:miter lim="0"/>
          </a:ln>
        </p:spPr>
        <p:txBody>
          <a:bodyPr vert="horz" wrap="square" lIns="0" tIns="0" rIns="0" bIns="0"/>
          <a:lstStyle/>
          <a:p>
            <a:pPr algn="l" rtl="0" eaLnBrk="0">
              <a:lnSpc>
                <a:spcPct val="86386"/>
              </a:lnSpc>
              <a:tabLst/>
            </a:pPr>
            <a:endParaRPr sz="100" dirty="0">
              <a:latin typeface="Arial"/>
              <a:ea typeface="Arial"/>
              <a:cs typeface="Arial"/>
            </a:endParaRPr>
          </a:p>
          <a:p>
            <a:pPr marL="4129404" algn="l" rtl="0" eaLnBrk="0">
              <a:lnSpc>
                <a:spcPct val="87000"/>
              </a:lnSpc>
              <a:tabLst/>
            </a:pPr>
            <a:r>
              <a:rPr sz="3500" b="1" kern="0" spc="80" dirty="0">
                <a:solidFill>
                  <a:srgbClr val="C00000">
                    <a:alpha val="100000"/>
                  </a:srgbClr>
                </a:solidFill>
                <a:latin typeface="Microsoft YaHei"/>
                <a:ea typeface="Microsoft YaHei"/>
                <a:cs typeface="Microsoft YaHei"/>
              </a:rPr>
              <a:t>技术需求背景</a:t>
            </a:r>
            <a:endParaRPr sz="3500" dirty="0">
              <a:latin typeface="Microsoft YaHei"/>
              <a:ea typeface="Microsoft YaHei"/>
              <a:cs typeface="Microsoft YaHei"/>
            </a:endParaRPr>
          </a:p>
          <a:p>
            <a:pPr algn="l" rtl="0" eaLnBrk="0">
              <a:lnSpc>
                <a:spcPct val="114000"/>
              </a:lnSpc>
              <a:tabLst/>
            </a:pPr>
            <a:endParaRPr sz="1000" dirty="0">
              <a:latin typeface="Arial"/>
              <a:ea typeface="Arial"/>
              <a:cs typeface="Arial"/>
            </a:endParaRPr>
          </a:p>
          <a:p>
            <a:pPr marL="13970" algn="l" rtl="0" eaLnBrk="0">
              <a:lnSpc>
                <a:spcPct val="88000"/>
              </a:lnSpc>
              <a:spcBef>
                <a:spcPts val="691"/>
              </a:spcBef>
              <a:tabLst/>
            </a:pPr>
            <a:r>
              <a:rPr sz="2300" b="1" kern="0" spc="100" dirty="0">
                <a:solidFill>
                  <a:srgbClr val="000000">
                    <a:alpha val="100000"/>
                  </a:srgbClr>
                </a:solidFill>
                <a:latin typeface="Microsoft YaHei"/>
                <a:ea typeface="Microsoft YaHei"/>
                <a:cs typeface="Microsoft YaHei"/>
              </a:rPr>
              <a:t>港口管控一体化系统</a:t>
            </a:r>
            <a:r>
              <a:rPr sz="2300" b="1" kern="0" spc="90" dirty="0">
                <a:solidFill>
                  <a:srgbClr val="000000">
                    <a:alpha val="100000"/>
                  </a:srgbClr>
                </a:solidFill>
                <a:latin typeface="Microsoft YaHei"/>
                <a:ea typeface="Microsoft YaHei"/>
                <a:cs typeface="Microsoft YaHei"/>
              </a:rPr>
              <a:t>及关键技术</a:t>
            </a:r>
            <a:endParaRPr sz="2300" dirty="0">
              <a:latin typeface="Microsoft YaHei"/>
              <a:ea typeface="Microsoft YaHei"/>
              <a:cs typeface="Microsoft YaHei"/>
            </a:endParaRPr>
          </a:p>
          <a:p>
            <a:pPr algn="l" rtl="0" eaLnBrk="0">
              <a:lnSpc>
                <a:spcPct val="192000"/>
              </a:lnSpc>
              <a:tabLst/>
            </a:pPr>
            <a:endParaRPr sz="1000" dirty="0">
              <a:latin typeface="Arial"/>
              <a:ea typeface="Arial"/>
              <a:cs typeface="Arial"/>
            </a:endParaRPr>
          </a:p>
          <a:p>
            <a:pPr marL="15240" algn="l" rtl="0" eaLnBrk="0">
              <a:lnSpc>
                <a:spcPct val="84000"/>
              </a:lnSpc>
              <a:spcBef>
                <a:spcPts val="611"/>
              </a:spcBef>
              <a:tabLst/>
            </a:pPr>
            <a:r>
              <a:rPr sz="2000" b="1" kern="0" spc="-10" dirty="0">
                <a:solidFill>
                  <a:srgbClr val="404040">
                    <a:alpha val="100000"/>
                  </a:srgbClr>
                </a:solidFill>
                <a:latin typeface="Microsoft YaHei"/>
                <a:ea typeface="Microsoft YaHei"/>
                <a:cs typeface="Microsoft YaHei"/>
              </a:rPr>
              <a:t>智慧港口</a:t>
            </a:r>
            <a:r>
              <a:rPr sz="2000" kern="0" spc="-10" dirty="0">
                <a:solidFill>
                  <a:srgbClr val="404040">
                    <a:alpha val="100000"/>
                  </a:srgbClr>
                </a:solidFill>
                <a:latin typeface="Microsoft YaHei"/>
                <a:ea typeface="Microsoft YaHei"/>
                <a:cs typeface="Microsoft YaHei"/>
              </a:rPr>
              <a:t>是以信息物理系统为框架</a:t>
            </a:r>
            <a:r>
              <a:rPr sz="2000" kern="0" spc="-290" dirty="0">
                <a:solidFill>
                  <a:srgbClr val="404040">
                    <a:alpha val="100000"/>
                  </a:srgbClr>
                </a:solidFill>
                <a:latin typeface="Microsoft YaHei"/>
                <a:ea typeface="Microsoft YaHei"/>
                <a:cs typeface="Microsoft YaHei"/>
              </a:rPr>
              <a:t> </a:t>
            </a:r>
            <a:r>
              <a:rPr sz="2000" kern="0" spc="-10" dirty="0">
                <a:solidFill>
                  <a:srgbClr val="404040">
                    <a:alpha val="100000"/>
                  </a:srgbClr>
                </a:solidFill>
                <a:latin typeface="Microsoft YaHei"/>
                <a:ea typeface="Microsoft YaHei"/>
                <a:cs typeface="Microsoft YaHei"/>
              </a:rPr>
              <a:t>，通过高新技</a:t>
            </a:r>
            <a:r>
              <a:rPr sz="2000" kern="0" spc="-20" dirty="0">
                <a:solidFill>
                  <a:srgbClr val="404040">
                    <a:alpha val="100000"/>
                  </a:srgbClr>
                </a:solidFill>
                <a:latin typeface="Microsoft YaHei"/>
                <a:ea typeface="Microsoft YaHei"/>
                <a:cs typeface="Microsoft YaHei"/>
              </a:rPr>
              <a:t>术的创新应用</a:t>
            </a:r>
            <a:r>
              <a:rPr sz="2000" kern="0" spc="-300" dirty="0">
                <a:solidFill>
                  <a:srgbClr val="404040">
                    <a:alpha val="100000"/>
                  </a:srgbClr>
                </a:solidFill>
                <a:latin typeface="Microsoft YaHei"/>
                <a:ea typeface="Microsoft YaHei"/>
                <a:cs typeface="Microsoft YaHei"/>
              </a:rPr>
              <a:t> </a:t>
            </a:r>
            <a:r>
              <a:rPr sz="2000" kern="0" spc="-20" dirty="0">
                <a:solidFill>
                  <a:srgbClr val="404040">
                    <a:alpha val="100000"/>
                  </a:srgbClr>
                </a:solidFill>
                <a:latin typeface="Microsoft YaHei"/>
                <a:ea typeface="Microsoft YaHei"/>
                <a:cs typeface="Microsoft YaHei"/>
              </a:rPr>
              <a:t>，使物流供给方和需求方沟通融入集</a:t>
            </a:r>
            <a:endParaRPr sz="2000" dirty="0">
              <a:latin typeface="Microsoft YaHei"/>
              <a:ea typeface="Microsoft YaHei"/>
              <a:cs typeface="Microsoft YaHei"/>
            </a:endParaRPr>
          </a:p>
          <a:p>
            <a:pPr marL="13970" indent="-1270" algn="l" rtl="0" eaLnBrk="0">
              <a:lnSpc>
                <a:spcPct val="152000"/>
              </a:lnSpc>
              <a:spcBef>
                <a:spcPts val="55"/>
              </a:spcBef>
              <a:tabLst/>
            </a:pPr>
            <a:r>
              <a:rPr sz="2000" kern="0" spc="0" dirty="0">
                <a:solidFill>
                  <a:srgbClr val="404040">
                    <a:alpha val="100000"/>
                  </a:srgbClr>
                </a:solidFill>
                <a:latin typeface="Microsoft YaHei"/>
                <a:ea typeface="Microsoft YaHei"/>
                <a:cs typeface="Microsoft YaHei"/>
              </a:rPr>
              <a:t>疏运一体化系统；极大提升港口及其相关物流园区对信息的综合处理能力和对相关资源的优</a:t>
            </a:r>
            <a:r>
              <a:rPr sz="2000" kern="0" spc="-10" dirty="0">
                <a:solidFill>
                  <a:srgbClr val="404040">
                    <a:alpha val="100000"/>
                  </a:srgbClr>
                </a:solidFill>
                <a:latin typeface="Microsoft YaHei"/>
                <a:ea typeface="Microsoft YaHei"/>
                <a:cs typeface="Microsoft YaHei"/>
              </a:rPr>
              <a:t>化配置</a:t>
            </a:r>
            <a:r>
              <a:rPr sz="2000" kern="0" spc="-10" dirty="0">
                <a:solidFill>
                  <a:srgbClr val="404040">
                    <a:alpha val="100000"/>
                  </a:srgbClr>
                </a:solidFill>
                <a:latin typeface="Microsoft YaHei"/>
                <a:ea typeface="Microsoft YaHei"/>
                <a:cs typeface="Microsoft YaHei"/>
              </a:rPr>
              <a:t>能力；智能监管、智能服务、</a:t>
            </a:r>
            <a:r>
              <a:rPr sz="2000" kern="0" spc="-360" dirty="0">
                <a:solidFill>
                  <a:srgbClr val="404040">
                    <a:alpha val="100000"/>
                  </a:srgbClr>
                </a:solidFill>
                <a:latin typeface="Microsoft YaHei"/>
                <a:ea typeface="Microsoft YaHei"/>
                <a:cs typeface="Microsoft YaHei"/>
              </a:rPr>
              <a:t> </a:t>
            </a:r>
            <a:r>
              <a:rPr sz="2000" kern="0" spc="-10" dirty="0">
                <a:solidFill>
                  <a:srgbClr val="404040">
                    <a:alpha val="100000"/>
                  </a:srgbClr>
                </a:solidFill>
                <a:latin typeface="Microsoft YaHei"/>
                <a:ea typeface="Microsoft YaHei"/>
                <a:cs typeface="Microsoft YaHei"/>
              </a:rPr>
              <a:t>自动装卸成为其主要呈现形式</a:t>
            </a:r>
            <a:r>
              <a:rPr sz="2000" kern="0" spc="-290" dirty="0">
                <a:solidFill>
                  <a:srgbClr val="404040">
                    <a:alpha val="100000"/>
                  </a:srgbClr>
                </a:solidFill>
                <a:latin typeface="Microsoft YaHei"/>
                <a:ea typeface="Microsoft YaHei"/>
                <a:cs typeface="Microsoft YaHei"/>
              </a:rPr>
              <a:t> </a:t>
            </a:r>
            <a:r>
              <a:rPr sz="2000" kern="0" spc="-10" dirty="0">
                <a:solidFill>
                  <a:srgbClr val="404040">
                    <a:alpha val="100000"/>
                  </a:srgbClr>
                </a:solidFill>
                <a:latin typeface="Microsoft YaHei"/>
                <a:ea typeface="Microsoft YaHei"/>
                <a:cs typeface="Microsoft YaHei"/>
              </a:rPr>
              <a:t>，并</a:t>
            </a:r>
            <a:r>
              <a:rPr sz="2000" kern="0" spc="-20" dirty="0">
                <a:solidFill>
                  <a:srgbClr val="404040">
                    <a:alpha val="100000"/>
                  </a:srgbClr>
                </a:solidFill>
                <a:latin typeface="Microsoft YaHei"/>
                <a:ea typeface="Microsoft YaHei"/>
                <a:cs typeface="Microsoft YaHei"/>
              </a:rPr>
              <a:t>能为现代物流业提供高安全、高效</a:t>
            </a:r>
            <a:r>
              <a:rPr sz="2000" kern="0" spc="0" dirty="0">
                <a:solidFill>
                  <a:srgbClr val="404040">
                    <a:alpha val="100000"/>
                  </a:srgbClr>
                </a:solidFill>
                <a:latin typeface="Microsoft YaHei"/>
                <a:ea typeface="Microsoft YaHei"/>
                <a:cs typeface="Microsoft YaHei"/>
              </a:rPr>
              <a:t>率和高品质服务的一类</a:t>
            </a:r>
            <a:r>
              <a:rPr sz="2000" kern="0" spc="-10" dirty="0">
                <a:solidFill>
                  <a:srgbClr val="404040">
                    <a:alpha val="100000"/>
                  </a:srgbClr>
                </a:solidFill>
                <a:latin typeface="Microsoft YaHei"/>
                <a:ea typeface="Microsoft YaHei"/>
                <a:cs typeface="Microsoft YaHei"/>
              </a:rPr>
              <a:t>新型港口。</a:t>
            </a:r>
            <a:endParaRPr sz="2000" dirty="0">
              <a:latin typeface="Microsoft YaHei"/>
              <a:ea typeface="Microsoft YaHei"/>
              <a:cs typeface="Microsoft YaHei"/>
            </a:endParaRPr>
          </a:p>
          <a:p>
            <a:pPr marL="12700" indent="-635" algn="l" rtl="0" eaLnBrk="0">
              <a:lnSpc>
                <a:spcPct val="148000"/>
              </a:lnSpc>
              <a:spcBef>
                <a:spcPts val="145"/>
              </a:spcBef>
              <a:tabLst/>
            </a:pPr>
            <a:r>
              <a:rPr sz="2000" kern="0" spc="0" dirty="0">
                <a:solidFill>
                  <a:srgbClr val="404040">
                    <a:alpha val="100000"/>
                  </a:srgbClr>
                </a:solidFill>
                <a:latin typeface="Microsoft YaHei"/>
                <a:ea typeface="Microsoft YaHei"/>
                <a:cs typeface="Microsoft YaHei"/>
              </a:rPr>
              <a:t>智慧港口的要义在于</a:t>
            </a:r>
            <a:r>
              <a:rPr sz="2000" kern="0" spc="0" dirty="0">
                <a:solidFill>
                  <a:srgbClr val="FF0000">
                    <a:alpha val="100000"/>
                  </a:srgbClr>
                </a:solidFill>
                <a:latin typeface="Microsoft YaHei"/>
                <a:ea typeface="Microsoft YaHei"/>
                <a:cs typeface="Microsoft YaHei"/>
              </a:rPr>
              <a:t>全面感知、智能</a:t>
            </a:r>
            <a:r>
              <a:rPr sz="2000" kern="0" spc="-10" dirty="0">
                <a:solidFill>
                  <a:srgbClr val="FF0000">
                    <a:alpha val="100000"/>
                  </a:srgbClr>
                </a:solidFill>
                <a:latin typeface="Microsoft YaHei"/>
                <a:ea typeface="Microsoft YaHei"/>
                <a:cs typeface="Microsoft YaHei"/>
              </a:rPr>
              <a:t>决策、</a:t>
            </a:r>
            <a:r>
              <a:rPr sz="2000" kern="0" spc="-360" dirty="0">
                <a:solidFill>
                  <a:srgbClr val="FF0000">
                    <a:alpha val="100000"/>
                  </a:srgbClr>
                </a:solidFill>
                <a:latin typeface="Microsoft YaHei"/>
                <a:ea typeface="Microsoft YaHei"/>
                <a:cs typeface="Microsoft YaHei"/>
              </a:rPr>
              <a:t> </a:t>
            </a:r>
            <a:r>
              <a:rPr sz="2000" kern="0" spc="-10" dirty="0">
                <a:solidFill>
                  <a:srgbClr val="FF0000">
                    <a:alpha val="100000"/>
                  </a:srgbClr>
                </a:solidFill>
                <a:latin typeface="Microsoft YaHei"/>
                <a:ea typeface="Microsoft YaHei"/>
                <a:cs typeface="Microsoft YaHei"/>
              </a:rPr>
              <a:t>自助自动、全程参与、持续创新</a:t>
            </a:r>
            <a:r>
              <a:rPr sz="2000" kern="0" spc="-10" dirty="0">
                <a:solidFill>
                  <a:srgbClr val="404040">
                    <a:alpha val="100000"/>
                  </a:srgbClr>
                </a:solidFill>
                <a:latin typeface="Microsoft YaHei"/>
                <a:ea typeface="Microsoft YaHei"/>
                <a:cs typeface="Microsoft YaHei"/>
              </a:rPr>
              <a:t>。港口物流各环节信息</a:t>
            </a:r>
            <a:r>
              <a:rPr sz="2000" kern="0" spc="-10" dirty="0">
                <a:solidFill>
                  <a:srgbClr val="404040">
                    <a:alpha val="100000"/>
                  </a:srgbClr>
                </a:solidFill>
                <a:latin typeface="Microsoft YaHei"/>
                <a:ea typeface="Microsoft YaHei"/>
                <a:cs typeface="Microsoft YaHei"/>
              </a:rPr>
              <a:t>实现智能感知、实时采集、数据共享</a:t>
            </a:r>
            <a:r>
              <a:rPr sz="2000" kern="0" spc="-300" dirty="0">
                <a:solidFill>
                  <a:srgbClr val="404040">
                    <a:alpha val="100000"/>
                  </a:srgbClr>
                </a:solidFill>
                <a:latin typeface="Microsoft YaHei"/>
                <a:ea typeface="Microsoft YaHei"/>
                <a:cs typeface="Microsoft YaHei"/>
              </a:rPr>
              <a:t> </a:t>
            </a:r>
            <a:r>
              <a:rPr sz="2000" kern="0" spc="-10" dirty="0">
                <a:solidFill>
                  <a:srgbClr val="404040">
                    <a:alpha val="100000"/>
                  </a:srgbClr>
                </a:solidFill>
                <a:latin typeface="Microsoft YaHei"/>
                <a:ea typeface="Microsoft YaHei"/>
                <a:cs typeface="Microsoft YaHei"/>
              </a:rPr>
              <a:t>，可为港口及众</a:t>
            </a:r>
            <a:r>
              <a:rPr sz="2000" kern="0" spc="-20" dirty="0">
                <a:solidFill>
                  <a:srgbClr val="404040">
                    <a:alpha val="100000"/>
                  </a:srgbClr>
                </a:solidFill>
                <a:latin typeface="Microsoft YaHei"/>
                <a:ea typeface="Microsoft YaHei"/>
                <a:cs typeface="Microsoft YaHei"/>
              </a:rPr>
              <a:t>多港口上下游企业提供信息服务</a:t>
            </a:r>
            <a:r>
              <a:rPr sz="2000" kern="0" spc="-290" dirty="0">
                <a:solidFill>
                  <a:srgbClr val="404040">
                    <a:alpha val="100000"/>
                  </a:srgbClr>
                </a:solidFill>
                <a:latin typeface="Microsoft YaHei"/>
                <a:ea typeface="Microsoft YaHei"/>
                <a:cs typeface="Microsoft YaHei"/>
              </a:rPr>
              <a:t> </a:t>
            </a:r>
            <a:r>
              <a:rPr sz="2000" kern="0" spc="-20" dirty="0">
                <a:solidFill>
                  <a:srgbClr val="404040">
                    <a:alpha val="100000"/>
                  </a:srgbClr>
                </a:solidFill>
                <a:latin typeface="Microsoft YaHei"/>
                <a:ea typeface="Microsoft YaHei"/>
                <a:cs typeface="Microsoft YaHei"/>
              </a:rPr>
              <a:t>，提升港口物</a:t>
            </a:r>
            <a:r>
              <a:rPr sz="2000" kern="0" spc="0" dirty="0">
                <a:solidFill>
                  <a:srgbClr val="404040">
                    <a:alpha val="100000"/>
                  </a:srgbClr>
                </a:solidFill>
                <a:latin typeface="Microsoft YaHei"/>
                <a:ea typeface="Microsoft YaHei"/>
                <a:cs typeface="Microsoft YaHei"/>
              </a:rPr>
              <a:t>流信息透明度和港口物</a:t>
            </a:r>
            <a:r>
              <a:rPr sz="2000" kern="0" spc="-10" dirty="0">
                <a:solidFill>
                  <a:srgbClr val="404040">
                    <a:alpha val="100000"/>
                  </a:srgbClr>
                </a:solidFill>
                <a:latin typeface="Microsoft YaHei"/>
                <a:ea typeface="Microsoft YaHei"/>
                <a:cs typeface="Microsoft YaHei"/>
              </a:rPr>
              <a:t>流效率</a:t>
            </a:r>
            <a:r>
              <a:rPr sz="2000" kern="0" spc="-10" dirty="0">
                <a:solidFill>
                  <a:srgbClr val="000000">
                    <a:alpha val="100000"/>
                  </a:srgbClr>
                </a:solidFill>
                <a:latin typeface="DengXian"/>
                <a:ea typeface="DengXian"/>
                <a:cs typeface="DengXian"/>
              </a:rPr>
              <a:t>。</a:t>
            </a:r>
            <a:endParaRPr sz="2000" dirty="0">
              <a:latin typeface="DengXian"/>
              <a:ea typeface="DengXian"/>
              <a:cs typeface="DengXian"/>
            </a:endParaRPr>
          </a:p>
        </p:txBody>
      </p:sp>
      <p:sp>
        <p:nvSpPr>
          <p:cNvPr id="4" name="textbox 4"/>
          <p:cNvSpPr/>
          <p:nvPr/>
        </p:nvSpPr>
        <p:spPr>
          <a:xfrm>
            <a:off x="1524" y="0"/>
            <a:ext cx="12190730" cy="620394"/>
          </a:xfrm>
          <a:prstGeom prst="rect">
            <a:avLst/>
          </a:prstGeom>
          <a:solidFill>
            <a:srgbClr val="004698">
              <a:alpha val="100000"/>
            </a:srgbClr>
          </a:solidFill>
          <a:ln w="0" cap="flat">
            <a:noFill/>
            <a:prstDash val="solid"/>
            <a:miter lim="0"/>
          </a:ln>
        </p:spPr>
        <p:txBody>
          <a:bodyPr vert="horz" wrap="square" lIns="0" tIns="0" rIns="0" bIns="0"/>
          <a:lstStyle/>
          <a:p>
            <a:pPr algn="l" rtl="0" eaLnBrk="0">
              <a:lnSpc>
                <a:spcPct val="103000"/>
              </a:lnSpc>
              <a:tabLst/>
            </a:pPr>
            <a:endParaRPr sz="300" dirty="0">
              <a:latin typeface="Arial"/>
              <a:ea typeface="Arial"/>
              <a:cs typeface="Arial"/>
            </a:endParaRPr>
          </a:p>
          <a:p>
            <a:pPr marL="111760" algn="l" rtl="0" eaLnBrk="0">
              <a:lnSpc>
                <a:spcPts val="3608"/>
              </a:lnSpc>
              <a:spcBef>
                <a:spcPts val="1"/>
              </a:spcBef>
              <a:tabLst/>
            </a:pPr>
            <a:r>
              <a:rPr sz="2700" kern="0" spc="80" dirty="0">
                <a:solidFill>
                  <a:srgbClr val="FFFFFF">
                    <a:alpha val="100000"/>
                  </a:srgbClr>
                </a:solidFill>
                <a:latin typeface="Microsoft YaHei"/>
                <a:ea typeface="Microsoft YaHei"/>
                <a:cs typeface="Microsoft YaHei"/>
              </a:rPr>
              <a:t>2.13 港口管控一</a:t>
            </a:r>
            <a:r>
              <a:rPr sz="2700" kern="0" spc="70" dirty="0">
                <a:solidFill>
                  <a:srgbClr val="FFFFFF">
                    <a:alpha val="100000"/>
                  </a:srgbClr>
                </a:solidFill>
                <a:latin typeface="Microsoft YaHei"/>
                <a:ea typeface="Microsoft YaHei"/>
                <a:cs typeface="Microsoft YaHei"/>
              </a:rPr>
              <a:t>体化系统及关键技术</a:t>
            </a:r>
            <a:endParaRPr sz="2700" dirty="0">
              <a:latin typeface="Microsoft YaHei"/>
              <a:ea typeface="Microsoft YaHei"/>
              <a:cs typeface="Microsoft YaHe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p:nvPr/>
        </p:nvSpPr>
        <p:spPr>
          <a:xfrm>
            <a:off x="655726" y="420509"/>
            <a:ext cx="10472419" cy="4951729"/>
          </a:xfrm>
          <a:prstGeom prst="rect">
            <a:avLst/>
          </a:prstGeom>
          <a:noFill/>
          <a:ln w="0" cap="flat">
            <a:noFill/>
            <a:prstDash val="solid"/>
            <a:miter lim="0"/>
          </a:ln>
        </p:spPr>
        <p:txBody>
          <a:bodyPr vert="horz" wrap="square" lIns="0" tIns="0" rIns="0" bIns="0"/>
          <a:lstStyle/>
          <a:p>
            <a:pPr algn="l" rtl="0" eaLnBrk="0">
              <a:lnSpc>
                <a:spcPct val="95395"/>
              </a:lnSpc>
              <a:tabLst/>
            </a:pPr>
            <a:endParaRPr sz="100" dirty="0">
              <a:latin typeface="Arial"/>
              <a:ea typeface="Arial"/>
              <a:cs typeface="Arial"/>
            </a:endParaRPr>
          </a:p>
          <a:p>
            <a:pPr marL="3392804" algn="l" rtl="0" eaLnBrk="0">
              <a:lnSpc>
                <a:spcPct val="87000"/>
              </a:lnSpc>
              <a:tabLst/>
            </a:pPr>
            <a:r>
              <a:rPr sz="3500" b="1" kern="0" spc="90" dirty="0">
                <a:solidFill>
                  <a:srgbClr val="C00000">
                    <a:alpha val="100000"/>
                  </a:srgbClr>
                </a:solidFill>
                <a:latin typeface="Microsoft YaHei"/>
                <a:ea typeface="Microsoft YaHei"/>
                <a:cs typeface="Microsoft YaHei"/>
              </a:rPr>
              <a:t>主要内容与关键技术</a:t>
            </a:r>
            <a:endParaRPr sz="3500" dirty="0">
              <a:latin typeface="Microsoft YaHei"/>
              <a:ea typeface="Microsoft YaHei"/>
              <a:cs typeface="Microsoft YaHei"/>
            </a:endParaRPr>
          </a:p>
          <a:p>
            <a:pPr algn="l" rtl="0" eaLnBrk="0">
              <a:lnSpc>
                <a:spcPct val="101000"/>
              </a:lnSpc>
              <a:tabLst/>
            </a:pPr>
            <a:endParaRPr sz="1000" dirty="0">
              <a:latin typeface="Arial"/>
              <a:ea typeface="Arial"/>
              <a:cs typeface="Arial"/>
            </a:endParaRPr>
          </a:p>
          <a:p>
            <a:pPr algn="l" rtl="0" eaLnBrk="0">
              <a:lnSpc>
                <a:spcPct val="102000"/>
              </a:lnSpc>
              <a:tabLst/>
            </a:pPr>
            <a:endParaRPr sz="1000" dirty="0">
              <a:latin typeface="Arial"/>
              <a:ea typeface="Arial"/>
              <a:cs typeface="Arial"/>
            </a:endParaRPr>
          </a:p>
          <a:p>
            <a:pPr marL="12700" algn="l" rtl="0" eaLnBrk="0">
              <a:lnSpc>
                <a:spcPct val="96000"/>
              </a:lnSpc>
              <a:spcBef>
                <a:spcPts val="697"/>
              </a:spcBef>
              <a:tabLst>
                <a:tab pos="228600" algn="l"/>
              </a:tabLst>
            </a:pPr>
            <a:r>
              <a:rPr sz="2300" b="1" kern="0" spc="0" dirty="0">
                <a:solidFill>
                  <a:srgbClr val="000000">
                    <a:alpha val="100000"/>
                  </a:srgbClr>
                </a:solidFill>
                <a:latin typeface="Microsoft YaHei"/>
                <a:ea typeface="Microsoft YaHei"/>
                <a:cs typeface="Microsoft YaHei"/>
              </a:rPr>
              <a:t>	</a:t>
            </a:r>
            <a:r>
              <a:rPr sz="2300" b="1" kern="0" spc="80" dirty="0">
                <a:solidFill>
                  <a:srgbClr val="000000">
                    <a:alpha val="100000"/>
                  </a:srgbClr>
                </a:solidFill>
                <a:latin typeface="Microsoft YaHei"/>
                <a:ea typeface="Microsoft YaHei"/>
                <a:cs typeface="Microsoft YaHei"/>
              </a:rPr>
              <a:t>    </a:t>
            </a:r>
            <a:r>
              <a:rPr sz="2300" b="1" kern="0" spc="100" dirty="0">
                <a:solidFill>
                  <a:srgbClr val="000000">
                    <a:alpha val="100000"/>
                  </a:srgbClr>
                </a:solidFill>
                <a:latin typeface="Microsoft YaHei"/>
                <a:ea typeface="Microsoft YaHei"/>
                <a:cs typeface="Microsoft YaHei"/>
              </a:rPr>
              <a:t>港口生产业务管理系</a:t>
            </a:r>
            <a:r>
              <a:rPr sz="2300" b="1" kern="0" spc="90" dirty="0">
                <a:solidFill>
                  <a:srgbClr val="000000">
                    <a:alpha val="100000"/>
                  </a:srgbClr>
                </a:solidFill>
                <a:latin typeface="Microsoft YaHei"/>
                <a:ea typeface="Microsoft YaHei"/>
                <a:cs typeface="Microsoft YaHei"/>
              </a:rPr>
              <a:t>统：</a:t>
            </a:r>
            <a:r>
              <a:rPr sz="2300" b="1" kern="0" spc="-550" dirty="0">
                <a:solidFill>
                  <a:srgbClr val="000000">
                    <a:alpha val="100000"/>
                  </a:srgbClr>
                </a:solidFill>
                <a:latin typeface="Microsoft YaHei"/>
                <a:ea typeface="Microsoft YaHei"/>
                <a:cs typeface="Microsoft YaHei"/>
              </a:rPr>
              <a:t> </a:t>
            </a:r>
            <a:r>
              <a:rPr sz="2300" kern="0" spc="90" dirty="0">
                <a:solidFill>
                  <a:srgbClr val="000000">
                    <a:alpha val="100000"/>
                  </a:srgbClr>
                </a:solidFill>
                <a:latin typeface="Microsoft YaHei"/>
                <a:ea typeface="Microsoft YaHei"/>
                <a:cs typeface="Microsoft YaHei"/>
              </a:rPr>
              <a:t>涵盖港口生产业务管理全过程的软件</a:t>
            </a:r>
            <a:endParaRPr sz="2300" dirty="0">
              <a:latin typeface="Microsoft YaHei"/>
              <a:ea typeface="Microsoft YaHei"/>
              <a:cs typeface="Microsoft YaHei"/>
            </a:endParaRPr>
          </a:p>
          <a:p>
            <a:pPr marL="12700" algn="l" rtl="0" eaLnBrk="0">
              <a:lnSpc>
                <a:spcPct val="96000"/>
              </a:lnSpc>
              <a:spcBef>
                <a:spcPts val="1671"/>
              </a:spcBef>
              <a:tabLst>
                <a:tab pos="228600" algn="l"/>
              </a:tabLst>
            </a:pPr>
            <a:r>
              <a:rPr sz="2300" b="1" kern="0" spc="0" dirty="0">
                <a:solidFill>
                  <a:srgbClr val="000000">
                    <a:alpha val="100000"/>
                  </a:srgbClr>
                </a:solidFill>
                <a:latin typeface="Microsoft YaHei"/>
                <a:ea typeface="Microsoft YaHei"/>
                <a:cs typeface="Microsoft YaHei"/>
              </a:rPr>
              <a:t>	</a:t>
            </a:r>
            <a:r>
              <a:rPr sz="2300" b="1" kern="0" spc="80" dirty="0">
                <a:solidFill>
                  <a:srgbClr val="000000">
                    <a:alpha val="100000"/>
                  </a:srgbClr>
                </a:solidFill>
                <a:latin typeface="Microsoft YaHei"/>
                <a:ea typeface="Microsoft YaHei"/>
                <a:cs typeface="Microsoft YaHei"/>
              </a:rPr>
              <a:t>    </a:t>
            </a:r>
            <a:r>
              <a:rPr sz="2300" b="1" kern="0" spc="90" dirty="0">
                <a:solidFill>
                  <a:srgbClr val="000000">
                    <a:alpha val="100000"/>
                  </a:srgbClr>
                </a:solidFill>
                <a:latin typeface="Microsoft YaHei"/>
                <a:ea typeface="Microsoft YaHei"/>
                <a:cs typeface="Microsoft YaHei"/>
              </a:rPr>
              <a:t>智能理货系统：</a:t>
            </a:r>
            <a:r>
              <a:rPr sz="2300" b="1" kern="0" spc="-510" dirty="0">
                <a:solidFill>
                  <a:srgbClr val="000000">
                    <a:alpha val="100000"/>
                  </a:srgbClr>
                </a:solidFill>
                <a:latin typeface="Microsoft YaHei"/>
                <a:ea typeface="Microsoft YaHei"/>
                <a:cs typeface="Microsoft YaHei"/>
              </a:rPr>
              <a:t> </a:t>
            </a:r>
            <a:r>
              <a:rPr sz="2300" kern="0" spc="90" dirty="0">
                <a:solidFill>
                  <a:srgbClr val="000000">
                    <a:alpha val="100000"/>
                  </a:srgbClr>
                </a:solidFill>
                <a:latin typeface="Microsoft YaHei"/>
                <a:ea typeface="Microsoft YaHei"/>
                <a:cs typeface="Microsoft YaHei"/>
              </a:rPr>
              <a:t>减少港口现场理货人员的配套软件</a:t>
            </a:r>
            <a:endParaRPr sz="2300" dirty="0">
              <a:latin typeface="Microsoft YaHei"/>
              <a:ea typeface="Microsoft YaHei"/>
              <a:cs typeface="Microsoft YaHei"/>
            </a:endParaRPr>
          </a:p>
          <a:p>
            <a:pPr marL="12700" algn="l" rtl="0" eaLnBrk="0">
              <a:lnSpc>
                <a:spcPct val="96000"/>
              </a:lnSpc>
              <a:spcBef>
                <a:spcPts val="1671"/>
              </a:spcBef>
              <a:tabLst>
                <a:tab pos="228600" algn="l"/>
              </a:tabLst>
            </a:pPr>
            <a:r>
              <a:rPr sz="2300" b="1" kern="0" spc="0" dirty="0">
                <a:solidFill>
                  <a:srgbClr val="000000">
                    <a:alpha val="100000"/>
                  </a:srgbClr>
                </a:solidFill>
                <a:latin typeface="Microsoft YaHei"/>
                <a:ea typeface="Microsoft YaHei"/>
                <a:cs typeface="Microsoft YaHei"/>
              </a:rPr>
              <a:t>	</a:t>
            </a:r>
            <a:r>
              <a:rPr sz="2300" b="1" kern="0" spc="80" dirty="0">
                <a:solidFill>
                  <a:srgbClr val="000000">
                    <a:alpha val="100000"/>
                  </a:srgbClr>
                </a:solidFill>
                <a:latin typeface="Microsoft YaHei"/>
                <a:ea typeface="Microsoft YaHei"/>
                <a:cs typeface="Microsoft YaHei"/>
              </a:rPr>
              <a:t>    </a:t>
            </a:r>
            <a:r>
              <a:rPr sz="2300" b="1" kern="0" spc="90" dirty="0">
                <a:solidFill>
                  <a:srgbClr val="000000">
                    <a:alpha val="100000"/>
                  </a:srgbClr>
                </a:solidFill>
                <a:latin typeface="Microsoft YaHei"/>
                <a:ea typeface="Microsoft YaHei"/>
                <a:cs typeface="Microsoft YaHei"/>
              </a:rPr>
              <a:t>无人地磅与无人闸口系统：</a:t>
            </a:r>
            <a:r>
              <a:rPr sz="2300" b="1" kern="0" spc="-540" dirty="0">
                <a:solidFill>
                  <a:srgbClr val="000000">
                    <a:alpha val="100000"/>
                  </a:srgbClr>
                </a:solidFill>
                <a:latin typeface="Microsoft YaHei"/>
                <a:ea typeface="Microsoft YaHei"/>
                <a:cs typeface="Microsoft YaHei"/>
              </a:rPr>
              <a:t> </a:t>
            </a:r>
            <a:r>
              <a:rPr sz="2300" kern="0" spc="90" dirty="0">
                <a:solidFill>
                  <a:srgbClr val="000000">
                    <a:alpha val="100000"/>
                  </a:srgbClr>
                </a:solidFill>
                <a:latin typeface="Microsoft YaHei"/>
                <a:ea typeface="Microsoft YaHei"/>
                <a:cs typeface="Microsoft YaHei"/>
              </a:rPr>
              <a:t>港口作业车辆进出闸口、</a:t>
            </a:r>
            <a:r>
              <a:rPr sz="2300" kern="0" spc="-540" dirty="0">
                <a:solidFill>
                  <a:srgbClr val="000000">
                    <a:alpha val="100000"/>
                  </a:srgbClr>
                </a:solidFill>
                <a:latin typeface="Microsoft YaHei"/>
                <a:ea typeface="Microsoft YaHei"/>
                <a:cs typeface="Microsoft YaHei"/>
              </a:rPr>
              <a:t> </a:t>
            </a:r>
            <a:r>
              <a:rPr sz="2300" kern="0" spc="90" dirty="0">
                <a:solidFill>
                  <a:srgbClr val="000000">
                    <a:alpha val="100000"/>
                  </a:srgbClr>
                </a:solidFill>
                <a:latin typeface="Microsoft YaHei"/>
                <a:ea typeface="Microsoft YaHei"/>
                <a:cs typeface="Microsoft YaHei"/>
              </a:rPr>
              <a:t>过磅无人</a:t>
            </a:r>
            <a:r>
              <a:rPr sz="2300" kern="0" spc="80" dirty="0">
                <a:solidFill>
                  <a:srgbClr val="000000">
                    <a:alpha val="100000"/>
                  </a:srgbClr>
                </a:solidFill>
                <a:latin typeface="Microsoft YaHei"/>
                <a:ea typeface="Microsoft YaHei"/>
                <a:cs typeface="Microsoft YaHei"/>
              </a:rPr>
              <a:t>化软件</a:t>
            </a:r>
            <a:endParaRPr sz="2300" dirty="0">
              <a:latin typeface="Microsoft YaHei"/>
              <a:ea typeface="Microsoft YaHei"/>
              <a:cs typeface="Microsoft YaHei"/>
            </a:endParaRPr>
          </a:p>
          <a:p>
            <a:pPr marL="12700" algn="l" rtl="0" eaLnBrk="0">
              <a:lnSpc>
                <a:spcPct val="96000"/>
              </a:lnSpc>
              <a:spcBef>
                <a:spcPts val="1671"/>
              </a:spcBef>
              <a:tabLst>
                <a:tab pos="228600" algn="l"/>
              </a:tabLst>
            </a:pPr>
            <a:r>
              <a:rPr sz="2300" b="1" kern="0" spc="0" dirty="0">
                <a:solidFill>
                  <a:srgbClr val="000000">
                    <a:alpha val="100000"/>
                  </a:srgbClr>
                </a:solidFill>
                <a:latin typeface="Microsoft YaHei"/>
                <a:ea typeface="Microsoft YaHei"/>
                <a:cs typeface="Microsoft YaHei"/>
              </a:rPr>
              <a:t>	</a:t>
            </a:r>
            <a:r>
              <a:rPr sz="2300" b="1" kern="0" spc="90" dirty="0">
                <a:solidFill>
                  <a:srgbClr val="000000">
                    <a:alpha val="100000"/>
                  </a:srgbClr>
                </a:solidFill>
                <a:latin typeface="Microsoft YaHei"/>
                <a:ea typeface="Microsoft YaHei"/>
                <a:cs typeface="Microsoft YaHei"/>
              </a:rPr>
              <a:t>    </a:t>
            </a:r>
            <a:r>
              <a:rPr sz="2300" b="1" kern="0" spc="90" dirty="0">
                <a:solidFill>
                  <a:srgbClr val="000000">
                    <a:alpha val="100000"/>
                  </a:srgbClr>
                </a:solidFill>
                <a:latin typeface="Microsoft YaHei"/>
                <a:ea typeface="Microsoft YaHei"/>
                <a:cs typeface="Microsoft YaHei"/>
              </a:rPr>
              <a:t>商务办单与车辆预约系统：</a:t>
            </a:r>
            <a:r>
              <a:rPr sz="2300" b="1" kern="0" spc="-550" dirty="0">
                <a:solidFill>
                  <a:srgbClr val="000000">
                    <a:alpha val="100000"/>
                  </a:srgbClr>
                </a:solidFill>
                <a:latin typeface="Microsoft YaHei"/>
                <a:ea typeface="Microsoft YaHei"/>
                <a:cs typeface="Microsoft YaHei"/>
              </a:rPr>
              <a:t> </a:t>
            </a:r>
            <a:r>
              <a:rPr sz="2300" kern="0" spc="90" dirty="0">
                <a:solidFill>
                  <a:srgbClr val="000000">
                    <a:alpha val="100000"/>
                  </a:srgbClr>
                </a:solidFill>
                <a:latin typeface="Microsoft YaHei"/>
                <a:ea typeface="Microsoft YaHei"/>
                <a:cs typeface="Microsoft YaHei"/>
              </a:rPr>
              <a:t>客户自助办单</a:t>
            </a:r>
            <a:r>
              <a:rPr sz="2300" kern="0" spc="80" dirty="0">
                <a:solidFill>
                  <a:srgbClr val="000000">
                    <a:alpha val="100000"/>
                  </a:srgbClr>
                </a:solidFill>
                <a:latin typeface="Microsoft YaHei"/>
                <a:ea typeface="Microsoft YaHei"/>
                <a:cs typeface="Microsoft YaHei"/>
              </a:rPr>
              <a:t>、</a:t>
            </a:r>
            <a:r>
              <a:rPr sz="2300" kern="0" spc="-540" dirty="0">
                <a:solidFill>
                  <a:srgbClr val="000000">
                    <a:alpha val="100000"/>
                  </a:srgbClr>
                </a:solidFill>
                <a:latin typeface="Microsoft YaHei"/>
                <a:ea typeface="Microsoft YaHei"/>
                <a:cs typeface="Microsoft YaHei"/>
              </a:rPr>
              <a:t> </a:t>
            </a:r>
            <a:r>
              <a:rPr sz="2300" kern="0" spc="80" dirty="0">
                <a:solidFill>
                  <a:srgbClr val="000000">
                    <a:alpha val="100000"/>
                  </a:srgbClr>
                </a:solidFill>
                <a:latin typeface="Microsoft YaHei"/>
                <a:ea typeface="Microsoft YaHei"/>
                <a:cs typeface="Microsoft YaHei"/>
              </a:rPr>
              <a:t>预约到港作业车辆</a:t>
            </a:r>
            <a:endParaRPr sz="2300" dirty="0">
              <a:latin typeface="Microsoft YaHei"/>
              <a:ea typeface="Microsoft YaHei"/>
              <a:cs typeface="Microsoft YaHei"/>
            </a:endParaRPr>
          </a:p>
          <a:p>
            <a:pPr marL="12700" algn="l" rtl="0" eaLnBrk="0">
              <a:lnSpc>
                <a:spcPct val="96000"/>
              </a:lnSpc>
              <a:spcBef>
                <a:spcPts val="1671"/>
              </a:spcBef>
              <a:tabLst>
                <a:tab pos="228600" algn="l"/>
              </a:tabLst>
            </a:pPr>
            <a:r>
              <a:rPr sz="2300" b="1" kern="0" spc="0" dirty="0">
                <a:solidFill>
                  <a:srgbClr val="000000">
                    <a:alpha val="100000"/>
                  </a:srgbClr>
                </a:solidFill>
                <a:latin typeface="Microsoft YaHei"/>
                <a:ea typeface="Microsoft YaHei"/>
                <a:cs typeface="Microsoft YaHei"/>
              </a:rPr>
              <a:t>	</a:t>
            </a:r>
            <a:r>
              <a:rPr sz="2300" b="1" kern="0" spc="90" dirty="0">
                <a:solidFill>
                  <a:srgbClr val="000000">
                    <a:alpha val="100000"/>
                  </a:srgbClr>
                </a:solidFill>
                <a:latin typeface="Microsoft YaHei"/>
                <a:ea typeface="Microsoft YaHei"/>
                <a:cs typeface="Microsoft YaHei"/>
              </a:rPr>
              <a:t>    皮带机料流监测系统：</a:t>
            </a:r>
            <a:r>
              <a:rPr sz="2300" b="1" kern="0" spc="-540" dirty="0">
                <a:solidFill>
                  <a:srgbClr val="000000">
                    <a:alpha val="100000"/>
                  </a:srgbClr>
                </a:solidFill>
                <a:latin typeface="Microsoft YaHei"/>
                <a:ea typeface="Microsoft YaHei"/>
                <a:cs typeface="Microsoft YaHei"/>
              </a:rPr>
              <a:t> </a:t>
            </a:r>
            <a:r>
              <a:rPr sz="2300" kern="0" spc="90" dirty="0">
                <a:solidFill>
                  <a:srgbClr val="000000">
                    <a:alpha val="100000"/>
                  </a:srgbClr>
                </a:solidFill>
                <a:latin typeface="Microsoft YaHei"/>
                <a:ea typeface="Microsoft YaHei"/>
                <a:cs typeface="Microsoft YaHei"/>
              </a:rPr>
              <a:t>基于激光雷达监测皮带机料流</a:t>
            </a:r>
            <a:endParaRPr sz="2300" dirty="0">
              <a:latin typeface="Microsoft YaHei"/>
              <a:ea typeface="Microsoft YaHei"/>
              <a:cs typeface="Microsoft YaHei"/>
            </a:endParaRPr>
          </a:p>
          <a:p>
            <a:pPr marL="12700" algn="l" rtl="0" eaLnBrk="0">
              <a:lnSpc>
                <a:spcPct val="96000"/>
              </a:lnSpc>
              <a:spcBef>
                <a:spcPts val="1671"/>
              </a:spcBef>
              <a:tabLst>
                <a:tab pos="228600" algn="l"/>
              </a:tabLst>
            </a:pPr>
            <a:r>
              <a:rPr sz="2300" b="1" kern="0" spc="0" dirty="0">
                <a:solidFill>
                  <a:srgbClr val="000000">
                    <a:alpha val="100000"/>
                  </a:srgbClr>
                </a:solidFill>
                <a:latin typeface="Microsoft YaHei"/>
                <a:ea typeface="Microsoft YaHei"/>
                <a:cs typeface="Microsoft YaHei"/>
              </a:rPr>
              <a:t>	</a:t>
            </a:r>
            <a:r>
              <a:rPr sz="2300" b="1" kern="0" spc="90" dirty="0">
                <a:solidFill>
                  <a:srgbClr val="000000">
                    <a:alpha val="100000"/>
                  </a:srgbClr>
                </a:solidFill>
                <a:latin typeface="Microsoft YaHei"/>
                <a:ea typeface="Microsoft YaHei"/>
                <a:cs typeface="Microsoft YaHei"/>
              </a:rPr>
              <a:t>    铁路道口与机车智能监控系统：</a:t>
            </a:r>
            <a:r>
              <a:rPr sz="2300" b="1" kern="0" spc="-520" dirty="0">
                <a:solidFill>
                  <a:srgbClr val="000000">
                    <a:alpha val="100000"/>
                  </a:srgbClr>
                </a:solidFill>
                <a:latin typeface="Microsoft YaHei"/>
                <a:ea typeface="Microsoft YaHei"/>
                <a:cs typeface="Microsoft YaHei"/>
              </a:rPr>
              <a:t> </a:t>
            </a:r>
            <a:r>
              <a:rPr sz="2300" kern="0" spc="90" dirty="0">
                <a:solidFill>
                  <a:srgbClr val="000000">
                    <a:alpha val="100000"/>
                  </a:srgbClr>
                </a:solidFill>
                <a:latin typeface="Microsoft YaHei"/>
                <a:ea typeface="Microsoft YaHei"/>
                <a:cs typeface="Microsoft YaHei"/>
              </a:rPr>
              <a:t>实现港区铁路道口无人化</a:t>
            </a:r>
            <a:endParaRPr sz="2300" dirty="0">
              <a:latin typeface="Microsoft YaHei"/>
              <a:ea typeface="Microsoft YaHei"/>
              <a:cs typeface="Microsoft YaHei"/>
            </a:endParaRPr>
          </a:p>
          <a:p>
            <a:pPr algn="l" rtl="0" eaLnBrk="0">
              <a:lnSpc>
                <a:spcPct val="111000"/>
              </a:lnSpc>
              <a:tabLst/>
            </a:pPr>
            <a:endParaRPr sz="1000" dirty="0">
              <a:latin typeface="Arial"/>
              <a:ea typeface="Arial"/>
              <a:cs typeface="Arial"/>
            </a:endParaRPr>
          </a:p>
          <a:p>
            <a:pPr algn="l" rtl="0" eaLnBrk="0">
              <a:lnSpc>
                <a:spcPct val="111000"/>
              </a:lnSpc>
              <a:tabLst/>
            </a:pPr>
            <a:endParaRPr sz="1000" dirty="0">
              <a:latin typeface="Arial"/>
              <a:ea typeface="Arial"/>
              <a:cs typeface="Arial"/>
            </a:endParaRPr>
          </a:p>
          <a:p>
            <a:pPr algn="l" rtl="0" eaLnBrk="0">
              <a:lnSpc>
                <a:spcPct val="101000"/>
              </a:lnSpc>
              <a:tabLst/>
            </a:pPr>
            <a:endParaRPr sz="500" dirty="0">
              <a:latin typeface="Arial"/>
              <a:ea typeface="Arial"/>
              <a:cs typeface="Arial"/>
            </a:endParaRPr>
          </a:p>
          <a:p>
            <a:pPr marL="72389" indent="-21590" algn="l" rtl="0" eaLnBrk="0">
              <a:lnSpc>
                <a:spcPct val="93000"/>
              </a:lnSpc>
              <a:spcBef>
                <a:spcPts val="5"/>
              </a:spcBef>
              <a:tabLst/>
            </a:pPr>
            <a:r>
              <a:rPr sz="2000" kern="0" spc="0" dirty="0">
                <a:solidFill>
                  <a:srgbClr val="404040">
                    <a:alpha val="100000"/>
                  </a:srgbClr>
                </a:solidFill>
                <a:latin typeface="Microsoft YaHei"/>
                <a:ea typeface="Microsoft YaHei"/>
                <a:cs typeface="Microsoft YaHei"/>
              </a:rPr>
              <a:t>上述软件均为团队自主研发，</a:t>
            </a:r>
            <a:r>
              <a:rPr sz="2000" kern="0" spc="-440" dirty="0">
                <a:solidFill>
                  <a:srgbClr val="404040">
                    <a:alpha val="100000"/>
                  </a:srgbClr>
                </a:solidFill>
                <a:latin typeface="Microsoft YaHei"/>
                <a:ea typeface="Microsoft YaHei"/>
                <a:cs typeface="Microsoft YaHei"/>
              </a:rPr>
              <a:t> </a:t>
            </a:r>
            <a:r>
              <a:rPr sz="2000" kern="0" spc="0" dirty="0">
                <a:solidFill>
                  <a:srgbClr val="404040">
                    <a:alpha val="100000"/>
                  </a:srgbClr>
                </a:solidFill>
                <a:latin typeface="Microsoft YaHei"/>
                <a:ea typeface="Microsoft YaHei"/>
                <a:cs typeface="Microsoft YaHei"/>
              </a:rPr>
              <a:t>已经在果园港</a:t>
            </a:r>
            <a:r>
              <a:rPr sz="2000" kern="0" spc="-10" dirty="0">
                <a:solidFill>
                  <a:srgbClr val="404040">
                    <a:alpha val="100000"/>
                  </a:srgbClr>
                </a:solidFill>
                <a:latin typeface="Microsoft YaHei"/>
                <a:ea typeface="Microsoft YaHei"/>
                <a:cs typeface="Microsoft YaHei"/>
              </a:rPr>
              <a:t>、珞璜港、江津港、万州港、湛江港、高栏港等港</a:t>
            </a:r>
            <a:r>
              <a:rPr sz="2000" kern="0" spc="-50" dirty="0">
                <a:solidFill>
                  <a:srgbClr val="404040">
                    <a:alpha val="100000"/>
                  </a:srgbClr>
                </a:solidFill>
                <a:latin typeface="Microsoft YaHei"/>
                <a:ea typeface="Microsoft YaHei"/>
                <a:cs typeface="Microsoft YaHei"/>
              </a:rPr>
              <a:t>口推广使用</a:t>
            </a:r>
            <a:endParaRPr sz="2000" dirty="0">
              <a:latin typeface="Microsoft YaHei"/>
              <a:ea typeface="Microsoft YaHei"/>
              <a:cs typeface="Microsoft YaHei"/>
            </a:endParaRPr>
          </a:p>
        </p:txBody>
      </p:sp>
      <p:pic>
        <p:nvPicPr>
          <p:cNvPr id="8" name="picture 8"/>
          <p:cNvPicPr>
            <a:picLocks noChangeAspect="1"/>
          </p:cNvPicPr>
          <p:nvPr/>
        </p:nvPicPr>
        <p:blipFill>
          <a:blip r:embed="rId2"/>
          <a:stretch>
            <a:fillRect/>
          </a:stretch>
        </p:blipFill>
        <p:spPr>
          <a:xfrm rot="21600000">
            <a:off x="668426" y="4038815"/>
            <a:ext cx="216408" cy="337718"/>
          </a:xfrm>
          <a:prstGeom prst="rect">
            <a:avLst/>
          </a:prstGeom>
        </p:spPr>
      </p:pic>
      <p:pic>
        <p:nvPicPr>
          <p:cNvPr id="10" name="picture 10"/>
          <p:cNvPicPr>
            <a:picLocks noChangeAspect="1"/>
          </p:cNvPicPr>
          <p:nvPr/>
        </p:nvPicPr>
        <p:blipFill>
          <a:blip r:embed="rId3"/>
          <a:stretch>
            <a:fillRect/>
          </a:stretch>
        </p:blipFill>
        <p:spPr>
          <a:xfrm rot="21600000">
            <a:off x="668426" y="3490175"/>
            <a:ext cx="216408" cy="337718"/>
          </a:xfrm>
          <a:prstGeom prst="rect">
            <a:avLst/>
          </a:prstGeom>
        </p:spPr>
      </p:pic>
      <p:pic>
        <p:nvPicPr>
          <p:cNvPr id="12" name="picture 12"/>
          <p:cNvPicPr>
            <a:picLocks noChangeAspect="1"/>
          </p:cNvPicPr>
          <p:nvPr/>
        </p:nvPicPr>
        <p:blipFill>
          <a:blip r:embed="rId4"/>
          <a:stretch>
            <a:fillRect/>
          </a:stretch>
        </p:blipFill>
        <p:spPr>
          <a:xfrm rot="21600000">
            <a:off x="668426" y="2941535"/>
            <a:ext cx="216408" cy="337718"/>
          </a:xfrm>
          <a:prstGeom prst="rect">
            <a:avLst/>
          </a:prstGeom>
        </p:spPr>
      </p:pic>
      <p:pic>
        <p:nvPicPr>
          <p:cNvPr id="14" name="picture 14"/>
          <p:cNvPicPr>
            <a:picLocks noChangeAspect="1"/>
          </p:cNvPicPr>
          <p:nvPr/>
        </p:nvPicPr>
        <p:blipFill>
          <a:blip r:embed="rId5"/>
          <a:stretch>
            <a:fillRect/>
          </a:stretch>
        </p:blipFill>
        <p:spPr>
          <a:xfrm rot="21600000">
            <a:off x="668426" y="2392895"/>
            <a:ext cx="216408" cy="337718"/>
          </a:xfrm>
          <a:prstGeom prst="rect">
            <a:avLst/>
          </a:prstGeom>
        </p:spPr>
      </p:pic>
      <p:pic>
        <p:nvPicPr>
          <p:cNvPr id="16" name="picture 16"/>
          <p:cNvPicPr>
            <a:picLocks noChangeAspect="1"/>
          </p:cNvPicPr>
          <p:nvPr/>
        </p:nvPicPr>
        <p:blipFill>
          <a:blip r:embed="rId6"/>
          <a:stretch>
            <a:fillRect/>
          </a:stretch>
        </p:blipFill>
        <p:spPr>
          <a:xfrm rot="21600000">
            <a:off x="668426" y="1844255"/>
            <a:ext cx="216408" cy="337718"/>
          </a:xfrm>
          <a:prstGeom prst="rect">
            <a:avLst/>
          </a:prstGeom>
        </p:spPr>
      </p:pic>
      <p:pic>
        <p:nvPicPr>
          <p:cNvPr id="18" name="picture 18"/>
          <p:cNvPicPr>
            <a:picLocks noChangeAspect="1"/>
          </p:cNvPicPr>
          <p:nvPr/>
        </p:nvPicPr>
        <p:blipFill>
          <a:blip r:embed="rId7"/>
          <a:stretch>
            <a:fillRect/>
          </a:stretch>
        </p:blipFill>
        <p:spPr>
          <a:xfrm rot="21600000">
            <a:off x="668426" y="1295615"/>
            <a:ext cx="216408" cy="33771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20"/>
          <p:cNvPicPr>
            <a:picLocks noChangeAspect="1"/>
          </p:cNvPicPr>
          <p:nvPr/>
        </p:nvPicPr>
        <p:blipFill>
          <a:blip r:embed="rId2"/>
          <a:stretch>
            <a:fillRect/>
          </a:stretch>
        </p:blipFill>
        <p:spPr>
          <a:xfrm rot="21600000">
            <a:off x="563880" y="877823"/>
            <a:ext cx="10850880" cy="5971032"/>
          </a:xfrm>
          <a:prstGeom prst="rect">
            <a:avLst/>
          </a:prstGeom>
        </p:spPr>
      </p:pic>
      <p:sp>
        <p:nvSpPr>
          <p:cNvPr id="22" name="textbox 22"/>
          <p:cNvSpPr/>
          <p:nvPr/>
        </p:nvSpPr>
        <p:spPr>
          <a:xfrm>
            <a:off x="5065991" y="321627"/>
            <a:ext cx="2305050" cy="492125"/>
          </a:xfrm>
          <a:prstGeom prst="rect">
            <a:avLst/>
          </a:prstGeom>
          <a:noFill/>
          <a:ln w="0" cap="flat">
            <a:noFill/>
            <a:prstDash val="solid"/>
            <a:miter lim="0"/>
          </a:ln>
        </p:spPr>
        <p:txBody>
          <a:bodyPr vert="horz" wrap="square" lIns="0" tIns="0" rIns="0" bIns="0"/>
          <a:lstStyle/>
          <a:p>
            <a:pPr algn="l" rtl="0" eaLnBrk="0">
              <a:lnSpc>
                <a:spcPct val="98236"/>
              </a:lnSpc>
              <a:tabLst/>
            </a:pPr>
            <a:endParaRPr sz="100" dirty="0">
              <a:latin typeface="Arial"/>
              <a:ea typeface="Arial"/>
              <a:cs typeface="Arial"/>
            </a:endParaRPr>
          </a:p>
          <a:p>
            <a:pPr marL="12700" algn="l" rtl="0" eaLnBrk="0">
              <a:lnSpc>
                <a:spcPct val="87000"/>
              </a:lnSpc>
              <a:tabLst/>
            </a:pPr>
            <a:r>
              <a:rPr sz="3500" b="1" kern="0" spc="80" dirty="0">
                <a:solidFill>
                  <a:srgbClr val="C00000">
                    <a:alpha val="100000"/>
                  </a:srgbClr>
                </a:solidFill>
                <a:latin typeface="Microsoft YaHei"/>
                <a:ea typeface="Microsoft YaHei"/>
                <a:cs typeface="Microsoft YaHei"/>
              </a:rPr>
              <a:t>成果与应用</a:t>
            </a:r>
            <a:endParaRPr sz="3500" dirty="0">
              <a:latin typeface="Microsoft YaHei"/>
              <a:ea typeface="Microsoft YaHei"/>
              <a:cs typeface="Microsoft YaHe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4"/>
          <p:cNvPicPr>
            <a:picLocks noChangeAspect="1"/>
          </p:cNvPicPr>
          <p:nvPr/>
        </p:nvPicPr>
        <p:blipFill>
          <a:blip r:embed="rId2"/>
          <a:stretch>
            <a:fillRect/>
          </a:stretch>
        </p:blipFill>
        <p:spPr>
          <a:xfrm rot="21600000">
            <a:off x="1725167" y="775715"/>
            <a:ext cx="8837676" cy="5710428"/>
          </a:xfrm>
          <a:prstGeom prst="rect">
            <a:avLst/>
          </a:prstGeom>
        </p:spPr>
      </p:pic>
      <p:sp>
        <p:nvSpPr>
          <p:cNvPr id="26" name="textbox 26"/>
          <p:cNvSpPr/>
          <p:nvPr/>
        </p:nvSpPr>
        <p:spPr>
          <a:xfrm>
            <a:off x="5065991" y="153377"/>
            <a:ext cx="2305050" cy="492125"/>
          </a:xfrm>
          <a:prstGeom prst="rect">
            <a:avLst/>
          </a:prstGeom>
          <a:noFill/>
          <a:ln w="0" cap="flat">
            <a:noFill/>
            <a:prstDash val="solid"/>
            <a:miter lim="0"/>
          </a:ln>
        </p:spPr>
        <p:txBody>
          <a:bodyPr vert="horz" wrap="square" lIns="0" tIns="0" rIns="0" bIns="0"/>
          <a:lstStyle/>
          <a:p>
            <a:pPr algn="l" rtl="0" eaLnBrk="0">
              <a:lnSpc>
                <a:spcPct val="98238"/>
              </a:lnSpc>
              <a:tabLst/>
            </a:pPr>
            <a:endParaRPr sz="100" dirty="0">
              <a:latin typeface="Arial"/>
              <a:ea typeface="Arial"/>
              <a:cs typeface="Arial"/>
            </a:endParaRPr>
          </a:p>
          <a:p>
            <a:pPr marL="12700" algn="l" rtl="0" eaLnBrk="0">
              <a:lnSpc>
                <a:spcPct val="87000"/>
              </a:lnSpc>
              <a:tabLst/>
            </a:pPr>
            <a:r>
              <a:rPr sz="3500" b="1" kern="0" spc="80" dirty="0">
                <a:solidFill>
                  <a:srgbClr val="C00000">
                    <a:alpha val="100000"/>
                  </a:srgbClr>
                </a:solidFill>
                <a:latin typeface="Microsoft YaHei"/>
                <a:ea typeface="Microsoft YaHei"/>
                <a:cs typeface="Microsoft YaHei"/>
              </a:rPr>
              <a:t>成果与应用</a:t>
            </a:r>
            <a:endParaRPr sz="3500" dirty="0">
              <a:latin typeface="Microsoft YaHei"/>
              <a:ea typeface="Microsoft YaHei"/>
              <a:cs typeface="Microsoft YaHe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ap:Properties xmlns:vt="http://schemas.openxmlformats.org/officeDocument/2006/docPropsVTypes" xmlns:ap="http://schemas.openxmlformats.org/officeDocument/2006/extended-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wqlLaW5nc29mdCBQREYgdG8gV1BTIDEyMA</vt:lpwstr>
  </property>
  <property fmtid="{D5CDD505-2E9C-101B-9397-08002B2CF9AE}" pid="3" name="Created">
    <vt:filetime>2026-05-21T21:38:42</vt:filetime>
  </property>
</Properties>
</file>