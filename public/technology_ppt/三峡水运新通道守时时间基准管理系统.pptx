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22719" y="1356360"/>
            <a:ext cx="5327904" cy="524865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91005" y="1210995"/>
            <a:ext cx="5868034" cy="2961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0215" algn="l" rtl="0" eaLnBrk="0">
              <a:lnSpc>
                <a:spcPct val="88000"/>
              </a:lnSpc>
              <a:tabLst/>
            </a:pP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智慧新通道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PNT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组网方案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3845" indent="-271145" algn="l" rtl="0" eaLnBrk="0">
              <a:lnSpc>
                <a:spcPct val="99000"/>
              </a:lnSpc>
              <a:spcBef>
                <a:spcPts val="460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500" kern="0" spc="-8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安全保障-实时监控和定位工作人员位置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紧急情况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下能迅速找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到并救援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273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500" kern="0" spc="-7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高效管理-通过定位系统优化人员调度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，提高工作效率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83845" indent="-271145" algn="l" rtl="0" eaLnBrk="0">
              <a:lnSpc>
                <a:spcPct val="99000"/>
              </a:lnSpc>
              <a:spcBef>
                <a:spcPts val="155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500" kern="0" spc="-8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历史轨迹-记录工作人员的历史轨迹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以便事后分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析和优化工作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277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500" kern="0" spc="-8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资产管理-实时监控设备位置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防止丢失和被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盗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83845" indent="-271145" algn="l" rtl="0" eaLnBrk="0">
              <a:lnSpc>
                <a:spcPct val="99000"/>
              </a:lnSpc>
              <a:spcBef>
                <a:spcPts val="149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500" kern="0" spc="-8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授时管理-为管廊内各种通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信设备、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电力设备等提供高精度时间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基准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99000"/>
              </a:lnSpc>
              <a:spcBef>
                <a:spcPts val="288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500" kern="0" spc="-6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自动巡检-为巡检机器人提供定位和导航服务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，提升准确性和故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障检测率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6511" y="4337303"/>
            <a:ext cx="5993891" cy="2490216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8100" y="0"/>
            <a:ext cx="12153900" cy="647700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2.8 三峡水运新通道守时时间基准管理系统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th 12"/>
          <p:cNvSpPr/>
          <p:nvPr/>
        </p:nvSpPr>
        <p:spPr>
          <a:xfrm>
            <a:off x="6836905" y="5615546"/>
            <a:ext cx="286525" cy="171450"/>
          </a:xfrm>
          <a:custGeom>
            <a:avLst/>
            <a:gdLst/>
            <a:ahLst/>
            <a:cxnLst/>
            <a:rect l="0" t="0" r="0" b="0"/>
            <a:pathLst>
              <a:path w="451" h="270">
                <a:moveTo>
                  <a:pt x="44" y="127"/>
                </a:moveTo>
                <a:lnTo>
                  <a:pt x="93" y="233"/>
                </a:lnTo>
                <a:lnTo>
                  <a:pt x="160" y="0"/>
                </a:lnTo>
                <a:lnTo>
                  <a:pt x="451" y="0"/>
                </a:lnTo>
                <a:lnTo>
                  <a:pt x="451" y="18"/>
                </a:lnTo>
                <a:lnTo>
                  <a:pt x="178" y="18"/>
                </a:lnTo>
                <a:lnTo>
                  <a:pt x="178" y="17"/>
                </a:lnTo>
                <a:lnTo>
                  <a:pt x="170" y="17"/>
                </a:lnTo>
                <a:lnTo>
                  <a:pt x="97" y="270"/>
                </a:lnTo>
                <a:lnTo>
                  <a:pt x="83" y="270"/>
                </a:lnTo>
                <a:lnTo>
                  <a:pt x="27" y="148"/>
                </a:lnTo>
                <a:lnTo>
                  <a:pt x="4" y="158"/>
                </a:lnTo>
                <a:lnTo>
                  <a:pt x="0" y="148"/>
                </a:lnTo>
                <a:lnTo>
                  <a:pt x="44" y="127"/>
                </a:ln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6328977" y="1457242"/>
            <a:ext cx="5230495" cy="435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星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 、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链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 、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环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 、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树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 M ES H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拓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扑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 网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20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 时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守 时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61644" indent="17145" algn="l" rtl="0" eaLnBrk="0">
              <a:lnSpc>
                <a:spcPct val="199000"/>
              </a:lnSpc>
              <a:spcBef>
                <a:spcPts val="117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1 .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 网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择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 时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 为 时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 时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 以</a:t>
            </a:r>
            <a:r>
              <a:rPr sz="14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是一个指定的时钟</a:t>
            </a:r>
            <a:r>
              <a:rPr sz="14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也可以是多时钟源</a:t>
            </a:r>
            <a:r>
              <a:rPr sz="14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综合出的一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个时钟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70534" algn="l" rtl="0" eaLnBrk="0">
              <a:lnSpc>
                <a:spcPts val="1813"/>
              </a:lnSpc>
              <a:spcBef>
                <a:spcPts val="1570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2 .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 唯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 多 时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 的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62280" indent="10160" algn="l" rtl="0" eaLnBrk="0">
              <a:lnSpc>
                <a:spcPct val="191000"/>
              </a:lnSpc>
              <a:spcBef>
                <a:spcPts val="280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 . 当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 网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择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 时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 出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 障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则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法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则</a:t>
            </a:r>
            <a:r>
              <a:rPr sz="14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选择另外一个作为主时钟源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22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级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 时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号 时 ，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时</a:t>
            </a:r>
            <a:r>
              <a:rPr sz="14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 的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均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值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 ，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91465" algn="l" rtl="0" eaLnBrk="0">
              <a:lnSpc>
                <a:spcPts val="3410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N  ∗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σ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跳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 σ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跳 的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</a:t>
            </a:r>
            <a:r>
              <a:rPr sz="14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11936" y="1101323"/>
            <a:ext cx="4102368" cy="2821593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7490" y="4351881"/>
            <a:ext cx="4147396" cy="2246839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4036250" y="168414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/>
          <p:nvPr/>
        </p:nvSpPr>
        <p:spPr>
          <a:xfrm>
            <a:off x="5462558" y="1805768"/>
            <a:ext cx="5952490" cy="1933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tabLst/>
            </a:pPr>
            <a:r>
              <a:rPr sz="2000" b="1" kern="0" spc="2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市场进展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28575" algn="l" rtl="0" eaLnBrk="0">
              <a:lnSpc>
                <a:spcPts val="1813"/>
              </a:lnSpc>
              <a:spcBef>
                <a:spcPts val="1070"/>
              </a:spcBef>
              <a:tabLst/>
            </a:pPr>
            <a:r>
              <a:rPr sz="1400" kern="0" spc="2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国内唯一通过泰尔实验室多场景长时间测</a:t>
            </a:r>
            <a:r>
              <a:rPr sz="1400" kern="0" spc="2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试的厂家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7620" algn="l" rtl="0" eaLnBrk="0">
              <a:lnSpc>
                <a:spcPct val="147000"/>
              </a:lnSpc>
              <a:spcBef>
                <a:spcPts val="78"/>
              </a:spcBef>
              <a:tabLst/>
            </a:pP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 、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JW LC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 为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足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十 四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 ”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 ”</a:t>
            </a:r>
            <a:r>
              <a:rPr sz="1400" kern="0" spc="-1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</a:t>
            </a:r>
            <a:r>
              <a:rPr sz="1400" kern="0" spc="26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新一代光纤授时网唯一</a:t>
            </a:r>
            <a:r>
              <a:rPr sz="1400" kern="0" spc="25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厂家</a:t>
            </a:r>
            <a:r>
              <a:rPr sz="1400" kern="0" spc="-1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5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5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并在重大专题中给予经费支持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5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9525" algn="l" rtl="0" eaLnBrk="0">
              <a:lnSpc>
                <a:spcPct val="147000"/>
              </a:lnSpc>
              <a:spcBef>
                <a:spcPts val="101"/>
              </a:spcBef>
              <a:tabLst/>
            </a:pP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 、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 时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 ”</a:t>
            </a:r>
            <a:r>
              <a:rPr sz="1400" kern="0" spc="-1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列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 国</a:t>
            </a:r>
            <a:r>
              <a:rPr sz="1400" kern="0" spc="-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400" kern="0" spc="-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十 四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”</a:t>
            </a:r>
            <a:r>
              <a:rPr sz="1400" kern="0" spc="-1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划 10 2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</a:t>
            </a:r>
            <a:r>
              <a:rPr sz="1400" kern="0" spc="1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大工程中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94603" y="4021835"/>
            <a:ext cx="4101083" cy="2203704"/>
          </a:xfrm>
          <a:prstGeom prst="rect">
            <a:avLst/>
          </a:prstGeom>
        </p:spPr>
      </p:pic>
      <p:sp>
        <p:nvSpPr>
          <p:cNvPr id="26" name="path 26"/>
          <p:cNvSpPr/>
          <p:nvPr/>
        </p:nvSpPr>
        <p:spPr>
          <a:xfrm>
            <a:off x="1855114" y="2595422"/>
            <a:ext cx="281444" cy="171450"/>
          </a:xfrm>
          <a:custGeom>
            <a:avLst/>
            <a:gdLst/>
            <a:ahLst/>
            <a:cxnLst/>
            <a:rect l="0" t="0" r="0" b="0"/>
            <a:pathLst>
              <a:path w="443" h="270">
                <a:moveTo>
                  <a:pt x="44" y="127"/>
                </a:moveTo>
                <a:lnTo>
                  <a:pt x="93" y="233"/>
                </a:lnTo>
                <a:lnTo>
                  <a:pt x="160" y="0"/>
                </a:lnTo>
                <a:lnTo>
                  <a:pt x="443" y="0"/>
                </a:lnTo>
                <a:lnTo>
                  <a:pt x="443" y="18"/>
                </a:lnTo>
                <a:lnTo>
                  <a:pt x="178" y="18"/>
                </a:lnTo>
                <a:lnTo>
                  <a:pt x="178" y="17"/>
                </a:lnTo>
                <a:lnTo>
                  <a:pt x="170" y="17"/>
                </a:lnTo>
                <a:lnTo>
                  <a:pt x="97" y="270"/>
                </a:lnTo>
                <a:lnTo>
                  <a:pt x="83" y="270"/>
                </a:lnTo>
                <a:lnTo>
                  <a:pt x="27" y="148"/>
                </a:lnTo>
                <a:lnTo>
                  <a:pt x="4" y="158"/>
                </a:lnTo>
                <a:lnTo>
                  <a:pt x="0" y="148"/>
                </a:lnTo>
                <a:lnTo>
                  <a:pt x="44" y="127"/>
                </a:lnTo>
              </a:path>
            </a:pathLst>
          </a:custGeom>
          <a:solidFill>
            <a:srgbClr val="0C0C1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textbox 28"/>
          <p:cNvSpPr/>
          <p:nvPr/>
        </p:nvSpPr>
        <p:spPr>
          <a:xfrm>
            <a:off x="795700" y="1809870"/>
            <a:ext cx="4195445" cy="1962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000" b="1" kern="0" spc="2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产品优势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27305" indent="635" algn="l" rtl="0" eaLnBrk="0">
              <a:lnSpc>
                <a:spcPct val="147000"/>
              </a:lnSpc>
              <a:spcBef>
                <a:spcPts val="806"/>
              </a:spcBef>
              <a:tabLst/>
            </a:pP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 、 </a:t>
            </a:r>
            <a:r>
              <a:rPr sz="14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</a:t>
            </a:r>
            <a:r>
              <a:rPr sz="1400" b="1" kern="0" spc="-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</a:t>
            </a:r>
            <a:r>
              <a:rPr sz="1400" b="1" kern="0" spc="-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</a:t>
            </a:r>
            <a:r>
              <a:rPr sz="14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4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跳 时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钟 同 步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 3 0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皮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秒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跳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   </a:t>
            </a:r>
            <a:r>
              <a:rPr sz="1400" kern="0" spc="-10" dirty="0">
                <a:solidFill>
                  <a:srgbClr val="0C0C14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N 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* 3 0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皮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秒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球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</a:t>
            </a:r>
            <a:r>
              <a:rPr sz="1400" b="1" kern="0" spc="-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</a:t>
            </a:r>
            <a:r>
              <a:rPr sz="14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1813"/>
              </a:lnSpc>
              <a:spcBef>
                <a:spcPts val="591"/>
              </a:spcBef>
              <a:tabLst/>
            </a:pPr>
            <a:r>
              <a:rPr sz="1400" kern="0" spc="1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 、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1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组网灵活</a:t>
            </a:r>
            <a:r>
              <a:rPr sz="14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当前唯一可大规模组网产品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8889" algn="l" rtl="0" eaLnBrk="0">
              <a:lnSpc>
                <a:spcPct val="147000"/>
              </a:lnSpc>
              <a:spcBef>
                <a:spcPts val="78"/>
              </a:spcBef>
              <a:tabLst/>
            </a:pP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 、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济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</a:t>
            </a:r>
            <a:r>
              <a:rPr sz="1400" b="1" kern="0" spc="-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 OT N</a:t>
            </a: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网</a:t>
            </a:r>
            <a:r>
              <a:rPr sz="1400" b="1" kern="0" spc="-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美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兼</a:t>
            </a:r>
            <a:r>
              <a:rPr sz="1400" b="1" kern="0" spc="-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</a:t>
            </a:r>
            <a:r>
              <a:rPr sz="14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9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</a:t>
            </a:r>
            <a:r>
              <a:rPr sz="1400" kern="0" spc="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kern="0" spc="2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省光纤资源</a:t>
            </a:r>
            <a:r>
              <a:rPr sz="1400" kern="0" spc="-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1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避免网络大割接</a:t>
            </a:r>
            <a:r>
              <a:rPr sz="1400" kern="0" spc="-1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1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038520" y="321627"/>
            <a:ext cx="6332854" cy="1086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500" b="1" kern="0" spc="3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全球领先 ：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3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唯一可实现大规模背靠背组网 ，</a:t>
            </a:r>
            <a:r>
              <a:rPr sz="1500" b="1" kern="0" spc="-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精确度全球第一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85900" y="4279391"/>
            <a:ext cx="2474976" cy="1764791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909047" y="4006595"/>
            <a:ext cx="1557528" cy="2203704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754065" y="6139791"/>
            <a:ext cx="1664335" cy="132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</a:t>
            </a:r>
            <a:r>
              <a:rPr sz="800" kern="0" spc="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纤</a:t>
            </a:r>
            <a:r>
              <a:rPr sz="800" kern="0" spc="6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</a:t>
            </a:r>
            <a:r>
              <a:rPr sz="800" kern="0" spc="10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</a:t>
            </a:r>
            <a:r>
              <a:rPr sz="800" kern="0" spc="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级</a:t>
            </a:r>
            <a:r>
              <a:rPr sz="800" kern="0" spc="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</a:t>
            </a:r>
            <a:r>
              <a:rPr sz="800" kern="0" spc="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</a:t>
            </a:r>
            <a:r>
              <a:rPr sz="800" kern="0" spc="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</a:t>
            </a:r>
            <a:r>
              <a:rPr sz="800" kern="0" spc="7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</a:t>
            </a:r>
            <a:r>
              <a:rPr sz="800" kern="0" spc="6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</a:t>
            </a:r>
            <a:r>
              <a:rPr sz="800" kern="0" spc="1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</a:t>
            </a:r>
            <a:r>
              <a:rPr sz="800" kern="0" spc="14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</a:t>
            </a:r>
            <a:r>
              <a:rPr sz="800" kern="0" spc="8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20" dirty="0">
                <a:solidFill>
                  <a:srgbClr val="0C0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80000" y="1727200"/>
            <a:ext cx="25400" cy="4482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2026-05-21T21:38:47</vt:filetime>
  </property>
</Properties>
</file>