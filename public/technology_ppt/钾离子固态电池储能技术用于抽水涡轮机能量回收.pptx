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7" Type="http://schemas.openxmlformats.org/officeDocument/2006/relationships/tableStyles" Target="tableStyles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jpeg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3" Type="http://schemas.openxmlformats.org/officeDocument/2006/relationships/image" Target="../media/image40.png"/><Relationship Id="rId12" Type="http://schemas.openxmlformats.org/officeDocument/2006/relationships/image" Target="../media/image39.jpeg"/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065016" y="1092108"/>
            <a:ext cx="8808719" cy="1764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608"/>
              </a:lnSpc>
              <a:tabLst/>
            </a:pPr>
            <a:r>
              <a:rPr sz="2700" kern="0" spc="90" dirty="0">
                <a:solidFill>
                  <a:srgbClr val="00469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4.1 钾离子固态电池储能技术用于抽水涡轮机能量</a:t>
            </a:r>
            <a:r>
              <a:rPr sz="2700" kern="0" spc="80" dirty="0">
                <a:solidFill>
                  <a:srgbClr val="00469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回收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608"/>
              </a:lnSpc>
              <a:spcBef>
                <a:spcPts val="1432"/>
              </a:spcBef>
              <a:tabLst/>
            </a:pPr>
            <a:r>
              <a:rPr sz="2700" kern="0" spc="90" dirty="0">
                <a:solidFill>
                  <a:srgbClr val="00469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4.2 三峡新通道光-波浪-储自</a:t>
            </a:r>
            <a:r>
              <a:rPr sz="2700" kern="0" spc="80" dirty="0">
                <a:solidFill>
                  <a:srgbClr val="00469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洽能源系统关键技术及应用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608"/>
              </a:lnSpc>
              <a:spcBef>
                <a:spcPts val="6"/>
              </a:spcBef>
              <a:tabLst/>
            </a:pPr>
            <a:r>
              <a:rPr sz="2700" kern="0" spc="90" dirty="0">
                <a:solidFill>
                  <a:srgbClr val="00469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4.3 水风光氢一体化零碳航道微电网系统关键技术及应</a:t>
            </a:r>
            <a:r>
              <a:rPr sz="2700" kern="0" spc="80" dirty="0">
                <a:solidFill>
                  <a:srgbClr val="00469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3200" kern="0" spc="-3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四、能源系统与储能技术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8947" y="1257630"/>
            <a:ext cx="11674171" cy="4668989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552039" y="3694083"/>
          <a:ext cx="3844925" cy="2101850"/>
        </p:xfrm>
        <a:graphic>
          <a:graphicData uri="http://schemas.openxmlformats.org/drawingml/2006/table">
            <a:tbl>
              <a:tblPr/>
              <a:tblGrid>
                <a:gridCol w="1795145"/>
                <a:gridCol w="2049779"/>
              </a:tblGrid>
              <a:tr h="2101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04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000" b="1" kern="0" spc="-2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优势：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79" algn="l" rtl="0" eaLnBrk="0">
                        <a:lnSpc>
                          <a:spcPct val="93000"/>
                        </a:lnSpc>
                        <a:spcBef>
                          <a:spcPts val="607"/>
                        </a:spcBef>
                        <a:tabLst>
                          <a:tab pos="198754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容量大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79" algn="l" rtl="0" eaLnBrk="0">
                        <a:lnSpc>
                          <a:spcPct val="93000"/>
                        </a:lnSpc>
                        <a:spcBef>
                          <a:spcPts val="600"/>
                        </a:spcBef>
                        <a:tabLst>
                          <a:tab pos="198754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经济性好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79" algn="l" rtl="0" eaLnBrk="0">
                        <a:lnSpc>
                          <a:spcPct val="90000"/>
                        </a:lnSpc>
                        <a:spcBef>
                          <a:spcPts val="6"/>
                        </a:spcBef>
                        <a:tabLst>
                          <a:tab pos="198754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使用寿命长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6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93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劣势：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984" algn="l" rtl="0" eaLnBrk="0">
                        <a:lnSpc>
                          <a:spcPct val="93000"/>
                        </a:lnSpc>
                        <a:spcBef>
                          <a:spcPts val="609"/>
                        </a:spcBef>
                        <a:tabLst>
                          <a:tab pos="441325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建设周期较长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984" algn="l" rtl="0" eaLnBrk="0">
                        <a:lnSpc>
                          <a:spcPct val="93000"/>
                        </a:lnSpc>
                        <a:tabLst>
                          <a:tab pos="441325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选址要求较高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608239" y="4900041"/>
            <a:ext cx="180763" cy="28213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608239" y="4290441"/>
            <a:ext cx="180763" cy="28213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0118" y="5514392"/>
            <a:ext cx="180790" cy="27519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70118" y="4904792"/>
            <a:ext cx="180790" cy="282135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70118" y="4295192"/>
            <a:ext cx="180790" cy="282135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4.1  钾离子固态电池储能技术用于抽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水涡轮机能量回收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7455194" y="4321328"/>
          <a:ext cx="4192905" cy="1501139"/>
        </p:xfrm>
        <a:graphic>
          <a:graphicData uri="http://schemas.openxmlformats.org/drawingml/2006/table">
            <a:tbl>
              <a:tblPr/>
              <a:tblGrid>
                <a:gridCol w="1969770"/>
                <a:gridCol w="2223135"/>
              </a:tblGrid>
              <a:tr h="15011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000"/>
                        </a:lnSpc>
                        <a:tabLst>
                          <a:tab pos="180339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布置灵活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000"/>
                        </a:lnSpc>
                        <a:spcBef>
                          <a:spcPts val="600"/>
                        </a:spcBef>
                        <a:tabLst>
                          <a:tab pos="180339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建设周期较短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>
                          <a:tab pos="180339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响应速度较快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339" algn="l" rtl="0" eaLnBrk="0">
                        <a:lnSpc>
                          <a:spcPct val="92000"/>
                        </a:lnSpc>
                        <a:tabLst>
                          <a:tab pos="360679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成本较高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339" algn="l" rtl="0" eaLnBrk="0">
                        <a:lnSpc>
                          <a:spcPct val="93000"/>
                        </a:lnSpc>
                        <a:tabLst>
                          <a:tab pos="360679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安全性存在差异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605418" y="4930928"/>
            <a:ext cx="180762" cy="28213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605418" y="4321328"/>
            <a:ext cx="180790" cy="282135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455194" y="5540528"/>
            <a:ext cx="180790" cy="275589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455194" y="4930928"/>
            <a:ext cx="180790" cy="282135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455194" y="4321328"/>
            <a:ext cx="180790" cy="282135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941831" y="6135522"/>
            <a:ext cx="10405744" cy="597534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953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3200" b="1" kern="0" spc="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抽水蓄能与电化学储能协同配置 助力新型</a:t>
            </a:r>
            <a:r>
              <a:rPr sz="32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电力系统构建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7424415" y="3062646"/>
            <a:ext cx="3062604" cy="940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1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200" b="1" kern="0" spc="-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电化学储能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000" b="1" kern="0" spc="1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优势：      </a:t>
            </a:r>
            <a:r>
              <a:rPr sz="2000" b="1" kern="0" spc="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劣势：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225142" y="1402460"/>
            <a:ext cx="2469036" cy="1806957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642971" y="1369156"/>
            <a:ext cx="2193822" cy="1806277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1668003" y="3045047"/>
            <a:ext cx="1645285" cy="449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2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抽水蓄能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51998" y="1406168"/>
            <a:ext cx="1969746" cy="1806957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9900383" y="1439836"/>
            <a:ext cx="1764430" cy="1806957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454296" y="727798"/>
            <a:ext cx="3675379" cy="492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抽水蓄能电站需求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180304" y="3158655"/>
            <a:ext cx="1751177" cy="673646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5611215" y="3037065"/>
            <a:ext cx="937260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1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9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优势互补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table 54"/>
          <p:cNvGraphicFramePr>
            <a:graphicFrameLocks noGrp="1"/>
          </p:cNvGraphicFramePr>
          <p:nvPr/>
        </p:nvGraphicFramePr>
        <p:xfrm>
          <a:off x="517652" y="1732115"/>
          <a:ext cx="7708265" cy="1561465"/>
        </p:xfrm>
        <a:graphic>
          <a:graphicData uri="http://schemas.openxmlformats.org/drawingml/2006/table">
            <a:tbl>
              <a:tblPr/>
              <a:tblGrid>
                <a:gridCol w="588009"/>
                <a:gridCol w="1038225"/>
                <a:gridCol w="1296035"/>
                <a:gridCol w="1296035"/>
                <a:gridCol w="1018539"/>
                <a:gridCol w="1313814"/>
                <a:gridCol w="1157605"/>
              </a:tblGrid>
              <a:tr h="4584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68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元素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5900" algn="l" rtl="0" eaLnBrk="0">
                        <a:lnSpc>
                          <a:spcPct val="8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地球储量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81940" algn="l" rtl="0" eaLnBrk="0">
                        <a:lnSpc>
                          <a:spcPts val="1598"/>
                        </a:lnSpc>
                        <a:tabLst/>
                      </a:pP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(wt</a:t>
                      </a:r>
                      <a:r>
                        <a:rPr sz="12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%)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9715" indent="8889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氟基电解液</a:t>
                      </a: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(美元/公斤)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9715" indent="9525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氯基电解液</a:t>
                      </a: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(美元/公斤)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4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060" algn="l" rtl="0" eaLnBrk="0">
                        <a:lnSpc>
                          <a:spcPts val="1582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电极电势(V)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4329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负极材料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集流体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745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7970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0.0017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6719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10340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1169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3080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-3.02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9905" algn="l" rtl="0" eaLnBrk="0">
                        <a:lnSpc>
                          <a:spcPct val="8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石墨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30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正极-铝箔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40029" algn="l" rtl="0" eaLnBrk="0">
                        <a:lnSpc>
                          <a:spcPct val="86000"/>
                        </a:lnSpc>
                        <a:spcBef>
                          <a:spcPts val="18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负极-铜箔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9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660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1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385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1169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3764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63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-2.71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硬碳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30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正极-铝箔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40029" algn="l" rtl="0" eaLnBrk="0">
                        <a:lnSpc>
                          <a:spcPct val="86000"/>
                        </a:lnSpc>
                        <a:spcBef>
                          <a:spcPts val="18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负极-铜箔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7175" algn="l" rtl="0" eaLnBrk="0">
                        <a:lnSpc>
                          <a:spcPct val="7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020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63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492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0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-2.93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3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59" indent="3810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石墨、钠钾液态合</a:t>
                      </a:r>
                      <a:r>
                        <a:rPr sz="1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金、硬碳、软碳、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300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正极-铝箔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40029" algn="l" rtl="0" eaLnBrk="0">
                        <a:lnSpc>
                          <a:spcPts val="1538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负极-铝箔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56" name="textbox 56"/>
          <p:cNvSpPr/>
          <p:nvPr/>
        </p:nvSpPr>
        <p:spPr>
          <a:xfrm>
            <a:off x="504952" y="3416846"/>
            <a:ext cx="4050029" cy="2872739"/>
          </a:xfrm>
          <a:prstGeom prst="rect">
            <a:avLst/>
          </a:prstGeom>
          <a:solidFill>
            <a:srgbClr val="8FC1E6">
              <a:alpha val="2705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17475" algn="l" rtl="0" eaLnBrk="0">
              <a:lnSpc>
                <a:spcPct val="90000"/>
              </a:lnSpc>
              <a:spcBef>
                <a:spcPts val="7"/>
              </a:spcBef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钾离子电池的优点：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9539" algn="l" rtl="0" eaLnBrk="0">
              <a:lnSpc>
                <a:spcPct val="98000"/>
              </a:lnSpc>
              <a:spcBef>
                <a:spcPts val="473"/>
              </a:spcBef>
              <a:tabLst>
                <a:tab pos="291465" algn="l"/>
              </a:tabLst>
            </a:pPr>
            <a:r>
              <a:rPr sz="1700" kern="0" spc="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48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9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钾资源储量丰富、分布均匀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19379" algn="l" rtl="0" eaLnBrk="0">
              <a:lnSpc>
                <a:spcPct val="93000"/>
              </a:lnSpc>
              <a:spcBef>
                <a:spcPts val="453"/>
              </a:spcBef>
              <a:tabLst/>
            </a:pP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是锂的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~1000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倍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29539" algn="l" rtl="0" eaLnBrk="0">
              <a:lnSpc>
                <a:spcPct val="98000"/>
              </a:lnSpc>
              <a:spcBef>
                <a:spcPts val="401"/>
              </a:spcBef>
              <a:tabLst>
                <a:tab pos="291465" algn="l"/>
              </a:tabLst>
            </a:pPr>
            <a:r>
              <a:rPr sz="1700" kern="0" spc="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58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6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高工作电压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19379" algn="l" rtl="0" eaLnBrk="0">
              <a:lnSpc>
                <a:spcPct val="93000"/>
              </a:lnSpc>
              <a:spcBef>
                <a:spcPts val="453"/>
              </a:spcBef>
              <a:tabLst/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相比钠离子电池有望实现更高电压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29539" algn="l" rtl="0" eaLnBrk="0">
              <a:lnSpc>
                <a:spcPct val="98000"/>
              </a:lnSpc>
              <a:spcBef>
                <a:spcPts val="401"/>
              </a:spcBef>
              <a:tabLst>
                <a:tab pos="291465" algn="l"/>
              </a:tabLst>
            </a:pPr>
            <a:r>
              <a:rPr sz="1700" kern="0" spc="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52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8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可嵌入石墨负极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19379" algn="l" rtl="0" eaLnBrk="0">
              <a:lnSpc>
                <a:spcPct val="95000"/>
              </a:lnSpc>
              <a:spcBef>
                <a:spcPts val="441"/>
              </a:spcBef>
              <a:tabLst/>
            </a:pP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(~250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mAh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/g</a:t>
            </a:r>
            <a:r>
              <a:rPr sz="1700" b="1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的比容量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29539" algn="l" rtl="0" eaLnBrk="0">
              <a:lnSpc>
                <a:spcPct val="98000"/>
              </a:lnSpc>
              <a:spcBef>
                <a:spcPts val="367"/>
              </a:spcBef>
              <a:tabLst>
                <a:tab pos="291465" algn="l"/>
              </a:tabLst>
            </a:pPr>
            <a:r>
              <a:rPr sz="1700" kern="0" spc="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60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-2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正负极集流体都可用</a:t>
            </a:r>
            <a:r>
              <a:rPr sz="1700" b="1" kern="0" spc="-2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</a:t>
            </a:r>
            <a:r>
              <a:rPr sz="1700" b="1" kern="0" spc="-2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箔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19379" algn="l" rtl="0" eaLnBrk="0">
              <a:lnSpc>
                <a:spcPct val="93000"/>
              </a:lnSpc>
              <a:spcBef>
                <a:spcPts val="458"/>
              </a:spcBef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铜箔价格是铝箔的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2.5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倍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4644" y="5625820"/>
            <a:ext cx="162305" cy="253288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4644" y="5023218"/>
            <a:ext cx="162305" cy="25328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4644" y="4419968"/>
            <a:ext cx="162305" cy="253288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4644" y="3816718"/>
            <a:ext cx="162305" cy="25328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610100" y="3790188"/>
            <a:ext cx="3648456" cy="2548127"/>
          </a:xfrm>
          <a:prstGeom prst="rect">
            <a:avLst/>
          </a:prstGeom>
        </p:spPr>
      </p:pic>
      <p:sp>
        <p:nvSpPr>
          <p:cNvPr id="68" name="rect 68"/>
          <p:cNvSpPr/>
          <p:nvPr/>
        </p:nvSpPr>
        <p:spPr>
          <a:xfrm>
            <a:off x="8410283" y="3966413"/>
            <a:ext cx="3525277" cy="2194826"/>
          </a:xfrm>
          <a:prstGeom prst="rect">
            <a:avLst/>
          </a:prstGeom>
          <a:solidFill>
            <a:srgbClr val="FF0000">
              <a:alpha val="2039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8757260" y="1487334"/>
            <a:ext cx="2849524" cy="1813648"/>
            <a:chOff x="0" y="0"/>
            <a:chExt cx="2849524" cy="1813648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40792" y="126581"/>
              <a:ext cx="2808732" cy="1687067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-12700" y="-12700"/>
              <a:ext cx="2575560" cy="1854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3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2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负极-电解质界面      正极-电解质界面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74" name="textbox 74"/>
          <p:cNvSpPr/>
          <p:nvPr/>
        </p:nvSpPr>
        <p:spPr>
          <a:xfrm>
            <a:off x="695418" y="1238687"/>
            <a:ext cx="7487919" cy="386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钾离子电池：</a:t>
            </a:r>
            <a:r>
              <a:rPr sz="2700" b="1" kern="0" spc="-6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储能领域二次电池体系发展新方向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10402277" y="4363872"/>
            <a:ext cx="1441450" cy="1501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固态电池：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9050" algn="l" rtl="0" eaLnBrk="0">
              <a:lnSpc>
                <a:spcPct val="98000"/>
              </a:lnSpc>
              <a:spcBef>
                <a:spcPts val="1370"/>
              </a:spcBef>
              <a:tabLst>
                <a:tab pos="20320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安全性高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9050" algn="l" rtl="0" eaLnBrk="0">
              <a:lnSpc>
                <a:spcPct val="98000"/>
              </a:lnSpc>
              <a:spcBef>
                <a:spcPts val="1241"/>
              </a:spcBef>
              <a:tabLst>
                <a:tab pos="20320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循环性能好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8000"/>
              </a:lnSpc>
              <a:spcBef>
                <a:spcPts val="5"/>
              </a:spcBef>
              <a:tabLst>
                <a:tab pos="20320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能量密度高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421378" y="5599353"/>
            <a:ext cx="184480" cy="253288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421378" y="5187873"/>
            <a:ext cx="184480" cy="253288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421378" y="4776393"/>
            <a:ext cx="184480" cy="253288"/>
          </a:xfrm>
          <a:prstGeom prst="rect">
            <a:avLst/>
          </a:prstGeom>
        </p:spPr>
      </p:pic>
      <p:sp>
        <p:nvSpPr>
          <p:cNvPr id="84" name="textbox 84"/>
          <p:cNvSpPr/>
          <p:nvPr/>
        </p:nvSpPr>
        <p:spPr>
          <a:xfrm>
            <a:off x="8562721" y="4363186"/>
            <a:ext cx="1344294" cy="1502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700" b="1" kern="0" spc="-1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固态电解质：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9050" algn="l" rtl="0" eaLnBrk="0">
              <a:lnSpc>
                <a:spcPct val="98000"/>
              </a:lnSpc>
              <a:spcBef>
                <a:spcPts val="1356"/>
              </a:spcBef>
              <a:tabLst>
                <a:tab pos="20320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不可燃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9050" algn="l" rtl="0" eaLnBrk="0">
              <a:lnSpc>
                <a:spcPct val="98000"/>
              </a:lnSpc>
              <a:spcBef>
                <a:spcPts val="1241"/>
              </a:spcBef>
              <a:tabLst>
                <a:tab pos="20320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无腐蚀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8000"/>
              </a:lnSpc>
              <a:spcBef>
                <a:spcPts val="5"/>
              </a:spcBef>
              <a:tabLst>
                <a:tab pos="20320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不挥发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581822" y="5599353"/>
            <a:ext cx="184480" cy="253288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581822" y="5187873"/>
            <a:ext cx="184480" cy="253288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581822" y="4776393"/>
            <a:ext cx="184480" cy="253288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4374959" y="306095"/>
            <a:ext cx="4114800" cy="492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2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35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固态钾离子电池储能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9009774" y="3354768"/>
            <a:ext cx="192976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负极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固态电解质</a:t>
            </a:r>
            <a:r>
              <a:rPr sz="12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正极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6"/>
          <p:cNvSpPr/>
          <p:nvPr/>
        </p:nvSpPr>
        <p:spPr>
          <a:xfrm>
            <a:off x="659345" y="235153"/>
            <a:ext cx="11365230" cy="3312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86304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抽水涡轮机的能量回收关键技术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518"/>
              </a:spcBef>
              <a:tabLst>
                <a:tab pos="174625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高性能钾离子电池正极材料的可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控制备技术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521"/>
              </a:spcBef>
              <a:tabLst>
                <a:tab pos="174625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高性能钾离子电池固态电解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质开发技术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521"/>
              </a:spcBef>
              <a:tabLst>
                <a:tab pos="174625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低成本钾离子软包电芯的批量化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制备技术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260"/>
              </a:lnSpc>
              <a:spcBef>
                <a:spcPts val="536"/>
              </a:spcBef>
              <a:tabLst>
                <a:tab pos="174625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700" b="1" kern="0" spc="-10" baseline="-4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原位监测平台搭建技术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</a:t>
            </a:r>
            <a:r>
              <a:rPr sz="2400" b="1" kern="0" spc="-10" baseline="14718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一维纳米线结构，各向异性</a:t>
            </a:r>
            <a:r>
              <a:rPr sz="15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2400" b="1" kern="0" spc="-10" baseline="16888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易于搭建单根原</a:t>
            </a:r>
            <a:r>
              <a:rPr sz="2400" b="1" kern="0" spc="-20" baseline="16888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位表征平台</a:t>
            </a:r>
            <a:endParaRPr sz="2400" baseline="16888" dirty="0">
              <a:latin typeface="Microsoft YaHei"/>
              <a:ea typeface="Microsoft YaHei"/>
              <a:cs typeface="Microsoft YaHei"/>
            </a:endParaRPr>
          </a:p>
          <a:p>
            <a:pPr marL="6731000" algn="l" rtl="0" eaLnBrk="0">
              <a:lnSpc>
                <a:spcPts val="2080"/>
              </a:lnSpc>
              <a:spcBef>
                <a:spcPts val="400"/>
              </a:spcBef>
              <a:tabLst/>
            </a:pPr>
            <a:r>
              <a:rPr sz="1600" kern="0" spc="0" dirty="0">
                <a:solidFill>
                  <a:srgbClr val="106DA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原位揭示钢离子正极材料的本征储钾机制,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374103" y="2948290"/>
            <a:ext cx="144429" cy="132477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69359" y="2954030"/>
            <a:ext cx="144429" cy="132477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2045" y="2965830"/>
            <a:ext cx="162305" cy="253288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72045" y="2417190"/>
            <a:ext cx="162305" cy="253288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72045" y="1868551"/>
            <a:ext cx="162305" cy="253288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72045" y="1319910"/>
            <a:ext cx="162305" cy="253288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639629" y="3792750"/>
            <a:ext cx="4445217" cy="2902545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50377" y="3874394"/>
            <a:ext cx="3797864" cy="2958213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393691" y="4014150"/>
            <a:ext cx="3069336" cy="2119982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274215" y="1179714"/>
            <a:ext cx="3053234" cy="1550739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564623" y="1057656"/>
            <a:ext cx="2400300" cy="1737359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440935" y="6216395"/>
            <a:ext cx="2753868" cy="3688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2026-05-21T21:38:48</vt:filetime>
  </property>
</Properties>
</file>