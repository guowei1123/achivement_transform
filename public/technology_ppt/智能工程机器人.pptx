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51448" y="1266443"/>
            <a:ext cx="4828032" cy="524408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3663695"/>
            <a:ext cx="4913375" cy="3090672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628840" y="1211910"/>
            <a:ext cx="4512945" cy="230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智能装备核心技术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438150" indent="-324484" algn="l" rtl="0" eaLnBrk="0">
              <a:lnSpc>
                <a:spcPct val="93000"/>
              </a:lnSpc>
              <a:spcBef>
                <a:spcPts val="1349"/>
              </a:spcBef>
              <a:tabLst>
                <a:tab pos="294640" algn="l"/>
              </a:tabLst>
            </a:pP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5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移动重载大臂展机器人多功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能复合本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体设计与优化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13664" algn="l" rtl="0" eaLnBrk="0">
              <a:lnSpc>
                <a:spcPct val="93000"/>
              </a:lnSpc>
              <a:spcBef>
                <a:spcPts val="323"/>
              </a:spcBef>
              <a:tabLst>
                <a:tab pos="294640" algn="l"/>
              </a:tabLst>
            </a:pP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电液比例高精度自适应抗扰控制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13664" algn="l" rtl="0" eaLnBrk="0">
              <a:lnSpc>
                <a:spcPct val="93000"/>
              </a:lnSpc>
              <a:spcBef>
                <a:spcPts val="168"/>
              </a:spcBef>
              <a:tabLst>
                <a:tab pos="294640" algn="l"/>
              </a:tabLst>
            </a:pP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5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快速建模与自主作业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13664" algn="l" rtl="0" eaLnBrk="0">
              <a:lnSpc>
                <a:spcPct val="93000"/>
              </a:lnSpc>
              <a:spcBef>
                <a:spcPts val="168"/>
              </a:spcBef>
              <a:tabLst>
                <a:tab pos="294640" algn="l"/>
              </a:tabLst>
            </a:pP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5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重载大臂展机器人作业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主动安全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13664" algn="l" rtl="0" eaLnBrk="0">
              <a:lnSpc>
                <a:spcPct val="93000"/>
              </a:lnSpc>
              <a:spcBef>
                <a:spcPts val="168"/>
              </a:spcBef>
              <a:tabLst>
                <a:tab pos="294640" algn="l"/>
              </a:tabLst>
            </a:pP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5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数字孪生远程控制系统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2749" y="3224886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2749" y="2920086"/>
            <a:ext cx="180790" cy="28213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2749" y="2615286"/>
            <a:ext cx="180790" cy="28213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42749" y="2310486"/>
            <a:ext cx="180790" cy="28213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2749" y="1700886"/>
            <a:ext cx="180790" cy="282135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2.7 智能工程机器人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121920" y="789940"/>
          <a:ext cx="11917680" cy="2093595"/>
        </p:xfrm>
        <a:graphic>
          <a:graphicData uri="http://schemas.openxmlformats.org/drawingml/2006/table">
            <a:tbl>
              <a:tblPr>
                <a:solidFill>
                  <a:srgbClr val="2F5597"/>
                </a:solidFill>
              </a:tblPr>
              <a:tblGrid>
                <a:gridCol w="11917680"/>
              </a:tblGrid>
              <a:tr h="20872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29" indent="635" algn="l" rtl="0" eaLnBrk="0">
                        <a:lnSpc>
                          <a:spcPct val="14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本项目以</a:t>
                      </a:r>
                      <a:r>
                        <a:rPr sz="1700" b="1" kern="0" spc="8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参数化多领域机/电/液联合仿真平台</a:t>
                      </a:r>
                      <a:r>
                        <a:rPr sz="17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为基础</a:t>
                      </a:r>
                      <a:r>
                        <a:rPr sz="1700" b="1" kern="0" spc="-2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，建模并分析该空间机械臂作业平台（包括行</a:t>
                      </a: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</a:t>
                      </a:r>
                      <a:r>
                        <a:rPr sz="1700" b="1" kern="0" spc="-2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，滑车</a:t>
                      </a:r>
                      <a:r>
                        <a:rPr sz="1700" b="1" kern="0" spc="-2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，伸缩臂</a:t>
                      </a:r>
                      <a:r>
                        <a:rPr sz="1700" b="1" kern="0" spc="-2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旋转平台与多功能机械手）</a:t>
                      </a:r>
                      <a:r>
                        <a:rPr sz="1700" b="1" kern="0" spc="-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在多工况多姿态动力学性能</a:t>
                      </a:r>
                      <a:r>
                        <a:rPr sz="1700" b="1" kern="0" spc="-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b="1" kern="0" spc="-4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</a:t>
                      </a:r>
                      <a:r>
                        <a:rPr sz="1700" b="1" kern="0" spc="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运动学模型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</a:t>
                      </a:r>
                      <a:r>
                        <a:rPr sz="1700" b="1" kern="0" spc="10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</a:t>
                      </a:r>
                      <a:r>
                        <a:rPr sz="1700" b="1" kern="0" spc="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孪生的底层输入</a:t>
                      </a:r>
                      <a:r>
                        <a:rPr sz="1700" b="1" kern="0" spc="-26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b="1" kern="0" spc="-3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同时集成了各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PLC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编程软件、</a:t>
                      </a:r>
                      <a:r>
                        <a:rPr sz="1700" b="1" kern="0" spc="-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PLC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仿真软件、</a:t>
                      </a:r>
                      <a:r>
                        <a:rPr sz="1700" b="1" kern="0" spc="-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三维建模软件、</a:t>
                      </a:r>
                      <a:r>
                        <a:rPr sz="1700" b="1" kern="0" spc="-3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三维仿真软件等工具软件功能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的集成化平台</a:t>
                      </a:r>
                      <a:r>
                        <a:rPr sz="1700" b="1" kern="0" spc="-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b="1" kern="0" spc="-4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该平台可以完成空间机械臂</a:t>
                      </a:r>
                      <a:r>
                        <a:rPr sz="17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在不同任务或者轨迹的自动化规划。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</a:tr>
            </a:tbl>
          </a:graphicData>
        </a:graphic>
      </p:graphicFrame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29244" y="2948940"/>
            <a:ext cx="3668268" cy="318058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59225" y="3078479"/>
            <a:ext cx="3898264" cy="295338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595" y="3078479"/>
            <a:ext cx="3192780" cy="2953511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168414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4742448" y="6188816"/>
            <a:ext cx="2256789" cy="469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三维空间中障碍物限界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335"/>
              </a:spcBef>
              <a:tabLst/>
            </a:pP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轮廓生成和侵限预警算法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760444" y="6262477"/>
            <a:ext cx="306832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1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工件边缘作业工序流</a:t>
            </a: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程优化与控制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24703" y="6294687"/>
            <a:ext cx="2257425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空间机械臂自主轨迹规划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3468925" y="4438887"/>
            <a:ext cx="348615" cy="347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37"/>
              </a:lnSpc>
              <a:tabLst/>
            </a:pPr>
            <a:r>
              <a:rPr sz="3600" b="1" kern="0" spc="-2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022511" y="4439522"/>
            <a:ext cx="348615" cy="347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37"/>
              </a:lnSpc>
              <a:tabLst/>
            </a:pPr>
            <a:r>
              <a:rPr sz="3600" b="1" kern="0" spc="-2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sz="3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97952" y="877823"/>
            <a:ext cx="3944111" cy="3000755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1148" y="1008888"/>
            <a:ext cx="3877055" cy="2854452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48328" y="1007364"/>
            <a:ext cx="3669791" cy="28803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23432" y="4014216"/>
            <a:ext cx="2951987" cy="2837687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89047" y="4070603"/>
            <a:ext cx="2862071" cy="2787396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2026-05-21T21:37:34</vt:filetime>
  </property>
</Properties>
</file>