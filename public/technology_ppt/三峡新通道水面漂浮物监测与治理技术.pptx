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2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viewProps" Target="viewProps.xml"/><Relationship Id="rId6" Type="http://schemas.openxmlformats.org/officeDocument/2006/relationships/tableStyles" Target="tableStyle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3" Type="http://schemas.openxmlformats.org/officeDocument/2006/relationships/slide" Target="slides/slide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052059" y="1607820"/>
            <a:ext cx="6928104" cy="4431791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222097" y="1678025"/>
            <a:ext cx="4594225" cy="38601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289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9000"/>
              </a:lnSpc>
              <a:tabLst/>
            </a:pP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我国的水面清漂主要采用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人工打捞</a:t>
            </a:r>
            <a:r>
              <a:rPr sz="23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的方式</a:t>
            </a:r>
            <a:r>
              <a:rPr sz="2300" b="1" kern="0" spc="-3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2300" b="1" kern="0" spc="-5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在清理过程中由于部分</a:t>
            </a:r>
            <a:r>
              <a:rPr sz="23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垃</a:t>
            </a:r>
            <a:r>
              <a:rPr sz="23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圾漂浮在水面上</a:t>
            </a:r>
            <a:r>
              <a:rPr sz="2300" b="1" kern="0" spc="-3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2300" b="1" kern="0" spc="-5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不易被清除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807719" algn="l" rtl="0" eaLnBrk="0">
              <a:lnSpc>
                <a:spcPct val="93000"/>
              </a:lnSpc>
              <a:spcBef>
                <a:spcPts val="607"/>
              </a:spcBef>
              <a:tabLst/>
            </a:pPr>
            <a:r>
              <a:rPr sz="2000" kern="0" spc="9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工作效率低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807719" algn="l" rtl="0" eaLnBrk="0">
              <a:lnSpc>
                <a:spcPct val="93000"/>
              </a:lnSpc>
              <a:spcBef>
                <a:spcPts val="600"/>
              </a:spcBef>
              <a:tabLst/>
            </a:pPr>
            <a:r>
              <a:rPr sz="2000" kern="0" spc="7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存在二次污染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807719" algn="l" rtl="0" eaLnBrk="0">
              <a:lnSpc>
                <a:spcPct val="93000"/>
              </a:lnSpc>
              <a:spcBef>
                <a:spcPts val="600"/>
              </a:spcBef>
              <a:tabLst/>
            </a:pPr>
            <a:r>
              <a:rPr sz="2000" kern="0" spc="9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清除难度大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807719" algn="l" rtl="0" eaLnBrk="0">
              <a:lnSpc>
                <a:spcPct val="93000"/>
              </a:lnSpc>
              <a:tabLst/>
            </a:pPr>
            <a:r>
              <a:rPr sz="2000" kern="0" spc="7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影响环境美观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textbox 6"/>
          <p:cNvSpPr/>
          <p:nvPr/>
        </p:nvSpPr>
        <p:spPr>
          <a:xfrm>
            <a:off x="1524" y="0"/>
            <a:ext cx="12190730" cy="620394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11760" algn="l" rtl="0" eaLnBrk="0">
              <a:lnSpc>
                <a:spcPts val="3608"/>
              </a:lnSpc>
              <a:spcBef>
                <a:spcPts val="1"/>
              </a:spcBef>
              <a:tabLst/>
            </a:pP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2.12 三峡新通道水面漂浮物监测与治</a:t>
            </a:r>
            <a:r>
              <a:rPr sz="2700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理技术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textbox 8"/>
          <p:cNvSpPr/>
          <p:nvPr/>
        </p:nvSpPr>
        <p:spPr>
          <a:xfrm>
            <a:off x="4741900" y="711771"/>
            <a:ext cx="2761614" cy="4902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技术需求背景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07377" y="3689032"/>
            <a:ext cx="11323955" cy="2549525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389052" y="1018857"/>
            <a:ext cx="5692140" cy="2550795"/>
          </a:xfrm>
          <a:prstGeom prst="rect">
            <a:avLst/>
          </a:prstGeom>
        </p:spPr>
      </p:pic>
      <p:sp>
        <p:nvSpPr>
          <p:cNvPr id="14" name="textbox 14"/>
          <p:cNvSpPr/>
          <p:nvPr/>
        </p:nvSpPr>
        <p:spPr>
          <a:xfrm>
            <a:off x="655726" y="1340498"/>
            <a:ext cx="4895850" cy="20091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55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绿色清漂船总体方案设计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基于数字孪生的远程驾控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绿色清漂船能效仿真和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综合控制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2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水生态系统修复及管理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智能决策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68426" y="2999117"/>
            <a:ext cx="216408" cy="337718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68426" y="2450477"/>
            <a:ext cx="216408" cy="337718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68426" y="1901837"/>
            <a:ext cx="216408" cy="337718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668426" y="1353198"/>
            <a:ext cx="216408" cy="337718"/>
          </a:xfrm>
          <a:prstGeom prst="rect">
            <a:avLst/>
          </a:prstGeom>
        </p:spPr>
      </p:pic>
      <p:sp>
        <p:nvSpPr>
          <p:cNvPr id="24" name="textbox 24"/>
          <p:cNvSpPr/>
          <p:nvPr/>
        </p:nvSpPr>
        <p:spPr>
          <a:xfrm>
            <a:off x="4036250" y="420509"/>
            <a:ext cx="4130675" cy="4914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3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主要内容与关键技术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21600000">
            <a:off x="722376" y="4309871"/>
            <a:ext cx="11291315" cy="2494787"/>
            <a:chOff x="0" y="0"/>
            <a:chExt cx="11291315" cy="2494787"/>
          </a:xfrm>
        </p:grpSpPr>
        <p:pic>
          <p:nvPicPr>
            <p:cNvPr id="26" name="picture 2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11291315" cy="2494787"/>
            </a:xfrm>
            <a:prstGeom prst="rect">
              <a:avLst/>
            </a:prstGeom>
          </p:spPr>
        </p:pic>
        <p:sp>
          <p:nvSpPr>
            <p:cNvPr id="28" name="textbox 28"/>
            <p:cNvSpPr/>
            <p:nvPr/>
          </p:nvSpPr>
          <p:spPr>
            <a:xfrm>
              <a:off x="-39672" y="-12700"/>
              <a:ext cx="11344275" cy="252031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eaVert" wrap="square" lIns="0" tIns="0" rIns="0" bIns="0"/>
            <a:lstStyle/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8667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86689" algn="l" rtl="0" eaLnBrk="0">
                <a:lnSpc>
                  <a:spcPct val="92000"/>
                </a:lnSpc>
                <a:tabLst/>
              </a:pPr>
              <a:r>
                <a:rPr sz="3000" kern="0" spc="110" baseline="5118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绿</a:t>
              </a:r>
              <a:r>
                <a:rPr sz="1900" kern="0" spc="-1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3000" kern="0" spc="110" baseline="-15355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色</a:t>
              </a:r>
              <a:r>
                <a:rPr sz="3000" kern="0" spc="110" baseline="5118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动</a:t>
              </a:r>
              <a:r>
                <a:rPr sz="1900" kern="0" spc="-1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3000" kern="0" spc="110" baseline="5118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力</a:t>
              </a:r>
              <a:endParaRPr sz="3000" baseline="5118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pic>
        <p:nvPicPr>
          <p:cNvPr id="30" name="picture 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993891" y="1591055"/>
            <a:ext cx="5087112" cy="2311908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272539" y="1673352"/>
            <a:ext cx="3886200" cy="2429255"/>
          </a:xfrm>
          <a:prstGeom prst="rect">
            <a:avLst/>
          </a:prstGeom>
        </p:spPr>
      </p:pic>
      <p:sp>
        <p:nvSpPr>
          <p:cNvPr id="34" name="textbox 34"/>
          <p:cNvSpPr/>
          <p:nvPr/>
        </p:nvSpPr>
        <p:spPr>
          <a:xfrm>
            <a:off x="131064" y="1124711"/>
            <a:ext cx="3023870" cy="466725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99694" algn="l" rtl="0" eaLnBrk="0">
              <a:lnSpc>
                <a:spcPct val="88000"/>
              </a:lnSpc>
              <a:spcBef>
                <a:spcPts val="3"/>
              </a:spcBef>
              <a:tabLst/>
            </a:pPr>
            <a:r>
              <a:rPr sz="23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多功能绿色清漂船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6484" y="4174566"/>
            <a:ext cx="12138380" cy="97078"/>
          </a:xfrm>
          <a:prstGeom prst="rect">
            <a:avLst/>
          </a:prstGeom>
        </p:spPr>
      </p:pic>
      <p:sp>
        <p:nvSpPr>
          <p:cNvPr id="38" name="textbox 38"/>
          <p:cNvSpPr/>
          <p:nvPr/>
        </p:nvSpPr>
        <p:spPr>
          <a:xfrm>
            <a:off x="5065991" y="321627"/>
            <a:ext cx="2305050" cy="492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2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成果与应用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grpSp>
        <p:nvGrpSpPr>
          <p:cNvPr id="4" name="group 4"/>
          <p:cNvGrpSpPr/>
          <p:nvPr/>
        </p:nvGrpSpPr>
        <p:grpSpPr>
          <a:xfrm rot="21600000">
            <a:off x="208279" y="4391659"/>
            <a:ext cx="503555" cy="1336040"/>
            <a:chOff x="0" y="0"/>
            <a:chExt cx="503555" cy="1336040"/>
          </a:xfrm>
        </p:grpSpPr>
        <p:pic>
          <p:nvPicPr>
            <p:cNvPr id="40" name="picture 4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0" y="0"/>
              <a:ext cx="503555" cy="1336040"/>
            </a:xfrm>
            <a:prstGeom prst="rect">
              <a:avLst/>
            </a:prstGeom>
          </p:spPr>
        </p:pic>
        <p:sp>
          <p:nvSpPr>
            <p:cNvPr id="42" name="textbox 42"/>
            <p:cNvSpPr/>
            <p:nvPr/>
          </p:nvSpPr>
          <p:spPr>
            <a:xfrm>
              <a:off x="99014" y="70835"/>
              <a:ext cx="293370" cy="118808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eaVert" wrap="square" lIns="0" tIns="0" rIns="0" bIns="0"/>
            <a:lstStyle/>
            <a:p>
              <a:pPr algn="l" rtl="0" eaLnBrk="0">
                <a:lnSpc>
                  <a:spcPct val="86057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6000"/>
                </a:lnSpc>
                <a:tabLst/>
              </a:pPr>
              <a:r>
                <a:rPr sz="2000" kern="0" spc="2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智能航行</a:t>
              </a:r>
              <a:endParaRPr sz="2000" dirty="0">
                <a:latin typeface="Microsoft YaHei"/>
                <a:ea typeface="Microsoft YaHei"/>
                <a:cs typeface="Microsoft YaHe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wqlLaW5nc29mdCBQREYgdG8gV1BTIDEyMA</vt:lpwstr>
  </property>
  <property fmtid="{D5CDD505-2E9C-101B-9397-08002B2CF9AE}" pid="3" name="Created">
    <vt:filetime>2026-05-21T21:38:45</vt:filetime>
  </property>
</Properties>
</file>