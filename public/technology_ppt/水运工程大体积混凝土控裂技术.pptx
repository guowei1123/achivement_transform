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7" Type="http://schemas.openxmlformats.org/officeDocument/2006/relationships/image" Target="../media/image10.jpe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328688" y="836155"/>
            <a:ext cx="7947659" cy="5062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388484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9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693"/>
              </a:spcBef>
              <a:tabLst/>
            </a:pP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水运及水利工程大体积混凝土亟需控制裂缝和提升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外观质量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925" algn="l" rtl="0" eaLnBrk="0">
              <a:lnSpc>
                <a:spcPct val="93000"/>
              </a:lnSpc>
              <a:spcBef>
                <a:spcPts val="602"/>
              </a:spcBef>
              <a:tabLst>
                <a:tab pos="215900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000" kern="0" spc="5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水运及水利工程</a:t>
            </a:r>
            <a:r>
              <a:rPr sz="2000" kern="0" spc="7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大体积混凝土</a:t>
            </a:r>
            <a:r>
              <a:rPr sz="2000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易出现裂缝、</a:t>
            </a:r>
            <a:r>
              <a:rPr sz="2000" kern="0" spc="-48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影响耐久性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000" kern="0" spc="-4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修补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360045" algn="l" rtl="0" eaLnBrk="0">
              <a:lnSpc>
                <a:spcPts val="3455"/>
              </a:lnSpc>
              <a:tabLst/>
            </a:pP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提高了工程造价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925" algn="l" rtl="0" eaLnBrk="0">
              <a:lnSpc>
                <a:spcPts val="2588"/>
              </a:lnSpc>
              <a:spcBef>
                <a:spcPts val="610"/>
              </a:spcBef>
              <a:tabLst>
                <a:tab pos="215900" algn="l"/>
              </a:tabLst>
            </a:pPr>
            <a:r>
              <a:rPr sz="2000" kern="0" spc="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000" kern="0" spc="5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2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廊道混凝土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由于其特殊结构</a:t>
            </a:r>
            <a:r>
              <a:rPr sz="2000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服役1-2年面临含砂石水流</a:t>
            </a:r>
            <a:r>
              <a:rPr sz="2000" kern="0" spc="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冲磨破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361315" algn="l" rtl="0" eaLnBrk="0">
              <a:lnSpc>
                <a:spcPts val="3365"/>
              </a:lnSpc>
              <a:tabLst/>
            </a:pPr>
            <a:r>
              <a:rPr sz="2000" kern="0" spc="-5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坏</a:t>
            </a:r>
            <a:r>
              <a:rPr sz="2000" kern="0" spc="-2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5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，需要反复维修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925" algn="l" rtl="0" eaLnBrk="0">
              <a:lnSpc>
                <a:spcPct val="93000"/>
              </a:lnSpc>
              <a:spcBef>
                <a:spcPts val="601"/>
              </a:spcBef>
              <a:tabLst>
                <a:tab pos="215900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000" kern="0" spc="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水运及水利工程现场部分外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露构件</a:t>
            </a:r>
            <a:r>
              <a:rPr sz="2000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容易出现色差、</a:t>
            </a:r>
            <a:r>
              <a:rPr sz="2000" kern="0" spc="-49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裂缝、</a:t>
            </a:r>
            <a:r>
              <a:rPr sz="2000" kern="0" spc="-48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水纹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360045" algn="l" rtl="0" eaLnBrk="0">
              <a:lnSpc>
                <a:spcPts val="3455"/>
              </a:lnSpc>
              <a:tabLst/>
            </a:pPr>
            <a:r>
              <a:rPr sz="2000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和气泡等外观质量问题</a:t>
            </a:r>
            <a:r>
              <a:rPr sz="2000" kern="0" spc="-30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其外观质量有待进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一步研究和改善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64175" y="5164621"/>
            <a:ext cx="180790" cy="282135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64175" y="3945421"/>
            <a:ext cx="180790" cy="282135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64175" y="2726221"/>
            <a:ext cx="180790" cy="282135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062872" y="1136766"/>
            <a:ext cx="2585155" cy="5721233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827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1.1 水运及水利工程大体积混凝土控裂及外观质量提升成套技术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76334" y="3633215"/>
            <a:ext cx="6206405" cy="3111098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517639" y="1329563"/>
            <a:ext cx="5810250" cy="2009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低温升高抗裂大体积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混凝土技术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低温升高抗裂清水大体积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混凝土技术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廊道高抗冲磨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UHPC</a:t>
            </a:r>
            <a:r>
              <a:rPr sz="23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大体积混凝土全过程施工质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量控制技术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0339" y="2988183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30339" y="2439542"/>
            <a:ext cx="216408" cy="337718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30339" y="1890902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30339" y="1342263"/>
            <a:ext cx="216408" cy="33771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370064" y="3913632"/>
            <a:ext cx="4704588" cy="229362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298180" y="1133855"/>
            <a:ext cx="2846832" cy="2308860"/>
          </a:xfrm>
          <a:prstGeom prst="rect">
            <a:avLst/>
          </a:prstGeom>
        </p:spPr>
      </p:pic>
      <p:sp>
        <p:nvSpPr>
          <p:cNvPr id="30" name="textbox 30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7963801" y="6358496"/>
            <a:ext cx="3908425" cy="253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大体积混凝土全过程施工质量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控制技术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8694991" y="3491954"/>
            <a:ext cx="230886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廊道抗冲磨混凝土技术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9064" y="198391"/>
            <a:ext cx="11489593" cy="6659608"/>
          </a:xfrm>
          <a:prstGeom prst="rect">
            <a:avLst/>
          </a:prstGeom>
        </p:spPr>
      </p:pic>
      <p:sp>
        <p:nvSpPr>
          <p:cNvPr id="38" name="textbox 38"/>
          <p:cNvSpPr/>
          <p:nvPr/>
        </p:nvSpPr>
        <p:spPr>
          <a:xfrm>
            <a:off x="300228" y="2938271"/>
            <a:ext cx="11619230" cy="13855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98425" indent="-1905" algn="l" rtl="0" eaLnBrk="0">
              <a:lnSpc>
                <a:spcPct val="99000"/>
              </a:lnSpc>
              <a:spcBef>
                <a:spcPts val="4"/>
              </a:spcBef>
              <a:tabLst/>
            </a:pPr>
            <a:r>
              <a:rPr sz="2700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研究成果在万安枢纽二线船闸、</a:t>
            </a:r>
            <a:r>
              <a:rPr sz="2700" kern="0" spc="-6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新干船闸、</a:t>
            </a:r>
            <a:r>
              <a:rPr sz="2700" kern="0" spc="-6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井冈山船闸、</a:t>
            </a:r>
            <a:r>
              <a:rPr sz="2700" kern="0" spc="-6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石虎塘船闸、</a:t>
            </a:r>
            <a:r>
              <a:rPr sz="2700" kern="0" spc="-6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界</a:t>
            </a:r>
            <a:r>
              <a:rPr sz="2700" kern="0" spc="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牌船闸、</a:t>
            </a:r>
            <a:r>
              <a:rPr sz="2700" kern="0" spc="-6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汉江雅口航运枢纽工程工程进行全面应用</a:t>
            </a:r>
            <a:r>
              <a:rPr sz="2700" kern="0" spc="-3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，取得良好的控裂效果，</a:t>
            </a:r>
            <a:r>
              <a:rPr sz="2700" kern="0" spc="6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工程均未出现危害性温度</a:t>
            </a:r>
            <a:r>
              <a:rPr sz="2700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裂缝。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9627" y="126996"/>
            <a:ext cx="3966976" cy="281933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308941" y="151982"/>
            <a:ext cx="3966076" cy="28116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2026-05-21T21:38:48</vt:filetime>
  </property>
</Properties>
</file>