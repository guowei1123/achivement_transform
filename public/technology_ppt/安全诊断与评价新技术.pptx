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tableStyles" Target="tableStyles.xml"/><Relationship Id="rId7" Type="http://schemas.openxmlformats.org/officeDocument/2006/relationships/presProps" Target="presProps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.png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484911" y="1783232"/>
            <a:ext cx="3541141" cy="3901237"/>
            <a:chOff x="0" y="0"/>
            <a:chExt cx="3541141" cy="3901237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541141" cy="3901237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-12700" y="-12700"/>
              <a:ext cx="3566795" cy="3926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62964" indent="-555625" algn="l" rtl="0" eaLnBrk="0">
                <a:lnSpc>
                  <a:spcPct val="97000"/>
                </a:lnSpc>
                <a:spcBef>
                  <a:spcPts val="6"/>
                </a:spcBef>
                <a:tabLst/>
              </a:pPr>
              <a:r>
                <a:rPr sz="23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电力电缆测温及感温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火灾报警系统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35279" algn="l" rtl="0" eaLnBrk="0">
                <a:lnSpc>
                  <a:spcPct val="93000"/>
                </a:lnSpc>
                <a:spcBef>
                  <a:spcPts val="603"/>
                </a:spcBef>
                <a:tabLst/>
              </a:pPr>
              <a:r>
                <a:rPr sz="2000" kern="0" spc="6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高压电缆温度监测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35279" algn="l" rtl="0" eaLnBrk="0">
                <a:lnSpc>
                  <a:spcPct val="93000"/>
                </a:lnSpc>
                <a:spcBef>
                  <a:spcPts val="600"/>
                </a:spcBef>
                <a:tabLst/>
              </a:pPr>
              <a:r>
                <a:rPr sz="2000" kern="0" spc="-4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-110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20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电缆桥架温度监测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35279" algn="l" rtl="0" eaLnBrk="0">
                <a:lnSpc>
                  <a:spcPct val="93000"/>
                </a:lnSpc>
                <a:spcBef>
                  <a:spcPts val="600"/>
                </a:spcBef>
                <a:tabLst/>
              </a:pPr>
              <a:r>
                <a:rPr sz="2000" kern="0" spc="-4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-110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20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电缆廊道火灾监测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35279" algn="l" rtl="0" eaLnBrk="0">
                <a:lnSpc>
                  <a:spcPct val="93000"/>
                </a:lnSpc>
                <a:tabLst/>
              </a:pPr>
              <a:r>
                <a:rPr sz="2000" kern="0" spc="5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重点区域温度场监测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4392879" y="1783232"/>
            <a:ext cx="3418954" cy="3901237"/>
            <a:chOff x="0" y="0"/>
            <a:chExt cx="3418954" cy="3901237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418954" cy="3901237"/>
            </a:xfrm>
            <a:prstGeom prst="rect">
              <a:avLst/>
            </a:prstGeom>
          </p:spPr>
        </p:pic>
        <p:sp>
          <p:nvSpPr>
            <p:cNvPr id="8" name="textbox 8"/>
            <p:cNvSpPr/>
            <p:nvPr/>
          </p:nvSpPr>
          <p:spPr>
            <a:xfrm>
              <a:off x="-12700" y="-12700"/>
              <a:ext cx="3444875" cy="3926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10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37209" indent="-223520" algn="l" rtl="0" eaLnBrk="0">
                <a:lnSpc>
                  <a:spcPct val="108000"/>
                </a:lnSpc>
                <a:tabLst/>
              </a:pP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大型混凝土/金属结</a:t>
              </a:r>
              <a:r>
                <a:rPr sz="23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构</a:t>
              </a: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健康安全监测系统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9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9250" algn="l" rtl="0" eaLnBrk="0">
                <a:lnSpc>
                  <a:spcPct val="93000"/>
                </a:lnSpc>
                <a:spcBef>
                  <a:spcPts val="609"/>
                </a:spcBef>
                <a:tabLst/>
              </a:pPr>
              <a:r>
                <a:rPr sz="2000" kern="0" spc="6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混凝土大坝结构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9250" algn="l" rtl="0" eaLnBrk="0">
                <a:lnSpc>
                  <a:spcPct val="93000"/>
                </a:lnSpc>
                <a:spcBef>
                  <a:spcPts val="600"/>
                </a:spcBef>
                <a:tabLst/>
              </a:pPr>
              <a:r>
                <a:rPr sz="2000" kern="0" spc="-4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-114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2000" kern="0" spc="-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围岩及水库结构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9250" algn="l" rtl="0" eaLnBrk="0">
                <a:lnSpc>
                  <a:spcPct val="93000"/>
                </a:lnSpc>
                <a:spcBef>
                  <a:spcPts val="600"/>
                </a:spcBef>
                <a:tabLst/>
              </a:pPr>
              <a:r>
                <a:rPr sz="2000" kern="0" spc="6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边坡及隧道结构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49250" algn="l" rtl="0" eaLnBrk="0">
                <a:lnSpc>
                  <a:spcPct val="93000"/>
                </a:lnSpc>
                <a:tabLst/>
              </a:pPr>
              <a:r>
                <a:rPr sz="2000" kern="0" spc="7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大型金属闸门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8300859" y="1783232"/>
            <a:ext cx="3250628" cy="3901237"/>
            <a:chOff x="0" y="0"/>
            <a:chExt cx="3250628" cy="3901237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3250628" cy="3901237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-12700" y="-12700"/>
              <a:ext cx="3276600" cy="3926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8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92734" algn="l" rtl="0" eaLnBrk="0">
                <a:lnSpc>
                  <a:spcPct val="98000"/>
                </a:lnSpc>
                <a:spcBef>
                  <a:spcPts val="6"/>
                </a:spcBef>
                <a:tabLst/>
              </a:pP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大型水轮机组结构健</a:t>
              </a: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康监测与故障诊断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52425" algn="l" rtl="0" eaLnBrk="0">
                <a:lnSpc>
                  <a:spcPct val="93000"/>
                </a:lnSpc>
                <a:spcBef>
                  <a:spcPts val="603"/>
                </a:spcBef>
                <a:tabLst/>
              </a:pPr>
              <a:r>
                <a:rPr sz="2000" kern="0" spc="7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转子温度测量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52425" algn="l" rtl="0" eaLnBrk="0">
                <a:lnSpc>
                  <a:spcPct val="93000"/>
                </a:lnSpc>
                <a:spcBef>
                  <a:spcPts val="600"/>
                </a:spcBef>
                <a:tabLst/>
              </a:pPr>
              <a:r>
                <a:rPr sz="2000" kern="0" spc="7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定子温度测量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52425" algn="l" rtl="0" eaLnBrk="0">
                <a:lnSpc>
                  <a:spcPct val="93000"/>
                </a:lnSpc>
                <a:spcBef>
                  <a:spcPts val="600"/>
                </a:spcBef>
                <a:tabLst/>
              </a:pPr>
              <a:r>
                <a:rPr sz="2000" kern="0" spc="6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定子应力应变测量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52425" algn="l" rtl="0" eaLnBrk="0">
                <a:lnSpc>
                  <a:spcPct val="93000"/>
                </a:lnSpc>
                <a:tabLst/>
              </a:pPr>
              <a:r>
                <a:rPr sz="2000" kern="0" spc="70" dirty="0">
                  <a:solidFill>
                    <a:srgbClr val="000000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u</a:t>
              </a:r>
              <a:r>
                <a:rPr sz="2000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定子振动监测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4" name="textbox 1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5.2 安全诊断与评价新技术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 rot="21600000">
            <a:off x="7400849" y="950493"/>
            <a:ext cx="4681282" cy="5406263"/>
            <a:chOff x="0" y="0"/>
            <a:chExt cx="4681282" cy="5406263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81282" cy="5406263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1368005" y="5070475"/>
              <a:ext cx="1852929" cy="25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51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光栅阵列制备技术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488238" y="3211360"/>
            <a:ext cx="6680784" cy="3164458"/>
            <a:chOff x="0" y="0"/>
            <a:chExt cx="6680784" cy="3164458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680784" cy="3164458"/>
            </a:xfrm>
            <a:prstGeom prst="rect">
              <a:avLst/>
            </a:prstGeom>
          </p:spPr>
        </p:pic>
        <p:sp>
          <p:nvSpPr>
            <p:cNvPr id="24" name="textbox 24"/>
            <p:cNvSpPr/>
            <p:nvPr/>
          </p:nvSpPr>
          <p:spPr>
            <a:xfrm>
              <a:off x="287502" y="1192657"/>
              <a:ext cx="6134100" cy="18834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61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7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信号解调技术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4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成缆技术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77934" y="108041"/>
              <a:ext cx="4086140" cy="1348765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303217" y="1772221"/>
              <a:ext cx="2286000" cy="1301394"/>
            </a:xfrm>
            <a:prstGeom prst="rect">
              <a:avLst/>
            </a:prstGeom>
          </p:spPr>
        </p:pic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892249" y="1796948"/>
              <a:ext cx="2284476" cy="1301889"/>
            </a:xfrm>
            <a:prstGeom prst="rect">
              <a:avLst/>
            </a:prstGeom>
          </p:spPr>
        </p:pic>
      </p:grpSp>
      <p:sp>
        <p:nvSpPr>
          <p:cNvPr id="32" name="textbox 32"/>
          <p:cNvSpPr/>
          <p:nvPr/>
        </p:nvSpPr>
        <p:spPr>
          <a:xfrm>
            <a:off x="655726" y="1117612"/>
            <a:ext cx="55054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大容量光栅阵列传感光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纤制备技术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高灵敏传感光缆成缆技术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波分+时分混合复用信号解调技术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分布式传感网络大数据模式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识别算法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196" y="964691"/>
            <a:ext cx="7866888" cy="5704332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978140" y="964691"/>
            <a:ext cx="4139183" cy="5704332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991798" y="280009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4676" y="1144524"/>
            <a:ext cx="4087367" cy="5347715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226052" y="1144524"/>
            <a:ext cx="4058411" cy="5347715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 rot="21600000">
            <a:off x="8349996" y="1144524"/>
            <a:ext cx="3767328" cy="5347715"/>
            <a:chOff x="0" y="0"/>
            <a:chExt cx="3767328" cy="5347715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3767328" cy="5347715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622337" y="2024150"/>
              <a:ext cx="2764154" cy="3340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18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3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人字门结构健康监测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58" name="textbox 58"/>
          <p:cNvSpPr/>
          <p:nvPr/>
        </p:nvSpPr>
        <p:spPr>
          <a:xfrm>
            <a:off x="4991798" y="280009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21379" y="1450847"/>
            <a:ext cx="2706624" cy="3907535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5131" y="1078992"/>
            <a:ext cx="2706623" cy="3907535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16395" y="2302764"/>
            <a:ext cx="2706623" cy="3902963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964167" y="2883408"/>
            <a:ext cx="2706623" cy="3902963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4991798" y="280009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2026-05-21T21:38:41</vt:filetime>
  </property>
</Properties>
</file>