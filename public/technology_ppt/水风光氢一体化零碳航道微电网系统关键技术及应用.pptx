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2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viewProps" Target="viewProps.xml"/><Relationship Id="rId6" Type="http://schemas.openxmlformats.org/officeDocument/2006/relationships/tableStyles" Target="tableStyle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3" Type="http://schemas.openxmlformats.org/officeDocument/2006/relationships/slide" Target="slides/slide2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019800" y="1685543"/>
            <a:ext cx="5791200" cy="4351020"/>
          </a:xfrm>
          <a:prstGeom prst="rect">
            <a:avLst/>
          </a:prstGeom>
        </p:spPr>
      </p:pic>
      <p:sp>
        <p:nvSpPr>
          <p:cNvPr id="4" name="textbox 4"/>
          <p:cNvSpPr/>
          <p:nvPr/>
        </p:nvSpPr>
        <p:spPr>
          <a:xfrm>
            <a:off x="535355" y="1814258"/>
            <a:ext cx="4610100" cy="4197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52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3334" algn="l" rtl="0" eaLnBrk="0">
              <a:lnSpc>
                <a:spcPct val="86000"/>
              </a:lnSpc>
              <a:tabLst/>
            </a:pPr>
            <a:r>
              <a:rPr sz="2300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针对长江新通道的特殊运</a:t>
            </a:r>
            <a:r>
              <a:rPr sz="23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行环境及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indent="3810" algn="l" rtl="0" eaLnBrk="0">
              <a:lnSpc>
                <a:spcPct val="157000"/>
              </a:lnSpc>
              <a:spcBef>
                <a:spcPts val="153"/>
              </a:spcBef>
              <a:tabLst/>
            </a:pPr>
            <a:r>
              <a:rPr sz="23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设备特点</a:t>
            </a:r>
            <a:r>
              <a:rPr sz="2300" kern="0" spc="-2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2300" kern="0" spc="-5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构建水风光氢一体化零</a:t>
            </a:r>
            <a:r>
              <a:rPr sz="23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碳航道微电网系统</a:t>
            </a:r>
            <a:r>
              <a:rPr sz="2300" kern="0" spc="-3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2300" kern="0" spc="-5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该</a:t>
            </a:r>
            <a:r>
              <a:rPr sz="23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系统旨在利</a:t>
            </a:r>
            <a:r>
              <a:rPr sz="23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用船闸系统的水位调节发电、</a:t>
            </a:r>
            <a:r>
              <a:rPr sz="2300" kern="0" spc="-5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航</a:t>
            </a:r>
            <a:r>
              <a:rPr sz="23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道</a:t>
            </a:r>
            <a:r>
              <a:rPr sz="23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两侧风光发电、</a:t>
            </a:r>
            <a:r>
              <a:rPr sz="2300" kern="0" spc="-4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电解水制氢和锂电</a:t>
            </a:r>
            <a:r>
              <a:rPr sz="23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池混合储能</a:t>
            </a:r>
            <a:r>
              <a:rPr sz="2300" kern="0" spc="-3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2300" kern="0" spc="-5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实现船闸系统用电</a:t>
            </a:r>
            <a:r>
              <a:rPr sz="23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23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航道照明、</a:t>
            </a:r>
            <a:r>
              <a:rPr sz="2300" kern="0" spc="-5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三峡氢舟船</a:t>
            </a:r>
            <a:r>
              <a:rPr sz="23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舶岸电供应</a:t>
            </a:r>
            <a:r>
              <a:rPr sz="23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等一体化集成 化设计与零碳运行。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textbox 6"/>
          <p:cNvSpPr/>
          <p:nvPr/>
        </p:nvSpPr>
        <p:spPr>
          <a:xfrm>
            <a:off x="1524" y="0"/>
            <a:ext cx="12190730" cy="620394"/>
          </a:xfrm>
          <a:prstGeom prst="rect">
            <a:avLst/>
          </a:prstGeom>
          <a:solidFill>
            <a:srgbClr val="00469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93980" algn="l" rtl="0" eaLnBrk="0">
              <a:lnSpc>
                <a:spcPts val="3608"/>
              </a:lnSpc>
              <a:spcBef>
                <a:spcPts val="1"/>
              </a:spcBef>
              <a:tabLst/>
            </a:pPr>
            <a:r>
              <a:rPr sz="2700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4.3 水风光氢一体化零碳航道微电网系统关键技术及应</a:t>
            </a:r>
            <a:r>
              <a:rPr sz="2700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用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textbox 8"/>
          <p:cNvSpPr/>
          <p:nvPr/>
        </p:nvSpPr>
        <p:spPr>
          <a:xfrm>
            <a:off x="4741900" y="711771"/>
            <a:ext cx="2761614" cy="4902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38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技术需求背景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715487" y="1369942"/>
            <a:ext cx="5845090" cy="4568622"/>
          </a:xfrm>
          <a:prstGeom prst="rect">
            <a:avLst/>
          </a:prstGeom>
        </p:spPr>
      </p:pic>
      <p:sp>
        <p:nvSpPr>
          <p:cNvPr id="12" name="textbox 12"/>
          <p:cNvSpPr/>
          <p:nvPr/>
        </p:nvSpPr>
        <p:spPr>
          <a:xfrm>
            <a:off x="644296" y="1015912"/>
            <a:ext cx="5005704" cy="49803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80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1750" algn="l" rtl="0" eaLnBrk="0">
              <a:lnSpc>
                <a:spcPct val="93000"/>
              </a:lnSpc>
              <a:tabLst>
                <a:tab pos="212725" algn="l"/>
              </a:tabLst>
            </a:pP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0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水风光氢一体化零碳航道微电网系</a:t>
            </a:r>
            <a:r>
              <a:rPr sz="20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统优化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marL="299720" algn="l" rtl="0" eaLnBrk="0">
              <a:lnSpc>
                <a:spcPts val="3451"/>
              </a:lnSpc>
              <a:tabLst/>
            </a:pPr>
            <a:r>
              <a:rPr sz="20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设计与开发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marL="13970" indent="635" algn="l" rtl="0" eaLnBrk="0">
              <a:lnSpc>
                <a:spcPct val="157000"/>
              </a:lnSpc>
              <a:spcBef>
                <a:spcPts val="365"/>
              </a:spcBef>
              <a:tabLst/>
            </a:pP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关键技术包括风光预测、</a:t>
            </a:r>
            <a:r>
              <a:rPr sz="1700" kern="0" spc="-3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可再</a:t>
            </a: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生能源高效制氢、</a:t>
            </a: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氢能与锂电池混合储能、</a:t>
            </a:r>
            <a:r>
              <a:rPr sz="1700" kern="0" spc="-3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船闸机动</a:t>
            </a: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力系统供电、</a:t>
            </a: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多端口能源互联等</a:t>
            </a:r>
            <a:r>
              <a:rPr sz="1700" kern="0" spc="-2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，保</a:t>
            </a: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障航道安全可靠高效绿色</a:t>
            </a: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运行。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marL="299084" indent="-267334" algn="l" rtl="0" eaLnBrk="0">
              <a:lnSpc>
                <a:spcPct val="145000"/>
              </a:lnSpc>
              <a:spcBef>
                <a:spcPts val="231"/>
              </a:spcBef>
              <a:tabLst>
                <a:tab pos="212725" algn="l"/>
              </a:tabLst>
            </a:pP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0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水风光氢一体化零碳航道微电网系</a:t>
            </a:r>
            <a:r>
              <a:rPr sz="20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统智能</a:t>
            </a:r>
            <a:r>
              <a:rPr sz="2000" b="1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化管理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marL="12700" indent="635" algn="l" rtl="0" eaLnBrk="0">
              <a:lnSpc>
                <a:spcPct val="158000"/>
              </a:lnSpc>
              <a:spcBef>
                <a:spcPts val="80"/>
              </a:spcBef>
              <a:tabLst/>
            </a:pP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基于机理及系统数据（传感器更新、</a:t>
            </a:r>
            <a:r>
              <a:rPr sz="1700" kern="0" spc="-3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运行历史等</a:t>
            </a:r>
            <a:r>
              <a:rPr sz="1700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数据等）</a:t>
            </a:r>
            <a:r>
              <a:rPr sz="1700" kern="0" spc="-3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水风光氢锂电</a:t>
            </a: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等</a:t>
            </a:r>
            <a:r>
              <a:rPr sz="1700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）</a:t>
            </a:r>
            <a:r>
              <a:rPr sz="1700" kern="0" spc="-1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运用神经网络等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AI</a:t>
            </a: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</a:t>
            </a:r>
            <a:r>
              <a:rPr sz="1700" kern="0" spc="-2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，结合机理建模方法</a:t>
            </a:r>
            <a:r>
              <a:rPr sz="1700" kern="0" spc="-2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700" kern="0" spc="-4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实现微电</a:t>
            </a:r>
            <a:r>
              <a:rPr sz="17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网系统性能</a:t>
            </a:r>
            <a:r>
              <a:rPr sz="17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监视、</a:t>
            </a:r>
            <a:r>
              <a:rPr sz="1700" kern="0" spc="-3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故障诊断、</a:t>
            </a:r>
            <a:r>
              <a:rPr sz="1700" kern="0" spc="-3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运行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优化、</a:t>
            </a:r>
            <a:r>
              <a:rPr sz="1700" kern="0" spc="-3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预测性控制及维护。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76328" y="3588932"/>
            <a:ext cx="180790" cy="282135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76328" y="1028612"/>
            <a:ext cx="180790" cy="282135"/>
          </a:xfrm>
          <a:prstGeom prst="rect">
            <a:avLst/>
          </a:prstGeom>
        </p:spPr>
      </p:pic>
      <p:sp>
        <p:nvSpPr>
          <p:cNvPr id="18" name="textbox 18"/>
          <p:cNvSpPr/>
          <p:nvPr/>
        </p:nvSpPr>
        <p:spPr>
          <a:xfrm>
            <a:off x="3698100" y="192697"/>
            <a:ext cx="4130675" cy="4914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39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9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主要内容与关键技术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880360" y="2598420"/>
            <a:ext cx="5550408" cy="3697223"/>
          </a:xfrm>
          <a:prstGeom prst="rect">
            <a:avLst/>
          </a:prstGeom>
        </p:spPr>
      </p:pic>
      <p:sp>
        <p:nvSpPr>
          <p:cNvPr id="22" name="textbox 22"/>
          <p:cNvSpPr/>
          <p:nvPr/>
        </p:nvSpPr>
        <p:spPr>
          <a:xfrm>
            <a:off x="833627" y="970788"/>
            <a:ext cx="6487795" cy="646430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6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96519" algn="l" rtl="0" eaLnBrk="0">
              <a:lnSpc>
                <a:spcPct val="88000"/>
              </a:lnSpc>
              <a:tabLst/>
            </a:pPr>
            <a:r>
              <a:rPr sz="2700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大型船闸、</a:t>
            </a:r>
            <a:r>
              <a:rPr sz="2700" kern="0" spc="-65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水利工程的绿</a:t>
            </a:r>
            <a:r>
              <a:rPr sz="2700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色能源供应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4" name="textbox 24"/>
          <p:cNvSpPr/>
          <p:nvPr/>
        </p:nvSpPr>
        <p:spPr>
          <a:xfrm>
            <a:off x="887832" y="1872369"/>
            <a:ext cx="5330825" cy="3860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164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27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已应用于大型海港等绿色岸电系统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6" name="textbox 26"/>
          <p:cNvSpPr/>
          <p:nvPr/>
        </p:nvSpPr>
        <p:spPr>
          <a:xfrm>
            <a:off x="5065991" y="321627"/>
            <a:ext cx="2305050" cy="492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823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成果与应用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ap:Properties xmlns:vt="http://schemas.openxmlformats.org/officeDocument/2006/docPropsVTypes" xmlns:ap="http://schemas.openxmlformats.org/officeDocument/2006/extended-properti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wqlLaW5nc29mdCBQREYgdG8gV1BTIDEyMA</vt:lpwstr>
  </property>
  <property fmtid="{D5CDD505-2E9C-101B-9397-08002B2CF9AE}" pid="3" name="Created">
    <vt:filetime>2026-05-21T21:38:46</vt:filetime>
  </property>
</Properties>
</file>