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957571" y="2031492"/>
            <a:ext cx="6559296" cy="4055363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25985" y="2423085"/>
            <a:ext cx="4164965" cy="3654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59" algn="l" rtl="0" eaLnBrk="0">
              <a:lnSpc>
                <a:spcPct val="93000"/>
              </a:lnSpc>
              <a:tabLst/>
            </a:pP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过闸效率低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8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4475" algn="l" rtl="0" eaLnBrk="0">
              <a:lnSpc>
                <a:spcPts val="1813"/>
              </a:lnSpc>
              <a:spcBef>
                <a:spcPts val="423"/>
              </a:spcBef>
              <a:tabLst/>
            </a:pPr>
            <a:r>
              <a:rPr sz="1400" kern="0" spc="-10" dirty="0">
                <a:solidFill>
                  <a:srgbClr val="2E75B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平均待闸时间超过110h</a:t>
            </a:r>
            <a:r>
              <a:rPr sz="1400" kern="0" spc="-210" dirty="0">
                <a:solidFill>
                  <a:srgbClr val="2E75B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2E75B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，超过设计过闸</a:t>
            </a:r>
            <a:r>
              <a:rPr sz="1400" kern="0" spc="-20" dirty="0">
                <a:solidFill>
                  <a:srgbClr val="2E75B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能力56%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6"/>
              </a:spcBef>
              <a:tabLst/>
            </a:pP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过闸不安全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8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1934" algn="l" rtl="0" eaLnBrk="0">
              <a:lnSpc>
                <a:spcPts val="1813"/>
              </a:lnSpc>
              <a:spcBef>
                <a:spcPts val="427"/>
              </a:spcBef>
              <a:tabLst/>
            </a:pPr>
            <a:r>
              <a:rPr sz="1400" kern="0" spc="0" dirty="0">
                <a:solidFill>
                  <a:srgbClr val="2E75B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船闸碰撞事故年均超</a:t>
            </a:r>
            <a:r>
              <a:rPr sz="1400" kern="0" spc="-10" dirty="0">
                <a:solidFill>
                  <a:srgbClr val="2E75B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过10次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8"/>
              </a:spcBef>
              <a:tabLst/>
            </a:pP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绿色指数低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43204" algn="l" rtl="0" eaLnBrk="0">
              <a:lnSpc>
                <a:spcPct val="197000"/>
              </a:lnSpc>
              <a:spcBef>
                <a:spcPts val="1"/>
              </a:spcBef>
              <a:tabLst/>
            </a:pPr>
            <a:r>
              <a:rPr sz="1400" kern="0" spc="-20" dirty="0">
                <a:solidFill>
                  <a:srgbClr val="2E75B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过闸时间长</a:t>
            </a:r>
            <a:r>
              <a:rPr sz="1400" kern="0" spc="-210" dirty="0">
                <a:solidFill>
                  <a:srgbClr val="2E75B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2E75B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，动力系统能量转化效率低</a:t>
            </a:r>
            <a:r>
              <a:rPr sz="1400" kern="0" spc="-210" dirty="0">
                <a:solidFill>
                  <a:srgbClr val="2E75B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2E75B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，不环保</a:t>
            </a:r>
            <a:r>
              <a:rPr sz="1400" kern="0" spc="-30" dirty="0">
                <a:solidFill>
                  <a:srgbClr val="2E75B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且</a:t>
            </a:r>
            <a:r>
              <a:rPr sz="1400" kern="0" spc="-10" dirty="0">
                <a:solidFill>
                  <a:srgbClr val="2E75B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经济性差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464985" y="711771"/>
            <a:ext cx="7038340" cy="1152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7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现有问题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2.3 绿色高效船舶安全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过闸关键技术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15355" y="1744979"/>
            <a:ext cx="6309359" cy="4123944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401322" y="2123098"/>
            <a:ext cx="4665979" cy="3051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复杂闸区水域船舶运动性能</a:t>
            </a:r>
            <a:r>
              <a:rPr sz="2000" b="1" kern="0" spc="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快速预报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35279" algn="l" rtl="0" eaLnBrk="0">
              <a:lnSpc>
                <a:spcPts val="3439"/>
              </a:lnSpc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术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5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基于短期预报的</a:t>
            </a:r>
            <a:r>
              <a:rPr sz="2000" b="1" kern="0" spc="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船舶操纵运动控制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1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基于船型数据库的船舶</a:t>
            </a:r>
            <a:r>
              <a:rPr sz="2000" b="1" kern="0" spc="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快速过闸系统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79163" y="1863852"/>
            <a:ext cx="8016240" cy="4657344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156972" y="1034796"/>
            <a:ext cx="10201909" cy="6191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绿色高效船舶安全过闸系统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0144" y="4498847"/>
            <a:ext cx="3089147" cy="1732787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9036" y="1988819"/>
            <a:ext cx="2404872" cy="1933955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1579117" y="6260160"/>
            <a:ext cx="708025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顶推船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1478305" y="4010291"/>
            <a:ext cx="703580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牵引车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2026-05-21T21:38:40</vt:filetime>
  </property>
</Properties>
</file>