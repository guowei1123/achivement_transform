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2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viewProps" Target="viewProps.xml"/><Relationship Id="rId6" Type="http://schemas.openxmlformats.org/officeDocument/2006/relationships/tableStyles" Target="tableStyle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3" Type="http://schemas.openxmlformats.org/officeDocument/2006/relationships/slide" Target="slides/slide2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image" Target="../media/image4.jpeg"/><Relationship Id="rId4" Type="http://schemas.openxmlformats.org/officeDocument/2006/relationships/image" Target="../media/image3.png"/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image" Target="../media/image10.png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7392923" y="1994916"/>
            <a:ext cx="3217164" cy="2542032"/>
          </a:xfrm>
          <a:prstGeom prst="rect">
            <a:avLst/>
          </a:prstGeom>
        </p:spPr>
      </p:pic>
      <p:sp>
        <p:nvSpPr>
          <p:cNvPr id="4" name="textbox 4"/>
          <p:cNvSpPr/>
          <p:nvPr/>
        </p:nvSpPr>
        <p:spPr>
          <a:xfrm>
            <a:off x="38100" y="137159"/>
            <a:ext cx="12153900" cy="647700"/>
          </a:xfrm>
          <a:prstGeom prst="rect">
            <a:avLst/>
          </a:prstGeom>
          <a:solidFill>
            <a:srgbClr val="00469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1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111760" algn="l" rtl="0" eaLnBrk="0">
              <a:lnSpc>
                <a:spcPts val="3608"/>
              </a:lnSpc>
              <a:spcBef>
                <a:spcPts val="5"/>
              </a:spcBef>
              <a:tabLst/>
            </a:pPr>
            <a:r>
              <a:rPr sz="2700" kern="0" spc="9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2.5 面向大型关键基础</a:t>
            </a:r>
            <a:r>
              <a:rPr sz="2700" kern="0" spc="8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设施的高安全分布式采集计算系统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textbox 6"/>
          <p:cNvSpPr/>
          <p:nvPr/>
        </p:nvSpPr>
        <p:spPr>
          <a:xfrm>
            <a:off x="488302" y="867054"/>
            <a:ext cx="7946390" cy="9886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38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314825" algn="l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技术需求背景</a:t>
            </a:r>
            <a:endParaRPr sz="35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2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935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2300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大型水利设施高安全高实时分布式采集计算架构</a:t>
            </a:r>
            <a:r>
              <a:rPr sz="23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及成套系统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099816" y="2229611"/>
            <a:ext cx="3384803" cy="2212847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2967227" y="4592522"/>
            <a:ext cx="3518915" cy="183266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7659623" y="4581144"/>
            <a:ext cx="2683764" cy="2168651"/>
          </a:xfrm>
          <a:prstGeom prst="rect">
            <a:avLst/>
          </a:prstGeom>
        </p:spPr>
      </p:pic>
      <p:sp>
        <p:nvSpPr>
          <p:cNvPr id="14" name="textbox 14"/>
          <p:cNvSpPr/>
          <p:nvPr/>
        </p:nvSpPr>
        <p:spPr>
          <a:xfrm>
            <a:off x="674093" y="2468221"/>
            <a:ext cx="1363980" cy="21367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80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tabLst/>
            </a:pPr>
            <a:r>
              <a:rPr sz="2000" kern="0" spc="11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1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数据采集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6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spcBef>
                <a:spcPts val="600"/>
              </a:spcBef>
              <a:tabLst/>
            </a:pPr>
            <a:r>
              <a:rPr sz="2000" kern="0" spc="11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1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数据汇聚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6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spcBef>
                <a:spcPts val="600"/>
              </a:spcBef>
              <a:tabLst/>
            </a:pPr>
            <a:r>
              <a:rPr sz="2000" kern="0" spc="11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1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边缘计算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6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tabLst/>
            </a:pPr>
            <a:r>
              <a:rPr sz="2000" kern="0" spc="11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1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通信安全</a:t>
            </a:r>
            <a:endParaRPr sz="20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21600000">
            <a:off x="7394194" y="941832"/>
            <a:ext cx="4465611" cy="5226087"/>
            <a:chOff x="0" y="0"/>
            <a:chExt cx="4465611" cy="5226087"/>
          </a:xfrm>
        </p:grpSpPr>
        <p:pic>
          <p:nvPicPr>
            <p:cNvPr id="16" name="picture 1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4465611" cy="5226087"/>
            </a:xfrm>
            <a:prstGeom prst="rect">
              <a:avLst/>
            </a:prstGeom>
          </p:spPr>
        </p:pic>
        <p:sp>
          <p:nvSpPr>
            <p:cNvPr id="18" name="textbox 18"/>
            <p:cNvSpPr/>
            <p:nvPr/>
          </p:nvSpPr>
          <p:spPr>
            <a:xfrm>
              <a:off x="1373047" y="4690770"/>
              <a:ext cx="2080895" cy="25527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8518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9000"/>
                </a:lnSpc>
                <a:tabLst/>
              </a:pPr>
              <a:r>
                <a:rPr sz="1700" kern="0" spc="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数据采集高集成模组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4" name="group 4"/>
          <p:cNvGrpSpPr/>
          <p:nvPr/>
        </p:nvGrpSpPr>
        <p:grpSpPr>
          <a:xfrm rot="21600000">
            <a:off x="488238" y="3211360"/>
            <a:ext cx="3409784" cy="2870250"/>
            <a:chOff x="0" y="0"/>
            <a:chExt cx="3409784" cy="2870250"/>
          </a:xfrm>
        </p:grpSpPr>
        <p:pic>
          <p:nvPicPr>
            <p:cNvPr id="20" name="picture 2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3409784" cy="2870250"/>
            </a:xfrm>
            <a:prstGeom prst="rect">
              <a:avLst/>
            </a:prstGeom>
          </p:spPr>
        </p:pic>
        <p:sp>
          <p:nvSpPr>
            <p:cNvPr id="22" name="textbox 22"/>
            <p:cNvSpPr/>
            <p:nvPr/>
          </p:nvSpPr>
          <p:spPr>
            <a:xfrm>
              <a:off x="-12700" y="-12700"/>
              <a:ext cx="3435350" cy="289750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7864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28725" algn="l" rtl="0" eaLnBrk="0">
                <a:lnSpc>
                  <a:spcPct val="87000"/>
                </a:lnSpc>
                <a:tabLst/>
              </a:pPr>
              <a:r>
                <a:rPr sz="1700" kern="0" spc="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计算网关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 rot="21600000">
            <a:off x="4391748" y="3284435"/>
            <a:ext cx="2777275" cy="2870263"/>
            <a:chOff x="0" y="0"/>
            <a:chExt cx="2777275" cy="2870263"/>
          </a:xfrm>
        </p:grpSpPr>
        <p:pic>
          <p:nvPicPr>
            <p:cNvPr id="24" name="picture 2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0" y="0"/>
              <a:ext cx="2777275" cy="2870263"/>
            </a:xfrm>
            <a:prstGeom prst="rect">
              <a:avLst/>
            </a:prstGeom>
          </p:spPr>
        </p:pic>
        <p:sp>
          <p:nvSpPr>
            <p:cNvPr id="26" name="textbox 26"/>
            <p:cNvSpPr/>
            <p:nvPr/>
          </p:nvSpPr>
          <p:spPr>
            <a:xfrm>
              <a:off x="-12700" y="-12700"/>
              <a:ext cx="2802889" cy="289877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376554" algn="l" rtl="0" eaLnBrk="0">
                <a:lnSpc>
                  <a:spcPct val="88000"/>
                </a:lnSpc>
                <a:spcBef>
                  <a:spcPts val="5"/>
                </a:spcBef>
                <a:tabLst/>
              </a:pPr>
              <a:r>
                <a:rPr sz="2300" kern="0" spc="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数据加密、</a:t>
              </a:r>
              <a:r>
                <a:rPr sz="2300" kern="0" spc="-5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2300" kern="0" spc="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数字</a:t>
              </a:r>
              <a:endParaRPr sz="2300" dirty="0">
                <a:latin typeface="Microsoft YaHei"/>
                <a:ea typeface="Microsoft YaHei"/>
                <a:cs typeface="Microsoft YaHei"/>
              </a:endParaRPr>
            </a:p>
            <a:p>
              <a:pPr marL="377190" algn="l" rtl="0" eaLnBrk="0">
                <a:lnSpc>
                  <a:spcPct val="87000"/>
                </a:lnSpc>
                <a:spcBef>
                  <a:spcPts val="614"/>
                </a:spcBef>
                <a:tabLst/>
              </a:pPr>
              <a:r>
                <a:rPr sz="2300" kern="0" spc="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签名、</a:t>
              </a:r>
              <a:r>
                <a:rPr sz="2300" kern="0" spc="-3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2300" kern="0" spc="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隔离策略</a:t>
              </a:r>
              <a:endParaRPr sz="2300" dirty="0">
                <a:latin typeface="Microsoft YaHei"/>
                <a:ea typeface="Microsoft YaHei"/>
                <a:cs typeface="Microsoft YaHei"/>
              </a:endParaRPr>
            </a:p>
            <a:p>
              <a:pPr marL="379095" algn="l" rtl="0" eaLnBrk="0">
                <a:lnSpc>
                  <a:spcPct val="89000"/>
                </a:lnSpc>
                <a:spcBef>
                  <a:spcPts val="582"/>
                </a:spcBef>
                <a:tabLst/>
              </a:pPr>
              <a:r>
                <a:rPr sz="2300" kern="0" spc="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及访问控制、</a:t>
              </a:r>
              <a:r>
                <a:rPr sz="2300" kern="0" spc="-5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2300" kern="0" spc="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流</a:t>
              </a:r>
              <a:endParaRPr sz="2300" dirty="0">
                <a:latin typeface="Microsoft YaHei"/>
                <a:ea typeface="Microsoft YaHei"/>
                <a:cs typeface="Microsoft YaHei"/>
              </a:endParaRPr>
            </a:p>
            <a:p>
              <a:pPr marL="684530" algn="l" rtl="0" eaLnBrk="0">
                <a:lnSpc>
                  <a:spcPct val="87000"/>
                </a:lnSpc>
                <a:spcBef>
                  <a:spcPts val="607"/>
                </a:spcBef>
                <a:tabLst/>
              </a:pPr>
              <a:r>
                <a:rPr sz="2300" kern="0" spc="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量过滤规则</a:t>
              </a:r>
              <a:endParaRPr sz="23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2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2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6000"/>
                </a:lnSpc>
                <a:tabLst/>
              </a:pPr>
              <a:endParaRPr sz="400" dirty="0">
                <a:latin typeface="Arial"/>
                <a:ea typeface="Arial"/>
                <a:cs typeface="Arial"/>
              </a:endParaRPr>
            </a:p>
            <a:p>
              <a:pPr marL="987425" algn="l" rtl="0" eaLnBrk="0">
                <a:lnSpc>
                  <a:spcPct val="88000"/>
                </a:lnSpc>
                <a:spcBef>
                  <a:spcPts val="5"/>
                </a:spcBef>
                <a:tabLst/>
              </a:pPr>
              <a:r>
                <a:rPr sz="1700" kern="0" spc="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安全防护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sp>
        <p:nvSpPr>
          <p:cNvPr id="28" name="textbox 28"/>
          <p:cNvSpPr/>
          <p:nvPr/>
        </p:nvSpPr>
        <p:spPr>
          <a:xfrm>
            <a:off x="655726" y="1333639"/>
            <a:ext cx="5200650" cy="14605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55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多源分布式数据采集高集成模组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6000"/>
              </a:lnSpc>
              <a:spcBef>
                <a:spcPts val="1671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1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自组织交互的低延时边缘计算网关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2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全链条安全防护策略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668426" y="2443619"/>
            <a:ext cx="216408" cy="337718"/>
          </a:xfrm>
          <a:prstGeom prst="rect">
            <a:avLst/>
          </a:prstGeom>
        </p:spPr>
      </p:pic>
      <p:pic>
        <p:nvPicPr>
          <p:cNvPr id="32" name="picture 3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668426" y="1894979"/>
            <a:ext cx="216408" cy="337718"/>
          </a:xfrm>
          <a:prstGeom prst="rect">
            <a:avLst/>
          </a:prstGeom>
        </p:spPr>
      </p:pic>
      <p:pic>
        <p:nvPicPr>
          <p:cNvPr id="34" name="picture 3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668426" y="1346339"/>
            <a:ext cx="216408" cy="337718"/>
          </a:xfrm>
          <a:prstGeom prst="rect">
            <a:avLst/>
          </a:prstGeom>
        </p:spPr>
      </p:pic>
      <p:sp>
        <p:nvSpPr>
          <p:cNvPr id="36" name="textbox 36"/>
          <p:cNvSpPr/>
          <p:nvPr/>
        </p:nvSpPr>
        <p:spPr>
          <a:xfrm>
            <a:off x="3570922" y="420509"/>
            <a:ext cx="4130675" cy="4914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539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9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主要内容与关键技术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picture 3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096000" y="3061716"/>
            <a:ext cx="5251704" cy="3564635"/>
          </a:xfrm>
          <a:prstGeom prst="rect">
            <a:avLst/>
          </a:prstGeom>
        </p:spPr>
      </p:pic>
      <p:pic>
        <p:nvPicPr>
          <p:cNvPr id="40" name="picture 4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781812" y="4149852"/>
            <a:ext cx="4572000" cy="2359151"/>
          </a:xfrm>
          <a:prstGeom prst="rect">
            <a:avLst/>
          </a:prstGeom>
        </p:spPr>
      </p:pic>
      <p:sp>
        <p:nvSpPr>
          <p:cNvPr id="42" name="textbox 42"/>
          <p:cNvSpPr/>
          <p:nvPr/>
        </p:nvSpPr>
        <p:spPr>
          <a:xfrm>
            <a:off x="867244" y="1871304"/>
            <a:ext cx="10330180" cy="10191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4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4604" algn="l" rtl="0" eaLnBrk="0">
              <a:lnSpc>
                <a:spcPct val="86000"/>
              </a:lnSpc>
              <a:tabLst/>
            </a:pPr>
            <a:r>
              <a:rPr sz="27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西藏措美超高海拔风电机组采集监测系统</a:t>
            </a:r>
            <a:r>
              <a:rPr sz="2700" kern="0" spc="-3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2700" kern="0" spc="-6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安徽芜湖</a:t>
            </a:r>
            <a:r>
              <a:rPr sz="27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水厂泵站远程</a:t>
            </a:r>
            <a:endParaRPr sz="27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ts val="5028"/>
              </a:lnSpc>
              <a:tabLst/>
            </a:pPr>
            <a:r>
              <a:rPr sz="27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监测与控制系统</a:t>
            </a:r>
            <a:r>
              <a:rPr sz="2700" kern="0" spc="-3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2700" kern="0" spc="-6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武汉光谷</a:t>
            </a:r>
            <a:r>
              <a:rPr sz="27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热力公司能源站分布式采集控制系统，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4" name="textbox 44"/>
          <p:cNvSpPr/>
          <p:nvPr/>
        </p:nvSpPr>
        <p:spPr>
          <a:xfrm>
            <a:off x="868664" y="3152530"/>
            <a:ext cx="4994909" cy="3873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22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27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武汉光谷热力管网智慧物联系统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6" name="textbox 46"/>
          <p:cNvSpPr/>
          <p:nvPr/>
        </p:nvSpPr>
        <p:spPr>
          <a:xfrm>
            <a:off x="833627" y="970788"/>
            <a:ext cx="2824479" cy="551815"/>
          </a:xfrm>
          <a:prstGeom prst="rect">
            <a:avLst/>
          </a:prstGeom>
          <a:solidFill>
            <a:srgbClr val="0070C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9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97789" algn="l" rtl="0" eaLnBrk="0">
              <a:lnSpc>
                <a:spcPct val="88000"/>
              </a:lnSpc>
              <a:tabLst/>
            </a:pPr>
            <a:r>
              <a:rPr sz="2300" kern="0" spc="9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设备健康监测系统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8" name="textbox 48"/>
          <p:cNvSpPr/>
          <p:nvPr/>
        </p:nvSpPr>
        <p:spPr>
          <a:xfrm>
            <a:off x="5065991" y="321627"/>
            <a:ext cx="2305050" cy="492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823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成果与应用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ap:Properties xmlns:vt="http://schemas.openxmlformats.org/officeDocument/2006/docPropsVTypes" xmlns:ap="http://schemas.openxmlformats.org/officeDocument/2006/extended-properties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wqlLaW5nc29mdCBQREYgdG8gV1BTIDEyMA</vt:lpwstr>
  </property>
  <property fmtid="{D5CDD505-2E9C-101B-9397-08002B2CF9AE}" pid="3" name="Created">
    <vt:filetime>2026-05-21T21:38:45</vt:filetime>
  </property>
</Properties>
</file>