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slideLayouts/ua1_slideLayout1.xml" ContentType="application/vnd.openxmlformats-officedocument.presentationml.slideLayout+xml"/>
  <Override PartName="/ppt/slideMasters/ua1_slideMaster1.xml" ContentType="application/vnd.openxmlformats-officedocument.presentationml.slideMaster+xml"/>
  <Override PartName="/ppt/theme/ua1_theme1.xml" ContentType="application/vnd.openxmlformats-officedocument.them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9"/>
    <p:sldId id="257" r:id="rId10"/>
    <p:sldId id="258" r:id="rId11"/>
    <p:sldId id="259" r:id="rId12"/>
    <p:sldId id="260" r:id="rId13"/>
    <p:sldId id="261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GM" initials="F" lastIdx="0" clrIdx="0"/>
  <p:cmAuthor id="2" name="47162" initials="4" lastIdx="0" clrIdx="1"/>
  <p:cmAuthor id="3" name="郭 力行" initials="郭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9850" y="746125"/>
            <a:ext cx="6624638" cy="372745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尊敬的各位专家，大家上午好！下面由我汇报：。。。</a:t>
            </a:r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ua1_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ua1_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ua1_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ua1_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ua1_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ua1_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01.png"/><Relationship Id="rId1" Type="http://schemas.openxmlformats.org/officeDocument/2006/relationships/image" Target="../media/image100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2.jpeg"/><Relationship Id="rId1" Type="http://schemas.openxmlformats.org/officeDocument/2006/relationships/slideLayout" Target="../slideLayouts/ua1_slideLayout1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image" Target="../media/image1003.png"/><Relationship Id="rId5" Type="http://schemas.openxmlformats.org/officeDocument/2006/relationships/image" Target="../media/image1004.png"/><Relationship Id="rId4" Type="http://schemas.openxmlformats.org/officeDocument/2006/relationships/image" Target="../media/image1005.png"/><Relationship Id="rId3" Type="http://schemas.openxmlformats.org/officeDocument/2006/relationships/image" Target="../media/image1006.jpeg"/><Relationship Id="rId2" Type="http://schemas.openxmlformats.org/officeDocument/2006/relationships/image" Target="../media/image1007.png"/><Relationship Id="rId1" Type="http://schemas.openxmlformats.org/officeDocument/2006/relationships/slideLayout" Target="../slideLayouts/ua1_slideLayout1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image" Target="../media/image1008.jpeg"/><Relationship Id="rId4" Type="http://schemas.openxmlformats.org/officeDocument/2006/relationships/image" Target="../media/image1009.jpeg"/><Relationship Id="rId3" Type="http://schemas.openxmlformats.org/officeDocument/2006/relationships/image" Target="../media/image1010.jpeg"/><Relationship Id="rId2" Type="http://schemas.openxmlformats.org/officeDocument/2006/relationships/image" Target="../media/image1011.jpeg"/><Relationship Id="rId1" Type="http://schemas.openxmlformats.org/officeDocument/2006/relationships/slideLayout" Target="../slideLayouts/ua1_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856"/>
          <a:stretch>
            <a:fillRect/>
          </a:stretch>
        </p:blipFill>
        <p:spPr>
          <a:xfrm>
            <a:off x="0" y="2780030"/>
            <a:ext cx="12192000" cy="3745344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52" y="188640"/>
            <a:ext cx="2804094" cy="589911"/>
          </a:xfrm>
          <a:prstGeom prst="rect">
            <a:avLst/>
          </a:prstGeom>
        </p:spPr>
      </p:pic>
      <p:sp>
        <p:nvSpPr>
          <p:cNvPr id="8" name="Rectangle 4"/>
          <p:cNvSpPr txBox="1">
            <a:spLocks noChangeArrowheads="1"/>
          </p:cNvSpPr>
          <p:nvPr/>
        </p:nvSpPr>
        <p:spPr bwMode="auto">
          <a:xfrm>
            <a:off x="824865" y="3100666"/>
            <a:ext cx="10535920" cy="11576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1" rIns="91440" bIns="45721" numCol="1" anchor="ctr" anchorCtr="0" compatLnSpc="1"/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latin typeface="+mn-lt"/>
                <a:ea typeface="仿宋_GB2312" panose="02010609030101010101" pitchFamily="1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latin typeface="+mn-lt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latin typeface="+mn-lt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latin typeface="+mn-lt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9pPr>
          </a:lstStyle>
          <a:p>
            <a:pPr defTabSz="914400">
              <a:lnSpc>
                <a:spcPts val="2400"/>
              </a:lnSpc>
            </a:pPr>
            <a:r>
              <a:rPr lang="zh-CN" altLang="en-US" sz="2400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汇报人：</a:t>
            </a:r>
            <a:endParaRPr lang="zh-CN" altLang="en-US" sz="2400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2026年6月7日</a:t>
            </a:r>
            <a:endParaRPr lang="en-US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51180" y="1380736"/>
            <a:ext cx="11085830" cy="1445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演示测试汇报</a:t>
            </a: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科技服务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algn="ctr">
              <a:lnSpc>
                <a:spcPct val="110000"/>
              </a:lnSpc>
            </a:pP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武汉理工大学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0" y="6524566"/>
            <a:ext cx="12192000" cy="333434"/>
          </a:xfrm>
          <a:prstGeom prst="rect">
            <a:avLst/>
          </a:prstGeom>
          <a:solidFill>
            <a:srgbClr val="0047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10" name="矩形 9"/>
          <p:cNvSpPr/>
          <p:nvPr userDrawn="1"/>
        </p:nvSpPr>
        <p:spPr>
          <a:xfrm>
            <a:off x="1" y="6524566"/>
            <a:ext cx="1753364" cy="333434"/>
          </a:xfrm>
          <a:prstGeom prst="rect">
            <a:avLst/>
          </a:prstGeom>
          <a:solidFill>
            <a:srgbClr val="FBC5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646" y="6566672"/>
            <a:ext cx="1458073" cy="249227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649"/>
    </mc:Choice>
    <mc:Fallback>
      <p:transition spd="slow" advTm="964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27432" y="329184"/>
            <a:ext cx="1220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汇报内容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58952" y="1627632"/>
            <a:ext cx="10698480" cy="2770632"/>
          </a:xfrm>
          <a:prstGeom prst="roundRect">
            <a:avLst>
              <a:gd name="adj" fmla="val 2640"/>
            </a:avLst>
          </a:prstGeom>
          <a:solidFill>
            <a:srgbClr val="FFFFFF"/>
          </a:solidFill>
          <a:ln w="12700">
            <a:solidFill>
              <a:srgbClr val="00469A"/>
            </a:solidFill>
            <a:prstDash val="sysDash"/>
          </a:ln>
        </p:spPr>
      </p:sp>
      <p:sp>
        <p:nvSpPr>
          <p:cNvPr id="4" name="Shape 2"/>
          <p:cNvSpPr/>
          <p:nvPr/>
        </p:nvSpPr>
        <p:spPr>
          <a:xfrm>
            <a:off x="1920240" y="1993392"/>
            <a:ext cx="1207008" cy="566928"/>
          </a:xfrm>
          <a:prstGeom prst="rect">
            <a:avLst/>
          </a:prstGeom>
          <a:solidFill>
            <a:srgbClr val="FFD966"/>
          </a:solidFill>
          <a:ln w="12700">
            <a:solidFill>
              <a:srgbClr val="FFD9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0" y="1993392"/>
            <a:ext cx="8083296" cy="566928"/>
          </a:xfrm>
          <a:prstGeom prst="rect">
            <a:avLst/>
          </a:prstGeom>
          <a:solidFill>
            <a:srgbClr val="00469A"/>
          </a:solidFill>
          <a:ln w="12700">
            <a:solidFill>
              <a:srgbClr val="0046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2002536"/>
            <a:ext cx="120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46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364992" y="2002536"/>
            <a:ext cx="7754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资源环境与安全应急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0" y="6556248"/>
            <a:ext cx="12188952" cy="329184"/>
          </a:xfrm>
          <a:prstGeom prst="rect">
            <a:avLst/>
          </a:prstGeom>
          <a:solidFill>
            <a:srgbClr val="0B5AA2"/>
          </a:solidFill>
          <a:ln w="12700">
            <a:solidFill>
              <a:srgbClr val="0B5AA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6556248"/>
            <a:ext cx="1755648" cy="329184"/>
          </a:xfrm>
          <a:prstGeom prst="rect">
            <a:avLst/>
          </a:prstGeom>
          <a:solidFill>
            <a:srgbClr val="FBC540"/>
          </a:solidFill>
          <a:ln w="12700">
            <a:solidFill>
              <a:srgbClr val="FBC54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3"/>
          <p:cNvGrpSpPr/>
          <p:nvPr/>
        </p:nvGrpSpPr>
        <p:grpSpPr>
          <a:xfrm>
            <a:off x="0" y="2060862"/>
            <a:ext cx="12192000" cy="1800225"/>
            <a:chOff x="816" y="2304"/>
            <a:chExt cx="1440" cy="448"/>
          </a:xfrm>
        </p:grpSpPr>
        <p:sp>
          <p:nvSpPr>
            <p:cNvPr id="6148" name="Freeform 4"/>
            <p:cNvSpPr/>
            <p:nvPr/>
          </p:nvSpPr>
          <p:spPr>
            <a:xfrm>
              <a:off x="816" y="2562"/>
              <a:ext cx="1440" cy="190"/>
            </a:xfrm>
            <a:custGeom>
              <a:avLst/>
              <a:gdLst>
                <a:gd name="txL" fmla="*/ 0 w 1120"/>
                <a:gd name="txT" fmla="*/ 0 h 252"/>
                <a:gd name="txR" fmla="*/ 1120 w 1120"/>
                <a:gd name="txB" fmla="*/ 252 h 252"/>
              </a:gdLst>
              <a:ahLst/>
              <a:cxnLst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2147483647" y="0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</a:cxnLst>
              <a:rect l="txL" t="txT" r="txR" b="txB"/>
              <a:pathLst>
                <a:path w="1120" h="252">
                  <a:moveTo>
                    <a:pt x="1120" y="252"/>
                  </a:moveTo>
                  <a:lnTo>
                    <a:pt x="1116" y="250"/>
                  </a:lnTo>
                  <a:lnTo>
                    <a:pt x="1100" y="246"/>
                  </a:lnTo>
                  <a:lnTo>
                    <a:pt x="1074" y="240"/>
                  </a:lnTo>
                  <a:lnTo>
                    <a:pt x="1038" y="232"/>
                  </a:lnTo>
                  <a:lnTo>
                    <a:pt x="992" y="222"/>
                  </a:lnTo>
                  <a:lnTo>
                    <a:pt x="938" y="212"/>
                  </a:lnTo>
                  <a:lnTo>
                    <a:pt x="876" y="204"/>
                  </a:lnTo>
                  <a:lnTo>
                    <a:pt x="806" y="196"/>
                  </a:lnTo>
                  <a:lnTo>
                    <a:pt x="730" y="190"/>
                  </a:lnTo>
                  <a:lnTo>
                    <a:pt x="646" y="184"/>
                  </a:lnTo>
                  <a:lnTo>
                    <a:pt x="556" y="184"/>
                  </a:lnTo>
                  <a:lnTo>
                    <a:pt x="466" y="184"/>
                  </a:lnTo>
                  <a:lnTo>
                    <a:pt x="384" y="190"/>
                  </a:lnTo>
                  <a:lnTo>
                    <a:pt x="308" y="196"/>
                  </a:lnTo>
                  <a:lnTo>
                    <a:pt x="238" y="204"/>
                  </a:lnTo>
                  <a:lnTo>
                    <a:pt x="178" y="212"/>
                  </a:lnTo>
                  <a:lnTo>
                    <a:pt x="126" y="222"/>
                  </a:lnTo>
                  <a:lnTo>
                    <a:pt x="82" y="232"/>
                  </a:lnTo>
                  <a:lnTo>
                    <a:pt x="46" y="240"/>
                  </a:lnTo>
                  <a:lnTo>
                    <a:pt x="20" y="246"/>
                  </a:lnTo>
                  <a:lnTo>
                    <a:pt x="6" y="250"/>
                  </a:lnTo>
                  <a:lnTo>
                    <a:pt x="0" y="252"/>
                  </a:lnTo>
                  <a:lnTo>
                    <a:pt x="0" y="62"/>
                  </a:lnTo>
                  <a:lnTo>
                    <a:pt x="560" y="0"/>
                  </a:lnTo>
                  <a:lnTo>
                    <a:pt x="1120" y="62"/>
                  </a:lnTo>
                  <a:lnTo>
                    <a:pt x="1120" y="252"/>
                  </a:lnTo>
                  <a:close/>
                </a:path>
              </a:pathLst>
            </a:custGeom>
            <a:solidFill>
              <a:srgbClr val="969696">
                <a:alpha val="100000"/>
              </a:srgbClr>
            </a:solidFill>
            <a:ln w="0"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10277" name="Rectangle 5"/>
            <p:cNvSpPr>
              <a:spLocks noChangeArrowheads="1"/>
            </p:cNvSpPr>
            <p:nvPr/>
          </p:nvSpPr>
          <p:spPr bwMode="gray">
            <a:xfrm>
              <a:off x="816" y="2304"/>
              <a:ext cx="1440" cy="393"/>
            </a:xfrm>
            <a:prstGeom prst="rect">
              <a:avLst/>
            </a:prstGeom>
            <a:solidFill>
              <a:srgbClr val="00469A"/>
            </a:solidFill>
            <a:ln w="9525" algn="ctr">
              <a:noFill/>
              <a:miter lim="800000"/>
            </a:ln>
          </p:spPr>
          <p:txBody>
            <a:bodyPr wrap="none" anchor="ctr"/>
            <a:lstStyle/>
            <a:p>
              <a:pPr algn="dist">
                <a:defRPr/>
              </a:pPr>
              <a:endParaRPr lang="en-US" altLang="zh-CN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196" name="矩形 1"/>
          <p:cNvSpPr>
            <a:spLocks noChangeArrowheads="1"/>
          </p:cNvSpPr>
          <p:nvPr/>
        </p:nvSpPr>
        <p:spPr bwMode="auto">
          <a:xfrm>
            <a:off x="30155" y="2434972"/>
            <a:ext cx="12192000" cy="156718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 lIns="91420" tIns="45718" rIns="91420" bIns="45718">
            <a:spAutoFit/>
          </a:bodyPr>
          <a:lstStyle/>
          <a:p>
            <a:pPr marL="446405" indent="-446405" algn="ctr">
              <a:defRPr/>
            </a:pP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、资源环境与安全应急</a:t>
            </a: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6405" indent="-446405" algn="ctr">
              <a:defRPr/>
            </a:pPr>
            <a:endParaRPr lang="zh-CN" altLang="en-US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8610600" y="6499860"/>
            <a:ext cx="2743200" cy="365125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smtClean="0"/>
            </a:fld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433059" y="2468879"/>
            <a:ext cx="6096000" cy="3771900"/>
          </a:xfrm>
          <a:prstGeom prst="rect">
            <a:avLst/>
          </a:prstGeom>
        </p:spPr>
      </p:pic>
      <p:sp>
        <p:nvSpPr>
          <p:cNvPr id="4" name="textbox 4"/>
          <p:cNvSpPr/>
          <p:nvPr/>
        </p:nvSpPr>
        <p:spPr>
          <a:xfrm>
            <a:off x="649947" y="711771"/>
            <a:ext cx="6853555" cy="13766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技术需求背景</a:t>
            </a:r>
            <a:endParaRPr sz="3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spcBef>
                <a:spcPts val="5"/>
              </a:spcBef>
              <a:tabLst/>
            </a:pP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工程开挖是三峡新航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道建设的首要工作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textbox 6"/>
          <p:cNvSpPr/>
          <p:nvPr/>
        </p:nvSpPr>
        <p:spPr>
          <a:xfrm>
            <a:off x="1524" y="0"/>
            <a:ext cx="12190730" cy="620394"/>
          </a:xfrm>
          <a:prstGeom prst="rect">
            <a:avLst/>
          </a:prstGeom>
          <a:solidFill>
            <a:srgbClr val="00469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8270" algn="l" rtl="0" eaLnBrk="0">
              <a:lnSpc>
                <a:spcPts val="3608"/>
              </a:lnSpc>
              <a:spcBef>
                <a:spcPts val="1"/>
              </a:spcBef>
              <a:tabLst/>
            </a:pPr>
            <a:r>
              <a:rPr sz="2700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1.7 工程废弃物就地高效资源化利用技术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textbox 8"/>
          <p:cNvSpPr/>
          <p:nvPr/>
        </p:nvSpPr>
        <p:spPr>
          <a:xfrm>
            <a:off x="667931" y="3617709"/>
            <a:ext cx="3695700" cy="18262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55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2300" kern="0" spc="4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2300" kern="0" spc="-134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3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开挖量大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699"/>
              </a:spcBef>
              <a:tabLst/>
            </a:pPr>
            <a:r>
              <a:rPr sz="2300" kern="0" spc="6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2300" kern="0" spc="-132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3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弃土、</a:t>
            </a:r>
            <a:r>
              <a:rPr sz="2300" b="1" kern="0" spc="-5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工程泥浆等种类多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3"/>
              </a:spcBef>
              <a:tabLst/>
            </a:pPr>
            <a:r>
              <a:rPr sz="2300" kern="0" spc="7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2300" kern="0" spc="-137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3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处置利用需求迫切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21600000">
            <a:off x="6598919" y="1280159"/>
            <a:ext cx="5297423" cy="4971288"/>
            <a:chOff x="0" y="0"/>
            <a:chExt cx="5297423" cy="4971288"/>
          </a:xfrm>
        </p:grpSpPr>
        <p:pic>
          <p:nvPicPr>
            <p:cNvPr id="10" name="picture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5297423" cy="4971288"/>
            </a:xfrm>
            <a:prstGeom prst="rect">
              <a:avLst/>
            </a:prstGeom>
          </p:spPr>
        </p:pic>
        <p:sp>
          <p:nvSpPr>
            <p:cNvPr id="12" name="textbox 12"/>
            <p:cNvSpPr/>
            <p:nvPr/>
          </p:nvSpPr>
          <p:spPr>
            <a:xfrm>
              <a:off x="770915" y="2102370"/>
              <a:ext cx="3872229" cy="32702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algn="r" rtl="0" eaLnBrk="0">
                <a:lnSpc>
                  <a:spcPts val="2374"/>
                </a:lnSpc>
                <a:tabLst/>
              </a:pPr>
              <a:r>
                <a:rPr sz="1700" b="1" kern="0" spc="30" dirty="0">
                  <a:solidFill>
                    <a:srgbClr val="FFFF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工程泥浆制备自流平回填材料（视频</a:t>
              </a:r>
              <a:r>
                <a:rPr sz="1700" b="1" kern="0" spc="20" dirty="0">
                  <a:solidFill>
                    <a:srgbClr val="FFFF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）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14" name="textbox 14"/>
            <p:cNvSpPr/>
            <p:nvPr/>
          </p:nvSpPr>
          <p:spPr>
            <a:xfrm>
              <a:off x="1782573" y="4553483"/>
              <a:ext cx="2077085" cy="25336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0648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8000"/>
                </a:lnSpc>
                <a:tabLst/>
              </a:pPr>
              <a:r>
                <a:rPr sz="1700" b="1" kern="0" spc="90" dirty="0">
                  <a:solidFill>
                    <a:srgbClr val="FFFF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长寿命生态恢复材料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4" name="group 4"/>
          <p:cNvGrpSpPr/>
          <p:nvPr/>
        </p:nvGrpSpPr>
        <p:grpSpPr>
          <a:xfrm rot="21600000">
            <a:off x="1149096" y="3229355"/>
            <a:ext cx="4661915" cy="3002279"/>
            <a:chOff x="0" y="0"/>
            <a:chExt cx="4661915" cy="3002279"/>
          </a:xfrm>
        </p:grpSpPr>
        <p:pic>
          <p:nvPicPr>
            <p:cNvPr id="16" name="picture 1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4661915" cy="3002279"/>
            </a:xfrm>
            <a:prstGeom prst="rect">
              <a:avLst/>
            </a:prstGeom>
          </p:spPr>
        </p:pic>
        <p:sp>
          <p:nvSpPr>
            <p:cNvPr id="18" name="textbox 18"/>
            <p:cNvSpPr/>
            <p:nvPr/>
          </p:nvSpPr>
          <p:spPr>
            <a:xfrm>
              <a:off x="1619440" y="2603830"/>
              <a:ext cx="1391285" cy="25272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8915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8000"/>
                </a:lnSpc>
                <a:tabLst/>
              </a:pPr>
              <a:r>
                <a:rPr sz="1700" b="1" kern="0" spc="90" dirty="0">
                  <a:solidFill>
                    <a:srgbClr val="F2F2F2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工程垃圾分选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20" name="textbox 20"/>
          <p:cNvSpPr/>
          <p:nvPr/>
        </p:nvSpPr>
        <p:spPr>
          <a:xfrm>
            <a:off x="636143" y="1572476"/>
            <a:ext cx="5200650" cy="14605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55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工程垃圾分级分质技术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工程泥浆制备自流平回填材料技术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2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开挖弃土制备生态恢复材料技术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48843" y="2682455"/>
            <a:ext cx="216407" cy="337718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48843" y="2133815"/>
            <a:ext cx="216407" cy="337718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48843" y="1585176"/>
            <a:ext cx="216407" cy="337718"/>
          </a:xfrm>
          <a:prstGeom prst="rect">
            <a:avLst/>
          </a:prstGeom>
        </p:spPr>
      </p:pic>
      <p:sp>
        <p:nvSpPr>
          <p:cNvPr id="28" name="textbox 28"/>
          <p:cNvSpPr/>
          <p:nvPr/>
        </p:nvSpPr>
        <p:spPr>
          <a:xfrm>
            <a:off x="4036250" y="420509"/>
            <a:ext cx="4130675" cy="4914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3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9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主要内容与关键技术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519671" y="1120139"/>
            <a:ext cx="5029200" cy="2668524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519671" y="4273295"/>
            <a:ext cx="5029200" cy="2474976"/>
          </a:xfrm>
          <a:prstGeom prst="rect">
            <a:avLst/>
          </a:prstGeom>
        </p:spPr>
      </p:pic>
      <p:sp>
        <p:nvSpPr>
          <p:cNvPr id="34" name="textbox 34"/>
          <p:cNvSpPr/>
          <p:nvPr/>
        </p:nvSpPr>
        <p:spPr>
          <a:xfrm>
            <a:off x="853757" y="3908081"/>
            <a:ext cx="4083050" cy="27044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9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8000"/>
              </a:lnSpc>
              <a:tabLst/>
            </a:pPr>
            <a:r>
              <a:rPr sz="17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北京城市副中心综合管廊</a:t>
            </a:r>
            <a:r>
              <a:rPr sz="17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基槽回填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918"/>
              </a:lnSpc>
              <a:spcBef>
                <a:spcPts val="696"/>
              </a:spcBef>
              <a:tabLst/>
            </a:pPr>
            <a:r>
              <a:rPr sz="2300" kern="0" spc="5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2300" kern="0" spc="-123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工程垃圾占比</a:t>
            </a:r>
            <a:r>
              <a:rPr sz="2300" b="1" kern="0" spc="5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＞90%</a:t>
            </a:r>
            <a:endParaRPr sz="23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ts val="2918"/>
              </a:lnSpc>
              <a:spcBef>
                <a:spcPts val="1402"/>
              </a:spcBef>
              <a:tabLst/>
            </a:pPr>
            <a:r>
              <a:rPr sz="2300" kern="0" spc="4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2300" kern="0" spc="-106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300" b="1" kern="0" spc="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固废资源利用率</a:t>
            </a:r>
            <a:r>
              <a:rPr sz="2300" b="1" kern="0" spc="4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＞95%</a:t>
            </a:r>
            <a:endParaRPr sz="23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ts val="2918"/>
              </a:lnSpc>
              <a:spcBef>
                <a:spcPts val="1402"/>
              </a:spcBef>
              <a:tabLst/>
            </a:pPr>
            <a:r>
              <a:rPr sz="2300" kern="0" spc="3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2300" kern="0" spc="-108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300" b="1" kern="0" spc="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回填成本节省</a:t>
            </a:r>
            <a:r>
              <a:rPr sz="2300" b="1" kern="0" spc="3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69%</a:t>
            </a:r>
            <a:endParaRPr sz="23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918"/>
              </a:lnSpc>
              <a:spcBef>
                <a:spcPts val="3"/>
              </a:spcBef>
              <a:tabLst/>
            </a:pPr>
            <a:r>
              <a:rPr sz="2300" kern="0" spc="6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2300" kern="0" spc="-129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300" b="1" kern="0" spc="6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渗透系数达到</a:t>
            </a:r>
            <a:r>
              <a:rPr sz="2300" b="1" kern="0" spc="6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10</a:t>
            </a:r>
            <a:r>
              <a:rPr sz="1500" b="1" kern="0" spc="5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-7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cm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/s</a:t>
            </a:r>
            <a:endParaRPr sz="2300" dirty="0">
              <a:latin typeface="DengXian"/>
              <a:ea typeface="DengXian"/>
              <a:cs typeface="DengXian"/>
            </a:endParaRPr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95884" y="1120139"/>
            <a:ext cx="2855976" cy="2638044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3607308" y="1152144"/>
            <a:ext cx="2525267" cy="2638044"/>
          </a:xfrm>
          <a:prstGeom prst="rect">
            <a:avLst/>
          </a:prstGeom>
        </p:spPr>
      </p:pic>
      <p:sp>
        <p:nvSpPr>
          <p:cNvPr id="40" name="textbox 40"/>
          <p:cNvSpPr/>
          <p:nvPr/>
        </p:nvSpPr>
        <p:spPr>
          <a:xfrm>
            <a:off x="7264502" y="3861218"/>
            <a:ext cx="3646170" cy="3270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2374"/>
              </a:lnSpc>
              <a:tabLst/>
            </a:pPr>
            <a:r>
              <a:rPr sz="1700" b="1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光谷地下空间（亚洲最</a:t>
            </a:r>
            <a:r>
              <a:rPr sz="17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大地下空间）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2" name="textbox 42"/>
          <p:cNvSpPr/>
          <p:nvPr/>
        </p:nvSpPr>
        <p:spPr>
          <a:xfrm>
            <a:off x="5065991" y="321627"/>
            <a:ext cx="2305050" cy="492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2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成果与应用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6350.311811023622,&quot;width&quot;:19200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ua1_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</Words>
  <Application>WPS 演示</Application>
  <PresentationFormat>宽屏</PresentationFormat>
  <Paragraphs>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Arial</vt:lpstr>
      <vt:lpstr>宋体</vt:lpstr>
      <vt:lpstr>Wingdings</vt:lpstr>
      <vt:lpstr>仿宋_GB2312</vt:lpstr>
      <vt:lpstr>仿宋</vt:lpstr>
      <vt:lpstr>微软雅黑</vt:lpstr>
      <vt:lpstr>Times New Roman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6</cp:revision>
  <dcterms:created xsi:type="dcterms:W3CDTF">2023-08-09T12:44:00Z</dcterms:created>
  <dcterms:modified xsi:type="dcterms:W3CDTF">2026-03-30T07:22:57Z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6B320F145A6F4400BA501BBD40D3EED3_12</vt:lpwstr>
  </property>
</Properties>
</file>