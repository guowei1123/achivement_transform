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eg" ContentType="image/jpeg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7" Type="http://schemas.openxmlformats.org/officeDocument/2006/relationships/image" Target="../media/image15.jpeg"/><Relationship Id="rId6" Type="http://schemas.openxmlformats.org/officeDocument/2006/relationships/image" Target="../media/image16.png"/><Relationship Id="rId5" Type="http://schemas.openxmlformats.org/officeDocument/2006/relationships/image" Target="../media/image17.jpeg"/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jpeg"/><Relationship Id="rId8" Type="http://schemas.openxmlformats.org/officeDocument/2006/relationships/image" Target="../media/image22.png"/><Relationship Id="rId7" Type="http://schemas.openxmlformats.org/officeDocument/2006/relationships/image" Target="../media/image23.png"/><Relationship Id="rId6" Type="http://schemas.openxmlformats.org/officeDocument/2006/relationships/image" Target="../media/image24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2" Type="http://schemas.openxmlformats.org/officeDocument/2006/relationships/image" Target="../media/image29.jpeg"/><Relationship Id="rId11" Type="http://schemas.openxmlformats.org/officeDocument/2006/relationships/image" Target="../media/image30.jpeg"/><Relationship Id="rId10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32.jpeg"/><Relationship Id="rId6" Type="http://schemas.openxmlformats.org/officeDocument/2006/relationships/image" Target="../media/image33.jpeg"/><Relationship Id="rId5" Type="http://schemas.openxmlformats.org/officeDocument/2006/relationships/image" Target="../media/image34.png"/><Relationship Id="rId4" Type="http://schemas.openxmlformats.org/officeDocument/2006/relationships/image" Target="../media/image35.jpeg"/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14.png"/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.jpeg"/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14.png"/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2.png"/><Relationship Id="rId7" Type="http://schemas.openxmlformats.org/officeDocument/2006/relationships/image" Target="../media/image21.jpeg"/><Relationship Id="rId6" Type="http://schemas.openxmlformats.org/officeDocument/2006/relationships/image" Target="../media/image16.png"/><Relationship Id="rId5" Type="http://schemas.openxmlformats.org/officeDocument/2006/relationships/image" Target="../media/image30.jpeg"/><Relationship Id="rId4" Type="http://schemas.openxmlformats.org/officeDocument/2006/relationships/image" Target="../media/image29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9" Type="http://schemas.openxmlformats.org/officeDocument/2006/relationships/image" Target="../media/image29.jpeg"/><Relationship Id="rId18" Type="http://schemas.openxmlformats.org/officeDocument/2006/relationships/image" Target="../media/image30.jpeg"/><Relationship Id="rId17" Type="http://schemas.openxmlformats.org/officeDocument/2006/relationships/image" Target="../media/image31.jpeg"/><Relationship Id="rId16" Type="http://schemas.openxmlformats.org/officeDocument/2006/relationships/image" Target="../media/image21.jpeg"/><Relationship Id="rId15" Type="http://schemas.openxmlformats.org/officeDocument/2006/relationships/image" Target="../media/image22.png"/><Relationship Id="rId14" Type="http://schemas.openxmlformats.org/officeDocument/2006/relationships/image" Target="../media/image23.png"/><Relationship Id="rId13" Type="http://schemas.openxmlformats.org/officeDocument/2006/relationships/image" Target="../media/image24.png"/><Relationship Id="rId12" Type="http://schemas.openxmlformats.org/officeDocument/2006/relationships/image" Target="../media/image25.png"/><Relationship Id="rId11" Type="http://schemas.openxmlformats.org/officeDocument/2006/relationships/image" Target="../media/image26.pn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41.png"/><Relationship Id="rId7" Type="http://schemas.openxmlformats.org/officeDocument/2006/relationships/image" Target="../media/image32.jpeg"/><Relationship Id="rId6" Type="http://schemas.openxmlformats.org/officeDocument/2006/relationships/image" Target="../media/image33.jpeg"/><Relationship Id="rId5" Type="http://schemas.openxmlformats.org/officeDocument/2006/relationships/image" Target="../media/image34.png"/><Relationship Id="rId4" Type="http://schemas.openxmlformats.org/officeDocument/2006/relationships/image" Target="../media/image35.jpeg"/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3.jpeg"/><Relationship Id="rId7" Type="http://schemas.openxmlformats.org/officeDocument/2006/relationships/image" Target="../media/image44.png"/><Relationship Id="rId6" Type="http://schemas.openxmlformats.org/officeDocument/2006/relationships/image" Target="../media/image45.png"/><Relationship Id="rId5" Type="http://schemas.openxmlformats.org/officeDocument/2006/relationships/image" Target="../media/image46.jpeg"/><Relationship Id="rId4" Type="http://schemas.openxmlformats.org/officeDocument/2006/relationships/image" Target="../media/image47.jpeg"/><Relationship Id="rId3" Type="http://schemas.openxmlformats.org/officeDocument/2006/relationships/image" Target="../media/image48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15.jpeg"/><Relationship Id="rId6" Type="http://schemas.openxmlformats.org/officeDocument/2006/relationships/image" Target="../media/image16.png"/><Relationship Id="rId5" Type="http://schemas.openxmlformats.org/officeDocument/2006/relationships/image" Target="../media/image17.jpeg"/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image" Target="../media/image23.png"/><Relationship Id="rId7" Type="http://schemas.openxmlformats.org/officeDocument/2006/relationships/image" Target="../media/image24.png"/><Relationship Id="rId6" Type="http://schemas.openxmlformats.org/officeDocument/2006/relationships/image" Target="../media/image25.png"/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7" Type="http://schemas.openxmlformats.org/officeDocument/2006/relationships/image" Target="../media/image36.png"/><Relationship Id="rId6" Type="http://schemas.openxmlformats.org/officeDocument/2006/relationships/image" Target="../media/image37.png"/><Relationship Id="rId5" Type="http://schemas.openxmlformats.org/officeDocument/2006/relationships/image" Target="../media/image29.jpeg"/><Relationship Id="rId4" Type="http://schemas.openxmlformats.org/officeDocument/2006/relationships/image" Target="../media/image30.jpeg"/><Relationship Id="rId3" Type="http://schemas.openxmlformats.org/officeDocument/2006/relationships/image" Target="../media/image31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image" Target="../media/image15.jpeg"/><Relationship Id="rId5" Type="http://schemas.openxmlformats.org/officeDocument/2006/relationships/image" Target="../media/image16.png"/><Relationship Id="rId4" Type="http://schemas.openxmlformats.org/officeDocument/2006/relationships/image" Target="../media/image17.jpeg"/><Relationship Id="rId3" Type="http://schemas.openxmlformats.org/officeDocument/2006/relationships/image" Target="../media/image18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8.png"/><Relationship Id="rId7" Type="http://schemas.openxmlformats.org/officeDocument/2006/relationships/image" Target="../media/image14.png"/><Relationship Id="rId6" Type="http://schemas.openxmlformats.org/officeDocument/2006/relationships/image" Target="../media/image21.jpeg"/><Relationship Id="rId5" Type="http://schemas.openxmlformats.org/officeDocument/2006/relationships/image" Target="../media/image16.png"/><Relationship Id="rId4" Type="http://schemas.openxmlformats.org/officeDocument/2006/relationships/image" Target="../media/image17.jpeg"/><Relationship Id="rId3" Type="http://schemas.openxmlformats.org/officeDocument/2006/relationships/image" Target="../media/image18.jpeg"/><Relationship Id="rId2" Type="http://schemas.openxmlformats.org/officeDocument/2006/relationships/image" Target="../media/image19.jpeg"/><Relationship Id="rId15" Type="http://schemas.openxmlformats.org/officeDocument/2006/relationships/image" Target="../media/image21.jpeg"/><Relationship Id="rId14" Type="http://schemas.openxmlformats.org/officeDocument/2006/relationships/image" Target="../media/image22.png"/><Relationship Id="rId13" Type="http://schemas.openxmlformats.org/officeDocument/2006/relationships/image" Target="../media/image23.png"/><Relationship Id="rId12" Type="http://schemas.openxmlformats.org/officeDocument/2006/relationships/image" Target="../media/image24.png"/><Relationship Id="rId11" Type="http://schemas.openxmlformats.org/officeDocument/2006/relationships/image" Target="../media/image25.png"/><Relationship Id="rId10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9.jpeg"/><Relationship Id="rId3" Type="http://schemas.openxmlformats.org/officeDocument/2006/relationships/image" Target="../media/image30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7" Type="http://schemas.openxmlformats.org/officeDocument/2006/relationships/image" Target="../media/image28.png"/><Relationship Id="rId6" Type="http://schemas.openxmlformats.org/officeDocument/2006/relationships/image" Target="../media/image14.png"/><Relationship Id="rId5" Type="http://schemas.openxmlformats.org/officeDocument/2006/relationships/image" Target="../media/image15.jpeg"/><Relationship Id="rId4" Type="http://schemas.openxmlformats.org/officeDocument/2006/relationships/image" Target="../media/image16.png"/><Relationship Id="rId3" Type="http://schemas.openxmlformats.org/officeDocument/2006/relationships/image" Target="../media/image17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image" Target="../media/image23.png"/><Relationship Id="rId4" Type="http://schemas.openxmlformats.org/officeDocument/2006/relationships/image" Target="../media/image24.png"/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.jpeg"/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14.png"/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1" Type="http://schemas.openxmlformats.org/officeDocument/2006/relationships/image" Target="../media/image22.png"/><Relationship Id="rId10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7" Type="http://schemas.openxmlformats.org/officeDocument/2006/relationships/image" Target="../media/image36.png"/><Relationship Id="rId6" Type="http://schemas.openxmlformats.org/officeDocument/2006/relationships/image" Target="../media/image37.png"/><Relationship Id="rId5" Type="http://schemas.openxmlformats.org/officeDocument/2006/relationships/image" Target="../media/image29.jpeg"/><Relationship Id="rId4" Type="http://schemas.openxmlformats.org/officeDocument/2006/relationships/image" Target="../media/image30.jpeg"/><Relationship Id="rId3" Type="http://schemas.openxmlformats.org/officeDocument/2006/relationships/image" Target="../media/image31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image" Target="../media/image17.jpeg"/><Relationship Id="rId3" Type="http://schemas.openxmlformats.org/officeDocument/2006/relationships/image" Target="../media/image18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4.png"/><Relationship Id="rId6" Type="http://schemas.openxmlformats.org/officeDocument/2006/relationships/image" Target="../media/image15.jpeg"/><Relationship Id="rId5" Type="http://schemas.openxmlformats.org/officeDocument/2006/relationships/image" Target="../media/image16.png"/><Relationship Id="rId4" Type="http://schemas.openxmlformats.org/officeDocument/2006/relationships/image" Target="../media/image17.jpeg"/><Relationship Id="rId3" Type="http://schemas.openxmlformats.org/officeDocument/2006/relationships/image" Target="../media/image18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1" Type="http://schemas.openxmlformats.org/officeDocument/2006/relationships/image" Target="../media/image50.png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image" Target="../media/image16.png"/><Relationship Id="rId5" Type="http://schemas.openxmlformats.org/officeDocument/2006/relationships/image" Target="../media/image17.jpeg"/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7" Type="http://schemas.openxmlformats.org/officeDocument/2006/relationships/image" Target="../media/image25.png"/><Relationship Id="rId6" Type="http://schemas.openxmlformats.org/officeDocument/2006/relationships/image" Target="../media/image26.png"/><Relationship Id="rId5" Type="http://schemas.openxmlformats.org/officeDocument/2006/relationships/image" Target="../media/image27.png"/><Relationship Id="rId4" Type="http://schemas.openxmlformats.org/officeDocument/2006/relationships/image" Target="../media/image28.png"/><Relationship Id="rId3" Type="http://schemas.openxmlformats.org/officeDocument/2006/relationships/image" Target="../media/image1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2.png"/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image" Target="../media/image17.jpeg"/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5.png"/><Relationship Id="rId7" Type="http://schemas.openxmlformats.org/officeDocument/2006/relationships/image" Target="../media/image26.png"/><Relationship Id="rId6" Type="http://schemas.openxmlformats.org/officeDocument/2006/relationships/image" Target="../media/image27.png"/><Relationship Id="rId5" Type="http://schemas.openxmlformats.org/officeDocument/2006/relationships/image" Target="../media/image28.png"/><Relationship Id="rId4" Type="http://schemas.openxmlformats.org/officeDocument/2006/relationships/image" Target="../media/image14.png"/><Relationship Id="rId3" Type="http://schemas.openxmlformats.org/officeDocument/2006/relationships/image" Target="../media/image15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7.png"/><Relationship Id="rId7" Type="http://schemas.openxmlformats.org/officeDocument/2006/relationships/image" Target="../media/image29.jpeg"/><Relationship Id="rId6" Type="http://schemas.openxmlformats.org/officeDocument/2006/relationships/image" Target="../media/image30.jpeg"/><Relationship Id="rId5" Type="http://schemas.openxmlformats.org/officeDocument/2006/relationships/image" Target="../media/image31.jpeg"/><Relationship Id="rId4" Type="http://schemas.openxmlformats.org/officeDocument/2006/relationships/image" Target="../media/image21.jpeg"/><Relationship Id="rId3" Type="http://schemas.openxmlformats.org/officeDocument/2006/relationships/image" Target="../media/image34.png"/><Relationship Id="rId2" Type="http://schemas.openxmlformats.org/officeDocument/2006/relationships/image" Target="../media/image23.png"/><Relationship Id="rId11" Type="http://schemas.openxmlformats.org/officeDocument/2006/relationships/image" Target="../media/image34.png"/><Relationship Id="rId10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jpeg"/><Relationship Id="rId8" Type="http://schemas.openxmlformats.org/officeDocument/2006/relationships/image" Target="../media/image47.jpeg"/><Relationship Id="rId7" Type="http://schemas.openxmlformats.org/officeDocument/2006/relationships/image" Target="../media/image48.png"/><Relationship Id="rId6" Type="http://schemas.openxmlformats.org/officeDocument/2006/relationships/image" Target="../media/image49.jpeg"/><Relationship Id="rId5" Type="http://schemas.openxmlformats.org/officeDocument/2006/relationships/image" Target="../media/image55.png"/><Relationship Id="rId4" Type="http://schemas.openxmlformats.org/officeDocument/2006/relationships/image" Target="../media/image54.png"/><Relationship Id="rId3" Type="http://schemas.openxmlformats.org/officeDocument/2006/relationships/image" Target="../media/image44.png"/><Relationship Id="rId20" Type="http://schemas.openxmlformats.org/officeDocument/2006/relationships/image" Target="../media/image54.png"/><Relationship Id="rId2" Type="http://schemas.openxmlformats.org/officeDocument/2006/relationships/image" Target="../media/image33.jpeg"/><Relationship Id="rId19" Type="http://schemas.openxmlformats.org/officeDocument/2006/relationships/image" Target="../media/image55.png"/><Relationship Id="rId18" Type="http://schemas.openxmlformats.org/officeDocument/2006/relationships/image" Target="../media/image56.png"/><Relationship Id="rId17" Type="http://schemas.openxmlformats.org/officeDocument/2006/relationships/image" Target="../media/image57.png"/><Relationship Id="rId16" Type="http://schemas.openxmlformats.org/officeDocument/2006/relationships/image" Target="../media/image58.png"/><Relationship Id="rId15" Type="http://schemas.openxmlformats.org/officeDocument/2006/relationships/image" Target="../media/image59.png"/><Relationship Id="rId14" Type="http://schemas.openxmlformats.org/officeDocument/2006/relationships/image" Target="../media/image60.jpeg"/><Relationship Id="rId13" Type="http://schemas.openxmlformats.org/officeDocument/2006/relationships/image" Target="../media/image42.png"/><Relationship Id="rId12" Type="http://schemas.openxmlformats.org/officeDocument/2006/relationships/image" Target="../media/image43.jpeg"/><Relationship Id="rId11" Type="http://schemas.openxmlformats.org/officeDocument/2006/relationships/image" Target="../media/image44.png"/><Relationship Id="rId10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image" Target="../media/image15.jpeg"/><Relationship Id="rId5" Type="http://schemas.openxmlformats.org/officeDocument/2006/relationships/image" Target="../media/image16.png"/><Relationship Id="rId4" Type="http://schemas.openxmlformats.org/officeDocument/2006/relationships/image" Target="../media/image17.jpeg"/><Relationship Id="rId3" Type="http://schemas.openxmlformats.org/officeDocument/2006/relationships/image" Target="../media/image18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image" Target="../media/image26.png"/><Relationship Id="rId4" Type="http://schemas.openxmlformats.org/officeDocument/2006/relationships/image" Target="../media/image27.png"/><Relationship Id="rId3" Type="http://schemas.openxmlformats.org/officeDocument/2006/relationships/image" Target="../media/image2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1" Type="http://schemas.openxmlformats.org/officeDocument/2006/relationships/image" Target="../media/image6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7.png"/><Relationship Id="rId7" Type="http://schemas.openxmlformats.org/officeDocument/2006/relationships/image" Target="../media/image28.png"/><Relationship Id="rId6" Type="http://schemas.openxmlformats.org/officeDocument/2006/relationships/image" Target="../media/image22.png"/><Relationship Id="rId5" Type="http://schemas.openxmlformats.org/officeDocument/2006/relationships/image" Target="../media/image15.jpeg"/><Relationship Id="rId4" Type="http://schemas.openxmlformats.org/officeDocument/2006/relationships/image" Target="../media/image16.png"/><Relationship Id="rId3" Type="http://schemas.openxmlformats.org/officeDocument/2006/relationships/image" Target="../media/image17.jpeg"/><Relationship Id="rId2" Type="http://schemas.openxmlformats.org/officeDocument/2006/relationships/image" Target="../media/image18.jpeg"/><Relationship Id="rId13" Type="http://schemas.openxmlformats.org/officeDocument/2006/relationships/image" Target="../media/image22.png"/><Relationship Id="rId12" Type="http://schemas.openxmlformats.org/officeDocument/2006/relationships/image" Target="../media/image23.png"/><Relationship Id="rId11" Type="http://schemas.openxmlformats.org/officeDocument/2006/relationships/image" Target="../media/image24.png"/><Relationship Id="rId10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image" Target="../media/image37.png"/><Relationship Id="rId5" Type="http://schemas.openxmlformats.org/officeDocument/2006/relationships/image" Target="../media/image29.jpeg"/><Relationship Id="rId4" Type="http://schemas.openxmlformats.org/officeDocument/2006/relationships/image" Target="../media/image30.jpeg"/><Relationship Id="rId3" Type="http://schemas.openxmlformats.org/officeDocument/2006/relationships/image" Target="../media/image31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image" Target="../media/image22.png"/><Relationship Id="rId7" Type="http://schemas.openxmlformats.org/officeDocument/2006/relationships/image" Target="../media/image15.jpeg"/><Relationship Id="rId6" Type="http://schemas.openxmlformats.org/officeDocument/2006/relationships/image" Target="../media/image31.jpeg"/><Relationship Id="rId5" Type="http://schemas.openxmlformats.org/officeDocument/2006/relationships/image" Target="../media/image17.jpeg"/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7" Type="http://schemas.openxmlformats.org/officeDocument/2006/relationships/image" Target="../media/image31.jpeg"/><Relationship Id="rId16" Type="http://schemas.openxmlformats.org/officeDocument/2006/relationships/image" Target="../media/image21.jpeg"/><Relationship Id="rId15" Type="http://schemas.openxmlformats.org/officeDocument/2006/relationships/image" Target="../media/image22.png"/><Relationship Id="rId14" Type="http://schemas.openxmlformats.org/officeDocument/2006/relationships/image" Target="../media/image23.png"/><Relationship Id="rId13" Type="http://schemas.openxmlformats.org/officeDocument/2006/relationships/image" Target="../media/image24.png"/><Relationship Id="rId12" Type="http://schemas.openxmlformats.org/officeDocument/2006/relationships/image" Target="../media/image25.png"/><Relationship Id="rId11" Type="http://schemas.openxmlformats.org/officeDocument/2006/relationships/image" Target="../media/image26.pn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jpeg"/><Relationship Id="rId8" Type="http://schemas.openxmlformats.org/officeDocument/2006/relationships/image" Target="../media/image33.jpeg"/><Relationship Id="rId7" Type="http://schemas.openxmlformats.org/officeDocument/2006/relationships/image" Target="../media/image34.png"/><Relationship Id="rId6" Type="http://schemas.openxmlformats.org/officeDocument/2006/relationships/image" Target="../media/image35.jpeg"/><Relationship Id="rId5" Type="http://schemas.openxmlformats.org/officeDocument/2006/relationships/image" Target="../media/image36.png"/><Relationship Id="rId4" Type="http://schemas.openxmlformats.org/officeDocument/2006/relationships/image" Target="../media/image37.png"/><Relationship Id="rId3" Type="http://schemas.openxmlformats.org/officeDocument/2006/relationships/image" Target="../media/image29.jpeg"/><Relationship Id="rId2" Type="http://schemas.openxmlformats.org/officeDocument/2006/relationships/image" Target="../media/image30.jpeg"/><Relationship Id="rId13" Type="http://schemas.openxmlformats.org/officeDocument/2006/relationships/image" Target="../media/image48.png"/><Relationship Id="rId12" Type="http://schemas.openxmlformats.org/officeDocument/2006/relationships/image" Target="../media/image49.jpeg"/><Relationship Id="rId11" Type="http://schemas.openxmlformats.org/officeDocument/2006/relationships/image" Target="../media/image40.png"/><Relationship Id="rId10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9.png"/><Relationship Id="rId8" Type="http://schemas.openxmlformats.org/officeDocument/2006/relationships/image" Target="../media/image60.jpeg"/><Relationship Id="rId7" Type="http://schemas.openxmlformats.org/officeDocument/2006/relationships/image" Target="../media/image42.png"/><Relationship Id="rId6" Type="http://schemas.openxmlformats.org/officeDocument/2006/relationships/image" Target="../media/image43.jpeg"/><Relationship Id="rId5" Type="http://schemas.openxmlformats.org/officeDocument/2006/relationships/image" Target="../media/image44.png"/><Relationship Id="rId4" Type="http://schemas.openxmlformats.org/officeDocument/2006/relationships/image" Target="../media/image45.png"/><Relationship Id="rId3" Type="http://schemas.openxmlformats.org/officeDocument/2006/relationships/image" Target="../media/image46.jpeg"/><Relationship Id="rId2" Type="http://schemas.openxmlformats.org/officeDocument/2006/relationships/image" Target="../media/image47.jpeg"/><Relationship Id="rId13" Type="http://schemas.openxmlformats.org/officeDocument/2006/relationships/image" Target="../media/image55.png"/><Relationship Id="rId12" Type="http://schemas.openxmlformats.org/officeDocument/2006/relationships/image" Target="../media/image56.png"/><Relationship Id="rId11" Type="http://schemas.openxmlformats.org/officeDocument/2006/relationships/image" Target="../media/image57.png"/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image" Target="../media/image18.jpeg"/><Relationship Id="rId3" Type="http://schemas.openxmlformats.org/officeDocument/2006/relationships/image" Target="../media/image19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7" Type="http://schemas.openxmlformats.org/officeDocument/2006/relationships/image" Target="../media/image27.png"/><Relationship Id="rId6" Type="http://schemas.openxmlformats.org/officeDocument/2006/relationships/image" Target="../media/image28.png"/><Relationship Id="rId5" Type="http://schemas.openxmlformats.org/officeDocument/2006/relationships/image" Target="../media/image14.png"/><Relationship Id="rId4" Type="http://schemas.openxmlformats.org/officeDocument/2006/relationships/image" Target="../media/image15.jpeg"/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image" Target="../media/image22.png"/><Relationship Id="rId4" Type="http://schemas.openxmlformats.org/officeDocument/2006/relationships/image" Target="../media/image23.png"/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2026年6月7日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学校为三峡集团提供服务汇报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7432" y="329184"/>
            <a:ext cx="12207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汇报内容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58952" y="1627632"/>
            <a:ext cx="10698480" cy="2770632"/>
          </a:xfrm>
          <a:prstGeom prst="roundRect">
            <a:avLst>
              <a:gd name="adj" fmla="val 2640"/>
            </a:avLst>
          </a:prstGeom>
          <a:solidFill>
            <a:srgbClr val="FFFFFF"/>
          </a:solidFill>
          <a:ln w="12700">
            <a:solidFill>
              <a:srgbClr val="00469A"/>
            </a:solidFill>
            <a:prstDash val="sysDash"/>
          </a:ln>
        </p:spPr>
      </p:sp>
      <p:sp>
        <p:nvSpPr>
          <p:cNvPr id="4" name="Shape 2"/>
          <p:cNvSpPr/>
          <p:nvPr/>
        </p:nvSpPr>
        <p:spPr>
          <a:xfrm>
            <a:off x="1920240" y="1993392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0" y="1993392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2002536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364992" y="2002536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新材料与绿色建材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20240" y="2433218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433218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442362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64992" y="2442362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船舶与海洋工程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920240" y="2873045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873045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2882189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64992" y="2882189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光纤传感与光电技术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920240" y="3312871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312871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3322015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364992" y="3322015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资源环境与安全应急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20240" y="3752698"/>
            <a:ext cx="1207008" cy="380390"/>
          </a:xfrm>
          <a:prstGeom prst="rect">
            <a:avLst/>
          </a:prstGeom>
          <a:solidFill>
            <a:srgbClr val="FFD966"/>
          </a:solidFill>
          <a:ln w="12700">
            <a:solidFill>
              <a:srgbClr val="FFD9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3752698"/>
            <a:ext cx="8083296" cy="380390"/>
          </a:xfrm>
          <a:prstGeom prst="rect">
            <a:avLst/>
          </a:prstGeom>
          <a:solidFill>
            <a:srgbClr val="00469A"/>
          </a:solidFill>
          <a:ln w="12700">
            <a:solidFill>
              <a:srgbClr val="0046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20240" y="3761842"/>
            <a:ext cx="120700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46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364992" y="3761842"/>
            <a:ext cx="77541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土木建筑与城乡发展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0" y="6556248"/>
            <a:ext cx="12188952" cy="329184"/>
          </a:xfrm>
          <a:prstGeom prst="rect">
            <a:avLst/>
          </a:prstGeom>
          <a:solidFill>
            <a:srgbClr val="0B5AA2"/>
          </a:solidFill>
          <a:ln w="12700">
            <a:solidFill>
              <a:srgbClr val="0B5A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6556248"/>
            <a:ext cx="1755648" cy="329184"/>
          </a:xfrm>
          <a:prstGeom prst="rect">
            <a:avLst/>
          </a:prstGeom>
          <a:solidFill>
            <a:srgbClr val="FBC540"/>
          </a:solidFill>
          <a:ln w="12700">
            <a:solidFill>
              <a:srgbClr val="FBC54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、新材料与绿色建材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655573" y="711771"/>
            <a:ext cx="8251825" cy="1025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9892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01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复杂施工条件下绿色低成本混凝土设计、</a:t>
            </a:r>
            <a:r>
              <a:rPr sz="2300" b="1" kern="0" spc="-4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制备与养护关键技术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1.2 枢纽建筑混凝土制备与应用关键技术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3023" y="1935480"/>
            <a:ext cx="3215640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909059" y="1953767"/>
            <a:ext cx="3108959" cy="2311908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959596" y="1935479"/>
            <a:ext cx="3063240" cy="221132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959596" y="4440935"/>
            <a:ext cx="3063240" cy="1947672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110483" y="4713731"/>
            <a:ext cx="3806952" cy="154686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06552" y="4695444"/>
            <a:ext cx="2481071" cy="1565147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744805" y="3929468"/>
            <a:ext cx="2399562" cy="1178331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501457" y="4317034"/>
            <a:ext cx="436752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地材成分复杂、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石粉含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泥量高、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材质波动大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6873220" y="4218315"/>
            <a:ext cx="1797050" cy="5727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264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7795" indent="-125095" algn="l" rtl="0" eaLnBrk="0">
              <a:lnSpc>
                <a:spcPct val="91000"/>
              </a:lnSpc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混凝土流变、</a:t>
            </a:r>
            <a:r>
              <a:rPr sz="2000" b="1" kern="0" spc="-27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化性能难调控</a:t>
            </a:r>
            <a:endParaRPr sz="20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8979572" y="4162311"/>
            <a:ext cx="299466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6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流动性经时损失大、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过早固化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2362098" y="6321145"/>
            <a:ext cx="2995295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7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施工地点温差大、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距离长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9041548" y="6450672"/>
            <a:ext cx="2765425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混凝土体积不稳定导致开裂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63841" y="1086548"/>
            <a:ext cx="4681283" cy="5454027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655726" y="1117612"/>
            <a:ext cx="6419850" cy="20250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混凝土复杂施工条件性能精确调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控关键技术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混凝土绿色低碳化设计与低成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本制备技术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水工混凝土抗裂增强设计与表面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强化技术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3D打印功能混凝土材料的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设计与制备技术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37095" y="4876228"/>
            <a:ext cx="6387795" cy="1664347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488238" y="3211360"/>
            <a:ext cx="6436652" cy="1581454"/>
            <a:chOff x="0" y="0"/>
            <a:chExt cx="6436652" cy="1581454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6436652" cy="1581454"/>
            </a:xfrm>
            <a:prstGeom prst="rect">
              <a:avLst/>
            </a:prstGeom>
          </p:spPr>
        </p:pic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3347669" y="150583"/>
              <a:ext cx="2836163" cy="1184147"/>
            </a:xfrm>
            <a:prstGeom prst="rect">
              <a:avLst/>
            </a:prstGeom>
          </p:spPr>
        </p:pic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317957" y="270979"/>
              <a:ext cx="2836164" cy="1034796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1454327" y="1319695"/>
              <a:ext cx="4147820" cy="264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49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2000"/>
                </a:lnSpc>
                <a:tabLst/>
              </a:pPr>
              <a:r>
                <a:rPr sz="1700" b="1" kern="0" spc="90" dirty="0">
                  <a:solidFill>
                    <a:srgbClr val="002060">
                      <a:alpha val="100000"/>
                    </a:srgbClr>
                  </a:solidFill>
                  <a:latin typeface="KaiTi"/>
                  <a:ea typeface="KaiTi"/>
                  <a:cs typeface="KaiTi"/>
                </a:rPr>
                <a:t>水工混凝土抗裂增强设计与表面强化技术</a:t>
              </a:r>
              <a:endParaRPr sz="1700" dirty="0">
                <a:latin typeface="KaiTi"/>
                <a:ea typeface="KaiTi"/>
                <a:cs typeface="KaiTi"/>
              </a:endParaRPr>
            </a:p>
          </p:txBody>
        </p:sp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280147" y="3950207"/>
            <a:ext cx="4360163" cy="2150364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860035" y="5058155"/>
            <a:ext cx="1903476" cy="1162811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1703146" y="6221755"/>
            <a:ext cx="3975734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按需固化</a:t>
            </a: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3D</a:t>
            </a: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功能混凝土设计与制备技</a:t>
            </a:r>
            <a:r>
              <a:rPr sz="1700" b="1" kern="0" spc="8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术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7637538" y="6147803"/>
            <a:ext cx="3909695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8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混凝土综合性能精确调</a:t>
            </a:r>
            <a:r>
              <a:rPr sz="1700" b="1" kern="0" spc="8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控外加剂生产线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8088338" y="3576078"/>
            <a:ext cx="300101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9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绿色低碳混凝土胶凝组分</a:t>
            </a:r>
            <a:r>
              <a:rPr sz="1700" b="1" kern="0" spc="80" dirty="0">
                <a:solidFill>
                  <a:srgbClr val="002060">
                    <a:alpha val="100000"/>
                  </a:srgbClr>
                </a:solidFill>
                <a:latin typeface="KaiTi"/>
                <a:ea typeface="KaiTi"/>
                <a:cs typeface="KaiTi"/>
              </a:rPr>
              <a:t>设计</a:t>
            </a:r>
            <a:endParaRPr sz="1700" dirty="0">
              <a:latin typeface="KaiTi"/>
              <a:ea typeface="KaiTi"/>
              <a:cs typeface="KaiT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4217413" y="5424652"/>
            <a:ext cx="327659" cy="371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5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1300" kern="0" spc="-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</a:t>
            </a:r>
            <a:endParaRPr sz="1300" dirty="0">
              <a:latin typeface="Microsoft YaHei"/>
              <a:ea typeface="Microsoft YaHei"/>
              <a:cs typeface="Microsoft YaHei"/>
            </a:endParaRPr>
          </a:p>
          <a:p>
            <a:pPr algn="r" rtl="0" eaLnBrk="0">
              <a:lnSpc>
                <a:spcPct val="87000"/>
              </a:lnSpc>
              <a:spcBef>
                <a:spcPts val="10"/>
              </a:spcBef>
              <a:tabLst/>
            </a:pPr>
            <a:r>
              <a:rPr sz="13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 sz="1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6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457700" y="1482852"/>
            <a:ext cx="3421380" cy="2429255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125967" y="1473708"/>
            <a:ext cx="3340608" cy="2438400"/>
          </a:xfrm>
          <a:prstGeom prst="rect">
            <a:avLst/>
          </a:prstGeom>
        </p:spPr>
      </p:pic>
      <p:pic>
        <p:nvPicPr>
          <p:cNvPr id="70" name="picture 7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045196" y="4440935"/>
            <a:ext cx="3421379" cy="1897379"/>
          </a:xfrm>
          <a:prstGeom prst="rect">
            <a:avLst/>
          </a:prstGeom>
        </p:spPr>
      </p:pic>
      <p:pic>
        <p:nvPicPr>
          <p:cNvPr id="72" name="picture 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57700" y="4515611"/>
            <a:ext cx="3421380" cy="1821179"/>
          </a:xfrm>
          <a:prstGeom prst="rect">
            <a:avLst/>
          </a:prstGeom>
        </p:spPr>
      </p:pic>
      <p:sp>
        <p:nvSpPr>
          <p:cNvPr id="74" name="textbox 74"/>
          <p:cNvSpPr/>
          <p:nvPr/>
        </p:nvSpPr>
        <p:spPr>
          <a:xfrm>
            <a:off x="299402" y="4919090"/>
            <a:ext cx="3613784" cy="15360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374"/>
              </a:lnSpc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省部级奖励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余项（一等奖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6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项）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36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申请国际、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国内发明专利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余项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452"/>
              </a:spcBef>
              <a:tabLst/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授权发明专利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r>
              <a:rPr sz="17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余项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•  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发表高水平论文 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500 </a:t>
            </a:r>
            <a:r>
              <a:rPr sz="17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余篇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6" name="picture 7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208788" y="1260347"/>
            <a:ext cx="1946147" cy="2630423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299716" y="1260347"/>
            <a:ext cx="1911095" cy="2630423"/>
          </a:xfrm>
          <a:prstGeom prst="rect">
            <a:avLst/>
          </a:prstGeom>
        </p:spPr>
      </p:pic>
      <p:sp>
        <p:nvSpPr>
          <p:cNvPr id="80" name="textbox 80"/>
          <p:cNvSpPr/>
          <p:nvPr/>
        </p:nvSpPr>
        <p:spPr>
          <a:xfrm>
            <a:off x="203844" y="3904415"/>
            <a:ext cx="4340225" cy="5949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2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47065" algn="l" rtl="0" eaLnBrk="0">
              <a:lnSpc>
                <a:spcPct val="87000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低环境负荷水泥、深水隧道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300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功能材料制备与应用</a:t>
            </a:r>
            <a:r>
              <a:rPr sz="2000" b="1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获国家科</a:t>
            </a:r>
            <a:r>
              <a:rPr sz="2000" b="1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技进步奖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4889476" y="3947033"/>
            <a:ext cx="2566670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玉龙喀什水利枢纽工程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8600922" y="6369253"/>
            <a:ext cx="231521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河南驻马店宿鸭湖水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库</a:t>
            </a:r>
            <a:endParaRPr sz="1700" dirty="0">
              <a:latin typeface="SimSun"/>
              <a:ea typeface="SimSun"/>
              <a:cs typeface="SimSu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340293" y="6357569"/>
            <a:ext cx="1543685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-3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武汉长江隧道</a:t>
            </a:r>
            <a:endParaRPr sz="2000" dirty="0">
              <a:latin typeface="SimSun"/>
              <a:ea typeface="SimSun"/>
              <a:cs typeface="SimSun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9010238" y="3967226"/>
            <a:ext cx="1522730" cy="2876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-5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中马友谊大桥</a:t>
            </a:r>
            <a:endParaRPr sz="2000" dirty="0">
              <a:latin typeface="SimSun"/>
              <a:ea typeface="SimSun"/>
              <a:cs typeface="SimSu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25068" y="2631947"/>
            <a:ext cx="5519928" cy="3887723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20929" y="711771"/>
            <a:ext cx="11853544" cy="1685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357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66"/>
              </a:spcBef>
              <a:tabLst/>
            </a:pP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混凝土制品产量大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流程复杂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，信息化程度低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监管难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，溯源难。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高强、</a:t>
            </a:r>
            <a:r>
              <a:rPr sz="2300" b="1" kern="0" spc="-5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高耐久、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7000"/>
              </a:lnSpc>
              <a:spcBef>
                <a:spcPts val="362"/>
              </a:spcBef>
              <a:tabLst/>
            </a:pP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抗污染、</a:t>
            </a:r>
            <a:r>
              <a:rPr sz="2300" b="1" kern="0" spc="-4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耐磨损、</a:t>
            </a:r>
            <a:r>
              <a:rPr sz="2300" b="1" kern="0" spc="-5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可交互数字骨料</a:t>
            </a:r>
            <a:r>
              <a:rPr sz="2300" b="1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实现混凝土设计、</a:t>
            </a:r>
            <a:r>
              <a:rPr sz="2300" b="1" kern="0" spc="-54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生产、</a:t>
            </a:r>
            <a:r>
              <a:rPr sz="2300" b="1" kern="0" spc="-5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安装、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运行、</a:t>
            </a:r>
            <a:r>
              <a:rPr sz="2300" b="1" kern="0" spc="-5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维护、</a:t>
            </a:r>
            <a:r>
              <a:rPr sz="23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拆除</a:t>
            </a: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全生命周期</a:t>
            </a:r>
            <a:r>
              <a:rPr sz="23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的数字化管理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58356" y="2631947"/>
            <a:ext cx="4224528" cy="3887723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4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1.4 数字骨料技术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1587792" y="2110257"/>
            <a:ext cx="9089732" cy="4064571"/>
            <a:chOff x="0" y="0"/>
            <a:chExt cx="9089732" cy="406457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9089732" cy="4064571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4033391" y="1263696"/>
              <a:ext cx="4821554" cy="26555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2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997075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860~960MHz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频率可读可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marL="1991995" indent="1270" algn="l" rtl="0" eaLnBrk="0">
                <a:lnSpc>
                  <a:spcPct val="122000"/>
                </a:lnSpc>
                <a:spcBef>
                  <a:spcPts val="5"/>
                </a:spcBef>
                <a:tabLst/>
              </a:pP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写</a:t>
              </a:r>
              <a:r>
                <a:rPr sz="2000" b="1" kern="0" spc="-30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，可重复擦写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万次</a:t>
              </a:r>
              <a:r>
                <a:rPr sz="2000" b="1" kern="0" spc="-34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，</a:t>
              </a:r>
              <a:r>
                <a:rPr sz="2000" b="1" kern="0" spc="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读写距离</a:t>
              </a:r>
              <a:r>
                <a:rPr sz="2000" b="1" kern="0" spc="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0.5~6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m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；采用</a:t>
              </a:r>
              <a:r>
                <a:rPr sz="2000" b="1" kern="0" spc="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 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ISO</a:t>
              </a:r>
              <a:r>
                <a:rPr sz="2000" b="1" kern="0" spc="20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18000-6C </a:t>
              </a:r>
              <a:r>
                <a:rPr sz="2000" b="1" kern="0" spc="-3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工作协议，</a:t>
              </a: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抗金属干扰。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spcBef>
                  <a:spcPts val="2"/>
                </a:spcBef>
                <a:tabLst/>
              </a:pPr>
              <a:r>
                <a:rPr sz="2000" b="1" kern="0" spc="-1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技术原理与优势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" name="textbox 14"/>
          <p:cNvSpPr/>
          <p:nvPr/>
        </p:nvSpPr>
        <p:spPr>
          <a:xfrm>
            <a:off x="655726" y="420509"/>
            <a:ext cx="10991850" cy="15881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开发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高强、</a:t>
            </a:r>
            <a:r>
              <a:rPr sz="23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高耐久、</a:t>
            </a:r>
            <a:r>
              <a:rPr sz="2300" b="1" kern="0" spc="-5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抗污染、</a:t>
            </a:r>
            <a:r>
              <a:rPr sz="2300" b="1" kern="0" spc="-4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耐磨损、</a:t>
            </a:r>
            <a:r>
              <a:rPr sz="2300" b="1" kern="0" spc="-5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可交互数字骨料</a:t>
            </a:r>
            <a:r>
              <a:rPr sz="2300" b="1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实现混凝土设计、</a:t>
            </a:r>
            <a:r>
              <a:rPr sz="2300" b="1" kern="0" spc="-54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618490" algn="l" rtl="0" eaLnBrk="0">
              <a:lnSpc>
                <a:spcPts val="4151"/>
              </a:lnSpc>
              <a:tabLst/>
            </a:pP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产、运输、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安装、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运行、</a:t>
            </a:r>
            <a:r>
              <a:rPr sz="2300" b="1" kern="0" spc="-5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维护、</a:t>
            </a:r>
            <a:r>
              <a:rPr sz="2300" b="1" kern="0" spc="-55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拆除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全生命周期</a:t>
            </a:r>
            <a:r>
              <a:rPr sz="2300" b="1" kern="0" spc="8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3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数字化管理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73531" y="1056297"/>
            <a:ext cx="9985082" cy="5559819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1213103" y="3564636"/>
            <a:ext cx="4671059" cy="2641091"/>
            <a:chOff x="0" y="0"/>
            <a:chExt cx="4671059" cy="2641091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71059" cy="2641091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82486" y="62470"/>
              <a:ext cx="935989" cy="254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管桩堆放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8421664" y="3500368"/>
            <a:ext cx="2390464" cy="2780918"/>
            <a:chOff x="0" y="0"/>
            <a:chExt cx="2390464" cy="2780918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390464" cy="2780918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156131" y="127196"/>
              <a:ext cx="93726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1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信息读取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042659" y="3564635"/>
            <a:ext cx="2275332" cy="2642616"/>
            <a:chOff x="0" y="0"/>
            <a:chExt cx="2275332" cy="2642616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275332" cy="2642616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81572" y="62928"/>
              <a:ext cx="93726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1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信息读取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593591" y="1185671"/>
            <a:ext cx="2290572" cy="2305811"/>
            <a:chOff x="0" y="0"/>
            <a:chExt cx="2290572" cy="2305811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2290572" cy="2305811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88366" y="14008"/>
              <a:ext cx="159511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374"/>
                </a:lnSpc>
                <a:tabLst/>
              </a:pPr>
              <a:r>
                <a:rPr sz="1700" b="1" kern="0" spc="7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C80混凝土浇筑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8476488" y="1185671"/>
            <a:ext cx="2261615" cy="2305811"/>
            <a:chOff x="0" y="0"/>
            <a:chExt cx="2261615" cy="2305811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261615" cy="2305811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88277" y="14008"/>
              <a:ext cx="127253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2374"/>
                </a:lnSpc>
                <a:tabLst/>
              </a:pPr>
              <a:r>
                <a:rPr sz="17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85℃蒸养8h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1197863" y="1185671"/>
            <a:ext cx="2260091" cy="2305811"/>
            <a:chOff x="0" y="0"/>
            <a:chExt cx="2260091" cy="2305811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260091" cy="2305811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81127" y="62014"/>
              <a:ext cx="1395730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2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数字骨料预埋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6065520" y="1185671"/>
            <a:ext cx="2252472" cy="2305811"/>
            <a:chOff x="0" y="0"/>
            <a:chExt cx="2252472" cy="2305811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252472" cy="2305811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230085" y="60642"/>
              <a:ext cx="93535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86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高速离心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48" name="textbox 4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4408238" y="6270962"/>
            <a:ext cx="3072129" cy="288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2000" b="1" kern="0" spc="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数字骨料用于管桩智</a:t>
            </a:r>
            <a:r>
              <a:rPr sz="2000" b="1" kern="0" spc="-1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能管理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28688" y="836155"/>
            <a:ext cx="7947659" cy="5062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38848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693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水运及水利工程大体积混凝土亟需控制裂缝和提升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外观质量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2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</a:t>
            </a:r>
            <a:r>
              <a:rPr sz="2000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易出现裂缝、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影响耐久性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4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修补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提高了工程造价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ts val="2588"/>
              </a:lnSpc>
              <a:spcBef>
                <a:spcPts val="610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廊道混凝土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由于其特殊结构</a:t>
            </a:r>
            <a:r>
              <a:rPr sz="2000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服役1-2年面临含砂石水流</a:t>
            </a:r>
            <a:r>
              <a:rPr sz="2000" kern="0" spc="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冲磨破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1315" algn="l" rtl="0" eaLnBrk="0">
              <a:lnSpc>
                <a:spcPts val="3365"/>
              </a:lnSpc>
              <a:tabLst/>
            </a:pP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坏</a:t>
            </a:r>
            <a:r>
              <a:rPr sz="2000" kern="0" spc="-24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5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，需要反复维修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4925" algn="l" rtl="0" eaLnBrk="0">
              <a:lnSpc>
                <a:spcPct val="93000"/>
              </a:lnSpc>
              <a:spcBef>
                <a:spcPts val="601"/>
              </a:spcBef>
              <a:tabLst>
                <a:tab pos="215900" algn="l"/>
              </a:tabLst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kern="0" spc="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水运及水利工程现场部分外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露构件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容易出现色差、</a:t>
            </a:r>
            <a:r>
              <a:rPr sz="2000" kern="0" spc="-4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裂缝、</a:t>
            </a:r>
            <a:r>
              <a:rPr sz="2000" kern="0" spc="-48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水纹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360045" algn="l" rtl="0" eaLnBrk="0">
              <a:lnSpc>
                <a:spcPts val="3455"/>
              </a:lnSpc>
              <a:tabLst/>
            </a:pP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和气泡等外观质量问题</a:t>
            </a:r>
            <a:r>
              <a:rPr sz="2000" kern="0" spc="-30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kern="0" spc="-1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其外观质量有待进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一步研究和改善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64175" y="5164621"/>
            <a:ext cx="180790" cy="282135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64175" y="3945421"/>
            <a:ext cx="180790" cy="282135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64175" y="2726221"/>
            <a:ext cx="180790" cy="28213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062872" y="1136766"/>
            <a:ext cx="2585155" cy="5721233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1.1 水运及水利工程大体积混凝土控裂及外观质量提升成套技术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76334" y="3633215"/>
            <a:ext cx="6206405" cy="3111098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517639" y="1329563"/>
            <a:ext cx="58102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低温升高抗裂清水大体积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廊道高抗冲磨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UHPC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量控制技术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0339" y="2988183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0339" y="243954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30339" y="189090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0339" y="1342263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70064" y="3913632"/>
            <a:ext cx="4704588" cy="229362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298180" y="1133855"/>
            <a:ext cx="2846832" cy="2308860"/>
          </a:xfrm>
          <a:prstGeom prst="rect">
            <a:avLst/>
          </a:prstGeom>
        </p:spPr>
      </p:pic>
      <p:sp>
        <p:nvSpPr>
          <p:cNvPr id="30" name="textbox 30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7963801" y="6358496"/>
            <a:ext cx="3908425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大体积混凝土全过程施工质量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8694991" y="3491954"/>
            <a:ext cx="2308860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1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廊道抗冲磨混凝土技术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9064" y="198391"/>
            <a:ext cx="11489593" cy="6659608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300228" y="2938271"/>
            <a:ext cx="11619230" cy="1385569"/>
          </a:xfrm>
          <a:prstGeom prst="rect">
            <a:avLst/>
          </a:prstGeom>
          <a:solidFill>
            <a:srgbClr val="FFFF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8425" indent="-1905" algn="l" rtl="0" eaLnBrk="0">
              <a:lnSpc>
                <a:spcPct val="99000"/>
              </a:lnSpc>
              <a:spcBef>
                <a:spcPts val="4"/>
              </a:spcBef>
              <a:tabLst/>
            </a:pP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研究成果在万安枢纽二线船闸、</a:t>
            </a:r>
            <a:r>
              <a:rPr sz="2700" kern="0" spc="-6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新干船闸、</a:t>
            </a:r>
            <a:r>
              <a:rPr sz="2700" kern="0" spc="-6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井冈山船闸、</a:t>
            </a:r>
            <a:r>
              <a:rPr sz="2700" kern="0" spc="-6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石虎塘船闸、</a:t>
            </a:r>
            <a:r>
              <a:rPr sz="2700" kern="0" spc="-6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界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牌船闸、</a:t>
            </a:r>
            <a:r>
              <a:rPr sz="2700" kern="0" spc="-6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汉江雅口航运枢纽工程工程进行全面应用</a:t>
            </a:r>
            <a:r>
              <a:rPr sz="2700" kern="0" spc="-3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，取得良好的控裂效果，</a:t>
            </a:r>
            <a:r>
              <a:rPr sz="2700" kern="0" spc="6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工程均未出现危害性温度</a:t>
            </a:r>
            <a:r>
              <a:rPr sz="2700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裂缝。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89627" y="126996"/>
            <a:ext cx="3966976" cy="281933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08941" y="151982"/>
            <a:ext cx="3966076" cy="28116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、船舶与海洋工程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4515586" y="1923288"/>
            <a:ext cx="3575329" cy="4597870"/>
            <a:chOff x="0" y="0"/>
            <a:chExt cx="3575329" cy="459787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3575329" cy="4597870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53009" y="75562"/>
              <a:ext cx="3159125" cy="146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6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13384" algn="l" rtl="0" eaLnBrk="0">
                <a:lnSpc>
                  <a:spcPct val="88000"/>
                </a:lnSpc>
                <a:tabLst/>
              </a:pPr>
              <a:r>
                <a:rPr sz="2700" kern="0" spc="7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电动船储能电池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80670" indent="-267970" algn="l" rtl="0" eaLnBrk="0">
                <a:lnSpc>
                  <a:spcPct val="107000"/>
                </a:lnSpc>
                <a:spcBef>
                  <a:spcPts val="3"/>
                </a:spcBef>
                <a:tabLst>
                  <a:tab pos="258445" algn="l"/>
                </a:tabLst>
              </a:pP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电动船</a:t>
              </a:r>
              <a:r>
                <a:rPr sz="2300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储能电站/电池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热失控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及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燃爆防控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5709" y="811898"/>
              <a:ext cx="245973" cy="337718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353593" y="2766059"/>
              <a:ext cx="2715767" cy="940308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440461" y="1563623"/>
              <a:ext cx="1577339" cy="1039367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3963" y="1929383"/>
            <a:ext cx="3491483" cy="4598708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8494776" y="1923288"/>
            <a:ext cx="3480815" cy="4604804"/>
            <a:chOff x="0" y="0"/>
            <a:chExt cx="3480815" cy="4604804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480815" cy="460480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31958" y="78250"/>
              <a:ext cx="3221354" cy="3507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252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危险化学品等运输物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6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49884" indent="-264795" algn="l" rtl="0" eaLnBrk="0">
                <a:lnSpc>
                  <a:spcPct val="97000"/>
                </a:lnSpc>
                <a:spcBef>
                  <a:spcPts val="699"/>
                </a:spcBef>
                <a:tabLst>
                  <a:tab pos="331470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11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危险化学品</a:t>
              </a:r>
              <a:r>
                <a:rPr sz="2300" kern="0" spc="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储罐火灾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342900" indent="-264795" algn="l" rtl="0" eaLnBrk="0">
                <a:lnSpc>
                  <a:spcPct val="107000"/>
                </a:lnSpc>
                <a:spcBef>
                  <a:spcPts val="5"/>
                </a:spcBef>
                <a:tabLst>
                  <a:tab pos="324484" algn="l"/>
                </a:tabLst>
              </a:pPr>
              <a:r>
                <a:rPr sz="2300" kern="0" spc="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300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煤炭/石油/天然气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等</a:t>
              </a:r>
              <a:r>
                <a:rPr sz="23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运输物火灾安全防控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0604" y="2862160"/>
              <a:ext cx="245973" cy="337718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17538" y="795451"/>
              <a:ext cx="245973" cy="337718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1778508" y="1595628"/>
              <a:ext cx="1488947" cy="1129283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18516" y="1595627"/>
              <a:ext cx="1335023" cy="1107947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365759" y="3590544"/>
              <a:ext cx="1434083" cy="9174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1940051" y="3598163"/>
              <a:ext cx="1280159" cy="922019"/>
            </a:xfrm>
            <a:prstGeom prst="rect">
              <a:avLst/>
            </a:prstGeom>
          </p:spPr>
        </p:pic>
      </p:grpSp>
      <p:sp>
        <p:nvSpPr>
          <p:cNvPr id="30" name="textbox 30"/>
          <p:cNvSpPr/>
          <p:nvPr/>
        </p:nvSpPr>
        <p:spPr>
          <a:xfrm>
            <a:off x="1524" y="0"/>
            <a:ext cx="12190730" cy="706119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5.1 船舶及航道构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筑物智慧消防关键技术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35127" y="2007191"/>
            <a:ext cx="3028950" cy="13690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1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7004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船舶及航道构筑物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4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76225" indent="-263525" algn="l" rtl="0" eaLnBrk="0">
              <a:lnSpc>
                <a:spcPct val="97000"/>
              </a:lnSpc>
              <a:spcBef>
                <a:spcPts val="2"/>
              </a:spcBef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典型船型</a:t>
            </a:r>
            <a:r>
              <a:rPr sz="2300" kern="0" spc="1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特殊消防系</a:t>
            </a:r>
            <a:r>
              <a:rPr sz="2300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47827" y="2682912"/>
            <a:ext cx="245973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635127" y="4427270"/>
            <a:ext cx="3159125" cy="808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1465" indent="-278765" algn="l" rtl="0" eaLnBrk="0">
              <a:lnSpc>
                <a:spcPct val="112000"/>
              </a:lnSpc>
              <a:tabLst>
                <a:tab pos="258445" algn="l"/>
              </a:tabLst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升船机/船</a:t>
            </a:r>
            <a:r>
              <a:rPr sz="2700" kern="0" spc="-50" baseline="69451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cv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闸通航等</a:t>
            </a:r>
            <a:r>
              <a:rPr sz="2300" kern="0" spc="-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</a:t>
            </a:r>
            <a:r>
              <a:rPr sz="2300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防安全与应急救援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47827" y="4511712"/>
            <a:ext cx="245973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2253995" y="3421379"/>
            <a:ext cx="1389887" cy="972311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824483" y="3445763"/>
            <a:ext cx="1316736" cy="9418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2264664" y="5361431"/>
            <a:ext cx="1295400" cy="949451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678806" y="983094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73251" y="5369051"/>
            <a:ext cx="1267968" cy="93421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50500" y="1082764"/>
            <a:ext cx="11734040" cy="5519151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89548" y="3747516"/>
            <a:ext cx="5541263" cy="2688336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09600" y="3741420"/>
            <a:ext cx="5170932" cy="2694432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32220" y="1170432"/>
            <a:ext cx="5437632" cy="246735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533831" y="1422412"/>
            <a:ext cx="5509895" cy="20186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6000"/>
              </a:lnSpc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火灾智慧识别与大数据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应急响应技术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6509" algn="l" rtl="0" eaLnBrk="0">
              <a:lnSpc>
                <a:spcPct val="96000"/>
              </a:lnSpc>
              <a:spcBef>
                <a:spcPts val="1671"/>
              </a:spcBef>
              <a:tabLst>
                <a:tab pos="233045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高精度火灾态势预测技术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74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新能源及储能火灾安全防控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多相灭火介质高效抑火技术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46531" y="3090087"/>
            <a:ext cx="216408" cy="33771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46531" y="2541447"/>
            <a:ext cx="216408" cy="33771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0659" y="1983752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50659" y="1435112"/>
            <a:ext cx="216408" cy="337718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4035501" y="28888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" y="1455420"/>
            <a:ext cx="5084063" cy="2514600"/>
          </a:xfrm>
          <a:prstGeom prst="rect">
            <a:avLst/>
          </a:prstGeom>
        </p:spPr>
      </p:pic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356615" y="900683"/>
          <a:ext cx="5496559" cy="3147060"/>
        </p:xfrm>
        <a:graphic>
          <a:graphicData uri="http://schemas.openxmlformats.org/drawingml/2006/table">
            <a:tbl>
              <a:tblPr/>
              <a:tblGrid>
                <a:gridCol w="5496559"/>
              </a:tblGrid>
              <a:tr h="5207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7472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7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舰船智慧消防系统设计</a:t>
                      </a:r>
                      <a:endParaRPr sz="27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698"/>
                    </a:solidFill>
                  </a:tcPr>
                </a:tc>
              </a:tr>
              <a:tr h="26263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7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58110" algn="l" rtl="0" eaLnBrk="0">
                        <a:lnSpc>
                          <a:spcPts val="1024"/>
                        </a:lnSpc>
                        <a:tabLst/>
                      </a:pPr>
                      <a:r>
                        <a:rPr sz="17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cv</a:t>
                      </a:r>
                      <a:endParaRPr sz="17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469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370331" y="4101083"/>
            <a:ext cx="5497067" cy="2676384"/>
            <a:chOff x="0" y="0"/>
            <a:chExt cx="5497067" cy="2676384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5497067" cy="2676384"/>
            </a:xfrm>
            <a:prstGeom prst="rect">
              <a:avLst/>
            </a:prstGeom>
          </p:spPr>
        </p:pic>
        <p:pic>
          <p:nvPicPr>
            <p:cNvPr id="76" name="picture 7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2802635" y="675132"/>
              <a:ext cx="2598420" cy="1958339"/>
            </a:xfrm>
            <a:prstGeom prst="rect">
              <a:avLst/>
            </a:prstGeom>
          </p:spPr>
        </p:pic>
        <p:pic>
          <p:nvPicPr>
            <p:cNvPr id="78" name="picture 7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6784" y="699516"/>
              <a:ext cx="2479547" cy="1787651"/>
            </a:xfrm>
            <a:prstGeom prst="rect">
              <a:avLst/>
            </a:prstGeom>
          </p:spPr>
        </p:pic>
        <p:sp>
          <p:nvSpPr>
            <p:cNvPr id="80" name="textbox 80"/>
            <p:cNvSpPr/>
            <p:nvPr/>
          </p:nvSpPr>
          <p:spPr>
            <a:xfrm>
              <a:off x="428136" y="76805"/>
              <a:ext cx="4644390" cy="3854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12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27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锂电池热失控及抑火技术应用</a:t>
              </a:r>
              <a:endParaRPr sz="2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6204241" y="1363979"/>
            <a:ext cx="5476531" cy="2684145"/>
            <a:chOff x="0" y="0"/>
            <a:chExt cx="5476531" cy="2684145"/>
          </a:xfrm>
        </p:grpSpPr>
        <p:pic>
          <p:nvPicPr>
            <p:cNvPr id="82" name="picture 8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5476531" cy="2684145"/>
            </a:xfrm>
            <a:prstGeom prst="rect">
              <a:avLst/>
            </a:prstGeom>
          </p:spPr>
        </p:pic>
        <p:sp>
          <p:nvSpPr>
            <p:cNvPr id="84" name="textbox 84"/>
            <p:cNvSpPr/>
            <p:nvPr/>
          </p:nvSpPr>
          <p:spPr>
            <a:xfrm>
              <a:off x="2631211" y="1303312"/>
              <a:ext cx="224154" cy="155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ts val="1024"/>
                </a:lnSpc>
                <a:tabLst/>
              </a:pPr>
              <a:r>
                <a:rPr sz="1700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cv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6196583" y="4107179"/>
            <a:ext cx="5497068" cy="2642578"/>
            <a:chOff x="0" y="0"/>
            <a:chExt cx="5497068" cy="2642578"/>
          </a:xfrm>
        </p:grpSpPr>
        <p:pic>
          <p:nvPicPr>
            <p:cNvPr id="86" name="picture 8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5497068" cy="2642578"/>
            </a:xfrm>
            <a:prstGeom prst="rect">
              <a:avLst/>
            </a:prstGeom>
          </p:spPr>
        </p:pic>
        <p:pic>
          <p:nvPicPr>
            <p:cNvPr id="88" name="picture 8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179832" y="603503"/>
              <a:ext cx="2662427" cy="1959864"/>
            </a:xfrm>
            <a:prstGeom prst="rect">
              <a:avLst/>
            </a:prstGeom>
          </p:spPr>
        </p:pic>
        <p:pic>
          <p:nvPicPr>
            <p:cNvPr id="90" name="picture 9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2996183" y="551688"/>
              <a:ext cx="2369819" cy="2046732"/>
            </a:xfrm>
            <a:prstGeom prst="rect">
              <a:avLst/>
            </a:prstGeom>
          </p:spPr>
        </p:pic>
        <p:sp>
          <p:nvSpPr>
            <p:cNvPr id="92" name="textbox 92"/>
            <p:cNvSpPr/>
            <p:nvPr/>
          </p:nvSpPr>
          <p:spPr>
            <a:xfrm>
              <a:off x="305701" y="69672"/>
              <a:ext cx="4893945" cy="3340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5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2300" kern="0" spc="9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工程尺度电气设施高效灭火技术应用</a:t>
              </a:r>
              <a:endParaRPr sz="23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94" name="textbox 94"/>
          <p:cNvSpPr/>
          <p:nvPr/>
        </p:nvSpPr>
        <p:spPr>
          <a:xfrm>
            <a:off x="6196583" y="900683"/>
            <a:ext cx="5497195" cy="520065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29689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舰船火灾态势预测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4946700" y="21079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0188" y="2141308"/>
            <a:ext cx="4962016" cy="2106637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7356" y="1647281"/>
            <a:ext cx="11623864" cy="5210718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178295" y="1671827"/>
            <a:ext cx="5856732" cy="2631947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6152895" y="1646428"/>
          <a:ext cx="5907405" cy="2682239"/>
        </p:xfrm>
        <a:graphic>
          <a:graphicData uri="http://schemas.openxmlformats.org/drawingml/2006/table">
            <a:tbl>
              <a:tblPr/>
              <a:tblGrid>
                <a:gridCol w="5907405"/>
              </a:tblGrid>
              <a:tr h="2675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7000" algn="l" rtl="0" eaLnBrk="0">
                        <a:lnSpc>
                          <a:spcPct val="74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4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DengXian"/>
                          <a:ea typeface="DengXian"/>
                          <a:cs typeface="DengXian"/>
                        </a:rPr>
                        <a:t>万元</a:t>
                      </a:r>
                      <a:endParaRPr sz="1400" dirty="0">
                        <a:latin typeface="DengXian"/>
                        <a:ea typeface="DengXian"/>
                        <a:cs typeface="DengXia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box 10"/>
          <p:cNvSpPr/>
          <p:nvPr/>
        </p:nvSpPr>
        <p:spPr>
          <a:xfrm>
            <a:off x="292338" y="711771"/>
            <a:ext cx="9285605" cy="929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62145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72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运输船舶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交通事故数量不断攀升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经济损失巨大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提升航运安全刻不容缓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05038" y="1319515"/>
            <a:ext cx="197923" cy="308871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4234040" y="5380596"/>
            <a:ext cx="7723505" cy="10972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88000"/>
              </a:lnSpc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月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由于驾驶人员疏忽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3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“长赐号”货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轮在苏伊士运河搁浅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船头顶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indent="-635" algn="l" rtl="0" eaLnBrk="0">
              <a:lnSpc>
                <a:spcPct val="162000"/>
              </a:lnSpc>
              <a:spcBef>
                <a:spcPts val="40"/>
              </a:spcBef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住运河东岸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船尾抵在西岸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河道堵塞近一周</a:t>
            </a:r>
            <a:r>
              <a:rPr sz="1700" b="1" kern="0" spc="-26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共有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450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艘船只被堵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在苏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伊士运河</a:t>
            </a:r>
            <a:r>
              <a:rPr sz="1700" b="1" kern="0" spc="-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-4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造成重大影响</a:t>
            </a:r>
            <a:r>
              <a:rPr sz="1700" b="1" kern="0" spc="-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是苏伊士运河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r>
              <a:rPr sz="17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多年历史上最严重的事故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3.4 船舶智能运动</a:t>
            </a:r>
            <a:r>
              <a:rPr sz="27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2356" y="4913376"/>
            <a:ext cx="3393948" cy="1909572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742988" y="1712107"/>
            <a:ext cx="3776345" cy="13277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2017-2022</a:t>
            </a:r>
            <a:r>
              <a:rPr sz="1600" b="1" kern="0" spc="6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年运输船舶交通事</a:t>
            </a:r>
            <a:r>
              <a:rPr sz="1600" b="1" kern="0" spc="50" dirty="0">
                <a:solidFill>
                  <a:srgbClr val="5AA6E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故统计</a:t>
            </a:r>
            <a:endParaRPr sz="1600" dirty="0">
              <a:latin typeface="Microsoft YaHei"/>
              <a:ea typeface="Microsoft YaHei"/>
              <a:cs typeface="Microsoft YaHei"/>
            </a:endParaRPr>
          </a:p>
          <a:p>
            <a:pPr marL="542290" algn="l" rtl="0" eaLnBrk="0">
              <a:lnSpc>
                <a:spcPct val="70000"/>
              </a:lnSpc>
              <a:spcBef>
                <a:spcPts val="431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237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209800" algn="l" rtl="0" eaLnBrk="0">
              <a:lnSpc>
                <a:spcPts val="1039"/>
              </a:lnSpc>
              <a:spcBef>
                <a:spcPts val="957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15265" algn="l" rtl="0" eaLnBrk="0">
              <a:lnSpc>
                <a:spcPts val="1091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176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384935" algn="l" rtl="0" eaLnBrk="0">
              <a:lnSpc>
                <a:spcPts val="983"/>
              </a:lnSpc>
              <a:tabLst/>
            </a:pP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155                                  </a:t>
            </a:r>
            <a:r>
              <a:rPr sz="1400" kern="0" spc="-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153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040764" algn="l" rtl="0" eaLnBrk="0">
              <a:lnSpc>
                <a:spcPct val="82000"/>
              </a:lnSpc>
              <a:spcBef>
                <a:spcPts val="15"/>
              </a:spcBef>
              <a:tabLst/>
            </a:pPr>
            <a:r>
              <a:rPr sz="2100" kern="0" spc="-50" baseline="49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137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744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138</a:t>
            </a:r>
            <a:r>
              <a:rPr sz="1300" kern="0" spc="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</a:t>
            </a:r>
            <a:r>
              <a:rPr sz="2100" kern="0" spc="-50" baseline="-12401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129</a:t>
            </a:r>
            <a:endParaRPr sz="2100" baseline="-12401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356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103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07064" y="3391455"/>
            <a:ext cx="5028565" cy="9137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4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99060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r" rtl="0" eaLnBrk="0">
              <a:lnSpc>
                <a:spcPct val="70000"/>
              </a:lnSpc>
              <a:spcBef>
                <a:spcPts val="575"/>
              </a:spcBef>
              <a:tabLst/>
            </a:pP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2017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2018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2019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2020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2021</a:t>
            </a:r>
            <a:r>
              <a:rPr sz="1400" kern="0" spc="3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</a:t>
            </a:r>
            <a:r>
              <a:rPr sz="1400" kern="0" spc="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400" kern="0" spc="-1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2022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923414" algn="l" rtl="0" eaLnBrk="0">
              <a:lnSpc>
                <a:spcPct val="87000"/>
              </a:lnSpc>
              <a:spcBef>
                <a:spcPts val="9"/>
              </a:spcBef>
              <a:tabLst/>
            </a:pP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事故数</a:t>
            </a:r>
            <a:r>
              <a:rPr sz="1400" b="1" kern="0" spc="5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1400" b="1" kern="0" spc="-10" dirty="0">
                <a:solidFill>
                  <a:srgbClr val="40404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死亡失踪人数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292338" y="4484355"/>
            <a:ext cx="1012380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25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>
                <a:tab pos="210184" algn="l"/>
              </a:tabLst>
            </a:pP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1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大部分事故由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人为因素造成</a:t>
            </a:r>
            <a:r>
              <a:rPr sz="2100" b="1" kern="0" spc="-33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智能船舶作为解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决航运安全的关键</a:t>
            </a:r>
            <a:r>
              <a:rPr sz="2100" b="1" kern="0" spc="-3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100" b="1" kern="0" spc="-5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转型迫在眉睫</a:t>
            </a:r>
            <a:endParaRPr sz="21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05038" y="4497055"/>
            <a:ext cx="197923" cy="308871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613347" y="1816532"/>
            <a:ext cx="384809" cy="141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1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3495" algn="l" rtl="0" eaLnBrk="0">
              <a:lnSpc>
                <a:spcPct val="82000"/>
              </a:lnSpc>
              <a:tabLst/>
            </a:pP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数量</a:t>
            </a:r>
            <a:endParaRPr sz="14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70000"/>
              </a:lnSpc>
              <a:spcBef>
                <a:spcPts val="628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12700" algn="l" rtl="0" eaLnBrk="0">
              <a:lnSpc>
                <a:spcPct val="70000"/>
              </a:lnSpc>
              <a:spcBef>
                <a:spcPts val="1419"/>
              </a:spcBef>
              <a:tabLst/>
            </a:pPr>
            <a:r>
              <a:rPr sz="1400" kern="0" spc="-2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200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marL="29209" algn="l" rtl="0" eaLnBrk="0">
              <a:lnSpc>
                <a:spcPct val="70000"/>
              </a:lnSpc>
              <a:spcBef>
                <a:spcPts val="1424"/>
              </a:spcBef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150</a:t>
            </a:r>
            <a:endParaRPr sz="1400" dirty="0">
              <a:latin typeface="Times New Roman"/>
              <a:ea typeface="Times New Roman"/>
              <a:cs typeface="Times New Roman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8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9209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100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120519" y="2251795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196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1464447" y="2291393"/>
            <a:ext cx="27177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6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190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625986" y="2964569"/>
            <a:ext cx="193039" cy="174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17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0000"/>
              </a:lnSpc>
              <a:tabLst/>
            </a:pPr>
            <a:r>
              <a:rPr sz="1400" kern="0" spc="-50" dirty="0">
                <a:solidFill>
                  <a:srgbClr val="40404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88</a:t>
            </a:r>
            <a:endParaRPr sz="1400"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371588" y="999744"/>
            <a:ext cx="4354068" cy="2118359"/>
            <a:chOff x="0" y="0"/>
            <a:chExt cx="4354068" cy="2118359"/>
          </a:xfrm>
        </p:grpSpPr>
        <p:pic>
          <p:nvPicPr>
            <p:cNvPr id="36" name="picture 3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354068" cy="2118359"/>
            </a:xfrm>
            <a:prstGeom prst="rect">
              <a:avLst/>
            </a:prstGeom>
          </p:spPr>
        </p:pic>
        <p:sp>
          <p:nvSpPr>
            <p:cNvPr id="38" name="textbox 38"/>
            <p:cNvSpPr/>
            <p:nvPr/>
          </p:nvSpPr>
          <p:spPr>
            <a:xfrm>
              <a:off x="1662200" y="61924"/>
              <a:ext cx="1162050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98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80" dirty="0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三峡新通道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733107" y="3165347"/>
            <a:ext cx="2635885" cy="3280854"/>
            <a:chOff x="0" y="0"/>
            <a:chExt cx="2635885" cy="3280854"/>
          </a:xfrm>
        </p:grpSpPr>
        <p:pic>
          <p:nvPicPr>
            <p:cNvPr id="40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42" name="textbox 42"/>
            <p:cNvSpPr/>
            <p:nvPr/>
          </p:nvSpPr>
          <p:spPr>
            <a:xfrm>
              <a:off x="1469828" y="560276"/>
              <a:ext cx="969644" cy="22802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58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水文气象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4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6364" algn="l" rtl="0" eaLnBrk="0">
                <a:lnSpc>
                  <a:spcPct val="87000"/>
                </a:lnSpc>
                <a:spcBef>
                  <a:spcPts val="454"/>
                </a:spcBef>
                <a:tabLst/>
              </a:pPr>
              <a:r>
                <a:rPr sz="1500" b="1" kern="0" spc="6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障碍物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2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数据融合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环境重构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4" name="textbox 44"/>
            <p:cNvSpPr/>
            <p:nvPr/>
          </p:nvSpPr>
          <p:spPr>
            <a:xfrm>
              <a:off x="262260" y="553346"/>
              <a:ext cx="835660" cy="7105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航行条件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5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5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33655" algn="l" rtl="0" eaLnBrk="0">
                <a:lnSpc>
                  <a:spcPct val="87000"/>
                </a:lnSpc>
                <a:spcBef>
                  <a:spcPts val="3"/>
                </a:spcBef>
                <a:tabLst/>
              </a:pPr>
              <a:r>
                <a:rPr sz="1500" b="1" kern="0" spc="5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目标识别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6" name="textbox 46"/>
            <p:cNvSpPr/>
            <p:nvPr/>
          </p:nvSpPr>
          <p:spPr>
            <a:xfrm>
              <a:off x="853033" y="62928"/>
              <a:ext cx="9353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智能感知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6328727" y="3165347"/>
            <a:ext cx="2635885" cy="3280854"/>
            <a:chOff x="0" y="0"/>
            <a:chExt cx="2635885" cy="3280854"/>
          </a:xfrm>
        </p:grpSpPr>
        <p:pic>
          <p:nvPicPr>
            <p:cNvPr id="48" name="picture 4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2635885" cy="3280854"/>
            </a:xfrm>
            <a:prstGeom prst="rect">
              <a:avLst/>
            </a:prstGeom>
          </p:spPr>
        </p:pic>
        <p:sp>
          <p:nvSpPr>
            <p:cNvPr id="50" name="textbox 50"/>
            <p:cNvSpPr/>
            <p:nvPr/>
          </p:nvSpPr>
          <p:spPr>
            <a:xfrm>
              <a:off x="352200" y="1355932"/>
              <a:ext cx="1995170" cy="16325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操纵预报、</a:t>
              </a:r>
              <a:r>
                <a:rPr sz="1500" b="1" kern="0" spc="-32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b="1" kern="0" spc="8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控制模型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60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航向控制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r" rtl="0" eaLnBrk="0">
                <a:lnSpc>
                  <a:spcPts val="4028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航速控制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2" name="textbox 52"/>
            <p:cNvSpPr/>
            <p:nvPr/>
          </p:nvSpPr>
          <p:spPr>
            <a:xfrm>
              <a:off x="534263" y="62928"/>
              <a:ext cx="1392555" cy="2520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64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智能运动控制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3526472" y="3165347"/>
            <a:ext cx="2635884" cy="3280854"/>
            <a:chOff x="0" y="0"/>
            <a:chExt cx="2635884" cy="3280854"/>
          </a:xfrm>
        </p:grpSpPr>
        <p:pic>
          <p:nvPicPr>
            <p:cNvPr id="54" name="picture 5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2635884" cy="3280854"/>
            </a:xfrm>
            <a:prstGeom prst="rect">
              <a:avLst/>
            </a:prstGeom>
          </p:spPr>
        </p:pic>
        <p:sp>
          <p:nvSpPr>
            <p:cNvPr id="56" name="textbox 56"/>
            <p:cNvSpPr/>
            <p:nvPr/>
          </p:nvSpPr>
          <p:spPr>
            <a:xfrm>
              <a:off x="317625" y="1396167"/>
              <a:ext cx="2133600" cy="15614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7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多物理场耦合决策模型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8000"/>
                </a:lnSpc>
                <a:spcBef>
                  <a:spcPts val="455"/>
                </a:spcBef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避碰决策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308100" algn="l" rtl="0" eaLnBrk="0">
                <a:lnSpc>
                  <a:spcPts val="4079"/>
                </a:lnSpc>
                <a:tabLst/>
              </a:pPr>
              <a:r>
                <a:rPr sz="1500" b="1" kern="0" spc="90" dirty="0">
                  <a:solidFill>
                    <a:srgbClr val="0000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航线规划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58" name="textbox 58"/>
            <p:cNvSpPr/>
            <p:nvPr/>
          </p:nvSpPr>
          <p:spPr>
            <a:xfrm>
              <a:off x="544512" y="62014"/>
              <a:ext cx="1395094" cy="2546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68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航行自主决策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pic>
        <p:nvPicPr>
          <p:cNvPr id="60" name="picture 6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104312" y="3306127"/>
            <a:ext cx="2635885" cy="3139440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746328" y="1356334"/>
            <a:ext cx="56959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船舶航行信息智能感知技术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</a:t>
            </a:r>
            <a:r>
              <a:rPr sz="2300" b="1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决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策</a:t>
            </a:r>
            <a:r>
              <a:rPr sz="2300" b="1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及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r>
              <a:rPr sz="23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</a:t>
            </a:r>
            <a:r>
              <a:rPr sz="2300" b="1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体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r>
              <a:rPr sz="2300" b="1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通</a:t>
            </a:r>
            <a:r>
              <a:rPr sz="2300" b="1" kern="0" spc="-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信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</a:t>
            </a:r>
            <a:r>
              <a:rPr sz="2300" b="1" kern="0" spc="-2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</a:t>
            </a:r>
            <a:r>
              <a:rPr sz="2300" b="1" kern="0" spc="-3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4" name="picture 6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9028" y="2466314"/>
            <a:ext cx="216408" cy="33771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9028" y="1917674"/>
            <a:ext cx="216408" cy="337718"/>
          </a:xfrm>
          <a:prstGeom prst="rect">
            <a:avLst/>
          </a:prstGeom>
        </p:spPr>
      </p:pic>
      <p:pic>
        <p:nvPicPr>
          <p:cNvPr id="68" name="picture 6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59028" y="1369034"/>
            <a:ext cx="216408" cy="337718"/>
          </a:xfrm>
          <a:prstGeom prst="rect">
            <a:avLst/>
          </a:prstGeom>
        </p:spPr>
      </p:pic>
      <p:sp>
        <p:nvSpPr>
          <p:cNvPr id="70" name="textbox 70"/>
          <p:cNvSpPr/>
          <p:nvPr/>
        </p:nvSpPr>
        <p:spPr>
          <a:xfrm>
            <a:off x="9880896" y="4580187"/>
            <a:ext cx="1633220" cy="150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船岸通信系统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spcBef>
                <a:spcPts val="461"/>
              </a:spcBef>
              <a:tabLst/>
            </a:pPr>
            <a:r>
              <a:rPr sz="1500" b="1" kern="0" spc="7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降低延迟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790575" algn="l" rtl="0" eaLnBrk="0">
              <a:lnSpc>
                <a:spcPts val="3812"/>
              </a:lnSpc>
              <a:tabLst/>
            </a:pPr>
            <a:r>
              <a:rPr sz="1500" b="1" kern="0" spc="90" dirty="0">
                <a:solidFill>
                  <a:srgbClr val="0000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提高稳定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2" name="textbox 7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rect 74"/>
          <p:cNvSpPr/>
          <p:nvPr/>
        </p:nvSpPr>
        <p:spPr>
          <a:xfrm>
            <a:off x="9497567" y="3118104"/>
            <a:ext cx="1808988" cy="368807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9715601" y="3180943"/>
            <a:ext cx="1384300" cy="252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网络安全保障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78"/>
          <p:cNvSpPr/>
          <p:nvPr/>
        </p:nvSpPr>
        <p:spPr>
          <a:xfrm>
            <a:off x="640867" y="321627"/>
            <a:ext cx="10537190" cy="15767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437379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indent="454659" algn="l" rtl="0" eaLnBrk="0">
              <a:lnSpc>
                <a:spcPct val="153000"/>
              </a:lnSpc>
              <a:spcBef>
                <a:spcPts val="9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研发智能驾驶集成系统、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拖轮智能航行系统、</a:t>
            </a:r>
            <a:r>
              <a:rPr sz="2300" b="1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多款船舶自主航行及协同控制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等系列智能运动控制技术产品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b="1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并成功应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用于多艘船舶。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67783" y="4614671"/>
            <a:ext cx="3569207" cy="2170176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21792" y="4616195"/>
            <a:ext cx="3544823" cy="2170176"/>
          </a:xfrm>
          <a:prstGeom prst="rect">
            <a:avLst/>
          </a:prstGeom>
        </p:spPr>
      </p:pic>
      <p:pic>
        <p:nvPicPr>
          <p:cNvPr id="84" name="picture 8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145780" y="4614671"/>
            <a:ext cx="3497580" cy="217017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367783" y="2642616"/>
            <a:ext cx="3569207" cy="1923287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031" y="2604516"/>
            <a:ext cx="3529583" cy="1923287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45780" y="2644139"/>
            <a:ext cx="3497580" cy="1921764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67783" y="2026920"/>
            <a:ext cx="35845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772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拖轮智能航行系统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629412" y="2026920"/>
            <a:ext cx="35388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智能驾驶集成系统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8151876" y="2026920"/>
            <a:ext cx="349186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25425" algn="l" rtl="0" eaLnBrk="0">
              <a:lnSpc>
                <a:spcPct val="88000"/>
              </a:lnSpc>
              <a:spcBef>
                <a:spcPts val="1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船舶自主协同控制系统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914068"/>
            <a:ext cx="5915761" cy="3439451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713450" y="2097063"/>
            <a:ext cx="3649979" cy="3355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风险情景分析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施工期风险识别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1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110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断航风险等级评估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施工期断航过坝运输影响分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应对措施分析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96937" y="711771"/>
            <a:ext cx="9776459" cy="1026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05765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4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大型水利枢纽长施工期通航安全风险评估                    </a:t>
            </a:r>
            <a:r>
              <a:rPr sz="2300" b="1" kern="0" spc="7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改建三号船闸方</a:t>
            </a:r>
            <a:r>
              <a:rPr sz="2300" b="1" kern="0" spc="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案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5.4 大型水利枢纽断航风险评估技术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836411" y="1011301"/>
            <a:ext cx="6245719" cy="534545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80542" y="3206800"/>
            <a:ext cx="5339701" cy="313259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453627" y="4468367"/>
            <a:ext cx="3243071" cy="16764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78103" y="1296161"/>
            <a:ext cx="3676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过坝运输影响分析方法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通航安全评估方法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社会稳定风险评估方法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90803" y="2406141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90803" y="185750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0803" y="1308861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52856" y="3425952"/>
            <a:ext cx="4067555" cy="1005839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01511" y="2976372"/>
            <a:ext cx="3421379" cy="1174186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234683" y="4468367"/>
            <a:ext cx="2220468" cy="168249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370320" y="1129284"/>
            <a:ext cx="2343912" cy="1478279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334500" y="1100328"/>
            <a:ext cx="2103119" cy="1328927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9659111" y="2816352"/>
            <a:ext cx="2103120" cy="1194815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1957762" y="4583346"/>
            <a:ext cx="1624330" cy="2108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产业链与供应链分析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3243072" y="4747259"/>
            <a:ext cx="2107692" cy="113690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691896" y="4791455"/>
            <a:ext cx="2183891" cy="10485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877562" y="5917416"/>
            <a:ext cx="4850129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1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葛洲坝枢纽客运量统计图</a:t>
            </a:r>
            <a:r>
              <a:rPr sz="1400" b="1" kern="0" spc="1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葛洲坝三座船闸货运量分担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柱状图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9884050" y="4047686"/>
            <a:ext cx="1624330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22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970" indent="-1270" algn="l" rtl="0" eaLnBrk="0">
              <a:lnSpc>
                <a:spcPct val="93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社会稳定风险负面后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果及其定量值范围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9047514" y="2523877"/>
            <a:ext cx="2868929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7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过闸危险货物运量、艘次及流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向统计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6590393" y="4207145"/>
            <a:ext cx="232854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断航、通航风险等级划分标准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503637" y="2677597"/>
            <a:ext cx="2154554" cy="211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7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三峡枢纽各类货物运量分析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8227279" y="6070059"/>
            <a:ext cx="179958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6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专家问卷调查结果统计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4111" y="1930908"/>
            <a:ext cx="3378707" cy="4696967"/>
          </a:xfrm>
          <a:prstGeom prst="rect">
            <a:avLst/>
          </a:prstGeom>
        </p:spPr>
      </p:pic>
      <p:pic>
        <p:nvPicPr>
          <p:cNvPr id="58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40308" y="3529583"/>
            <a:ext cx="5274563" cy="2743200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34466" y="1177925"/>
            <a:ext cx="5586183" cy="1663966"/>
          </a:xfrm>
          <a:prstGeom prst="rect">
            <a:avLst/>
          </a:prstGeom>
        </p:spPr>
      </p:pic>
      <p:sp>
        <p:nvSpPr>
          <p:cNvPr id="62" name="textbox 62"/>
          <p:cNvSpPr/>
          <p:nvPr/>
        </p:nvSpPr>
        <p:spPr>
          <a:xfrm>
            <a:off x="6969252" y="961644"/>
            <a:ext cx="4755515" cy="86296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6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93344" indent="146685" algn="l" rtl="0" eaLnBrk="0">
              <a:lnSpc>
                <a:spcPct val="113000"/>
              </a:lnSpc>
              <a:tabLst/>
            </a:pPr>
            <a:r>
              <a:rPr sz="2300" kern="0" spc="2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《三峡水运新通道断航和通航安全</a:t>
            </a: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稳定风险及应对措施研究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》报告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139761" y="2978530"/>
            <a:ext cx="501459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施工期三江航道航线布置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（下游引航道开挖Ⅰ期）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2233523" y="6416599"/>
            <a:ext cx="2496185" cy="320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23"/>
              </a:lnSpc>
              <a:tabLst/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长江溪桥（黄柏河大桥）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550278" y="1496098"/>
            <a:ext cx="6425565" cy="3977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风浅水岸壁船闸航道非线性船组水动力预报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3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风、浅水岸壁船组流场预报与流速检测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复杂船闸航道泥沙堆积环境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下船舶水动力预估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系缆力、船组运动响应预报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船舶兴波对航道岸壁影响评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全尺度船组阻力预报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12725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复杂航道泥沙堆积流态预报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174992" y="1353311"/>
            <a:ext cx="4466844" cy="2473451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4458" y="4328159"/>
            <a:ext cx="4466844" cy="2275332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6204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3.1 风、</a:t>
            </a:r>
            <a:r>
              <a:rPr sz="2700" kern="0" spc="-6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岸壁以及船闸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航道非线性船组水动力预报系统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8317745" y="3849907"/>
            <a:ext cx="2275839" cy="4165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4339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60020" indent="-147954" algn="l" rtl="0" eaLnBrk="0">
              <a:lnSpc>
                <a:spcPct val="93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浅水效应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岸壁效应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间效应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运动响应预报与流场检测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8299891" y="6605032"/>
            <a:ext cx="2513329" cy="212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4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船组、岸壁、假底试验装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置架构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679447" y="3944543"/>
            <a:ext cx="4560854" cy="2095526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655726" y="420509"/>
            <a:ext cx="7658100" cy="3270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3928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复杂航道泥沙堆积多相流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CFD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-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DEM</a:t>
            </a:r>
            <a:r>
              <a:rPr sz="2300" b="1" kern="0" spc="1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333375" indent="-321309" algn="l" rtl="0" eaLnBrk="0">
              <a:lnSpc>
                <a:spcPct val="151000"/>
              </a:lnSpc>
              <a:spcBef>
                <a:spcPts val="364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考虑浅水、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岸壁、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船间效应的船组水动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力和下沉量试验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1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复杂船闸航道限制域非线性船舶运动智能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预报技术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165"/>
              </a:lnSpc>
              <a:spcBef>
                <a:spcPts val="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限制域系缆力、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粘势流/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二因次船模-实船阻力切换技术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3324872"/>
            <a:ext cx="216408" cy="337718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 rot="21600000">
            <a:off x="8351456" y="950493"/>
            <a:ext cx="3730674" cy="5406263"/>
            <a:chOff x="0" y="0"/>
            <a:chExt cx="3730674" cy="5406263"/>
          </a:xfrm>
        </p:grpSpPr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730674" cy="5406263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1240557" y="5056356"/>
              <a:ext cx="1802129" cy="2120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5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船舶运动智能预报架构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988568" y="3764114"/>
            <a:ext cx="5954674" cy="2609215"/>
            <a:chOff x="0" y="0"/>
            <a:chExt cx="5954674" cy="2609215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5954674" cy="2609215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5980429" cy="26441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49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261870" algn="l" rtl="0" eaLnBrk="0">
                <a:lnSpc>
                  <a:spcPct val="88000"/>
                </a:lnSpc>
                <a:tabLst/>
              </a:pPr>
              <a:r>
                <a:rPr sz="1400" b="1" kern="0" spc="-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分域双数学模型</a:t>
              </a:r>
              <a:endParaRPr sz="14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277812" y="4227512"/>
          <a:ext cx="11661140" cy="2630170"/>
        </p:xfrm>
        <a:graphic>
          <a:graphicData uri="http://schemas.openxmlformats.org/drawingml/2006/table">
            <a:tbl>
              <a:tblPr/>
              <a:tblGrid>
                <a:gridCol w="11372850"/>
                <a:gridCol w="288290"/>
              </a:tblGrid>
              <a:tr h="26301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976109" algn="l" rtl="0" eaLnBrk="0">
                        <a:lnSpc>
                          <a:spcPct val="8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五船试验与双数学模型数值</a:t>
                      </a: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结果对比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72869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限制域多船舶试验平台</a:t>
                      </a:r>
                      <a:endParaRPr sz="14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38544" y="1359407"/>
            <a:ext cx="4928616" cy="2699004"/>
          </a:xfrm>
          <a:prstGeom prst="rect">
            <a:avLst/>
          </a:prstGeom>
        </p:spPr>
      </p:pic>
      <p:graphicFrame>
        <p:nvGraphicFramePr>
          <p:cNvPr id="40" name="table 40"/>
          <p:cNvGraphicFramePr>
            <a:graphicFrameLocks noGrp="1"/>
          </p:cNvGraphicFramePr>
          <p:nvPr/>
        </p:nvGraphicFramePr>
        <p:xfrm>
          <a:off x="5820727" y="4515713"/>
          <a:ext cx="5830569" cy="2257425"/>
        </p:xfrm>
        <a:graphic>
          <a:graphicData uri="http://schemas.openxmlformats.org/drawingml/2006/table">
            <a:tbl>
              <a:tblPr/>
              <a:tblGrid>
                <a:gridCol w="1802764"/>
                <a:gridCol w="808355"/>
                <a:gridCol w="725804"/>
                <a:gridCol w="852170"/>
                <a:gridCol w="797559"/>
                <a:gridCol w="843915"/>
              </a:tblGrid>
              <a:tr h="7950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038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船模阻力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320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49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19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3995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5425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1940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河牛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1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500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4/N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0345" indent="-101600" algn="l" rtl="0" eaLnBrk="0">
                        <a:lnSpc>
                          <a:spcPct val="104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智能工</a:t>
                      </a:r>
                      <a:r>
                        <a:rPr sz="1500" kern="0" spc="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作船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716280" algn="l" rtl="0" eaLnBrk="0">
                        <a:lnSpc>
                          <a:spcPct val="68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5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EFD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1.37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1.44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1.76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75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  <a:tr h="5791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5740" algn="l" rtl="0" eaLnBrk="0">
                        <a:lnSpc>
                          <a:spcPts val="1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CFD</a:t>
                      </a:r>
                      <a:r>
                        <a:rPr sz="15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（双数学模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704850" algn="l" rtl="0" eaLnBrk="0">
                        <a:lnSpc>
                          <a:spcPts val="1989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型）</a:t>
                      </a:r>
                      <a:endParaRPr sz="15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9554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82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1.21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71779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1.57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447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1.58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81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0825" algn="l" rtl="0" eaLnBrk="0">
                        <a:lnSpc>
                          <a:spcPct val="70000"/>
                        </a:lnSpc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0.20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FF7"/>
                    </a:solidFill>
                  </a:tcPr>
                </a:tc>
              </a:tr>
              <a:tr h="48640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43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88000"/>
                        </a:lnSpc>
                        <a:tabLst/>
                      </a:pP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</a:t>
                      </a:r>
                      <a:r>
                        <a:rPr sz="15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/%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12.41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7479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18.24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2250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-9.03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7485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10.11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6534" algn="l" rtl="0" eaLnBrk="0">
                        <a:lnSpc>
                          <a:spcPct val="7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13.04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6"/>
          <p:cNvGrpSpPr/>
          <p:nvPr/>
        </p:nvGrpSpPr>
        <p:grpSpPr>
          <a:xfrm rot="21600000">
            <a:off x="900683" y="1389888"/>
            <a:ext cx="3259835" cy="2555747"/>
            <a:chOff x="0" y="0"/>
            <a:chExt cx="3259835" cy="2555747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259835" cy="2555747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1617865" y="828811"/>
              <a:ext cx="694690" cy="198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6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1000"/>
                </a:lnSpc>
                <a:tabLst/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LES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结果</a:t>
              </a:r>
              <a:endParaRPr sz="1400" dirty="0">
                <a:latin typeface="DengXian"/>
                <a:ea typeface="DengXian"/>
                <a:cs typeface="DengXian"/>
              </a:endParaRPr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9723" y="4899660"/>
            <a:ext cx="3589020" cy="1720595"/>
          </a:xfrm>
          <a:prstGeom prst="rect">
            <a:avLst/>
          </a:prstGeom>
        </p:spPr>
      </p:pic>
      <p:sp>
        <p:nvSpPr>
          <p:cNvPr id="48" name="rect 48"/>
          <p:cNvSpPr/>
          <p:nvPr/>
        </p:nvSpPr>
        <p:spPr>
          <a:xfrm>
            <a:off x="6013703" y="882396"/>
            <a:ext cx="6178296" cy="46634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0" name="textbox 50"/>
          <p:cNvSpPr/>
          <p:nvPr/>
        </p:nvSpPr>
        <p:spPr>
          <a:xfrm>
            <a:off x="6070066" y="897089"/>
            <a:ext cx="6134734" cy="419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098"/>
              </a:lnSpc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出版《船舶进出限制水域水动力与智能助航》</a:t>
            </a:r>
            <a:r>
              <a:rPr sz="2300" kern="0" spc="6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688848" y="4363211"/>
            <a:ext cx="3889375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3462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3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限制域多船舶试验测量技术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73836" y="882396"/>
            <a:ext cx="3023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7675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双数学模型预报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137497" y="3980028"/>
            <a:ext cx="5156200" cy="2609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853"/>
              </a:lnSpc>
              <a:tabLst/>
            </a:pP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双数学模型在总体方面体现卓越性能（如高效、高精度</a:t>
            </a:r>
            <a:r>
              <a:rPr sz="1400" b="1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与高稳定）</a:t>
            </a:r>
            <a:endParaRPr sz="14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6700" y="407136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0" name="picture 6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743487" y="5591200"/>
            <a:ext cx="942429" cy="33842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004316" y="1283207"/>
            <a:ext cx="4969763" cy="2144267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2.11 基于数据-机理混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合驱动的绞吸式挖泥船智能疏浚决策支持系统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684769" y="1432559"/>
            <a:ext cx="3220211" cy="2281428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61035" y="2334406"/>
            <a:ext cx="2508757" cy="2631819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897381" y="3663886"/>
            <a:ext cx="5187950" cy="13601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393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indent="454025" algn="l" rtl="0" eaLnBrk="0">
              <a:lnSpc>
                <a:spcPct val="102000"/>
              </a:lnSpc>
              <a:tabLst/>
            </a:pP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“推进装备技术升级</a:t>
            </a:r>
            <a:r>
              <a:rPr sz="1700" b="1" kern="0" spc="-2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。推广新能源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清洁能源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智能化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3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数字化</a:t>
            </a:r>
            <a:r>
              <a:rPr sz="1700" b="1" kern="0" spc="-2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</a:t>
            </a:r>
            <a:r>
              <a:rPr sz="1700" b="1" kern="0" spc="-3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轻量化</a:t>
            </a:r>
            <a:r>
              <a:rPr sz="1700" b="1" kern="0" spc="-2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6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、环保型交通装备及</a:t>
            </a:r>
            <a:r>
              <a:rPr sz="1700" b="1" kern="0" spc="5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成套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技术装备</a:t>
            </a:r>
            <a:r>
              <a:rPr sz="1700" b="1" kern="0" spc="-2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。</a:t>
            </a:r>
            <a:r>
              <a:rPr sz="1700" b="1" kern="0" spc="-30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7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431414" algn="l" rtl="0" eaLnBrk="0">
              <a:lnSpc>
                <a:spcPts val="2188"/>
              </a:lnSpc>
              <a:spcBef>
                <a:spcPts val="2"/>
              </a:spcBef>
              <a:tabLst/>
            </a:pPr>
            <a:r>
              <a:rPr sz="1700" b="1" kern="0" spc="90" dirty="0">
                <a:solidFill>
                  <a:srgbClr val="262626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——《交通强国建设纲要》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374787" y="5306998"/>
            <a:ext cx="5419725" cy="12344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3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700" kern="0" spc="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29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交通强国</a:t>
            </a:r>
            <a:r>
              <a:rPr sz="2000" b="1" kern="0" spc="1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重大国家战略需求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350"/>
              </a:spcBef>
              <a:tabLst/>
            </a:pPr>
            <a:r>
              <a:rPr sz="2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700" kern="0" spc="-19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700" b="1" kern="0" spc="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“推进装备技术升级”</a:t>
            </a:r>
            <a:r>
              <a:rPr sz="2000" b="1" kern="0" spc="4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是发展国家战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38454" algn="l" rtl="0" eaLnBrk="0">
              <a:lnSpc>
                <a:spcPct val="87000"/>
              </a:lnSpc>
              <a:spcBef>
                <a:spcPts val="6"/>
              </a:spcBef>
              <a:tabLst/>
            </a:pPr>
            <a:r>
              <a:rPr sz="2000" b="1" kern="0" spc="-2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略的重要组成内容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9288691" y="3742524"/>
            <a:ext cx="2349500" cy="1670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1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土质坚硬，</a:t>
            </a:r>
            <a:r>
              <a:rPr sz="1700" b="1" kern="0" spc="-3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6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2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挖掘控制困难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64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生产效率低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ct val="98000"/>
              </a:lnSpc>
              <a:spcBef>
                <a:spcPts val="654"/>
              </a:spcBef>
              <a:tabLst/>
            </a:pPr>
            <a:r>
              <a:rPr sz="1700" kern="0" spc="5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0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设备损耗大</a:t>
            </a:r>
            <a:endParaRPr sz="17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8575" algn="l" rtl="0" eaLnBrk="0">
              <a:lnSpc>
                <a:spcPct val="98000"/>
              </a:lnSpc>
              <a:spcBef>
                <a:spcPts val="4"/>
              </a:spcBef>
              <a:tabLst/>
            </a:pPr>
            <a:r>
              <a:rPr sz="1700" kern="0" spc="7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n</a:t>
            </a:r>
            <a:r>
              <a:rPr sz="1700" kern="0" spc="-730" dirty="0">
                <a:solidFill>
                  <a:srgbClr val="C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1700" b="1" kern="0" spc="7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对生态环境有影响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7042251" y="3966654"/>
            <a:ext cx="1591526" cy="1327835"/>
            <a:chOff x="0" y="0"/>
            <a:chExt cx="1591526" cy="1327835"/>
          </a:xfrm>
        </p:grpSpPr>
        <p:sp>
          <p:nvSpPr>
            <p:cNvPr id="16" name="path 16"/>
            <p:cNvSpPr/>
            <p:nvPr/>
          </p:nvSpPr>
          <p:spPr>
            <a:xfrm>
              <a:off x="0" y="0"/>
              <a:ext cx="1591526" cy="1327835"/>
            </a:xfrm>
            <a:custGeom>
              <a:avLst/>
              <a:gdLst/>
              <a:ahLst/>
              <a:cxnLst/>
              <a:rect l="0" t="0" r="0" b="0"/>
              <a:pathLst>
                <a:path w="2506" h="2091">
                  <a:moveTo>
                    <a:pt x="0" y="228"/>
                  </a:moveTo>
                  <a:moveTo>
                    <a:pt x="0" y="228"/>
                  </a:moveTo>
                  <a:cubicBezTo>
                    <a:pt x="0" y="102"/>
                    <a:pt x="102" y="0"/>
                    <a:pt x="228" y="0"/>
                  </a:cubicBezTo>
                  <a:lnTo>
                    <a:pt x="2277" y="0"/>
                  </a:lnTo>
                  <a:cubicBezTo>
                    <a:pt x="2404" y="0"/>
                    <a:pt x="2506" y="102"/>
                    <a:pt x="2505" y="228"/>
                  </a:cubicBezTo>
                  <a:lnTo>
                    <a:pt x="2505" y="1862"/>
                  </a:lnTo>
                  <a:cubicBezTo>
                    <a:pt x="2506" y="1988"/>
                    <a:pt x="2404" y="2091"/>
                    <a:pt x="2277" y="2090"/>
                  </a:cubicBezTo>
                  <a:lnTo>
                    <a:pt x="228" y="2090"/>
                  </a:lnTo>
                  <a:cubicBezTo>
                    <a:pt x="102" y="2091"/>
                    <a:pt x="0" y="1988"/>
                    <a:pt x="0" y="1862"/>
                  </a:cubicBezTo>
                  <a:lnTo>
                    <a:pt x="0" y="228"/>
                  </a:lnTo>
                </a:path>
              </a:pathLst>
            </a:custGeom>
            <a:solidFill>
              <a:srgbClr val="C00000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18" name="textbox 18"/>
            <p:cNvSpPr/>
            <p:nvPr/>
          </p:nvSpPr>
          <p:spPr>
            <a:xfrm>
              <a:off x="277500" y="359295"/>
              <a:ext cx="1039494" cy="6711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7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3000"/>
                </a:lnSpc>
                <a:tabLst/>
              </a:pPr>
              <a:r>
                <a:rPr sz="2000" b="1" kern="0" spc="-3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三峡库区</a:t>
              </a:r>
              <a:endParaRPr sz="20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46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3000"/>
                </a:lnSpc>
                <a:tabLst/>
              </a:pPr>
              <a:r>
                <a:rPr sz="2000" b="1" kern="0" spc="-10" dirty="0">
                  <a:solidFill>
                    <a:srgbClr val="FFFFFF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疏浚作业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7530948" y="5879261"/>
            <a:ext cx="3364865" cy="32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新型绿色疏浚装备与技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术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24" name="path 24"/>
          <p:cNvSpPr/>
          <p:nvPr/>
        </p:nvSpPr>
        <p:spPr>
          <a:xfrm>
            <a:off x="7740396" y="5586983"/>
            <a:ext cx="2901695" cy="210311"/>
          </a:xfrm>
          <a:custGeom>
            <a:avLst/>
            <a:gdLst/>
            <a:ahLst/>
            <a:cxnLst/>
            <a:rect l="0" t="0" r="0" b="0"/>
            <a:pathLst>
              <a:path w="4569" h="331">
                <a:moveTo>
                  <a:pt x="0" y="0"/>
                </a:moveTo>
                <a:lnTo>
                  <a:pt x="2284" y="331"/>
                </a:lnTo>
                <a:lnTo>
                  <a:pt x="4569" y="0"/>
                </a:lnTo>
                <a:lnTo>
                  <a:pt x="0" y="0"/>
                </a:lnTo>
              </a:path>
            </a:pathLst>
          </a:custGeom>
          <a:solidFill>
            <a:srgbClr val="A6A6A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655726" y="1117612"/>
            <a:ext cx="7590790" cy="2270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硬质岩土挖掘物理模型与数值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硬质岩土挖掘装备设计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环保疏浚作业技术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智能疏浚决策支持系统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1500" b="1" kern="0" spc="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SPH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法切削黏土</a:t>
            </a:r>
            <a:r>
              <a:rPr sz="1500" b="1" kern="0" spc="2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1" kern="0" spc="10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离散单元法切削岩石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16863" y="3255264"/>
            <a:ext cx="3683508" cy="2506979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351519" y="1050035"/>
            <a:ext cx="3361943" cy="2465832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71916" y="3913631"/>
            <a:ext cx="3238500" cy="168097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5074920" y="3924300"/>
            <a:ext cx="3067812" cy="172516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690871" y="1633728"/>
            <a:ext cx="1903476" cy="1333500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906767" y="1610867"/>
            <a:ext cx="1132331" cy="13335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1554434" y="5995843"/>
            <a:ext cx="205486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模块化环保绞吸船设计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9110488" y="3604112"/>
            <a:ext cx="1851025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挖掘装备试制与实验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78944" y="5901213"/>
            <a:ext cx="1646554" cy="2273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智能决策支持系统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9247299" y="5822764"/>
            <a:ext cx="1239519" cy="226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8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262626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工况智能寻优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21600000">
            <a:off x="4979034" y="1069428"/>
            <a:ext cx="6954837" cy="5158816"/>
            <a:chOff x="0" y="0"/>
            <a:chExt cx="6954837" cy="5158816"/>
          </a:xfrm>
        </p:grpSpPr>
        <p:sp>
          <p:nvSpPr>
            <p:cNvPr id="60" name="rect 60"/>
            <p:cNvSpPr/>
            <p:nvPr/>
          </p:nvSpPr>
          <p:spPr>
            <a:xfrm>
              <a:off x="0" y="0"/>
              <a:ext cx="6954837" cy="5158816"/>
            </a:xfrm>
            <a:prstGeom prst="rect">
              <a:avLst/>
            </a:prstGeom>
            <a:solidFill>
              <a:srgbClr val="E2F0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62" name="textbox 62"/>
            <p:cNvSpPr/>
            <p:nvPr/>
          </p:nvSpPr>
          <p:spPr>
            <a:xfrm>
              <a:off x="156200" y="149928"/>
              <a:ext cx="6323329" cy="48952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78765" algn="l" rtl="0" eaLnBrk="0">
                <a:lnSpc>
                  <a:spcPct val="85000"/>
                </a:lnSpc>
                <a:spcBef>
                  <a:spcPts val="7"/>
                </a:spcBef>
                <a:tabLst>
                  <a:tab pos="445134" algn="l"/>
                </a:tabLst>
              </a:pPr>
              <a:r>
                <a:rPr sz="1700" b="1" kern="0" spc="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	</a:t>
              </a:r>
              <a:r>
                <a:rPr sz="1700" b="1" kern="0" spc="90" dirty="0">
                  <a:solidFill>
                    <a:srgbClr val="40404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研究成果推广</a:t>
              </a:r>
              <a:endParaRPr sz="1700" dirty="0">
                <a:latin typeface="DengXian"/>
                <a:ea typeface="DengXian"/>
                <a:cs typeface="DengXian"/>
              </a:endParaRPr>
            </a:p>
            <a:p>
              <a:pPr algn="l" rtl="0" eaLnBrk="0">
                <a:lnSpc>
                  <a:spcPct val="127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2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458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3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长江宜昌航道工程局、</a:t>
              </a:r>
              <a:r>
                <a:rPr sz="1500" kern="0" spc="-30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长江武汉航道工程局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中交疏浚技术装备国家工程研究中心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ct val="98000"/>
                </a:lnSpc>
                <a:spcBef>
                  <a:spcPts val="1116"/>
                </a:spcBef>
                <a:tabLst/>
              </a:pP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24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7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中交水利水电建设有限公司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1854200" algn="l" rtl="0" eaLnBrk="0">
                <a:lnSpc>
                  <a:spcPts val="2059"/>
                </a:lnSpc>
                <a:spcBef>
                  <a:spcPts val="893"/>
                </a:spcBef>
                <a:tabLst/>
              </a:pP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l</a:t>
              </a:r>
              <a:r>
                <a:rPr sz="1500" kern="0" spc="-400" dirty="0">
                  <a:solidFill>
                    <a:srgbClr val="262626">
                      <a:alpha val="100000"/>
                    </a:srgbClr>
                  </a:solidFill>
                  <a:latin typeface="Wingdings"/>
                  <a:ea typeface="Wingdings"/>
                  <a:cs typeface="Wingdings"/>
                </a:rPr>
                <a:t> </a:t>
              </a:r>
              <a:r>
                <a:rPr sz="1500" kern="0" spc="9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上海交通大学等15家</a:t>
              </a:r>
              <a:r>
                <a:rPr sz="1500" kern="0" spc="80" dirty="0">
                  <a:solidFill>
                    <a:srgbClr val="262626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企事业单位和高等院校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1355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27.78亿元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8825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5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2.16亿元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291204" algn="l" rtl="0" eaLnBrk="0">
                <a:lnSpc>
                  <a:spcPts val="2103"/>
                </a:lnSpc>
                <a:spcBef>
                  <a:spcPts val="776"/>
                </a:spcBef>
                <a:tabLst/>
              </a:pPr>
              <a:r>
                <a:rPr sz="1500" b="1" kern="0" spc="6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4630万元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3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73475" algn="l" rtl="0" eaLnBrk="0">
                <a:lnSpc>
                  <a:spcPts val="2103"/>
                </a:lnSpc>
                <a:spcBef>
                  <a:spcPts val="452"/>
                </a:spcBef>
                <a:tabLst/>
              </a:pPr>
              <a:r>
                <a:rPr sz="1500" b="1" kern="0" spc="8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高水平论文74篇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0300" algn="l" rtl="0" eaLnBrk="0">
                <a:lnSpc>
                  <a:spcPct val="88000"/>
                </a:lnSpc>
                <a:spcBef>
                  <a:spcPts val="1109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研究成果行业项目应用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  <a:p>
              <a:pPr marL="3671570" indent="2540" algn="l" rtl="0" eaLnBrk="0">
                <a:lnSpc>
                  <a:spcPct val="157000"/>
                </a:lnSpc>
                <a:spcBef>
                  <a:spcPts val="251"/>
                </a:spcBef>
                <a:tabLst/>
              </a:pP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长江航道绞吸挖泥船作业实践</a:t>
              </a:r>
              <a:r>
                <a:rPr sz="1500" b="1" kern="0" spc="10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培养疏浚领域的创新</a:t>
              </a:r>
              <a:r>
                <a:rPr sz="1500" b="1" kern="0" spc="90" dirty="0">
                  <a:solidFill>
                    <a:srgbClr val="C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人才团队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64" name="picture 6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168900" y="162628"/>
              <a:ext cx="266104" cy="494375"/>
            </a:xfrm>
            <a:prstGeom prst="rect">
              <a:avLst/>
            </a:prstGeom>
          </p:spPr>
        </p:pic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160546" y="790248"/>
              <a:ext cx="1555599" cy="458043"/>
            </a:xfrm>
            <a:prstGeom prst="rect">
              <a:avLst/>
            </a:prstGeom>
          </p:spPr>
        </p:pic>
        <p:pic>
          <p:nvPicPr>
            <p:cNvPr id="68" name="picture 6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181779" y="2427430"/>
              <a:ext cx="1555016" cy="458043"/>
            </a:xfrm>
            <a:prstGeom prst="rect">
              <a:avLst/>
            </a:prstGeom>
          </p:spPr>
        </p:pic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70159" y="3726081"/>
              <a:ext cx="1555016" cy="458043"/>
            </a:xfrm>
            <a:prstGeom prst="rect">
              <a:avLst/>
            </a:prstGeom>
          </p:spPr>
        </p:pic>
        <p:pic>
          <p:nvPicPr>
            <p:cNvPr id="72" name="picture 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175595" y="673019"/>
              <a:ext cx="6283364" cy="94352"/>
            </a:xfrm>
            <a:prstGeom prst="rect">
              <a:avLst/>
            </a:prstGeom>
          </p:spPr>
        </p:pic>
      </p:grpSp>
      <p:pic>
        <p:nvPicPr>
          <p:cNvPr id="74" name="picture 7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42594" y="838293"/>
            <a:ext cx="4480935" cy="5867331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965738" y="4770954"/>
            <a:ext cx="164782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科学研究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301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行业技术交流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157000"/>
              </a:lnSpc>
              <a:spcBef>
                <a:spcPts val="259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保障航道安全畅通</a:t>
            </a: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人才培养社会效益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6975333" y="3518209"/>
            <a:ext cx="837564" cy="958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新增收入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8000"/>
              </a:lnSpc>
              <a:spcBef>
                <a:spcPts val="1290"/>
              </a:spcBef>
              <a:tabLst/>
            </a:pPr>
            <a:r>
              <a:rPr sz="15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新增利润</a:t>
            </a:r>
            <a:endParaRPr sz="1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5875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15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节支总额</a:t>
            </a:r>
            <a:endParaRPr sz="1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9665117" y="3810454"/>
            <a:ext cx="1853564" cy="287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059"/>
              </a:lnSpc>
              <a:tabLst/>
            </a:pPr>
            <a:r>
              <a:rPr sz="1600" i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(自2015年以来累计)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5477713" y="4864658"/>
            <a:ext cx="939800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社会效益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6" name="textbox 86"/>
          <p:cNvSpPr/>
          <p:nvPr/>
        </p:nvSpPr>
        <p:spPr>
          <a:xfrm>
            <a:off x="5493448" y="3566020"/>
            <a:ext cx="935989" cy="2476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经济效益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8" name="textbox 88"/>
          <p:cNvSpPr/>
          <p:nvPr/>
        </p:nvSpPr>
        <p:spPr>
          <a:xfrm>
            <a:off x="5473407" y="1929295"/>
            <a:ext cx="934719" cy="2470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97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应用单位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90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1570207" y="6236208"/>
            <a:ext cx="406907" cy="40690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5355" y="1814258"/>
            <a:ext cx="4610100" cy="4197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4" algn="l" rtl="0" eaLnBrk="0">
              <a:lnSpc>
                <a:spcPct val="86000"/>
              </a:lnSpc>
              <a:tabLst/>
            </a:pP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针对长江新通道的特殊运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行环境及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indent="3810" algn="l" rtl="0" eaLnBrk="0">
              <a:lnSpc>
                <a:spcPct val="157000"/>
              </a:lnSpc>
              <a:spcBef>
                <a:spcPts val="15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设备特点</a:t>
            </a:r>
            <a:r>
              <a:rPr sz="23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构建水风光氢一体化零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碳航道微电网系统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该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系统旨在利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用船闸系统的水位调节发电、</a:t>
            </a:r>
            <a:r>
              <a:rPr sz="2300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两侧风光发电、</a:t>
            </a:r>
            <a:r>
              <a:rPr sz="2300" kern="0" spc="-4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电解水制氢和锂电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池混合储能</a:t>
            </a:r>
            <a:r>
              <a:rPr sz="2300" kern="0" spc="-3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300" kern="0" spc="-5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实现船闸系统用电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航道照明、</a:t>
            </a:r>
            <a:r>
              <a:rPr sz="2300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三峡氢舟船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舶岸电供应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等一体化集成 化设计与零碳运行。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4.3 水风光氢一体化零碳航道微电网系统关键技术及应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5487" y="1369942"/>
            <a:ext cx="5845090" cy="4568622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44296" y="1015912"/>
            <a:ext cx="5005704" cy="49803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3000"/>
              </a:lnSpc>
              <a:tabLst>
                <a:tab pos="212725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水风光氢一体化零碳航道微电网系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299720" algn="l" rtl="0" eaLnBrk="0">
              <a:lnSpc>
                <a:spcPts val="3451"/>
              </a:lnSpc>
              <a:tabLst/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设计与开发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3970" indent="635" algn="l" rtl="0" eaLnBrk="0">
              <a:lnSpc>
                <a:spcPct val="157000"/>
              </a:lnSpc>
              <a:spcBef>
                <a:spcPts val="365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关键技术包括风光预测、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可再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生能源高效制氢、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氢能与锂电池混合储能、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船闸机动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力系统供电、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多端口能源互联等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，保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障航道安全可靠高效绿色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运行。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299084" indent="-267334" algn="l" rtl="0" eaLnBrk="0">
              <a:lnSpc>
                <a:spcPct val="145000"/>
              </a:lnSpc>
              <a:spcBef>
                <a:spcPts val="231"/>
              </a:spcBef>
              <a:tabLst>
                <a:tab pos="212725" algn="l"/>
              </a:tabLst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0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水风光氢一体化零碳航道微电网系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统智能</a:t>
            </a:r>
            <a:r>
              <a:rPr sz="20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化管理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marL="12700" indent="635" algn="l" rtl="0" eaLnBrk="0">
              <a:lnSpc>
                <a:spcPct val="158000"/>
              </a:lnSpc>
              <a:spcBef>
                <a:spcPts val="80"/>
              </a:spcBef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基于机理及系统数据（传感器更新、</a:t>
            </a:r>
            <a:r>
              <a:rPr sz="1700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运行历史等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数据等）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水风光氢锂电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等</a:t>
            </a: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-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运用神经网络等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AI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r>
              <a:rPr sz="1700" kern="0" spc="-2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，结合机理建模方法</a:t>
            </a:r>
            <a:r>
              <a:rPr sz="1700" kern="0" spc="-2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1700" kern="0" spc="-4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实现微电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网系统性能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监视、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故障诊断、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运行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优化、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预测性控制及维护。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6328" y="3588932"/>
            <a:ext cx="180790" cy="282135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6328" y="1028612"/>
            <a:ext cx="180790" cy="282135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3698100" y="192697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880360" y="2598420"/>
            <a:ext cx="5550408" cy="3697223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水利工程的绿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色能源供应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887832" y="1872369"/>
            <a:ext cx="5330825" cy="386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64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已应用于大型海港等绿色岸电系统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textbox 2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10883" y="1978151"/>
            <a:ext cx="5769864" cy="4072128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94159" y="1971014"/>
            <a:ext cx="5681979" cy="36042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5719" algn="l" rtl="0" eaLnBrk="0">
              <a:lnSpc>
                <a:spcPct val="87000"/>
              </a:lnSpc>
              <a:tabLst/>
            </a:pP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管控等新的需求。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1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船闸联合调度规则设计及优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联动控制区的设计及运行组织优化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待闸船舶运行组织与智能管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调度算法、运行组织算法测试与验证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可观、可测、可控、可视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31139" y="711771"/>
            <a:ext cx="10380344" cy="1041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123054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三峡水运新通道建成后</a:t>
            </a:r>
            <a:r>
              <a:rPr sz="2300" b="1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，整个三峡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枢纽群将面临多船闸的联合调度、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船舶智能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2.1 通航枢纽数字孪生智能调度关键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/>
          <p:nvPr/>
        </p:nvSpPr>
        <p:spPr>
          <a:xfrm>
            <a:off x="655726" y="420509"/>
            <a:ext cx="7511415" cy="2706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83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过闸船舶全域运行数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字孪生技术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自演化规则引擎技术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船闸调度多目标优化技术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基于数字孪生的船闸调度运行仿真与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推演技术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0282" y="3479547"/>
            <a:ext cx="6104742" cy="2742242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98405" y="3593217"/>
            <a:ext cx="5211229" cy="237666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5082159" y="1610486"/>
            <a:ext cx="6915150" cy="4650485"/>
            <a:chOff x="0" y="0"/>
            <a:chExt cx="6915150" cy="4650485"/>
          </a:xfrm>
        </p:grpSpPr>
        <p:sp>
          <p:nvSpPr>
            <p:cNvPr id="24" name="textbox 24"/>
            <p:cNvSpPr/>
            <p:nvPr/>
          </p:nvSpPr>
          <p:spPr>
            <a:xfrm>
              <a:off x="1883977" y="3339733"/>
              <a:ext cx="722630" cy="9588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北线船闸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1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南线船闸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26" name="textbox 26"/>
            <p:cNvSpPr/>
            <p:nvPr/>
          </p:nvSpPr>
          <p:spPr>
            <a:xfrm>
              <a:off x="4296292" y="3354795"/>
              <a:ext cx="546100" cy="9144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397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3#船闸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1420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2#船闸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07000"/>
                </a:lnSpc>
                <a:tabLst/>
              </a:pPr>
              <a:endParaRPr sz="11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38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9000"/>
                </a:lnSpc>
                <a:tabLst/>
              </a:pP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1#船闸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6915150" cy="4650485"/>
            </a:xfrm>
            <a:prstGeom prst="rect">
              <a:avLst/>
            </a:prstGeom>
          </p:spPr>
        </p:pic>
        <p:sp>
          <p:nvSpPr>
            <p:cNvPr id="30" name="textbox 30"/>
            <p:cNvSpPr/>
            <p:nvPr/>
          </p:nvSpPr>
          <p:spPr>
            <a:xfrm>
              <a:off x="5538237" y="2985600"/>
              <a:ext cx="1013460" cy="1136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ct val="89000"/>
                </a:lnSpc>
                <a:tabLst/>
              </a:pPr>
              <a:r>
                <a:rPr sz="1700" b="1" kern="0" spc="2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中水门</a:t>
              </a:r>
              <a:endParaRPr sz="17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5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5875" algn="l" rtl="0" eaLnBrk="0">
                <a:lnSpc>
                  <a:spcPct val="89000"/>
                </a:lnSpc>
                <a:spcBef>
                  <a:spcPts val="401"/>
                </a:spcBef>
                <a:tabLst/>
              </a:pP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下游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2" name="textbox 32"/>
            <p:cNvSpPr/>
            <p:nvPr/>
          </p:nvSpPr>
          <p:spPr>
            <a:xfrm>
              <a:off x="1953433" y="4410610"/>
              <a:ext cx="2888614" cy="20129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三峡大坝</a:t>
              </a:r>
              <a:r>
                <a:rPr sz="1300" kern="0" spc="3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                   </a:t>
              </a: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葛洲坝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3115093" y="3501595"/>
              <a:ext cx="547369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6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两坝间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02235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6" name="textbox 36"/>
            <p:cNvSpPr/>
            <p:nvPr/>
          </p:nvSpPr>
          <p:spPr>
            <a:xfrm>
              <a:off x="825885" y="3501595"/>
              <a:ext cx="369570" cy="6248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46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上游</a:t>
              </a:r>
              <a:endParaRPr sz="1300" dirty="0">
                <a:latin typeface="SimSun"/>
                <a:ea typeface="SimSun"/>
                <a:cs typeface="SimSun"/>
              </a:endParaRPr>
            </a:p>
            <a:p>
              <a:pPr algn="l" rtl="0" eaLnBrk="0">
                <a:lnSpc>
                  <a:spcPct val="12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13334" algn="l" rtl="0" eaLnBrk="0">
                <a:lnSpc>
                  <a:spcPct val="89000"/>
                </a:lnSpc>
                <a:spcBef>
                  <a:spcPts val="2"/>
                </a:spcBef>
                <a:tabLst/>
              </a:pPr>
              <a:r>
                <a:rPr sz="1300" kern="0" spc="40" dirty="0">
                  <a:solidFill>
                    <a:srgbClr val="000000">
                      <a:alpha val="100000"/>
                    </a:srgbClr>
                  </a:solidFill>
                  <a:latin typeface="SimSun"/>
                  <a:ea typeface="SimSun"/>
                  <a:cs typeface="SimSun"/>
                </a:rPr>
                <a:t>水域</a:t>
              </a:r>
              <a:endParaRPr sz="1300" dirty="0">
                <a:latin typeface="SimSun"/>
                <a:ea typeface="SimSun"/>
                <a:cs typeface="SimSun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565672" y="1582542"/>
              <a:ext cx="475615" cy="2559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4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9000"/>
                </a:lnSpc>
                <a:tabLst/>
              </a:pPr>
              <a:r>
                <a:rPr sz="1700" b="1" kern="0" spc="50" dirty="0">
                  <a:solidFill>
                    <a:srgbClr val="FF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庙河</a:t>
              </a:r>
              <a:endParaRPr sz="17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08431" y="1620011"/>
            <a:ext cx="4578095" cy="5163311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2077211" y="1025652"/>
            <a:ext cx="8037830" cy="44704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9525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000" kern="0" spc="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相关技术和成果已经在三峡通航管理局、长江海事局业务系</a:t>
            </a:r>
            <a:r>
              <a:rPr sz="2000" kern="0" spc="-1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统中应用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6277648" y="6375692"/>
            <a:ext cx="4124325" cy="3213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4000"/>
              </a:lnSpc>
              <a:tabLst/>
            </a:pPr>
            <a:r>
              <a:rPr sz="2300" b="1" kern="0" spc="9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三峡-葛洲坝联合通</a:t>
            </a:r>
            <a:r>
              <a:rPr sz="2300" b="1" kern="0" spc="8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航调度系统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sp>
        <p:nvSpPr>
          <p:cNvPr id="46" name="textbox 4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、光纤传感与光电技术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371909" y="1337030"/>
            <a:ext cx="4324984" cy="297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89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49530" indent="-1270" algn="l" rtl="0" eaLnBrk="0">
              <a:lnSpc>
                <a:spcPct val="99000"/>
              </a:lnSpc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基于探地雷达的渗流追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踪、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安全检测、</a:t>
            </a:r>
            <a:r>
              <a:rPr sz="2300" b="1" kern="0" spc="-5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混凝土钢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筋网下的隐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蔽病害检测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8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钢筋网直径和间距检测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钢筋网锈蚀检测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钢筋网下的裂缝等病害检测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02692" y="4701540"/>
            <a:ext cx="4511040" cy="1914144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5523" y="1411223"/>
            <a:ext cx="3275076" cy="2328671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37048" y="3966971"/>
            <a:ext cx="3314699" cy="2298191"/>
          </a:xfrm>
          <a:prstGeom prst="rect">
            <a:avLst/>
          </a:prstGeom>
        </p:spPr>
      </p:pic>
      <p:sp>
        <p:nvSpPr>
          <p:cNvPr id="10" name="textbox 1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1285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5.3 基于探地雷达的渗流追踪和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大坝安全检测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828531" y="1411223"/>
            <a:ext cx="3157728" cy="2356104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828531" y="3966971"/>
            <a:ext cx="3096768" cy="2310383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8972" y="3098292"/>
            <a:ext cx="6367271" cy="317601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655726" y="420509"/>
            <a:ext cx="7511415" cy="2639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30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基于深度网络的钢筋直径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估计技术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基于无监督的探地雷达杂波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抑制技术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双/多极化探地雷达对钢筋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网下隐蔽病害探测技术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63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基于生成对抗网络的钢筋网下病害探测和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识别技术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8426" y="2709557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68426" y="2160917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1612277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1063637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342631" y="3098291"/>
            <a:ext cx="4431792" cy="326440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37972" y="4053840"/>
            <a:ext cx="10928604" cy="2804160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196840" y="763523"/>
            <a:ext cx="5582411" cy="295503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37972" y="1479804"/>
            <a:ext cx="3433571" cy="20284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537972" y="944879"/>
            <a:ext cx="3434079" cy="467994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钢筋直径估计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37972" y="3508248"/>
            <a:ext cx="3404870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ct val="88000"/>
              </a:lnSpc>
              <a:spcBef>
                <a:spcPts val="6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钢筋网下的病害识别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、资源环境与安全应急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82867" y="1911096"/>
            <a:ext cx="5897879" cy="3875532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80500" y="1321017"/>
            <a:ext cx="5650865" cy="1851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3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岩质高陡边坡控制爆破与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安全监控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3000"/>
              </a:lnSpc>
              <a:spcBef>
                <a:spcPts val="601"/>
              </a:spcBef>
              <a:tabLst/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岩体爆破开挖动力扰动诱发节理岩体松动分析。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边坡、地下洞室特殊部位精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细爆破施工方法。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48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岩质高边坡开挖变形全过程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监测及快速反馈。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7447" y="3486911"/>
            <a:ext cx="4338828" cy="2298191"/>
          </a:xfrm>
          <a:prstGeom prst="rect">
            <a:avLst/>
          </a:prstGeom>
        </p:spPr>
      </p:pic>
      <p:sp>
        <p:nvSpPr>
          <p:cNvPr id="8" name="textbox 8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1.6 岩质高陡边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坡（中隔墩）</a:t>
            </a:r>
            <a:r>
              <a:rPr sz="2700" kern="0" spc="-6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控制爆破与安全控制技术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913333" y="6017793"/>
            <a:ext cx="4346575" cy="381291"/>
            <a:chOff x="0" y="0"/>
            <a:chExt cx="4346575" cy="381291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4346575" cy="381291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-12700" y="-12700"/>
              <a:ext cx="437197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289050" algn="l" rtl="0" eaLnBrk="0">
                <a:lnSpc>
                  <a:spcPct val="88000"/>
                </a:lnSpc>
                <a:spcBef>
                  <a:spcPts val="3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白鹤滩水电站洞室群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6958533" y="6017793"/>
            <a:ext cx="4346574" cy="381291"/>
            <a:chOff x="0" y="0"/>
            <a:chExt cx="4346574" cy="381291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4346574" cy="381291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-12700" y="-12700"/>
              <a:ext cx="437197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068069" algn="l" rtl="0" eaLnBrk="0">
                <a:lnSpc>
                  <a:spcPct val="89000"/>
                </a:lnSpc>
                <a:spcBef>
                  <a:spcPts val="1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永久船闸中隔墩及高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边坡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8" name="textbox 1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/>
          <p:cNvSpPr/>
          <p:nvPr/>
        </p:nvSpPr>
        <p:spPr>
          <a:xfrm>
            <a:off x="543331" y="1224927"/>
            <a:ext cx="6760844" cy="2117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多测点位移交叉影响分析识别边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坡位移响应特征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复杂地质条件区域高精度的地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应力分析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深部岩体时序断裂轮廓控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制爆破技术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3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动态的边坡位移监控指标优化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6031" y="2992132"/>
            <a:ext cx="216408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56031" y="2407298"/>
            <a:ext cx="216408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6031" y="1822462"/>
            <a:ext cx="216408" cy="33771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56031" y="1237627"/>
            <a:ext cx="216408" cy="337718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 rot="21600000">
            <a:off x="7489825" y="3336925"/>
            <a:ext cx="4108450" cy="3044825"/>
            <a:chOff x="0" y="0"/>
            <a:chExt cx="4108450" cy="3044825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4108450" cy="3044825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118214" y="2755251"/>
              <a:ext cx="38785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10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特大型水电站地下厂房高</a:t>
              </a: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边墙放大效应分析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  <p:sp>
          <p:nvSpPr>
            <p:cNvPr id="34" name="textbox 34"/>
            <p:cNvSpPr/>
            <p:nvPr/>
          </p:nvSpPr>
          <p:spPr>
            <a:xfrm>
              <a:off x="1032614" y="55231"/>
              <a:ext cx="2049779" cy="231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2574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90000"/>
                </a:lnSpc>
                <a:tabLst/>
              </a:pPr>
              <a:r>
                <a:rPr sz="1500" kern="0" spc="9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监测信息快速反馈平台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6" name="picture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504176" y="1016508"/>
            <a:ext cx="3900909" cy="2282631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07136" y="3759707"/>
            <a:ext cx="2956560" cy="215950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742944" y="3759707"/>
            <a:ext cx="2891027" cy="2159508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4" name="textbox 44"/>
          <p:cNvSpPr/>
          <p:nvPr/>
        </p:nvSpPr>
        <p:spPr>
          <a:xfrm>
            <a:off x="2066110" y="6048996"/>
            <a:ext cx="3267709" cy="2311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5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0000"/>
              </a:lnSpc>
              <a:tabLst/>
            </a:pP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深地下工程开挖变形与破裂特征分析</a:t>
            </a:r>
            <a:endParaRPr sz="15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53568" y="1600200"/>
            <a:ext cx="2950464" cy="467105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20840" y="1539240"/>
            <a:ext cx="3148583" cy="2310383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42055" y="1557528"/>
            <a:ext cx="2850540" cy="2197607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6882257" y="4528692"/>
            <a:ext cx="4121150" cy="1513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49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tabLst/>
            </a:pPr>
            <a:r>
              <a:rPr sz="1700" kern="0" spc="9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大型地下结构：</a:t>
            </a:r>
            <a:r>
              <a:rPr sz="1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厂房、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深竖井、</a:t>
            </a:r>
            <a:r>
              <a:rPr sz="1700" b="1" kern="0" spc="-3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穹顶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8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大断面隧洞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导流洞、</a:t>
            </a:r>
            <a:r>
              <a:rPr sz="1700" b="1" kern="0" spc="-3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引水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洞、</a:t>
            </a:r>
            <a:r>
              <a:rPr sz="1700" b="1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尾水洞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8000"/>
              </a:lnSpc>
              <a:spcBef>
                <a:spcPts val="1241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爆破开挖振动、</a:t>
            </a:r>
            <a:r>
              <a:rPr sz="1700" kern="0" spc="-2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围岩松动圈测试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"/>
              </a:spcBef>
              <a:tabLst/>
            </a:pPr>
            <a:r>
              <a:rPr sz="1700" kern="0" spc="100" dirty="0">
                <a:solidFill>
                  <a:srgbClr val="ED7D31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大跨度顶拱、</a:t>
            </a:r>
            <a:r>
              <a:rPr sz="1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高边墙、</a:t>
            </a:r>
            <a:r>
              <a:rPr sz="1700" kern="0" spc="-3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442715" y="4389119"/>
            <a:ext cx="2854451" cy="1834895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0117835" y="1556004"/>
            <a:ext cx="1712976" cy="2231135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348614" y="982979"/>
            <a:ext cx="5790565" cy="458469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59740" algn="l" rtl="0" eaLnBrk="0">
              <a:lnSpc>
                <a:spcPct val="87000"/>
              </a:lnSpc>
              <a:spcBef>
                <a:spcPts val="1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深埋特大型洞室群爆破施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工安全控制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6829082" y="6158991"/>
            <a:ext cx="5017134" cy="416559"/>
          </a:xfrm>
          <a:prstGeom prst="rect">
            <a:avLst/>
          </a:prstGeom>
          <a:solidFill>
            <a:srgbClr val="5897D3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799465" algn="l" rtl="0" eaLnBrk="0">
              <a:lnSpc>
                <a:spcPct val="88000"/>
              </a:lnSpc>
              <a:tabLst/>
            </a:pPr>
            <a:r>
              <a:rPr sz="1700" b="1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安全、</a:t>
            </a:r>
            <a:r>
              <a:rPr sz="1700" b="1" kern="0" spc="-3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高效、</a:t>
            </a:r>
            <a:r>
              <a:rPr sz="1700" b="1" kern="0" spc="-37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高质量</a:t>
            </a:r>
            <a:r>
              <a:rPr sz="1700" b="1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爆破开挖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6704596" y="3857244"/>
            <a:ext cx="3157219" cy="382180"/>
            <a:chOff x="0" y="0"/>
            <a:chExt cx="3157219" cy="382180"/>
          </a:xfrm>
        </p:grpSpPr>
        <p:pic>
          <p:nvPicPr>
            <p:cNvPr id="62" name="picture 6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157219" cy="382180"/>
            </a:xfrm>
            <a:prstGeom prst="rect">
              <a:avLst/>
            </a:prstGeom>
          </p:spPr>
        </p:pic>
        <p:sp>
          <p:nvSpPr>
            <p:cNvPr id="64" name="textbox 64"/>
            <p:cNvSpPr/>
            <p:nvPr/>
          </p:nvSpPr>
          <p:spPr>
            <a:xfrm>
              <a:off x="-12700" y="-12700"/>
              <a:ext cx="318262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79450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地下厂房与引水隧洞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 rot="21600000">
            <a:off x="379387" y="6319253"/>
            <a:ext cx="2958464" cy="382384"/>
            <a:chOff x="0" y="0"/>
            <a:chExt cx="2958464" cy="382384"/>
          </a:xfrm>
        </p:grpSpPr>
        <p:pic>
          <p:nvPicPr>
            <p:cNvPr id="66" name="picture 6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2958464" cy="382384"/>
            </a:xfrm>
            <a:prstGeom prst="rect">
              <a:avLst/>
            </a:prstGeom>
          </p:spPr>
        </p:pic>
        <p:sp>
          <p:nvSpPr>
            <p:cNvPr id="68" name="textbox 68"/>
            <p:cNvSpPr/>
            <p:nvPr/>
          </p:nvSpPr>
          <p:spPr>
            <a:xfrm>
              <a:off x="-12700" y="-12700"/>
              <a:ext cx="2983864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65785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100m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级深竖井开挖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3432518" y="6309601"/>
            <a:ext cx="2865183" cy="382346"/>
            <a:chOff x="0" y="0"/>
            <a:chExt cx="2865183" cy="382346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2865183" cy="382346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2891154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322579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半径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26.50m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巨型穹顶开挖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3461270" y="3840048"/>
            <a:ext cx="2854235" cy="382320"/>
            <a:chOff x="0" y="0"/>
            <a:chExt cx="2854235" cy="382320"/>
          </a:xfrm>
        </p:grpSpPr>
        <p:pic>
          <p:nvPicPr>
            <p:cNvPr id="74" name="picture 7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854235" cy="382320"/>
            </a:xfrm>
            <a:prstGeom prst="rect">
              <a:avLst/>
            </a:prstGeom>
          </p:spPr>
        </p:pic>
        <p:sp>
          <p:nvSpPr>
            <p:cNvPr id="76" name="textbox 76"/>
            <p:cNvSpPr/>
            <p:nvPr/>
          </p:nvSpPr>
          <p:spPr>
            <a:xfrm>
              <a:off x="-12700" y="-12700"/>
              <a:ext cx="287972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7960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110</a:t>
              </a:r>
              <a:r>
                <a:rPr sz="1500" b="1" kern="0" spc="7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吨级承重吊车梁岩台开挖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8" name="textbox 78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grpSp>
        <p:nvGrpSpPr>
          <p:cNvPr id="16" name="group 16"/>
          <p:cNvGrpSpPr/>
          <p:nvPr/>
        </p:nvGrpSpPr>
        <p:grpSpPr>
          <a:xfrm rot="21600000">
            <a:off x="10129405" y="3832504"/>
            <a:ext cx="1702434" cy="382193"/>
            <a:chOff x="0" y="0"/>
            <a:chExt cx="1702434" cy="382193"/>
          </a:xfrm>
        </p:grpSpPr>
        <p:pic>
          <p:nvPicPr>
            <p:cNvPr id="80" name="picture 8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702434" cy="382193"/>
            </a:xfrm>
            <a:prstGeom prst="rect">
              <a:avLst/>
            </a:prstGeom>
          </p:spPr>
        </p:pic>
        <p:sp>
          <p:nvSpPr>
            <p:cNvPr id="82" name="textbox 82"/>
            <p:cNvSpPr/>
            <p:nvPr/>
          </p:nvSpPr>
          <p:spPr>
            <a:xfrm>
              <a:off x="-12700" y="-12700"/>
              <a:ext cx="1727835" cy="4095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255904" algn="l" rtl="0" eaLnBrk="0">
                <a:lnSpc>
                  <a:spcPct val="87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现场试验测试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758684" y="4349495"/>
            <a:ext cx="3363467" cy="1842516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67512" y="4349495"/>
            <a:ext cx="3168396" cy="1842516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541775" y="1632204"/>
            <a:ext cx="3055620" cy="179984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5759" y="1632204"/>
            <a:ext cx="2708147" cy="1799844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 rot="21600000">
            <a:off x="9645932" y="1374686"/>
            <a:ext cx="2334231" cy="2015933"/>
            <a:chOff x="0" y="0"/>
            <a:chExt cx="2334231" cy="2015933"/>
          </a:xfrm>
        </p:grpSpPr>
        <p:pic>
          <p:nvPicPr>
            <p:cNvPr id="92" name="picture 9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5372" y="7581"/>
              <a:ext cx="2308859" cy="1979676"/>
            </a:xfrm>
            <a:prstGeom prst="rect">
              <a:avLst/>
            </a:prstGeom>
          </p:spPr>
        </p:pic>
        <p:pic>
          <p:nvPicPr>
            <p:cNvPr id="94" name="picture 9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1129748" cy="359218"/>
            </a:xfrm>
            <a:prstGeom prst="rect">
              <a:avLst/>
            </a:prstGeom>
          </p:spPr>
        </p:pic>
        <p:pic>
          <p:nvPicPr>
            <p:cNvPr id="96" name="picture 9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17" y="1656715"/>
              <a:ext cx="1666523" cy="359218"/>
            </a:xfrm>
            <a:prstGeom prst="rect">
              <a:avLst/>
            </a:prstGeom>
          </p:spPr>
        </p:pic>
        <p:sp>
          <p:nvSpPr>
            <p:cNvPr id="98" name="textbox 98"/>
            <p:cNvSpPr/>
            <p:nvPr/>
          </p:nvSpPr>
          <p:spPr>
            <a:xfrm>
              <a:off x="111452" y="55233"/>
              <a:ext cx="1450975" cy="18656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9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6000"/>
                </a:lnSpc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轮廓面贯通</a:t>
              </a:r>
              <a:endParaRPr sz="1400" dirty="0">
                <a:latin typeface="SimHei"/>
                <a:ea typeface="SimHei"/>
                <a:cs typeface="SimHei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7000"/>
                </a:lnSpc>
                <a:tabLst/>
              </a:pPr>
              <a:endParaRPr sz="300" dirty="0">
                <a:latin typeface="Arial"/>
                <a:ea typeface="Arial"/>
                <a:cs typeface="Arial"/>
              </a:endParaRPr>
            </a:p>
            <a:p>
              <a:pPr marL="23495" algn="l" rtl="0" eaLnBrk="0">
                <a:lnSpc>
                  <a:spcPct val="86000"/>
                </a:lnSpc>
                <a:spcBef>
                  <a:spcPts val="3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围岩损伤范围极小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100" name="picture 10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7243571" y="1382267"/>
            <a:ext cx="2310383" cy="1979676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129783" y="4349495"/>
            <a:ext cx="1892807" cy="1842516"/>
          </a:xfrm>
          <a:prstGeom prst="rect">
            <a:avLst/>
          </a:prstGeom>
        </p:spPr>
      </p:pic>
      <p:sp>
        <p:nvSpPr>
          <p:cNvPr id="104" name="textbox 104"/>
          <p:cNvSpPr/>
          <p:nvPr/>
        </p:nvSpPr>
        <p:spPr>
          <a:xfrm>
            <a:off x="348907" y="984186"/>
            <a:ext cx="6363334" cy="457834"/>
          </a:xfrm>
          <a:prstGeom prst="rect">
            <a:avLst/>
          </a:prstGeom>
          <a:solidFill>
            <a:srgbClr val="5B9BD5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439419" algn="l" rtl="0" eaLnBrk="0">
              <a:lnSpc>
                <a:spcPct val="88000"/>
              </a:lnSpc>
              <a:spcBef>
                <a:spcPts val="4"/>
              </a:spcBef>
              <a:tabLst/>
            </a:pPr>
            <a:r>
              <a:rPr sz="2300" b="1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岩锚梁时序控制断裂爆破与切槽爆</a:t>
            </a:r>
            <a:r>
              <a:rPr sz="2300" b="1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破方法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6" name="picture 10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3960875" y="4349495"/>
            <a:ext cx="1036320" cy="1842516"/>
          </a:xfrm>
          <a:prstGeom prst="rect">
            <a:avLst/>
          </a:prstGeom>
        </p:spPr>
      </p:pic>
      <p:grpSp>
        <p:nvGrpSpPr>
          <p:cNvPr id="20" name="group 20"/>
          <p:cNvGrpSpPr/>
          <p:nvPr/>
        </p:nvGrpSpPr>
        <p:grpSpPr>
          <a:xfrm rot="21600000">
            <a:off x="7644066" y="3695839"/>
            <a:ext cx="3861612" cy="407695"/>
            <a:chOff x="0" y="0"/>
            <a:chExt cx="3861612" cy="407695"/>
          </a:xfrm>
        </p:grpSpPr>
        <p:pic>
          <p:nvPicPr>
            <p:cNvPr id="108" name="picture 108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3861612" cy="407695"/>
            </a:xfrm>
            <a:prstGeom prst="rect">
              <a:avLst/>
            </a:prstGeom>
          </p:spPr>
        </p:pic>
        <p:sp>
          <p:nvSpPr>
            <p:cNvPr id="110" name="textbox 110"/>
            <p:cNvSpPr/>
            <p:nvPr/>
          </p:nvSpPr>
          <p:spPr>
            <a:xfrm>
              <a:off x="-12700" y="-12700"/>
              <a:ext cx="3887470" cy="4337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321309" algn="l" rtl="0" eaLnBrk="0">
                <a:lnSpc>
                  <a:spcPct val="88000"/>
                </a:lnSpc>
                <a:spcBef>
                  <a:spcPts val="7"/>
                </a:spcBef>
                <a:tabLst/>
              </a:pPr>
              <a:r>
                <a:rPr sz="1500" b="1" kern="0" spc="1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先爆孔切槽的时序控制爆</a:t>
              </a: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破效果分析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 rot="21600000">
            <a:off x="8089404" y="6351270"/>
            <a:ext cx="2703144" cy="382194"/>
            <a:chOff x="0" y="0"/>
            <a:chExt cx="2703144" cy="382194"/>
          </a:xfrm>
        </p:grpSpPr>
        <p:pic>
          <p:nvPicPr>
            <p:cNvPr id="112" name="picture 11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703144" cy="382194"/>
            </a:xfrm>
            <a:prstGeom prst="rect">
              <a:avLst/>
            </a:prstGeom>
          </p:spPr>
        </p:pic>
        <p:sp>
          <p:nvSpPr>
            <p:cNvPr id="114" name="textbox 114"/>
            <p:cNvSpPr/>
            <p:nvPr/>
          </p:nvSpPr>
          <p:spPr>
            <a:xfrm>
              <a:off x="-12700" y="-12700"/>
              <a:ext cx="2728595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24765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岩锚梁精细爆破开挖效果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16" name="textbox 11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18" name="picture 1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7624571" y="3445763"/>
            <a:ext cx="3901440" cy="236220"/>
          </a:xfrm>
          <a:prstGeom prst="rect">
            <a:avLst/>
          </a:prstGeom>
        </p:spPr>
      </p:pic>
      <p:grpSp>
        <p:nvGrpSpPr>
          <p:cNvPr id="24" name="group 24"/>
          <p:cNvGrpSpPr/>
          <p:nvPr/>
        </p:nvGrpSpPr>
        <p:grpSpPr>
          <a:xfrm rot="21600000">
            <a:off x="3887406" y="3708590"/>
            <a:ext cx="2363406" cy="382193"/>
            <a:chOff x="0" y="0"/>
            <a:chExt cx="2363406" cy="382193"/>
          </a:xfrm>
        </p:grpSpPr>
        <p:pic>
          <p:nvPicPr>
            <p:cNvPr id="120" name="picture 120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363406" cy="382193"/>
            </a:xfrm>
            <a:prstGeom prst="rect">
              <a:avLst/>
            </a:prstGeom>
          </p:spPr>
        </p:pic>
        <p:sp>
          <p:nvSpPr>
            <p:cNvPr id="122" name="textbox 122"/>
            <p:cNvSpPr/>
            <p:nvPr/>
          </p:nvSpPr>
          <p:spPr>
            <a:xfrm>
              <a:off x="-12700" y="-12700"/>
              <a:ext cx="2388870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0975" algn="l" rtl="0" eaLnBrk="0">
                <a:lnSpc>
                  <a:spcPct val="88000"/>
                </a:lnSpc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地下厂房岩锚梁开挖区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650811" y="3708590"/>
            <a:ext cx="2138629" cy="382193"/>
            <a:chOff x="0" y="0"/>
            <a:chExt cx="2138629" cy="382193"/>
          </a:xfrm>
        </p:grpSpPr>
        <p:pic>
          <p:nvPicPr>
            <p:cNvPr id="124" name="picture 12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2138629" cy="382193"/>
            </a:xfrm>
            <a:prstGeom prst="rect">
              <a:avLst/>
            </a:prstGeom>
          </p:spPr>
        </p:pic>
        <p:sp>
          <p:nvSpPr>
            <p:cNvPr id="126" name="textbox 126"/>
            <p:cNvSpPr/>
            <p:nvPr/>
          </p:nvSpPr>
          <p:spPr>
            <a:xfrm>
              <a:off x="-12700" y="-12700"/>
              <a:ext cx="2164079" cy="4076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68910" algn="l" rtl="0" eaLnBrk="0">
                <a:lnSpc>
                  <a:spcPct val="88000"/>
                </a:lnSpc>
                <a:spcBef>
                  <a:spcPts val="6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岩锚梁常规爆破效果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 rot="21600000">
            <a:off x="1501520" y="6351270"/>
            <a:ext cx="1498904" cy="382194"/>
            <a:chOff x="0" y="0"/>
            <a:chExt cx="1498904" cy="382194"/>
          </a:xfrm>
        </p:grpSpPr>
        <p:pic>
          <p:nvPicPr>
            <p:cNvPr id="128" name="picture 128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1498904" cy="382194"/>
            </a:xfrm>
            <a:prstGeom prst="rect">
              <a:avLst/>
            </a:prstGeom>
          </p:spPr>
        </p:pic>
        <p:sp>
          <p:nvSpPr>
            <p:cNvPr id="130" name="textbox 130"/>
            <p:cNvSpPr/>
            <p:nvPr/>
          </p:nvSpPr>
          <p:spPr>
            <a:xfrm>
              <a:off x="-12700" y="-12700"/>
              <a:ext cx="1524635" cy="4089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54939" algn="l" rtl="0" eaLnBrk="0">
                <a:lnSpc>
                  <a:spcPct val="88000"/>
                </a:lnSpc>
                <a:spcBef>
                  <a:spcPts val="4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钻取斜孔过程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 rot="21600000">
            <a:off x="3840988" y="6351270"/>
            <a:ext cx="1277124" cy="382194"/>
            <a:chOff x="0" y="0"/>
            <a:chExt cx="1277124" cy="382194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1277124" cy="382194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1303019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6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45414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500" b="1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钻取切槽缝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21600000">
            <a:off x="7218405" y="1374686"/>
            <a:ext cx="1308636" cy="359218"/>
            <a:chOff x="0" y="0"/>
            <a:chExt cx="1308636" cy="359218"/>
          </a:xfrm>
        </p:grpSpPr>
        <p:pic>
          <p:nvPicPr>
            <p:cNvPr id="136" name="picture 13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1308636" cy="359218"/>
            </a:xfrm>
            <a:prstGeom prst="rect">
              <a:avLst/>
            </a:prstGeom>
          </p:spPr>
        </p:pic>
        <p:sp>
          <p:nvSpPr>
            <p:cNvPr id="138" name="textbox 138"/>
            <p:cNvSpPr/>
            <p:nvPr/>
          </p:nvSpPr>
          <p:spPr>
            <a:xfrm>
              <a:off x="-12700" y="-12700"/>
              <a:ext cx="1334135" cy="3873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136525" algn="l" rtl="0" eaLnBrk="0">
                <a:lnSpc>
                  <a:spcPct val="86000"/>
                </a:lnSpc>
                <a:spcBef>
                  <a:spcPts val="1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轮廓面未贯通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 rot="21600000">
            <a:off x="5542813" y="6351270"/>
            <a:ext cx="1066648" cy="382194"/>
            <a:chOff x="0" y="0"/>
            <a:chExt cx="1066648" cy="382194"/>
          </a:xfrm>
        </p:grpSpPr>
        <p:pic>
          <p:nvPicPr>
            <p:cNvPr id="140" name="picture 140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 rot="21600000">
              <a:off x="0" y="0"/>
              <a:ext cx="1066648" cy="382194"/>
            </a:xfrm>
            <a:prstGeom prst="rect">
              <a:avLst/>
            </a:prstGeom>
          </p:spPr>
        </p:pic>
        <p:sp>
          <p:nvSpPr>
            <p:cNvPr id="142" name="textbox 142"/>
            <p:cNvSpPr/>
            <p:nvPr/>
          </p:nvSpPr>
          <p:spPr>
            <a:xfrm>
              <a:off x="-12700" y="-12700"/>
              <a:ext cx="1092200" cy="4083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700" dirty="0">
                <a:latin typeface="Arial"/>
                <a:ea typeface="Arial"/>
                <a:cs typeface="Arial"/>
              </a:endParaRPr>
            </a:p>
            <a:p>
              <a:pPr marL="142239" algn="l" rtl="0" eaLnBrk="0">
                <a:lnSpc>
                  <a:spcPct val="87000"/>
                </a:lnSpc>
                <a:spcBef>
                  <a:spcPts val="1"/>
                </a:spcBef>
                <a:tabLst/>
              </a:pPr>
              <a:r>
                <a:rPr sz="1500" b="1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切槽孔图</a:t>
              </a:r>
              <a:endParaRPr sz="15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144" name="path 144"/>
          <p:cNvSpPr/>
          <p:nvPr/>
        </p:nvSpPr>
        <p:spPr>
          <a:xfrm>
            <a:off x="7182611" y="5018532"/>
            <a:ext cx="489204" cy="505967"/>
          </a:xfrm>
          <a:custGeom>
            <a:avLst/>
            <a:gdLst/>
            <a:ahLst/>
            <a:cxnLst/>
            <a:rect l="0" t="0" r="0" b="0"/>
            <a:pathLst>
              <a:path w="770" h="796">
                <a:moveTo>
                  <a:pt x="770" y="398"/>
                </a:moveTo>
                <a:lnTo>
                  <a:pt x="386" y="796"/>
                </a:lnTo>
                <a:lnTo>
                  <a:pt x="386" y="597"/>
                </a:lnTo>
                <a:lnTo>
                  <a:pt x="0" y="597"/>
                </a:lnTo>
                <a:lnTo>
                  <a:pt x="0" y="199"/>
                </a:lnTo>
                <a:lnTo>
                  <a:pt x="386" y="199"/>
                </a:lnTo>
                <a:lnTo>
                  <a:pt x="386" y="0"/>
                </a:lnTo>
                <a:lnTo>
                  <a:pt x="770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6" name="path 146"/>
          <p:cNvSpPr/>
          <p:nvPr/>
        </p:nvSpPr>
        <p:spPr>
          <a:xfrm>
            <a:off x="6704076" y="2278379"/>
            <a:ext cx="409955" cy="505967"/>
          </a:xfrm>
          <a:custGeom>
            <a:avLst/>
            <a:gdLst/>
            <a:ahLst/>
            <a:cxnLst/>
            <a:rect l="0" t="0" r="0" b="0"/>
            <a:pathLst>
              <a:path w="645" h="796">
                <a:moveTo>
                  <a:pt x="645" y="398"/>
                </a:moveTo>
                <a:lnTo>
                  <a:pt x="324" y="796"/>
                </a:lnTo>
                <a:lnTo>
                  <a:pt x="324" y="597"/>
                </a:lnTo>
                <a:lnTo>
                  <a:pt x="0" y="597"/>
                </a:lnTo>
                <a:lnTo>
                  <a:pt x="0" y="199"/>
                </a:lnTo>
                <a:lnTo>
                  <a:pt x="324" y="199"/>
                </a:lnTo>
                <a:lnTo>
                  <a:pt x="324" y="0"/>
                </a:lnTo>
                <a:lnTo>
                  <a:pt x="645" y="398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8" name="path 148"/>
          <p:cNvSpPr/>
          <p:nvPr/>
        </p:nvSpPr>
        <p:spPr>
          <a:xfrm>
            <a:off x="3131820" y="2314955"/>
            <a:ext cx="335279" cy="432815"/>
          </a:xfrm>
          <a:custGeom>
            <a:avLst/>
            <a:gdLst/>
            <a:ahLst/>
            <a:cxnLst/>
            <a:rect l="0" t="0" r="0" b="0"/>
            <a:pathLst>
              <a:path w="527" h="681">
                <a:moveTo>
                  <a:pt x="0" y="340"/>
                </a:moveTo>
                <a:lnTo>
                  <a:pt x="263" y="0"/>
                </a:lnTo>
                <a:lnTo>
                  <a:pt x="263" y="170"/>
                </a:lnTo>
                <a:lnTo>
                  <a:pt x="527" y="170"/>
                </a:lnTo>
                <a:lnTo>
                  <a:pt x="527" y="511"/>
                </a:lnTo>
                <a:lnTo>
                  <a:pt x="263" y="511"/>
                </a:lnTo>
                <a:lnTo>
                  <a:pt x="263" y="681"/>
                </a:lnTo>
                <a:lnTo>
                  <a:pt x="0" y="340"/>
                </a:lnTo>
              </a:path>
            </a:pathLst>
          </a:custGeom>
          <a:solidFill>
            <a:srgbClr val="ED7D3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433059" y="2468879"/>
            <a:ext cx="6096000" cy="37719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9947" y="711771"/>
            <a:ext cx="6853555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工程开挖是三峡新航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道建设的首要工作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1.7 工程废弃物就地高效资源化利用技术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67931" y="3617709"/>
            <a:ext cx="3695700" cy="1826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开挖量大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9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2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弃土、</a:t>
            </a:r>
            <a:r>
              <a:rPr sz="2300" b="1" kern="0" spc="-5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工程泥浆等种类多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37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处置利用需求迫切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6598919" y="1280159"/>
            <a:ext cx="5297423" cy="4971288"/>
            <a:chOff x="0" y="0"/>
            <a:chExt cx="5297423" cy="4971288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97423" cy="4971288"/>
            </a:xfrm>
            <a:prstGeom prst="rect">
              <a:avLst/>
            </a:prstGeom>
          </p:spPr>
        </p:pic>
        <p:sp>
          <p:nvSpPr>
            <p:cNvPr id="12" name="textbox 12"/>
            <p:cNvSpPr/>
            <p:nvPr/>
          </p:nvSpPr>
          <p:spPr>
            <a:xfrm>
              <a:off x="770915" y="2102370"/>
              <a:ext cx="3872229" cy="3270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341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algn="r" rtl="0" eaLnBrk="0">
                <a:lnSpc>
                  <a:spcPts val="2374"/>
                </a:lnSpc>
                <a:tabLst/>
              </a:pPr>
              <a:r>
                <a:rPr sz="1700" b="1" kern="0" spc="3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工程泥浆制备自流平回填材料（视频</a:t>
              </a:r>
              <a:r>
                <a:rPr sz="1700" b="1" kern="0" spc="2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14" name="textbox 14"/>
            <p:cNvSpPr/>
            <p:nvPr/>
          </p:nvSpPr>
          <p:spPr>
            <a:xfrm>
              <a:off x="1782573" y="4553483"/>
              <a:ext cx="2077085" cy="25336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06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FFF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长寿命生态恢复材料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1149096" y="3229355"/>
            <a:ext cx="4661915" cy="3002279"/>
            <a:chOff x="0" y="0"/>
            <a:chExt cx="4661915" cy="3002279"/>
          </a:xfrm>
        </p:grpSpPr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4661915" cy="3002279"/>
            </a:xfrm>
            <a:prstGeom prst="rect">
              <a:avLst/>
            </a:prstGeom>
          </p:spPr>
        </p:pic>
        <p:sp>
          <p:nvSpPr>
            <p:cNvPr id="18" name="textbox 18"/>
            <p:cNvSpPr/>
            <p:nvPr/>
          </p:nvSpPr>
          <p:spPr>
            <a:xfrm>
              <a:off x="1619440" y="2603830"/>
              <a:ext cx="1391285" cy="2527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891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tabLst/>
              </a:pPr>
              <a:r>
                <a:rPr sz="1700" b="1" kern="0" spc="90" dirty="0">
                  <a:solidFill>
                    <a:srgbClr val="F2F2F2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工程垃圾分选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20" name="textbox 20"/>
          <p:cNvSpPr/>
          <p:nvPr/>
        </p:nvSpPr>
        <p:spPr>
          <a:xfrm>
            <a:off x="636143" y="1572476"/>
            <a:ext cx="5200650" cy="146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工程垃圾分级分质技术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工程泥浆制备自流平回填材料技术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开挖弃土制备生态恢复材料技术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48843" y="2682455"/>
            <a:ext cx="216407" cy="337718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48843" y="2133815"/>
            <a:ext cx="216407" cy="337718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48843" y="1585176"/>
            <a:ext cx="216407" cy="337718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19671" y="1120139"/>
            <a:ext cx="5029200" cy="2668524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519671" y="4273295"/>
            <a:ext cx="5029200" cy="2474976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853757" y="3908081"/>
            <a:ext cx="4083050" cy="27044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9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北京城市副中心综合管廊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基槽回填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696"/>
              </a:spcBef>
              <a:tabLst/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工程垃圾占比</a:t>
            </a:r>
            <a:r>
              <a:rPr sz="23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＞90%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4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固废资源利用率</a:t>
            </a:r>
            <a:r>
              <a:rPr sz="2300" b="1" kern="0" spc="4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＞95%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marL="12700" algn="l" rtl="0" eaLnBrk="0">
              <a:lnSpc>
                <a:spcPts val="2918"/>
              </a:lnSpc>
              <a:spcBef>
                <a:spcPts val="1402"/>
              </a:spcBef>
              <a:tabLst/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08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回填成本节省</a:t>
            </a:r>
            <a:r>
              <a:rPr sz="2300" b="1" kern="0" spc="3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69%</a:t>
            </a:r>
            <a:endParaRPr sz="2300" dirty="0">
              <a:latin typeface="DengXian"/>
              <a:ea typeface="DengXian"/>
              <a:cs typeface="DengXian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918"/>
              </a:lnSpc>
              <a:spcBef>
                <a:spcPts val="3"/>
              </a:spcBef>
              <a:tabLst/>
            </a:pP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l</a:t>
            </a:r>
            <a:r>
              <a:rPr sz="2300" kern="0" spc="-129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 </a:t>
            </a: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渗透系数达到</a:t>
            </a:r>
            <a:r>
              <a:rPr sz="2300" b="1" kern="0" spc="6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10</a:t>
            </a:r>
            <a:r>
              <a:rPr sz="1500" b="1" kern="0" spc="50" dirty="0">
                <a:solidFill>
                  <a:srgbClr val="C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-7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cm</a:t>
            </a:r>
            <a:r>
              <a:rPr sz="2300" b="1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/s</a:t>
            </a:r>
            <a:endParaRPr sz="2300" dirty="0">
              <a:latin typeface="DengXian"/>
              <a:ea typeface="DengXian"/>
              <a:cs typeface="DengXian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95884" y="1120139"/>
            <a:ext cx="2855976" cy="2638044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607308" y="1152144"/>
            <a:ext cx="2525267" cy="2638044"/>
          </a:xfrm>
          <a:prstGeom prst="rect">
            <a:avLst/>
          </a:prstGeom>
        </p:spPr>
      </p:pic>
      <p:sp>
        <p:nvSpPr>
          <p:cNvPr id="40" name="textbox 40"/>
          <p:cNvSpPr/>
          <p:nvPr/>
        </p:nvSpPr>
        <p:spPr>
          <a:xfrm>
            <a:off x="7264502" y="3861218"/>
            <a:ext cx="3646170" cy="327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2374"/>
              </a:lnSpc>
              <a:tabLst/>
            </a:pPr>
            <a:r>
              <a:rPr sz="1700" b="1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光谷地下空间（亚洲最</a:t>
            </a:r>
            <a:r>
              <a:rPr sz="17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大地下空间）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、土木建筑与城乡发展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392167" y="1862328"/>
            <a:ext cx="7725156" cy="4538471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44068" y="3646932"/>
            <a:ext cx="3520440" cy="3150107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7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2.9 大坝三维数字化探测技术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27316" y="711771"/>
            <a:ext cx="6876415" cy="8312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87000"/>
              </a:lnSpc>
              <a:spcBef>
                <a:spcPts val="283"/>
              </a:spcBef>
              <a:tabLst/>
            </a:pP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大坝三维数字化探测技术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730049" y="1942186"/>
            <a:ext cx="3649979" cy="152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水下结构完整性检测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水库库容与淤积分析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大坝安全管理三维数字化监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252728" y="1114958"/>
            <a:ext cx="4732096" cy="5032933"/>
            <a:chOff x="0" y="0"/>
            <a:chExt cx="4732096" cy="5032933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732096" cy="5032933"/>
            </a:xfrm>
            <a:prstGeom prst="rect">
              <a:avLst/>
            </a:prstGeom>
          </p:spPr>
        </p:pic>
        <p:sp>
          <p:nvSpPr>
            <p:cNvPr id="14" name="textbox 14"/>
            <p:cNvSpPr/>
            <p:nvPr/>
          </p:nvSpPr>
          <p:spPr>
            <a:xfrm>
              <a:off x="638340" y="892467"/>
              <a:ext cx="3771900" cy="40005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33653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2847339" indent="3810" algn="l" rtl="0" eaLnBrk="0">
                <a:lnSpc>
                  <a:spcPct val="98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三维激光</a:t>
              </a: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扫描技术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9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10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510"/>
                </a:spcBef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无人机、</a:t>
              </a:r>
              <a:r>
                <a:rPr sz="1700" kern="0" spc="-30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车、船搭载进行扫描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67510" algn="l" rtl="0" eaLnBrk="0">
                <a:lnSpc>
                  <a:spcPct val="88000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浅地层剖面探测技术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16" name="pictur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25383" y="2757525"/>
              <a:ext cx="2362200" cy="1565147"/>
            </a:xfrm>
            <a:prstGeom prst="rect">
              <a:avLst/>
            </a:prstGeom>
          </p:spPr>
        </p:pic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446519" y="2762097"/>
              <a:ext cx="1373632" cy="2151012"/>
            </a:xfrm>
            <a:prstGeom prst="rect">
              <a:avLst/>
            </a:prstGeom>
          </p:spPr>
        </p:pic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88807" y="70713"/>
              <a:ext cx="1292352" cy="1866900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595871" y="159105"/>
              <a:ext cx="1152143" cy="1778507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6" name="textbox 26"/>
            <p:cNvSpPr/>
            <p:nvPr/>
          </p:nvSpPr>
          <p:spPr>
            <a:xfrm>
              <a:off x="-12700" y="-12700"/>
              <a:ext cx="6628765" cy="160718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709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4304665" algn="l" rtl="0" eaLnBrk="0">
                <a:lnSpc>
                  <a:spcPct val="85000"/>
                </a:lnSpc>
                <a:tabLst>
                  <a:tab pos="4544059" algn="l"/>
                </a:tabLst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	</a:t>
              </a:r>
              <a:r>
                <a:rPr sz="2000" kern="0" spc="-1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多波束探测技术</a:t>
              </a:r>
              <a:endParaRPr sz="2000" dirty="0">
                <a:latin typeface="Microsoft YaHei"/>
                <a:ea typeface="Microsoft YaHei"/>
                <a:cs typeface="Microsoft YaHei"/>
              </a:endParaRPr>
            </a:p>
            <a:p>
              <a:pPr algn="l" rtl="0" eaLnBrk="0">
                <a:lnSpc>
                  <a:spcPct val="18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06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1642745" algn="l" rtl="0" eaLnBrk="0">
                <a:lnSpc>
                  <a:spcPts val="2674"/>
                </a:lnSpc>
                <a:spcBef>
                  <a:spcPts val="1"/>
                </a:spcBef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三维数字化点云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470357" y="53047"/>
              <a:ext cx="3822191" cy="11811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4699482" y="416102"/>
              <a:ext cx="1622425" cy="56769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065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57479" indent="-145414" algn="l" rtl="0" eaLnBrk="0">
                <a:lnSpc>
                  <a:spcPct val="105000"/>
                </a:lnSpc>
                <a:tabLst/>
              </a:pPr>
              <a:r>
                <a:rPr sz="1700" kern="0" spc="9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水下无人潜航器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（ROV）</a:t>
              </a:r>
              <a:r>
                <a:rPr sz="1700" kern="0" spc="-34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 </a:t>
              </a:r>
              <a:r>
                <a:rPr sz="1700" kern="0" spc="-11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系统</a:t>
              </a:r>
              <a:endParaRPr sz="17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655726" y="1117612"/>
            <a:ext cx="4657725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多波束探测技术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165"/>
              </a:lnSpc>
              <a:spcBef>
                <a:spcPts val="1277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水下无人潜航器（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ROV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）</a:t>
            </a:r>
            <a:r>
              <a:rPr sz="2300" b="1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系统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548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三维激光扫描技术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浅地层剖面探测技术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44" name="textbox 44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101060" y="355092"/>
            <a:ext cx="2638044" cy="5783579"/>
          </a:xfrm>
          <a:prstGeom prst="rect">
            <a:avLst/>
          </a:prstGeom>
        </p:spPr>
      </p:pic>
      <p:pic>
        <p:nvPicPr>
          <p:cNvPr id="48" name="picture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5151" y="848867"/>
            <a:ext cx="3599688" cy="2520696"/>
          </a:xfrm>
          <a:prstGeom prst="rect">
            <a:avLst/>
          </a:prstGeom>
        </p:spPr>
      </p:pic>
      <p:pic>
        <p:nvPicPr>
          <p:cNvPr id="50" name="picture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858511" y="859535"/>
            <a:ext cx="3599688" cy="2520696"/>
          </a:xfrm>
          <a:prstGeom prst="rect">
            <a:avLst/>
          </a:prstGeom>
        </p:spPr>
      </p:pic>
      <p:pic>
        <p:nvPicPr>
          <p:cNvPr id="52" name="picture 5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35151" y="3782567"/>
            <a:ext cx="3599688" cy="2520695"/>
          </a:xfrm>
          <a:prstGeom prst="rect">
            <a:avLst/>
          </a:prstGeom>
        </p:spPr>
      </p:pic>
      <p:pic>
        <p:nvPicPr>
          <p:cNvPr id="54" name="picture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858511" y="3781044"/>
            <a:ext cx="3599688" cy="2520695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4942509" y="6424574"/>
            <a:ext cx="3448684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8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10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上游坝面混凝土表观</a:t>
            </a: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完整情况检测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0" name="textbox 60"/>
          <p:cNvSpPr/>
          <p:nvPr/>
        </p:nvSpPr>
        <p:spPr>
          <a:xfrm>
            <a:off x="8964371" y="6361201"/>
            <a:ext cx="299212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龚嘴水电站上游库区探测成果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2" name="textbox 62"/>
          <p:cNvSpPr/>
          <p:nvPr/>
        </p:nvSpPr>
        <p:spPr>
          <a:xfrm>
            <a:off x="5584532" y="3429558"/>
            <a:ext cx="230758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51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近坝库区水底地形探测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1569935" y="6425717"/>
            <a:ext cx="2081529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49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尾水渠水下检测成果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1571307" y="3422002"/>
            <a:ext cx="1622425" cy="2514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3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kern="0" spc="90" dirty="0">
                <a:solidFill>
                  <a:srgbClr val="0070C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消力塘水下检测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、淇℃伅鎶€鏈笌浜哄伐鏅鸿兘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1065016" y="1092108"/>
            <a:ext cx="8808719" cy="1764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08"/>
              </a:lnSpc>
              <a:tabLst/>
            </a:pPr>
            <a:r>
              <a:rPr sz="2700" kern="0" spc="9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4.1 钾离子固态电池储能技术用于抽水涡轮机能量</a:t>
            </a:r>
            <a:r>
              <a:rPr sz="2700" kern="0" spc="8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回收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ts val="3608"/>
              </a:lnSpc>
              <a:spcBef>
                <a:spcPts val="1432"/>
              </a:spcBef>
              <a:tabLst/>
            </a:pPr>
            <a:r>
              <a:rPr sz="2700" kern="0" spc="9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4.2 三峡新通道光-波浪-储自</a:t>
            </a:r>
            <a:r>
              <a:rPr sz="2700" kern="0" spc="8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洽能源系统关键技术及应用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608"/>
              </a:lnSpc>
              <a:spcBef>
                <a:spcPts val="6"/>
              </a:spcBef>
              <a:tabLst/>
            </a:pPr>
            <a:r>
              <a:rPr sz="2700" kern="0" spc="9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4.3 水风光氢一体化零碳航道微电网系统关键技术及应</a:t>
            </a:r>
            <a:r>
              <a:rPr sz="2700" kern="0" spc="80" dirty="0">
                <a:solidFill>
                  <a:srgbClr val="00469A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用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8270" algn="l" rtl="0" eaLnBrk="0">
              <a:lnSpc>
                <a:spcPct val="87000"/>
              </a:lnSpc>
              <a:spcBef>
                <a:spcPts val="4"/>
              </a:spcBef>
              <a:tabLst/>
            </a:pPr>
            <a:r>
              <a:rPr sz="3200" kern="0" spc="-30" dirty="0">
                <a:solidFill>
                  <a:srgbClr val="FFFF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四、能源系统与储能技术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18947" y="1257630"/>
            <a:ext cx="11674171" cy="4668989"/>
          </a:xfrm>
          <a:prstGeom prst="rect">
            <a:avLst/>
          </a:prstGeom>
        </p:spPr>
      </p:pic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52039" y="3694083"/>
          <a:ext cx="3844925" cy="2101850"/>
        </p:xfrm>
        <a:graphic>
          <a:graphicData uri="http://schemas.openxmlformats.org/drawingml/2006/table">
            <a:tbl>
              <a:tblPr/>
              <a:tblGrid>
                <a:gridCol w="1795145"/>
                <a:gridCol w="2049779"/>
              </a:tblGrid>
              <a:tr h="2101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04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000" b="1" kern="0" spc="-20" dirty="0">
                          <a:solidFill>
                            <a:srgbClr val="333333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优势：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93000"/>
                        </a:lnSpc>
                        <a:spcBef>
                          <a:spcPts val="607"/>
                        </a:spcBef>
                        <a:tabLst>
                          <a:tab pos="198754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容量大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93000"/>
                        </a:lnSpc>
                        <a:spcBef>
                          <a:spcPts val="600"/>
                        </a:spcBef>
                        <a:tabLst>
                          <a:tab pos="198754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经济性好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79" algn="l" rtl="0" eaLnBrk="0">
                        <a:lnSpc>
                          <a:spcPct val="90000"/>
                        </a:lnSpc>
                        <a:spcBef>
                          <a:spcPts val="6"/>
                        </a:spcBef>
                        <a:tabLst>
                          <a:tab pos="198754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使用寿命长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6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93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劣势：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93000"/>
                        </a:lnSpc>
                        <a:spcBef>
                          <a:spcPts val="609"/>
                        </a:spcBef>
                        <a:tabLst>
                          <a:tab pos="441325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建设周期较长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984" algn="l" rtl="0" eaLnBrk="0">
                        <a:lnSpc>
                          <a:spcPct val="93000"/>
                        </a:lnSpc>
                        <a:tabLst>
                          <a:tab pos="441325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选址要求较高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608239" y="4900041"/>
            <a:ext cx="180763" cy="28213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608239" y="4290441"/>
            <a:ext cx="180763" cy="282135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0118" y="5514392"/>
            <a:ext cx="180790" cy="27519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70118" y="4904792"/>
            <a:ext cx="180790" cy="28213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570118" y="4295192"/>
            <a:ext cx="180790" cy="282135"/>
          </a:xfrm>
          <a:prstGeom prst="rect">
            <a:avLst/>
          </a:prstGeom>
        </p:spPr>
      </p:pic>
      <p:sp>
        <p:nvSpPr>
          <p:cNvPr id="20" name="textbox 20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4.1  钾离子固态电池储能技术用于抽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水涡轮机能量回收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7455194" y="4321328"/>
          <a:ext cx="4192905" cy="1501139"/>
        </p:xfrm>
        <a:graphic>
          <a:graphicData uri="http://schemas.openxmlformats.org/drawingml/2006/table">
            <a:tbl>
              <a:tblPr/>
              <a:tblGrid>
                <a:gridCol w="1969770"/>
                <a:gridCol w="2223135"/>
              </a:tblGrid>
              <a:tr h="15011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000"/>
                        </a:lnSpc>
                        <a:tabLst>
                          <a:tab pos="18033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布置灵活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3000"/>
                        </a:lnSpc>
                        <a:spcBef>
                          <a:spcPts val="600"/>
                        </a:spcBef>
                        <a:tabLst>
                          <a:tab pos="18033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建设周期较短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0000"/>
                        </a:lnSpc>
                        <a:spcBef>
                          <a:spcPts val="3"/>
                        </a:spcBef>
                        <a:tabLst>
                          <a:tab pos="18033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响应速度较快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5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algn="l" rtl="0" eaLnBrk="0">
                        <a:lnSpc>
                          <a:spcPct val="92000"/>
                        </a:lnSpc>
                        <a:tabLst>
                          <a:tab pos="36067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成本较高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algn="l" rtl="0" eaLnBrk="0">
                        <a:lnSpc>
                          <a:spcPct val="16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algn="l" rtl="0" eaLnBrk="0">
                        <a:lnSpc>
                          <a:spcPct val="93000"/>
                        </a:lnSpc>
                        <a:tabLst>
                          <a:tab pos="360679" algn="l"/>
                        </a:tabLst>
                      </a:pPr>
                      <a:r>
                        <a:rPr sz="20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	</a:t>
                      </a:r>
                      <a:r>
                        <a:rPr sz="2000" b="1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20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安全性存在差异</a:t>
                      </a:r>
                      <a:endParaRPr sz="20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pic>
        <p:nvPicPr>
          <p:cNvPr id="24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605418" y="4930928"/>
            <a:ext cx="180762" cy="28213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605418" y="4321328"/>
            <a:ext cx="180790" cy="282135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7455194" y="5540528"/>
            <a:ext cx="180790" cy="275589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455194" y="4930928"/>
            <a:ext cx="180790" cy="282135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7455194" y="4321328"/>
            <a:ext cx="180790" cy="282135"/>
          </a:xfrm>
          <a:prstGeom prst="rect">
            <a:avLst/>
          </a:prstGeom>
        </p:spPr>
      </p:pic>
      <p:sp>
        <p:nvSpPr>
          <p:cNvPr id="34" name="textbox 34"/>
          <p:cNvSpPr/>
          <p:nvPr/>
        </p:nvSpPr>
        <p:spPr>
          <a:xfrm>
            <a:off x="941831" y="6135522"/>
            <a:ext cx="10405744" cy="597534"/>
          </a:xfrm>
          <a:prstGeom prst="rect">
            <a:avLst/>
          </a:prstGeom>
          <a:solidFill>
            <a:srgbClr val="FFC00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9530" algn="l" rtl="0" eaLnBrk="0">
              <a:lnSpc>
                <a:spcPct val="87000"/>
              </a:lnSpc>
              <a:spcBef>
                <a:spcPts val="2"/>
              </a:spcBef>
              <a:tabLst/>
            </a:pPr>
            <a:r>
              <a:rPr sz="3200" b="1" kern="0" spc="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抽水蓄能与电化学储能协同配置 助力新型</a:t>
            </a:r>
            <a:r>
              <a:rPr sz="32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电力系统构建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7424415" y="3062646"/>
            <a:ext cx="3062604" cy="9404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17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200" b="1" kern="0" spc="-4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电化学储能</a:t>
            </a:r>
            <a:endParaRPr sz="32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4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9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2000" b="1" kern="0" spc="1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优势：      </a:t>
            </a:r>
            <a:r>
              <a:rPr sz="2000" b="1" kern="0" spc="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劣势：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7225142" y="1402460"/>
            <a:ext cx="2469036" cy="1806957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642971" y="1369156"/>
            <a:ext cx="2193822" cy="1806277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668003" y="3045047"/>
            <a:ext cx="1645285" cy="4495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200" b="1" kern="0" spc="-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抽水蓄能</a:t>
            </a:r>
            <a:endParaRPr sz="32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451998" y="1406168"/>
            <a:ext cx="1969746" cy="1806957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9900383" y="1439836"/>
            <a:ext cx="1764430" cy="1806957"/>
          </a:xfrm>
          <a:prstGeom prst="rect">
            <a:avLst/>
          </a:prstGeom>
        </p:spPr>
      </p:pic>
      <p:sp>
        <p:nvSpPr>
          <p:cNvPr id="48" name="textbox 48"/>
          <p:cNvSpPr/>
          <p:nvPr/>
        </p:nvSpPr>
        <p:spPr>
          <a:xfrm>
            <a:off x="4454296" y="727798"/>
            <a:ext cx="3675379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8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抽水蓄能电站需求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50" name="picture 5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5180304" y="3158655"/>
            <a:ext cx="1751177" cy="673646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5611215" y="3037065"/>
            <a:ext cx="937260" cy="2546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b="1" kern="0" spc="90" dirty="0">
                <a:solidFill>
                  <a:srgbClr val="33333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优势互补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table 54"/>
          <p:cNvGraphicFramePr>
            <a:graphicFrameLocks noGrp="1"/>
          </p:cNvGraphicFramePr>
          <p:nvPr/>
        </p:nvGraphicFramePr>
        <p:xfrm>
          <a:off x="517652" y="1732115"/>
          <a:ext cx="7708265" cy="1561465"/>
        </p:xfrm>
        <a:graphic>
          <a:graphicData uri="http://schemas.openxmlformats.org/drawingml/2006/table">
            <a:tbl>
              <a:tblPr/>
              <a:tblGrid>
                <a:gridCol w="588009"/>
                <a:gridCol w="1038225"/>
                <a:gridCol w="1296035"/>
                <a:gridCol w="1296035"/>
                <a:gridCol w="1018539"/>
                <a:gridCol w="1313814"/>
                <a:gridCol w="1157605"/>
              </a:tblGrid>
              <a:tr h="4584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668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元素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5900" algn="l" rtl="0" eaLnBrk="0">
                        <a:lnSpc>
                          <a:spcPct val="82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地球储量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81940" algn="l" rtl="0" eaLnBrk="0">
                        <a:lnSpc>
                          <a:spcPts val="1598"/>
                        </a:lnSpc>
                        <a:tabLst/>
                      </a:pP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(wt</a:t>
                      </a:r>
                      <a:r>
                        <a:rPr sz="1200" b="1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</a:t>
                      </a:r>
                      <a:r>
                        <a:rPr sz="12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%)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715" indent="8889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氟基电解液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(美元/公斤)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9715" indent="9525" algn="l" rtl="0" eaLnBrk="0">
                        <a:lnSpc>
                          <a:spcPct val="9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氯基电解液</a:t>
                      </a:r>
                      <a:r>
                        <a:rPr sz="12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     </a:t>
                      </a: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(美元/公斤)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4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" algn="l" rtl="0" eaLnBrk="0">
                        <a:lnSpc>
                          <a:spcPts val="1582"/>
                        </a:lnSpc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电极电势(V)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54329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负极材料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49250" algn="l" rtl="0" eaLnBrk="0">
                        <a:lnSpc>
                          <a:spcPct val="87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集流体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5745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</a:t>
                      </a:r>
                      <a:endParaRPr sz="11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7970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0.0017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26719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10340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1169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3080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-3.02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9905" algn="l" rtl="0" eaLnBrk="0">
                        <a:lnSpc>
                          <a:spcPct val="8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石墨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40029" algn="l" rtl="0" eaLnBrk="0">
                        <a:lnSpc>
                          <a:spcPct val="86000"/>
                        </a:lnSpc>
                        <a:spcBef>
                          <a:spcPts val="18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负极-铜箔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5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9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0660" algn="l" rtl="0" eaLnBrk="0">
                        <a:lnSpc>
                          <a:spcPct val="77000"/>
                        </a:lnSpc>
                        <a:tabLst/>
                      </a:pPr>
                      <a:r>
                        <a:rPr sz="12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Na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6385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71169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3764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-2.71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4825" algn="l" rtl="0" eaLnBrk="0">
                        <a:lnSpc>
                          <a:spcPct val="86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硬碳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40029" algn="l" rtl="0" eaLnBrk="0">
                        <a:lnSpc>
                          <a:spcPct val="86000"/>
                        </a:lnSpc>
                        <a:spcBef>
                          <a:spcPts val="186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负极-铜箔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7175" algn="l" rtl="0" eaLnBrk="0">
                        <a:lnSpc>
                          <a:spcPct val="77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200" b="1" kern="0" spc="-2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7020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4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0863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492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4350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260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24484" algn="l" rtl="0" eaLnBrk="0">
                        <a:lnSpc>
                          <a:spcPts val="1582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200" b="1" kern="0" spc="-3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-2.93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83385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8259" indent="3810" algn="l" rtl="0" eaLnBrk="0">
                        <a:lnSpc>
                          <a:spcPct val="93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石墨、钠钾液态合</a:t>
                      </a: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金、硬碳、软碳、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000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1300" algn="l" rtl="0" eaLnBrk="0">
                        <a:lnSpc>
                          <a:spcPct val="82000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  <a:p>
                      <a:pPr marL="240029" algn="l" rtl="0" eaLnBrk="0">
                        <a:lnSpc>
                          <a:spcPts val="1538"/>
                        </a:lnSpc>
                        <a:tabLst/>
                      </a:pPr>
                      <a:r>
                        <a:rPr sz="1200" b="1" kern="0" spc="-10" dirty="0">
                          <a:solidFill>
                            <a:srgbClr val="FF0000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负极-铝箔</a:t>
                      </a:r>
                      <a:endParaRPr sz="1200" dirty="0">
                        <a:latin typeface="Microsoft YaHei"/>
                        <a:ea typeface="Microsoft YaHei"/>
                        <a:cs typeface="Microsoft YaHei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6"/>
          <p:cNvSpPr/>
          <p:nvPr/>
        </p:nvSpPr>
        <p:spPr>
          <a:xfrm>
            <a:off x="504952" y="3416846"/>
            <a:ext cx="4050029" cy="2872739"/>
          </a:xfrm>
          <a:prstGeom prst="rect">
            <a:avLst/>
          </a:prstGeom>
          <a:solidFill>
            <a:srgbClr val="8FC1E6">
              <a:alpha val="27058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117475" algn="l" rtl="0" eaLnBrk="0">
              <a:lnSpc>
                <a:spcPct val="90000"/>
              </a:lnSpc>
              <a:spcBef>
                <a:spcPts val="7"/>
              </a:spcBef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钾离子电池的优点：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9539" algn="l" rtl="0" eaLnBrk="0">
              <a:lnSpc>
                <a:spcPct val="98000"/>
              </a:lnSpc>
              <a:spcBef>
                <a:spcPts val="473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48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9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钾资源储量丰富、分布均匀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3000"/>
              </a:lnSpc>
              <a:spcBef>
                <a:spcPts val="453"/>
              </a:spcBef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是锂的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~1000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倍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9539" algn="l" rtl="0" eaLnBrk="0">
              <a:lnSpc>
                <a:spcPct val="98000"/>
              </a:lnSpc>
              <a:spcBef>
                <a:spcPts val="401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58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6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高工作电压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3000"/>
              </a:lnSpc>
              <a:spcBef>
                <a:spcPts val="453"/>
              </a:spcBef>
              <a:tabLst/>
            </a:pP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相比钠离子电池有望实现更高电压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9539" algn="l" rtl="0" eaLnBrk="0">
              <a:lnSpc>
                <a:spcPct val="98000"/>
              </a:lnSpc>
              <a:spcBef>
                <a:spcPts val="401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52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8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可嵌入石墨负极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5000"/>
              </a:lnSpc>
              <a:spcBef>
                <a:spcPts val="441"/>
              </a:spcBef>
              <a:tabLst/>
            </a:pP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(~250 </a:t>
            </a: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mAh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/g</a:t>
            </a:r>
            <a:r>
              <a:rPr sz="1700" b="1" kern="0" spc="24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的比容量</a:t>
            </a:r>
            <a:r>
              <a:rPr sz="1700" b="1" kern="0" spc="5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  <a:p>
            <a:pPr marL="129539" algn="l" rtl="0" eaLnBrk="0">
              <a:lnSpc>
                <a:spcPct val="98000"/>
              </a:lnSpc>
              <a:spcBef>
                <a:spcPts val="367"/>
              </a:spcBef>
              <a:tabLst>
                <a:tab pos="291465" algn="l"/>
              </a:tabLst>
            </a:pPr>
            <a:r>
              <a:rPr sz="1700" kern="0" spc="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kern="0" spc="60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-2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正负极集流体都可用</a:t>
            </a:r>
            <a:r>
              <a:rPr sz="1700" b="1" kern="0" spc="-20" dirty="0">
                <a:solidFill>
                  <a:srgbClr val="0000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Al</a:t>
            </a:r>
            <a:r>
              <a:rPr sz="1700" b="1" kern="0" spc="-20" dirty="0">
                <a:solidFill>
                  <a:srgbClr val="000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箔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19379" algn="l" rtl="0" eaLnBrk="0">
              <a:lnSpc>
                <a:spcPct val="93000"/>
              </a:lnSpc>
              <a:spcBef>
                <a:spcPts val="458"/>
              </a:spcBef>
              <a:tabLst/>
            </a:pP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(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铜箔价格是铝箔的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2.5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倍</a:t>
            </a:r>
            <a:r>
              <a:rPr sz="1700" b="1" kern="0" spc="7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)</a:t>
            </a:r>
            <a:endParaRPr sz="1700" dirty="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34644" y="5625820"/>
            <a:ext cx="162305" cy="253288"/>
          </a:xfrm>
          <a:prstGeom prst="rect">
            <a:avLst/>
          </a:prstGeom>
        </p:spPr>
      </p:pic>
      <p:pic>
        <p:nvPicPr>
          <p:cNvPr id="60" name="picture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34644" y="5023218"/>
            <a:ext cx="162305" cy="253288"/>
          </a:xfrm>
          <a:prstGeom prst="rect">
            <a:avLst/>
          </a:prstGeom>
        </p:spPr>
      </p:pic>
      <p:pic>
        <p:nvPicPr>
          <p:cNvPr id="62" name="picture 6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4644" y="4419968"/>
            <a:ext cx="162305" cy="253288"/>
          </a:xfrm>
          <a:prstGeom prst="rect">
            <a:avLst/>
          </a:prstGeom>
        </p:spPr>
      </p:pic>
      <p:pic>
        <p:nvPicPr>
          <p:cNvPr id="64" name="picture 6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34644" y="3816718"/>
            <a:ext cx="162305" cy="253288"/>
          </a:xfrm>
          <a:prstGeom prst="rect">
            <a:avLst/>
          </a:prstGeom>
        </p:spPr>
      </p:pic>
      <p:pic>
        <p:nvPicPr>
          <p:cNvPr id="66" name="picture 6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10100" y="3790188"/>
            <a:ext cx="3648456" cy="2548127"/>
          </a:xfrm>
          <a:prstGeom prst="rect">
            <a:avLst/>
          </a:prstGeom>
        </p:spPr>
      </p:pic>
      <p:sp>
        <p:nvSpPr>
          <p:cNvPr id="68" name="rect 68"/>
          <p:cNvSpPr/>
          <p:nvPr/>
        </p:nvSpPr>
        <p:spPr>
          <a:xfrm>
            <a:off x="8410283" y="3966413"/>
            <a:ext cx="3525277" cy="2194826"/>
          </a:xfrm>
          <a:prstGeom prst="rect">
            <a:avLst/>
          </a:prstGeom>
          <a:solidFill>
            <a:srgbClr val="FF0000">
              <a:alpha val="20392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2" name="group 2"/>
          <p:cNvGrpSpPr/>
          <p:nvPr/>
        </p:nvGrpSpPr>
        <p:grpSpPr>
          <a:xfrm rot="21600000">
            <a:off x="8757260" y="1487334"/>
            <a:ext cx="2849524" cy="1813648"/>
            <a:chOff x="0" y="0"/>
            <a:chExt cx="2849524" cy="1813648"/>
          </a:xfrm>
        </p:grpSpPr>
        <p:pic>
          <p:nvPicPr>
            <p:cNvPr id="70" name="picture 7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40792" y="126581"/>
              <a:ext cx="2808732" cy="1687067"/>
            </a:xfrm>
            <a:prstGeom prst="rect">
              <a:avLst/>
            </a:prstGeom>
          </p:spPr>
        </p:pic>
        <p:sp>
          <p:nvSpPr>
            <p:cNvPr id="72" name="textbox 72"/>
            <p:cNvSpPr/>
            <p:nvPr/>
          </p:nvSpPr>
          <p:spPr>
            <a:xfrm>
              <a:off x="-12700" y="-12700"/>
              <a:ext cx="2575560" cy="1854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359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7000"/>
                </a:lnSpc>
                <a:tabLst/>
              </a:pPr>
              <a:r>
                <a:rPr sz="1200" b="1" kern="0" spc="0" dirty="0">
                  <a:solidFill>
                    <a:srgbClr val="000000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负极-电解质界面      正极-电解质界面</a:t>
              </a:r>
              <a:endParaRPr sz="1200" dirty="0">
                <a:latin typeface="Microsoft YaHei"/>
                <a:ea typeface="Microsoft YaHei"/>
                <a:cs typeface="Microsoft YaHei"/>
              </a:endParaRPr>
            </a:p>
          </p:txBody>
        </p:sp>
      </p:grpSp>
      <p:sp>
        <p:nvSpPr>
          <p:cNvPr id="74" name="textbox 74"/>
          <p:cNvSpPr/>
          <p:nvPr/>
        </p:nvSpPr>
        <p:spPr>
          <a:xfrm>
            <a:off x="695418" y="1238687"/>
            <a:ext cx="7487919" cy="386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钾离子电池：</a:t>
            </a:r>
            <a:r>
              <a:rPr sz="2700" b="1" kern="0" spc="-66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b="1" kern="0" spc="90" dirty="0">
                <a:solidFill>
                  <a:srgbClr val="FF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储能领域二次电池体系发展新方向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6" name="textbox 76"/>
          <p:cNvSpPr/>
          <p:nvPr/>
        </p:nvSpPr>
        <p:spPr>
          <a:xfrm>
            <a:off x="10402277" y="4363872"/>
            <a:ext cx="1441450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700" b="1" kern="0" spc="5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固态电池：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370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2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安全性高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241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循环性能好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8000"/>
              </a:lnSpc>
              <a:spcBef>
                <a:spcPts val="5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能量密度高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78" name="picture 7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10421378" y="5599353"/>
            <a:ext cx="184480" cy="253288"/>
          </a:xfrm>
          <a:prstGeom prst="rect">
            <a:avLst/>
          </a:prstGeom>
        </p:spPr>
      </p:pic>
      <p:pic>
        <p:nvPicPr>
          <p:cNvPr id="80" name="picture 8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421378" y="5187873"/>
            <a:ext cx="184480" cy="253288"/>
          </a:xfrm>
          <a:prstGeom prst="rect">
            <a:avLst/>
          </a:prstGeom>
        </p:spPr>
      </p:pic>
      <p:pic>
        <p:nvPicPr>
          <p:cNvPr id="82" name="picture 8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0421378" y="4776393"/>
            <a:ext cx="184480" cy="253288"/>
          </a:xfrm>
          <a:prstGeom prst="rect">
            <a:avLst/>
          </a:prstGeom>
        </p:spPr>
      </p:pic>
      <p:sp>
        <p:nvSpPr>
          <p:cNvPr id="84" name="textbox 84"/>
          <p:cNvSpPr/>
          <p:nvPr/>
        </p:nvSpPr>
        <p:spPr>
          <a:xfrm>
            <a:off x="8562721" y="4363186"/>
            <a:ext cx="1344294" cy="15024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8000"/>
              </a:lnSpc>
              <a:tabLst/>
            </a:pPr>
            <a:r>
              <a:rPr sz="1700" b="1" kern="0" spc="-12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固态电解质：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356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不可燃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marL="19050" algn="l" rtl="0" eaLnBrk="0">
              <a:lnSpc>
                <a:spcPct val="98000"/>
              </a:lnSpc>
              <a:spcBef>
                <a:spcPts val="1241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无腐蚀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98000"/>
              </a:lnSpc>
              <a:spcBef>
                <a:spcPts val="5"/>
              </a:spcBef>
              <a:tabLst>
                <a:tab pos="203200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7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不挥发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581822" y="5599353"/>
            <a:ext cx="184480" cy="253288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581822" y="5187873"/>
            <a:ext cx="184480" cy="253288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8581822" y="4776393"/>
            <a:ext cx="184480" cy="253288"/>
          </a:xfrm>
          <a:prstGeom prst="rect">
            <a:avLst/>
          </a:prstGeom>
        </p:spPr>
      </p:pic>
      <p:sp>
        <p:nvSpPr>
          <p:cNvPr id="92" name="textbox 92"/>
          <p:cNvSpPr/>
          <p:nvPr/>
        </p:nvSpPr>
        <p:spPr>
          <a:xfrm>
            <a:off x="4374959" y="306095"/>
            <a:ext cx="4114800" cy="492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2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3500" b="1" kern="0" spc="7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固态钾离子电池储能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9009774" y="3354768"/>
            <a:ext cx="1929764" cy="1854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负极</a:t>
            </a:r>
            <a:r>
              <a:rPr sz="1200" b="1" kern="0" spc="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固态电解质</a:t>
            </a:r>
            <a:r>
              <a:rPr sz="1200" b="1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</a:t>
            </a:r>
            <a:r>
              <a:rPr sz="1200" b="1" kern="0" spc="-2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正极</a:t>
            </a:r>
            <a:endParaRPr sz="12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96"/>
          <p:cNvSpPr/>
          <p:nvPr/>
        </p:nvSpPr>
        <p:spPr>
          <a:xfrm>
            <a:off x="659345" y="235153"/>
            <a:ext cx="11365230" cy="3312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8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86304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抽水涡轮机的能量回收关键技术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18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高性能钾离子电池正极材料的可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控制备技术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21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高性能钾离子电池固态电解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质开发技术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8000"/>
              </a:lnSpc>
              <a:spcBef>
                <a:spcPts val="521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17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低成本钾离子软包电芯的批量化</a:t>
            </a:r>
            <a:r>
              <a:rPr sz="17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制备技术</a:t>
            </a:r>
            <a:endParaRPr sz="1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2260"/>
              </a:lnSpc>
              <a:spcBef>
                <a:spcPts val="536"/>
              </a:spcBef>
              <a:tabLst>
                <a:tab pos="174625" algn="l"/>
              </a:tabLst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1700" b="1" kern="0" spc="1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</a:t>
            </a:r>
            <a:r>
              <a:rPr sz="2700" b="1" kern="0" spc="-10" baseline="-42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原位监测平台搭建技术</a:t>
            </a:r>
            <a:r>
              <a:rPr sz="17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                                               </a:t>
            </a:r>
            <a:r>
              <a:rPr sz="2400" b="1" kern="0" spc="-10" baseline="14718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一维纳米线结构，各向异性</a:t>
            </a:r>
            <a:r>
              <a:rPr sz="1500" b="1" kern="0" spc="-1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     </a:t>
            </a:r>
            <a:r>
              <a:rPr sz="2400" b="1" kern="0" spc="-10" baseline="16888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易于搭建单根原</a:t>
            </a:r>
            <a:r>
              <a:rPr sz="2400" b="1" kern="0" spc="-20" baseline="16888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位表征平台</a:t>
            </a:r>
            <a:endParaRPr sz="2400" baseline="16888" dirty="0">
              <a:latin typeface="Microsoft YaHei"/>
              <a:ea typeface="Microsoft YaHei"/>
              <a:cs typeface="Microsoft YaHei"/>
            </a:endParaRPr>
          </a:p>
          <a:p>
            <a:pPr marL="6731000" algn="l" rtl="0" eaLnBrk="0">
              <a:lnSpc>
                <a:spcPts val="2080"/>
              </a:lnSpc>
              <a:spcBef>
                <a:spcPts val="400"/>
              </a:spcBef>
              <a:tabLst/>
            </a:pPr>
            <a:r>
              <a:rPr sz="1600" kern="0" spc="0" dirty="0">
                <a:solidFill>
                  <a:srgbClr val="106DA8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原位揭示钢离子正极材料的本征储钾机制,</a:t>
            </a:r>
            <a:endParaRPr sz="16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374103" y="2948290"/>
            <a:ext cx="144429" cy="132477"/>
          </a:xfrm>
          <a:prstGeom prst="rect">
            <a:avLst/>
          </a:prstGeom>
        </p:spPr>
      </p:pic>
      <p:pic>
        <p:nvPicPr>
          <p:cNvPr id="100" name="picture 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469359" y="2954030"/>
            <a:ext cx="144429" cy="132477"/>
          </a:xfrm>
          <a:prstGeom prst="rect">
            <a:avLst/>
          </a:prstGeom>
        </p:spPr>
      </p:pic>
      <p:pic>
        <p:nvPicPr>
          <p:cNvPr id="102" name="picture 1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72045" y="2965830"/>
            <a:ext cx="162305" cy="253288"/>
          </a:xfrm>
          <a:prstGeom prst="rect">
            <a:avLst/>
          </a:prstGeom>
        </p:spPr>
      </p:pic>
      <p:pic>
        <p:nvPicPr>
          <p:cNvPr id="104" name="picture 10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72045" y="2417190"/>
            <a:ext cx="162305" cy="253288"/>
          </a:xfrm>
          <a:prstGeom prst="rect">
            <a:avLst/>
          </a:prstGeom>
        </p:spPr>
      </p:pic>
      <p:pic>
        <p:nvPicPr>
          <p:cNvPr id="106" name="picture 10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72045" y="1868551"/>
            <a:ext cx="162305" cy="253288"/>
          </a:xfrm>
          <a:prstGeom prst="rect">
            <a:avLst/>
          </a:prstGeom>
        </p:spPr>
      </p:pic>
      <p:pic>
        <p:nvPicPr>
          <p:cNvPr id="108" name="picture 10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72045" y="1319910"/>
            <a:ext cx="162305" cy="253288"/>
          </a:xfrm>
          <a:prstGeom prst="rect">
            <a:avLst/>
          </a:prstGeom>
        </p:spPr>
      </p:pic>
      <p:pic>
        <p:nvPicPr>
          <p:cNvPr id="110" name="picture 1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639629" y="3792750"/>
            <a:ext cx="4445217" cy="2902545"/>
          </a:xfrm>
          <a:prstGeom prst="rect">
            <a:avLst/>
          </a:prstGeom>
        </p:spPr>
      </p:pic>
      <p:pic>
        <p:nvPicPr>
          <p:cNvPr id="112" name="picture 1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50377" y="3874394"/>
            <a:ext cx="3797864" cy="2958213"/>
          </a:xfrm>
          <a:prstGeom prst="rect">
            <a:avLst/>
          </a:prstGeom>
        </p:spPr>
      </p:pic>
      <p:pic>
        <p:nvPicPr>
          <p:cNvPr id="114" name="picture 1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393691" y="4014150"/>
            <a:ext cx="3069336" cy="2119982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274215" y="1179714"/>
            <a:ext cx="3053234" cy="1550739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9564623" y="1057656"/>
            <a:ext cx="2400300" cy="1737359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440935" y="6216395"/>
            <a:ext cx="2753868" cy="368807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117591" y="1749551"/>
            <a:ext cx="6530340" cy="371094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643829" y="1974686"/>
            <a:ext cx="4377690" cy="2136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80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船舶升降波浪能发电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边坡光伏阵列太阳能发电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spcBef>
                <a:spcPts val="600"/>
              </a:spcBef>
              <a:tabLst/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能源管理系统智能调度</a:t>
            </a:r>
            <a:endParaRPr sz="20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6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Wingdings"/>
                <a:ea typeface="Wingdings"/>
                <a:cs typeface="Wingdings"/>
              </a:rPr>
              <a:t>u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光-波浪-储自洽能源系统集成与应用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9398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4.2 三峡新通道光-波浪-储自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洽能源系统关键技术及应用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379710" y="711771"/>
            <a:ext cx="7124065" cy="1014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  <a:tabLst/>
            </a:pP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三峡新通道光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波浪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-</a:t>
            </a:r>
            <a:r>
              <a:rPr sz="20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储自洽能源系统</a:t>
            </a: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关键技术及应用</a:t>
            </a:r>
            <a:endParaRPr sz="20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3339" y="4119371"/>
            <a:ext cx="2494787" cy="2147316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755391" y="4148328"/>
            <a:ext cx="2101596" cy="208940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7400849" y="950493"/>
            <a:ext cx="4681282" cy="5406263"/>
            <a:chOff x="0" y="0"/>
            <a:chExt cx="4681282" cy="5406263"/>
          </a:xfrm>
        </p:grpSpPr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681282" cy="5406263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1089245" y="4793347"/>
              <a:ext cx="2305050" cy="276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846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2000"/>
                </a:lnSpc>
                <a:tabLst/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分布式储能管理技术</a:t>
              </a:r>
              <a:endParaRPr sz="20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4" name="group 4"/>
          <p:cNvGrpSpPr/>
          <p:nvPr/>
        </p:nvGrpSpPr>
        <p:grpSpPr>
          <a:xfrm rot="21600000">
            <a:off x="488238" y="3211360"/>
            <a:ext cx="6602843" cy="1581454"/>
            <a:chOff x="0" y="0"/>
            <a:chExt cx="6602843" cy="158145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6602843" cy="1581454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4751476" y="1207744"/>
              <a:ext cx="1614169" cy="2451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6977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algn="l" rtl="0" eaLnBrk="0">
                <a:lnSpc>
                  <a:spcPct val="85000"/>
                </a:lnSpc>
                <a:tabLst/>
              </a:pPr>
              <a:r>
                <a:rPr sz="1700" kern="0" spc="8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波浪能捕获技术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537095" y="4876228"/>
            <a:ext cx="6631927" cy="1499590"/>
            <a:chOff x="0" y="0"/>
            <a:chExt cx="6631927" cy="1499590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0" y="0"/>
              <a:ext cx="6631927" cy="1499590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5052923" y="871448"/>
              <a:ext cx="1156335" cy="518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514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2700" indent="-635" algn="l" rtl="0" eaLnBrk="0">
                <a:lnSpc>
                  <a:spcPct val="97000"/>
                </a:lnSpc>
                <a:tabLst/>
              </a:pP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光伏阵列跟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DengXian"/>
                  <a:ea typeface="DengXian"/>
                  <a:cs typeface="DengXian"/>
                </a:rPr>
                <a:t>踪发电技术</a:t>
              </a:r>
              <a:endParaRPr sz="1700" dirty="0">
                <a:latin typeface="DengXian"/>
                <a:ea typeface="DengXian"/>
                <a:cs typeface="DengXian"/>
              </a:endParaRPr>
            </a:p>
          </p:txBody>
        </p:sp>
      </p:grpSp>
      <p:sp>
        <p:nvSpPr>
          <p:cNvPr id="26" name="textbox 26"/>
          <p:cNvSpPr/>
          <p:nvPr/>
        </p:nvSpPr>
        <p:spPr>
          <a:xfrm>
            <a:off x="655726" y="1117612"/>
            <a:ext cx="4591050" cy="20091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5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高效的波浪能捕获技术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灵活的光伏阵列跟踪发电技术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智能化分布式储能管理技术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互补的波光协同能源管理技术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68426" y="2776232"/>
            <a:ext cx="216408" cy="33771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68426" y="2227592"/>
            <a:ext cx="216408" cy="337718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8426" y="1678952"/>
            <a:ext cx="216408" cy="337718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68426" y="1130312"/>
            <a:ext cx="216408" cy="337718"/>
          </a:xfrm>
          <a:prstGeom prst="rect">
            <a:avLst/>
          </a:prstGeom>
        </p:spPr>
      </p:pic>
      <p:sp>
        <p:nvSpPr>
          <p:cNvPr id="36" name="textbox 36"/>
          <p:cNvSpPr/>
          <p:nvPr/>
        </p:nvSpPr>
        <p:spPr>
          <a:xfrm>
            <a:off x="4036250" y="420509"/>
            <a:ext cx="4130675" cy="491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715000" y="617219"/>
            <a:ext cx="5853683" cy="2737104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724144" y="3735323"/>
            <a:ext cx="5853684" cy="2510027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4611" y="4043172"/>
            <a:ext cx="4765548" cy="2618232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1708" y="1319783"/>
            <a:ext cx="4076700" cy="2020824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632459" y="725423"/>
            <a:ext cx="42373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0195" algn="l" rtl="0" eaLnBrk="0">
              <a:lnSpc>
                <a:spcPct val="88000"/>
              </a:lnSpc>
              <a:spcBef>
                <a:spcPts val="5"/>
              </a:spcBef>
              <a:tabLst/>
            </a:pPr>
            <a:r>
              <a:rPr sz="2300" kern="0" spc="1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稳态电能质量优化控</a:t>
            </a: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8" name="textbox 48"/>
          <p:cNvSpPr/>
          <p:nvPr/>
        </p:nvSpPr>
        <p:spPr>
          <a:xfrm>
            <a:off x="615696" y="3515867"/>
            <a:ext cx="4237354" cy="466725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443230" algn="l" rtl="0" eaLnBrk="0">
              <a:lnSpc>
                <a:spcPct val="88000"/>
              </a:lnSpc>
              <a:spcBef>
                <a:spcPts val="3"/>
              </a:spcBef>
              <a:tabLst/>
            </a:pPr>
            <a:r>
              <a:rPr sz="23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分布式储能优化控制技术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5065991" y="61924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7064679" y="3369792"/>
            <a:ext cx="2978150" cy="2444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5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宁波舟山港滩涂光伏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发电项目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7193069" y="6342888"/>
            <a:ext cx="2726054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47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2069" algn="l" rtl="0" eaLnBrk="0">
              <a:lnSpc>
                <a:spcPct val="84000"/>
              </a:lnSpc>
              <a:tabLst/>
            </a:pP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“</a:t>
            </a:r>
            <a:r>
              <a:rPr sz="1700" kern="0" spc="-32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中远盛世</a:t>
            </a:r>
            <a:r>
              <a:rPr sz="1700" kern="0" spc="-33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 </a:t>
            </a:r>
            <a:r>
              <a:rPr sz="1700" kern="0" spc="6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”轮光伏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阵列布置</a:t>
            </a:r>
            <a:endParaRPr sz="1700" dirty="0">
              <a:latin typeface="DengXian"/>
              <a:ea typeface="DengXian"/>
              <a:cs typeface="DengXian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2026-05-21T21:38:47</vt:filetime>
  </property>
</Properties>
</file>