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 id="296" r:id="rId49"/>
    <p:sldId id="297"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15" r:id="rId68"/>
    <p:sldId id="316" r:id="rId69"/>
    <p:sldId id="317" r:id="rId70"/>
    <p:sldId id="318" r:id="rId71"/>
    <p:sldId id="319" r:id="rId72"/>
    <p:sldId id="320" r:id="rId73"/>
    <p:sldId id="321" r:id="rId74"/>
    <p:sldId id="322" r:id="rId75"/>
    <p:sldId id="323" r:id="rId76"/>
    <p:sldId id="324" r:id="rId77"/>
    <p:sldId id="325" r:id="rId78"/>
    <p:sldId id="326" r:id="rId79"/>
    <p:sldId id="327" r:id="rId80"/>
    <p:sldId id="328" r:id="rId81"/>
    <p:sldId id="329" r:id="rId82"/>
    <p:sldId id="330" r:id="rId83"/>
    <p:sldId id="331" r:id="rId84"/>
    <p:sldId id="332" r:id="rId85"/>
    <p:sldId id="333" r:id="rId86"/>
    <p:sldId id="334" r:id="rId87"/>
    <p:sldId id="335" r:id="rId88"/>
    <p:sldId id="336" r:id="rId89"/>
    <p:sldId id="337" r:id="rId90"/>
    <p:sldId id="338" r:id="rId91"/>
    <p:sldId id="339" r:id="rId92"/>
    <p:sldId id="340" r:id="rId93"/>
    <p:sldId id="341" r:id="rId94"/>
    <p:sldId id="342" r:id="rId95"/>
    <p:sldId id="343" r:id="rId96"/>
    <p:sldId id="344" r:id="rId97"/>
    <p:sldId id="345" r:id="rId98"/>
    <p:sldId id="346" r:id="rId99"/>
    <p:sldId id="347" r:id="rId100"/>
    <p:sldId id="348" r:id="rId101"/>
    <p:sldId id="349" r:id="rId102"/>
    <p:sldId id="350" r:id="rId103"/>
    <p:sldId id="351" r:id="rId104"/>
    <p:sldId id="352" r:id="rId105"/>
    <p:sldId id="353" r:id="rId106"/>
    <p:sldId id="354" r:id="rId107"/>
    <p:sldId id="355" r:id="rId108"/>
    <p:sldId id="356" r:id="rId109"/>
    <p:sldId id="357" r:id="rId110"/>
    <p:sldId id="358" r:id="rId111"/>
    <p:sldId id="359" r:id="rId112"/>
    <p:sldId id="360" r:id="rId113"/>
    <p:sldId id="361" r:id="rId114"/>
    <p:sldId id="362" r:id="rId115"/>
    <p:sldId id="363" r:id="rId116"/>
    <p:sldId id="364" r:id="rId117"/>
    <p:sldId id="365" r:id="rId118"/>
    <p:sldId id="366" r:id="rId119"/>
    <p:sldId id="367" r:id="rId120"/>
    <p:sldId id="368" r:id="rId121"/>
    <p:sldId id="369" r:id="rId122"/>
    <p:sldId id="370" r:id="rId123"/>
    <p:sldId id="371" r:id="rId124"/>
    <p:sldId id="372" r:id="rId125"/>
    <p:sldId id="373" r:id="rId1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0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FGM" initials="F" lastIdx="0" clrIdx="0"/>
  <p:cmAuthor id="2" name="47162" initials="4" lastIdx="0" clrIdx="1"/>
  <p:cmAuthor id="3" name="郭 力行" initials="郭" lastIdx="0"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0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 Id="rId49" Type="http://schemas.openxmlformats.org/officeDocument/2006/relationships/slide" Target="slides/slide41.xml"/><Relationship Id="rId50" Type="http://schemas.openxmlformats.org/officeDocument/2006/relationships/slide" Target="slides/slide42.xml"/><Relationship Id="rId51" Type="http://schemas.openxmlformats.org/officeDocument/2006/relationships/slide" Target="slides/slide43.xml"/><Relationship Id="rId52" Type="http://schemas.openxmlformats.org/officeDocument/2006/relationships/slide" Target="slides/slide44.xml"/><Relationship Id="rId53" Type="http://schemas.openxmlformats.org/officeDocument/2006/relationships/slide" Target="slides/slide45.xml"/><Relationship Id="rId54" Type="http://schemas.openxmlformats.org/officeDocument/2006/relationships/slide" Target="slides/slide46.xml"/><Relationship Id="rId55" Type="http://schemas.openxmlformats.org/officeDocument/2006/relationships/slide" Target="slides/slide47.xml"/><Relationship Id="rId56" Type="http://schemas.openxmlformats.org/officeDocument/2006/relationships/slide" Target="slides/slide48.xml"/><Relationship Id="rId57" Type="http://schemas.openxmlformats.org/officeDocument/2006/relationships/slide" Target="slides/slide49.xml"/><Relationship Id="rId58" Type="http://schemas.openxmlformats.org/officeDocument/2006/relationships/slide" Target="slides/slide50.xml"/><Relationship Id="rId59" Type="http://schemas.openxmlformats.org/officeDocument/2006/relationships/slide" Target="slides/slide51.xml"/><Relationship Id="rId60" Type="http://schemas.openxmlformats.org/officeDocument/2006/relationships/slide" Target="slides/slide52.xml"/><Relationship Id="rId61" Type="http://schemas.openxmlformats.org/officeDocument/2006/relationships/slide" Target="slides/slide53.xml"/><Relationship Id="rId62" Type="http://schemas.openxmlformats.org/officeDocument/2006/relationships/slide" Target="slides/slide54.xml"/><Relationship Id="rId63" Type="http://schemas.openxmlformats.org/officeDocument/2006/relationships/slide" Target="slides/slide55.xml"/><Relationship Id="rId64" Type="http://schemas.openxmlformats.org/officeDocument/2006/relationships/slide" Target="slides/slide56.xml"/><Relationship Id="rId65" Type="http://schemas.openxmlformats.org/officeDocument/2006/relationships/slide" Target="slides/slide57.xml"/><Relationship Id="rId66" Type="http://schemas.openxmlformats.org/officeDocument/2006/relationships/slide" Target="slides/slide58.xml"/><Relationship Id="rId67" Type="http://schemas.openxmlformats.org/officeDocument/2006/relationships/slide" Target="slides/slide59.xml"/><Relationship Id="rId68" Type="http://schemas.openxmlformats.org/officeDocument/2006/relationships/slide" Target="slides/slide60.xml"/><Relationship Id="rId69" Type="http://schemas.openxmlformats.org/officeDocument/2006/relationships/slide" Target="slides/slide61.xml"/><Relationship Id="rId70" Type="http://schemas.openxmlformats.org/officeDocument/2006/relationships/slide" Target="slides/slide62.xml"/><Relationship Id="rId71" Type="http://schemas.openxmlformats.org/officeDocument/2006/relationships/slide" Target="slides/slide63.xml"/><Relationship Id="rId72" Type="http://schemas.openxmlformats.org/officeDocument/2006/relationships/slide" Target="slides/slide64.xml"/><Relationship Id="rId73" Type="http://schemas.openxmlformats.org/officeDocument/2006/relationships/slide" Target="slides/slide65.xml"/><Relationship Id="rId74" Type="http://schemas.openxmlformats.org/officeDocument/2006/relationships/slide" Target="slides/slide66.xml"/><Relationship Id="rId75" Type="http://schemas.openxmlformats.org/officeDocument/2006/relationships/slide" Target="slides/slide67.xml"/><Relationship Id="rId76" Type="http://schemas.openxmlformats.org/officeDocument/2006/relationships/slide" Target="slides/slide68.xml"/><Relationship Id="rId77" Type="http://schemas.openxmlformats.org/officeDocument/2006/relationships/slide" Target="slides/slide69.xml"/><Relationship Id="rId78" Type="http://schemas.openxmlformats.org/officeDocument/2006/relationships/slide" Target="slides/slide70.xml"/><Relationship Id="rId79" Type="http://schemas.openxmlformats.org/officeDocument/2006/relationships/slide" Target="slides/slide71.xml"/><Relationship Id="rId80" Type="http://schemas.openxmlformats.org/officeDocument/2006/relationships/slide" Target="slides/slide72.xml"/><Relationship Id="rId81" Type="http://schemas.openxmlformats.org/officeDocument/2006/relationships/slide" Target="slides/slide73.xml"/><Relationship Id="rId82" Type="http://schemas.openxmlformats.org/officeDocument/2006/relationships/slide" Target="slides/slide74.xml"/><Relationship Id="rId83" Type="http://schemas.openxmlformats.org/officeDocument/2006/relationships/slide" Target="slides/slide75.xml"/><Relationship Id="rId84" Type="http://schemas.openxmlformats.org/officeDocument/2006/relationships/slide" Target="slides/slide76.xml"/><Relationship Id="rId85" Type="http://schemas.openxmlformats.org/officeDocument/2006/relationships/slide" Target="slides/slide77.xml"/><Relationship Id="rId86" Type="http://schemas.openxmlformats.org/officeDocument/2006/relationships/slide" Target="slides/slide78.xml"/><Relationship Id="rId87" Type="http://schemas.openxmlformats.org/officeDocument/2006/relationships/slide" Target="slides/slide79.xml"/><Relationship Id="rId88" Type="http://schemas.openxmlformats.org/officeDocument/2006/relationships/slide" Target="slides/slide80.xml"/><Relationship Id="rId89" Type="http://schemas.openxmlformats.org/officeDocument/2006/relationships/slide" Target="slides/slide81.xml"/><Relationship Id="rId90" Type="http://schemas.openxmlformats.org/officeDocument/2006/relationships/slide" Target="slides/slide82.xml"/><Relationship Id="rId91" Type="http://schemas.openxmlformats.org/officeDocument/2006/relationships/slide" Target="slides/slide83.xml"/><Relationship Id="rId92" Type="http://schemas.openxmlformats.org/officeDocument/2006/relationships/slide" Target="slides/slide84.xml"/><Relationship Id="rId93" Type="http://schemas.openxmlformats.org/officeDocument/2006/relationships/slide" Target="slides/slide85.xml"/><Relationship Id="rId94" Type="http://schemas.openxmlformats.org/officeDocument/2006/relationships/slide" Target="slides/slide86.xml"/><Relationship Id="rId95" Type="http://schemas.openxmlformats.org/officeDocument/2006/relationships/slide" Target="slides/slide87.xml"/><Relationship Id="rId96" Type="http://schemas.openxmlformats.org/officeDocument/2006/relationships/slide" Target="slides/slide88.xml"/><Relationship Id="rId97" Type="http://schemas.openxmlformats.org/officeDocument/2006/relationships/slide" Target="slides/slide89.xml"/><Relationship Id="rId98" Type="http://schemas.openxmlformats.org/officeDocument/2006/relationships/slide" Target="slides/slide90.xml"/><Relationship Id="rId99" Type="http://schemas.openxmlformats.org/officeDocument/2006/relationships/slide" Target="slides/slide91.xml"/><Relationship Id="rId100" Type="http://schemas.openxmlformats.org/officeDocument/2006/relationships/slide" Target="slides/slide92.xml"/><Relationship Id="rId101" Type="http://schemas.openxmlformats.org/officeDocument/2006/relationships/slide" Target="slides/slide93.xml"/><Relationship Id="rId102" Type="http://schemas.openxmlformats.org/officeDocument/2006/relationships/slide" Target="slides/slide94.xml"/><Relationship Id="rId103" Type="http://schemas.openxmlformats.org/officeDocument/2006/relationships/slide" Target="slides/slide95.xml"/><Relationship Id="rId104" Type="http://schemas.openxmlformats.org/officeDocument/2006/relationships/slide" Target="slides/slide96.xml"/><Relationship Id="rId105" Type="http://schemas.openxmlformats.org/officeDocument/2006/relationships/slide" Target="slides/slide97.xml"/><Relationship Id="rId106" Type="http://schemas.openxmlformats.org/officeDocument/2006/relationships/slide" Target="slides/slide98.xml"/><Relationship Id="rId107" Type="http://schemas.openxmlformats.org/officeDocument/2006/relationships/slide" Target="slides/slide99.xml"/><Relationship Id="rId108" Type="http://schemas.openxmlformats.org/officeDocument/2006/relationships/slide" Target="slides/slide100.xml"/><Relationship Id="rId109" Type="http://schemas.openxmlformats.org/officeDocument/2006/relationships/slide" Target="slides/slide101.xml"/><Relationship Id="rId110" Type="http://schemas.openxmlformats.org/officeDocument/2006/relationships/slide" Target="slides/slide102.xml"/><Relationship Id="rId111" Type="http://schemas.openxmlformats.org/officeDocument/2006/relationships/slide" Target="slides/slide103.xml"/><Relationship Id="rId112" Type="http://schemas.openxmlformats.org/officeDocument/2006/relationships/slide" Target="slides/slide104.xml"/><Relationship Id="rId113" Type="http://schemas.openxmlformats.org/officeDocument/2006/relationships/slide" Target="slides/slide105.xml"/><Relationship Id="rId114" Type="http://schemas.openxmlformats.org/officeDocument/2006/relationships/slide" Target="slides/slide106.xml"/><Relationship Id="rId115" Type="http://schemas.openxmlformats.org/officeDocument/2006/relationships/slide" Target="slides/slide107.xml"/><Relationship Id="rId116" Type="http://schemas.openxmlformats.org/officeDocument/2006/relationships/slide" Target="slides/slide108.xml"/><Relationship Id="rId117" Type="http://schemas.openxmlformats.org/officeDocument/2006/relationships/slide" Target="slides/slide109.xml"/><Relationship Id="rId118" Type="http://schemas.openxmlformats.org/officeDocument/2006/relationships/slide" Target="slides/slide110.xml"/><Relationship Id="rId119" Type="http://schemas.openxmlformats.org/officeDocument/2006/relationships/slide" Target="slides/slide111.xml"/><Relationship Id="rId120" Type="http://schemas.openxmlformats.org/officeDocument/2006/relationships/slide" Target="slides/slide112.xml"/><Relationship Id="rId121" Type="http://schemas.openxmlformats.org/officeDocument/2006/relationships/slide" Target="slides/slide113.xml"/><Relationship Id="rId122" Type="http://schemas.openxmlformats.org/officeDocument/2006/relationships/slide" Target="slides/slide114.xml"/><Relationship Id="rId123" Type="http://schemas.openxmlformats.org/officeDocument/2006/relationships/slide" Target="slides/slide115.xml"/><Relationship Id="rId124" Type="http://schemas.openxmlformats.org/officeDocument/2006/relationships/slide" Target="slides/slide116.xml"/><Relationship Id="rId125" Type="http://schemas.openxmlformats.org/officeDocument/2006/relationships/slide" Target="slides/slide117.xml"/><Relationship Id="rId126" Type="http://schemas.openxmlformats.org/officeDocument/2006/relationships/slide" Target="slides/slide1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9850" y="746125"/>
            <a:ext cx="6624638" cy="3727450"/>
          </a:xfrm>
        </p:spPr>
      </p:sp>
      <p:sp>
        <p:nvSpPr>
          <p:cNvPr id="3" name="备注占位符 2"/>
          <p:cNvSpPr>
            <a:spLocks noGrp="1"/>
          </p:cNvSpPr>
          <p:nvPr>
            <p:ph type="body" idx="1"/>
          </p:nvPr>
        </p:nvSpPr>
        <p:spPr/>
        <p:txBody>
          <a:bodyPr/>
          <a:lstStyle/>
          <a:p>
            <a:r>
              <a:rPr lang="zh-CN" altLang="en-US" dirty="0"/>
              <a:t>尊敬的各位专家，大家上午好！下面由我汇报：。。。</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notesSlide" Target="../notesSlides/notesSlide1.xml"/><Relationship Id="rId5" Type="http://schemas.openxmlformats.org/officeDocument/2006/relationships/slideLayout" Target="../slideLayouts/slideLayout7.xm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6.png"/><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0.png"/><Relationship Id="rId1" Type="http://schemas.openxmlformats.org/officeDocument/2006/relationships/image" Target="../media/image9.png"/></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7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8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9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0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2.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_rels/slide11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p:cNvPicPr>
            <a:picLocks noChangeAspect="1"/>
          </p:cNvPicPr>
          <p:nvPr>
            <p:custDataLst>
              <p:tags r:id="rId1"/>
            </p:custDataLst>
          </p:nvPr>
        </p:nvPicPr>
        <p:blipFill rotWithShape="1">
          <a:blip r:embed="rId2">
            <a:extLst>
              <a:ext uri="{28A0092B-C50C-407E-A947-70E740481C1C}">
                <a14:useLocalDpi xmlns:a14="http://schemas.microsoft.com/office/drawing/2010/main" val="0"/>
              </a:ext>
            </a:extLst>
          </a:blip>
          <a:srcRect b="19856"/>
          <a:stretch>
            <a:fillRect/>
          </a:stretch>
        </p:blipFill>
        <p:spPr>
          <a:xfrm>
            <a:off x="0" y="2780030"/>
            <a:ext cx="12192000" cy="3745344"/>
          </a:xfrm>
          <a:prstGeom prst="rect">
            <a:avLst/>
          </a:prstGeom>
        </p:spPr>
      </p:pic>
      <p:pic>
        <p:nvPicPr>
          <p:cNvPr id="14" name="图片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3352" y="188640"/>
            <a:ext cx="2804094" cy="589911"/>
          </a:xfrm>
          <a:prstGeom prst="rect">
            <a:avLst/>
          </a:prstGeom>
        </p:spPr>
      </p:pic>
      <p:sp>
        <p:nvSpPr>
          <p:cNvPr id="8" name="Rectangle 4"/>
          <p:cNvSpPr txBox="1">
            <a:spLocks noChangeArrowheads="1"/>
          </p:cNvSpPr>
          <p:nvPr/>
        </p:nvSpPr>
        <p:spPr bwMode="auto">
          <a:xfrm>
            <a:off x="824865" y="3100666"/>
            <a:ext cx="10535920" cy="1157605"/>
          </a:xfrm>
          <a:prstGeom prst="rect">
            <a:avLst/>
          </a:prstGeom>
          <a:noFill/>
          <a:ln>
            <a:noFill/>
          </a:ln>
          <a:effectLst/>
        </p:spPr>
        <p:txBody>
          <a:bodyPr vert="horz" wrap="square" lIns="91440" tIns="45721" rIns="91440" bIns="45721" numCol="1" anchor="ctr" anchorCtr="0" compatLnSpc="1"/>
          <a:lstStyle>
            <a:lvl1pPr marL="0" indent="0" algn="ctr">
              <a:buFontTx/>
              <a:buNone/>
              <a:defRPr sz="2000" b="1">
                <a:solidFill>
                  <a:schemeClr val="bg1"/>
                </a:solidFill>
                <a:latin typeface="+mj-lt"/>
                <a:ea typeface="+mj-ea"/>
                <a:cs typeface="+mj-cs"/>
              </a:defRPr>
            </a:lvl1pPr>
            <a:lvl2pPr marL="742950" indent="-285750" eaLnBrk="0" hangingPunct="0">
              <a:spcBef>
                <a:spcPct val="20000"/>
              </a:spcBef>
              <a:buChar char="–"/>
              <a:defRPr sz="2000">
                <a:latin typeface="+mn-lt"/>
                <a:ea typeface="仿宋_GB2312" panose="02010609030101010101" pitchFamily="1" charset="-122"/>
              </a:defRPr>
            </a:lvl2pPr>
            <a:lvl3pPr marL="1143000" indent="-228600" eaLnBrk="0" hangingPunct="0">
              <a:spcBef>
                <a:spcPct val="20000"/>
              </a:spcBef>
              <a:buChar char="•"/>
              <a:defRPr sz="2400">
                <a:latin typeface="+mn-lt"/>
              </a:defRPr>
            </a:lvl3pPr>
            <a:lvl4pPr marL="1600200" indent="-228600" eaLnBrk="0" hangingPunct="0">
              <a:spcBef>
                <a:spcPct val="20000"/>
              </a:spcBef>
              <a:buChar char="–"/>
              <a:defRPr sz="2000">
                <a:latin typeface="+mn-lt"/>
              </a:defRPr>
            </a:lvl4pPr>
            <a:lvl5pPr marL="2057400" indent="-228600" eaLnBrk="0" hangingPunct="0">
              <a:spcBef>
                <a:spcPct val="20000"/>
              </a:spcBef>
              <a:buChar char="»"/>
              <a:defRPr sz="2000">
                <a:latin typeface="+mn-lt"/>
              </a:defRPr>
            </a:lvl5pPr>
            <a:lvl6pPr marL="2514600" indent="-228600" eaLnBrk="0" fontAlgn="base" hangingPunct="0">
              <a:spcBef>
                <a:spcPct val="20000"/>
              </a:spcBef>
              <a:spcAft>
                <a:spcPct val="0"/>
              </a:spcAft>
              <a:buChar char="»"/>
              <a:defRPr sz="2000">
                <a:latin typeface="+mn-lt"/>
              </a:defRPr>
            </a:lvl6pPr>
            <a:lvl7pPr marL="2971800" indent="-228600" eaLnBrk="0" fontAlgn="base" hangingPunct="0">
              <a:spcBef>
                <a:spcPct val="20000"/>
              </a:spcBef>
              <a:spcAft>
                <a:spcPct val="0"/>
              </a:spcAft>
              <a:buChar char="»"/>
              <a:defRPr sz="2000">
                <a:latin typeface="+mn-lt"/>
              </a:defRPr>
            </a:lvl7pPr>
            <a:lvl8pPr marL="3429000" indent="-228600" eaLnBrk="0" fontAlgn="base" hangingPunct="0">
              <a:spcBef>
                <a:spcPct val="20000"/>
              </a:spcBef>
              <a:spcAft>
                <a:spcPct val="0"/>
              </a:spcAft>
              <a:buChar char="»"/>
              <a:defRPr sz="2000">
                <a:latin typeface="+mn-lt"/>
              </a:defRPr>
            </a:lvl8pPr>
            <a:lvl9pPr marL="3886200" indent="-228600" eaLnBrk="0" fontAlgn="base" hangingPunct="0">
              <a:spcBef>
                <a:spcPct val="20000"/>
              </a:spcBef>
              <a:spcAft>
                <a:spcPct val="0"/>
              </a:spcAft>
              <a:buChar char="»"/>
              <a:defRPr sz="2000">
                <a:latin typeface="+mn-lt"/>
              </a:defRPr>
            </a:lvl9pPr>
          </a:lstStyle>
          <a:p>
            <a:pPr defTabSz="914400">
              <a:lnSpc>
                <a:spcPts val="2400"/>
              </a:lnSpc>
            </a:pPr>
            <a:r>
              <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rPr>
              <a:t>汇报人：</a:t>
            </a:r>
            <a:endParaRPr lang="zh-CN" altLang="en-US" sz="2400" kern="0" dirty="0">
              <a:solidFill>
                <a:srgbClr val="00469A"/>
              </a:solidFill>
              <a:latin typeface="微软雅黑" panose="020B0503020204020204" charset="-122"/>
              <a:ea typeface="微软雅黑" panose="020B0503020204020204" charset="-122"/>
              <a:cs typeface="宋体" panose="02010600030101010101" pitchFamily="2" charset="-122"/>
            </a:endParaRPr>
          </a:p>
          <a:p>
            <a:pPr>
              <a:lnSpc>
                <a:spcPct val="110000"/>
              </a:lnSpc>
              <a:spcBef>
                <a:spcPts val="1200"/>
              </a:spcBef>
            </a:pPr>
            <a:r>
              <a:rPr lang="en-US" kern="0" dirty="0">
                <a:solidFill>
                  <a:srgbClr val="00469A"/>
                </a:solidFill>
                <a:latin typeface="微软雅黑" panose="020B0503020204020204" charset="-122"/>
                <a:ea typeface="微软雅黑" panose="020B0503020204020204" charset="-122"/>
                <a:cs typeface="宋体" panose="02010600030101010101" pitchFamily="2" charset="-122"/>
              </a:rPr>
              <a:t>2026年5月2日</a:t>
            </a:r>
            <a:endParaRPr lang="en-US" kern="0" dirty="0">
              <a:solidFill>
                <a:srgbClr val="00469A"/>
              </a:solidFill>
              <a:latin typeface="微软雅黑" panose="020B0503020204020204" charset="-122"/>
              <a:ea typeface="微软雅黑" panose="020B0503020204020204" charset="-122"/>
              <a:cs typeface="宋体" panose="02010600030101010101" pitchFamily="2" charset="-122"/>
            </a:endParaRPr>
          </a:p>
        </p:txBody>
      </p:sp>
      <p:sp>
        <p:nvSpPr>
          <p:cNvPr id="2" name="矩形 1"/>
          <p:cNvSpPr/>
          <p:nvPr/>
        </p:nvSpPr>
        <p:spPr>
          <a:xfrm>
            <a:off x="551180" y="1380736"/>
            <a:ext cx="11085830" cy="1445260"/>
          </a:xfrm>
          <a:prstGeom prst="rect">
            <a:avLst/>
          </a:prstGeom>
        </p:spPr>
        <p:txBody>
          <a:bodyPr wrap="square">
            <a:spAutoFit/>
          </a:bodyPr>
          <a:lstStyle/>
          <a:p>
            <a:pPr algn="ctr">
              <a:lnSpc>
                <a:spcPct val="110000"/>
              </a:lnSpc>
            </a:pPr>
            <a:r>
              <a:rPr lang="en-US" altLang="zh-CN"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上海电气</a:t>
            </a: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科技服务</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a:p>
            <a:pPr algn="ctr">
              <a:lnSpc>
                <a:spcPct val="110000"/>
              </a:lnSpc>
            </a:pPr>
            <a:r>
              <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rPr>
              <a:t>武汉理工大学</a:t>
            </a:r>
            <a:endParaRPr lang="zh-CN" altLang="en-US" sz="4000" b="1" spc="300" dirty="0">
              <a:solidFill>
                <a:srgbClr val="C00000"/>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Times New Roman" panose="02020603050405020304" pitchFamily="18" charset="0"/>
            </a:endParaRPr>
          </a:p>
        </p:txBody>
      </p:sp>
      <p:sp>
        <p:nvSpPr>
          <p:cNvPr id="5" name="矩形 4"/>
          <p:cNvSpPr/>
          <p:nvPr userDrawn="1"/>
        </p:nvSpPr>
        <p:spPr>
          <a:xfrm>
            <a:off x="0" y="6524566"/>
            <a:ext cx="12192000" cy="333434"/>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10" name="矩形 9"/>
          <p:cNvSpPr/>
          <p:nvPr userDrawn="1"/>
        </p:nvSpPr>
        <p:spPr>
          <a:xfrm>
            <a:off x="1" y="6524566"/>
            <a:ext cx="1753364" cy="333434"/>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pic>
        <p:nvPicPr>
          <p:cNvPr id="6" name="图片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47646" y="6566672"/>
            <a:ext cx="1458073" cy="249227"/>
          </a:xfrm>
          <a:prstGeom prst="rect">
            <a:avLst/>
          </a:prstGeom>
          <a:noFill/>
        </p:spPr>
      </p:pic>
    </p:spTree>
  </p:cSld>
  <p:clrMapOvr>
    <a:masterClrMapping/>
  </p:clrMapOvr>
  <mc:AlternateContent xmlns:mc="http://schemas.openxmlformats.org/markup-compatibility/2006">
    <mc:Choice xmlns:p14="http://schemas.microsoft.com/office/powerpoint/2010/main" Requires="p14">
      <p:transition spd="slow" p14:dur="2000" advTm="9649"/>
    </mc:Choice>
    <mc:Fallback>
      <p:transition spd="slow" advTm="96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3" name="组合 14"/>
          <p:cNvGrpSpPr/>
          <p:nvPr/>
        </p:nvGrpSpPr>
        <p:grpSpPr bwMode="auto">
          <a:xfrm>
            <a:off x="1271464" y="3360683"/>
            <a:ext cx="10153126" cy="1450975"/>
            <a:chOff x="-1" y="188907"/>
            <a:chExt cx="7645784" cy="985497"/>
          </a:xfrm>
        </p:grpSpPr>
        <p:sp>
          <p:nvSpPr>
            <p:cNvPr id="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10256" name="组合 8"/>
            <p:cNvGrpSpPr/>
            <p:nvPr/>
          </p:nvGrpSpPr>
          <p:grpSpPr bwMode="auto">
            <a:xfrm>
              <a:off x="-1" y="188907"/>
              <a:ext cx="826817" cy="985497"/>
              <a:chOff x="0" y="4108"/>
              <a:chExt cx="826817" cy="985497"/>
            </a:xfrm>
          </p:grpSpPr>
          <p:sp>
            <p:nvSpPr>
              <p:cNvPr id="14" name="燕尾形 13"/>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15"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12" name="同侧圆角矩形 11"/>
            <p:cNvSpPr/>
            <p:nvPr/>
          </p:nvSpPr>
          <p:spPr>
            <a:xfrm rot="5400000">
              <a:off x="3933540" y="-2917374"/>
              <a:ext cx="605962" cy="6818525"/>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10244" name="文本框 1"/>
          <p:cNvSpPr txBox="1">
            <a:spLocks noChangeArrowheads="1"/>
          </p:cNvSpPr>
          <p:nvPr/>
        </p:nvSpPr>
        <p:spPr bwMode="auto">
          <a:xfrm>
            <a:off x="3371726" y="3889320"/>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10245" name="文本框 2"/>
          <p:cNvSpPr txBox="1">
            <a:spLocks noChangeArrowheads="1"/>
          </p:cNvSpPr>
          <p:nvPr/>
        </p:nvSpPr>
        <p:spPr bwMode="auto">
          <a:xfrm>
            <a:off x="2388542" y="3506733"/>
            <a:ext cx="89838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en-US" altLang="zh-CN"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{enterprise}</a:t>
            </a:r>
            <a:r>
              <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rPr>
              <a:t>重点服务领域</a:t>
            </a:r>
            <a:endParaRPr lang="zh-CN" altLang="en-US" sz="3600" dirty="0">
              <a:solidFill>
                <a:srgbClr val="0047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10248" name="文本框 28"/>
          <p:cNvSpPr txBox="1">
            <a:spLocks noChangeArrowheads="1"/>
          </p:cNvSpPr>
          <p:nvPr/>
        </p:nvSpPr>
        <p:spPr bwMode="auto">
          <a:xfrm>
            <a:off x="1456839" y="3831724"/>
            <a:ext cx="750729"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二</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35" name="文本框 1"/>
          <p:cNvSpPr txBox="1">
            <a:spLocks noChangeArrowheads="1"/>
          </p:cNvSpPr>
          <p:nvPr/>
        </p:nvSpPr>
        <p:spPr bwMode="auto">
          <a:xfrm>
            <a:off x="3390254" y="5008433"/>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37" name="文本框 28"/>
          <p:cNvSpPr txBox="1">
            <a:spLocks noChangeArrowheads="1"/>
          </p:cNvSpPr>
          <p:nvPr/>
        </p:nvSpPr>
        <p:spPr bwMode="auto">
          <a:xfrm>
            <a:off x="1460045" y="4922659"/>
            <a:ext cx="747523" cy="7328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三</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grpSp>
        <p:nvGrpSpPr>
          <p:cNvPr id="38" name="组合 14"/>
          <p:cNvGrpSpPr/>
          <p:nvPr/>
        </p:nvGrpSpPr>
        <p:grpSpPr bwMode="auto">
          <a:xfrm>
            <a:off x="1289992" y="2247548"/>
            <a:ext cx="10134600" cy="1450975"/>
            <a:chOff x="-1" y="188907"/>
            <a:chExt cx="7631833" cy="985497"/>
          </a:xfrm>
        </p:grpSpPr>
        <p:sp>
          <p:nvSpPr>
            <p:cNvPr id="39" name="同侧圆角矩形 4"/>
            <p:cNvSpPr/>
            <p:nvPr/>
          </p:nvSpPr>
          <p:spPr>
            <a:xfrm>
              <a:off x="1043637" y="288104"/>
              <a:ext cx="6588195" cy="50676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lIns="114467" tIns="10219" rIns="10219" bIns="10219" spcCol="1270" anchor="ctr"/>
            <a:lstStyle/>
            <a:p>
              <a:pPr marL="504190" indent="-504190" eaLnBrk="1" hangingPunct="1">
                <a:buFont typeface="Wingdings" panose="05000000000000000000" pitchFamily="2" charset="2"/>
                <a:buChar char="l"/>
                <a:defRPr/>
              </a:pPr>
              <a:endParaRPr lang="zh-CN" altLang="en-US" sz="100" b="0" dirty="0"/>
            </a:p>
          </p:txBody>
        </p:sp>
        <p:grpSp>
          <p:nvGrpSpPr>
            <p:cNvPr id="40" name="组合 8"/>
            <p:cNvGrpSpPr/>
            <p:nvPr/>
          </p:nvGrpSpPr>
          <p:grpSpPr bwMode="auto">
            <a:xfrm>
              <a:off x="-1" y="188907"/>
              <a:ext cx="826817" cy="985497"/>
              <a:chOff x="0" y="4108"/>
              <a:chExt cx="826817" cy="985497"/>
            </a:xfrm>
          </p:grpSpPr>
          <p:sp>
            <p:nvSpPr>
              <p:cNvPr id="42" name="燕尾形 41"/>
              <p:cNvSpPr/>
              <p:nvPr/>
            </p:nvSpPr>
            <p:spPr>
              <a:xfrm rot="5400000">
                <a:off x="-79119" y="83227"/>
                <a:ext cx="985497" cy="827260"/>
              </a:xfrm>
              <a:prstGeom prst="chevron">
                <a:avLst/>
              </a:prstGeom>
              <a:solidFill>
                <a:srgbClr val="FBC540"/>
              </a:solidFill>
              <a:ln>
                <a:solidFill>
                  <a:srgbClr val="FBC540"/>
                </a:solidFill>
              </a:ln>
            </p:spPr>
            <p:style>
              <a:lnRef idx="1">
                <a:schemeClr val="accent3">
                  <a:hueOff val="0"/>
                  <a:satOff val="0"/>
                  <a:lumOff val="0"/>
                  <a:alphaOff val="0"/>
                </a:schemeClr>
              </a:lnRef>
              <a:fillRef idx="3">
                <a:scrgbClr r="0" g="0" b="0"/>
              </a:fillRef>
              <a:effectRef idx="2">
                <a:schemeClr val="accent3">
                  <a:hueOff val="0"/>
                  <a:satOff val="0"/>
                  <a:lumOff val="0"/>
                  <a:alphaOff val="0"/>
                </a:schemeClr>
              </a:effectRef>
              <a:fontRef idx="minor">
                <a:schemeClr val="lt1"/>
              </a:fontRef>
            </p:style>
          </p:sp>
          <p:sp>
            <p:nvSpPr>
              <p:cNvPr id="43" name="燕尾形 4"/>
              <p:cNvSpPr/>
              <p:nvPr/>
            </p:nvSpPr>
            <p:spPr>
              <a:xfrm>
                <a:off x="0" y="302776"/>
                <a:ext cx="603708" cy="262009"/>
              </a:xfrm>
              <a:prstGeom prst="rect">
                <a:avLst/>
              </a:prstGeom>
            </p:spPr>
            <p:style>
              <a:lnRef idx="0">
                <a:scrgbClr r="0" g="0" b="0"/>
              </a:lnRef>
              <a:fillRef idx="0">
                <a:scrgbClr r="0" g="0" b="0"/>
              </a:fillRef>
              <a:effectRef idx="0">
                <a:scrgbClr r="0" g="0" b="0"/>
              </a:effectRef>
              <a:fontRef idx="minor">
                <a:schemeClr val="lt1"/>
              </a:fontRef>
            </p:style>
            <p:txBody>
              <a:bodyPr lIns="7553" tIns="7553" rIns="7553" bIns="7553" spcCol="1270" anchor="ctr"/>
              <a:lstStyle/>
              <a:p>
                <a:pPr algn="ctr" defTabSz="852805" eaLnBrk="1" hangingPunct="1">
                  <a:lnSpc>
                    <a:spcPct val="90000"/>
                  </a:lnSpc>
                  <a:spcAft>
                    <a:spcPct val="35000"/>
                  </a:spcAft>
                  <a:defRPr/>
                </a:pPr>
                <a:endParaRPr lang="zh-CN" altLang="en-US" sz="1500" b="0" dirty="0"/>
              </a:p>
            </p:txBody>
          </p:sp>
        </p:grpSp>
        <p:sp>
          <p:nvSpPr>
            <p:cNvPr id="41" name="同侧圆角矩形 40"/>
            <p:cNvSpPr/>
            <p:nvPr/>
          </p:nvSpPr>
          <p:spPr>
            <a:xfrm rot="5400000">
              <a:off x="3919587" y="-2903422"/>
              <a:ext cx="605962" cy="6790620"/>
            </a:xfrm>
            <a:prstGeom prst="round2SameRect">
              <a:avLst/>
            </a:prstGeom>
            <a:ln>
              <a:solidFill>
                <a:srgbClr val="FBC540"/>
              </a:solidFill>
            </a:ln>
          </p:spPr>
          <p:style>
            <a:lnRef idx="1">
              <a:scrgbClr r="0" g="0" b="0"/>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grpSp>
      <p:sp>
        <p:nvSpPr>
          <p:cNvPr id="44" name="文本框 1"/>
          <p:cNvSpPr txBox="1">
            <a:spLocks noChangeArrowheads="1"/>
          </p:cNvSpPr>
          <p:nvPr/>
        </p:nvSpPr>
        <p:spPr bwMode="auto">
          <a:xfrm>
            <a:off x="3390254" y="2776185"/>
            <a:ext cx="234950"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endParaRPr lang="zh-CN" altLang="en-US" sz="100"/>
          </a:p>
        </p:txBody>
      </p:sp>
      <p:sp>
        <p:nvSpPr>
          <p:cNvPr id="45" name="文本框 2"/>
          <p:cNvSpPr txBox="1">
            <a:spLocks noChangeArrowheads="1"/>
          </p:cNvSpPr>
          <p:nvPr/>
        </p:nvSpPr>
        <p:spPr bwMode="auto">
          <a:xfrm>
            <a:off x="2388235" y="2358390"/>
            <a:ext cx="8983980" cy="669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6147" tIns="58074" rIns="116147" bIns="58074">
            <a:spAutoFit/>
          </a:bodyPr>
          <a:lstStyle>
            <a:lvl1pPr marL="516255" indent="-516255">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pPr algn="ctr"/>
            <a:r>
              <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rPr>
              <a:t>武汉理工大学基本情况</a:t>
            </a:r>
            <a:endParaRPr lang="zh-CN" altLang="en-US" sz="3600" dirty="0">
              <a:solidFill>
                <a:srgbClr val="00469A"/>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
        <p:nvSpPr>
          <p:cNvPr id="46" name="文本框 28"/>
          <p:cNvSpPr txBox="1">
            <a:spLocks noChangeArrowheads="1"/>
          </p:cNvSpPr>
          <p:nvPr/>
        </p:nvSpPr>
        <p:spPr bwMode="auto">
          <a:xfrm>
            <a:off x="1487488" y="2738259"/>
            <a:ext cx="747713"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16147" tIns="58074" rIns="116147" bIns="58074">
            <a:spAutoFit/>
          </a:bodyPr>
          <a:lstStyle>
            <a:lvl1pPr>
              <a:defRPr b="1">
                <a:solidFill>
                  <a:schemeClr val="tx1"/>
                </a:solidFill>
                <a:latin typeface="Arial" panose="020B0604020202020204" pitchFamily="34" charset="0"/>
                <a:ea typeface="宋体" panose="02010600030101010101" pitchFamily="2" charset="-122"/>
              </a:defRPr>
            </a:lvl1pPr>
            <a:lvl2pPr marL="742950" indent="-285750">
              <a:defRPr b="1">
                <a:solidFill>
                  <a:schemeClr val="tx1"/>
                </a:solidFill>
                <a:latin typeface="Arial" panose="020B0604020202020204" pitchFamily="34" charset="0"/>
                <a:ea typeface="宋体" panose="02010600030101010101" pitchFamily="2" charset="-122"/>
              </a:defRPr>
            </a:lvl2pPr>
            <a:lvl3pPr marL="1143000" indent="-228600">
              <a:defRPr b="1">
                <a:solidFill>
                  <a:schemeClr val="tx1"/>
                </a:solidFill>
                <a:latin typeface="Arial" panose="020B0604020202020204" pitchFamily="34" charset="0"/>
                <a:ea typeface="宋体" panose="02010600030101010101" pitchFamily="2" charset="-122"/>
              </a:defRPr>
            </a:lvl3pPr>
            <a:lvl4pPr marL="1600200" indent="-228600">
              <a:defRPr b="1">
                <a:solidFill>
                  <a:schemeClr val="tx1"/>
                </a:solidFill>
                <a:latin typeface="Arial" panose="020B0604020202020204" pitchFamily="34" charset="0"/>
                <a:ea typeface="宋体" panose="02010600030101010101" pitchFamily="2" charset="-122"/>
              </a:defRPr>
            </a:lvl4pPr>
            <a:lvl5pPr marL="2057400" indent="-228600">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b="1">
                <a:solidFill>
                  <a:schemeClr val="tx1"/>
                </a:solidFill>
                <a:latin typeface="Arial" panose="020B0604020202020204" pitchFamily="34" charset="0"/>
                <a:ea typeface="宋体" panose="02010600030101010101" pitchFamily="2" charset="-122"/>
              </a:defRPr>
            </a:lvl9pPr>
          </a:lstStyle>
          <a:p>
            <a:r>
              <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rPr>
              <a:t>一</a:t>
            </a:r>
            <a:endParaRPr lang="zh-CN" altLang="en-US" sz="40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49"/>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fontAlgn="auto">
                <a:spcBef>
                  <a:spcPts val="0"/>
                </a:spcBef>
                <a:spcAft>
                  <a:spcPts val="0"/>
                </a:spcAft>
                <a:defRPr/>
              </a:pPr>
              <a:endParaRPr lang="en-US" altLang="zh-CN" dirty="0">
                <a:solidFill>
                  <a:srgbClr val="FFFFFF"/>
                </a:solidFill>
                <a:effectLst>
                  <a:outerShdw blurRad="38100" dist="38100" dir="2700000" algn="tl">
                    <a:srgbClr val="000000"/>
                  </a:outerShdw>
                </a:effectLst>
                <a:latin typeface="Calibri" panose="020F0502020204030204" charset="0"/>
                <a:cs typeface="Arial" panose="020B0604020202020204" pitchFamily="34" charset="0"/>
              </a:endParaRPr>
            </a:p>
          </p:txBody>
        </p:sp>
      </p:grpSp>
      <p:sp>
        <p:nvSpPr>
          <p:cNvPr id="8196" name="矩形 1"/>
          <p:cNvSpPr>
            <a:spLocks noChangeArrowheads="1"/>
          </p:cNvSpPr>
          <p:nvPr/>
        </p:nvSpPr>
        <p:spPr bwMode="auto">
          <a:xfrm>
            <a:off x="3282791" y="2527290"/>
            <a:ext cx="6393160" cy="646331"/>
          </a:xfrm>
          <a:prstGeom prst="rect">
            <a:avLst/>
          </a:prstGeom>
          <a:noFill/>
          <a:ln w="9525" algn="ctr">
            <a:noFill/>
            <a:miter lim="800000"/>
          </a:ln>
        </p:spPr>
        <p:txBody>
          <a:bodyPr wrap="square">
            <a:spAutoFit/>
          </a:bodyPr>
          <a:lstStyle/>
          <a:p>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rPr>
              <a:t>一、武汉理工大学</a:t>
            </a:r>
            <a:r>
              <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rPr>
              <a:t>基本情况</a:t>
            </a:r>
            <a:endParaRPr lang="zh-CN" altLang="en-US" sz="36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圆角矩形 2"/>
          <p:cNvSpPr/>
          <p:nvPr/>
        </p:nvSpPr>
        <p:spPr>
          <a:xfrm>
            <a:off x="479376" y="763938"/>
            <a:ext cx="11233248" cy="5617390"/>
          </a:xfrm>
          <a:prstGeom prst="roundRect">
            <a:avLst>
              <a:gd name="adj" fmla="val 5362"/>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defRPr/>
            </a:pPr>
            <a:endParaRPr lang="zh-CN" altLang="en-US" dirty="0"/>
          </a:p>
        </p:txBody>
      </p:sp>
      <p:sp>
        <p:nvSpPr>
          <p:cNvPr id="2" name="矩形 1"/>
          <p:cNvSpPr/>
          <p:nvPr/>
        </p:nvSpPr>
        <p:spPr>
          <a:xfrm>
            <a:off x="911806" y="1444784"/>
            <a:ext cx="10501386" cy="3969385"/>
          </a:xfrm>
          <a:prstGeom prst="rect">
            <a:avLst/>
          </a:prstGeom>
        </p:spPr>
        <p:txBody>
          <a:bodyPr wrap="square">
            <a:spAutoFit/>
          </a:bodyPr>
          <a:lstStyle/>
          <a:p>
            <a:pPr algn="just">
              <a:lnSpc>
                <a:spcPct val="150000"/>
              </a:lnSpc>
            </a:pPr>
            <a:r>
              <a:rPr lang="zh-CN" altLang="zh-CN" sz="2400" dirty="0">
                <a:solidFill>
                  <a:srgbClr val="C00000"/>
                </a:solidFill>
                <a:latin typeface="微软雅黑" panose="020B0503020204020204" charset="-122"/>
                <a:ea typeface="微软雅黑" panose="020B0503020204020204" charset="-122"/>
              </a:rPr>
              <a:t>武汉理工大学</a:t>
            </a:r>
            <a:r>
              <a:rPr altLang="zh-CN" sz="2400" dirty="0">
                <a:solidFill>
                  <a:srgbClr val="00469A"/>
                </a:solidFill>
                <a:latin typeface="微软雅黑" panose="020B0503020204020204" charset="-122"/>
                <a:ea typeface="微软雅黑" panose="020B0503020204020204" charset="-122"/>
              </a:rPr>
              <a:t>是首批列入国家“211工程”重点建设的教育部直属全国重点大学，首批列入国家“双一流计划”建设高校，是教育部和交通运输部、国防科技工业局共建高校。学校在建材建工、交通船舶、汽车机电三大行业和战略新兴产业技术领域具有领先的科技与人才优势。办学122年特别是近70年来，学校共培养毕业生60余万人，是教育部直属高校中为三大行业培养人才规模最大的学校，已成为我国三大行业高层次人才培养和科技创新的重要基地。</a:t>
            </a:r>
            <a:endParaRPr altLang="zh-CN" sz="2400" dirty="0">
              <a:solidFill>
                <a:srgbClr val="00469A"/>
              </a:solidFill>
              <a:latin typeface="微软雅黑" panose="020B0503020204020204" charset="-122"/>
              <a:ea typeface="微软雅黑" panose="020B0503020204020204" charset="-122"/>
            </a:endParaRPr>
          </a:p>
        </p:txBody>
      </p:sp>
      <p:sp>
        <p:nvSpPr>
          <p:cNvPr id="7" name="矩形 6"/>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endParaRPr lang="zh-CN" altLang="en-US" sz="2800" dirty="0">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4"/>
          <p:cNvSpPr/>
          <p:nvPr/>
        </p:nvSpPr>
        <p:spPr bwMode="auto">
          <a:xfrm>
            <a:off x="342983" y="1156318"/>
            <a:ext cx="5544616" cy="5078329"/>
          </a:xfrm>
          <a:prstGeom prst="roundRect">
            <a:avLst>
              <a:gd name="adj" fmla="val 3676"/>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2" name="矩形 1"/>
          <p:cNvSpPr/>
          <p:nvPr/>
        </p:nvSpPr>
        <p:spPr>
          <a:xfrm>
            <a:off x="1588" y="-26988"/>
            <a:ext cx="12190412" cy="647701"/>
          </a:xfrm>
          <a:prstGeom prst="rect">
            <a:avLst/>
          </a:prstGeom>
          <a:solidFill>
            <a:srgbClr val="00469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spcBef>
                <a:spcPct val="50000"/>
              </a:spcBef>
              <a:defRPr/>
            </a:pPr>
            <a:r>
              <a:rPr lang="en-US" altLang="zh-CN" sz="2800" dirty="0">
                <a:solidFill>
                  <a:schemeClr val="bg1"/>
                </a:solidFill>
                <a:latin typeface="微软雅黑" panose="020B0503020204020204" charset="-122"/>
                <a:ea typeface="微软雅黑" panose="020B0503020204020204" charset="-122"/>
              </a:rPr>
              <a:t>  </a:t>
            </a:r>
            <a:r>
              <a:rPr lang="zh-CN" altLang="en-US" sz="2800" dirty="0">
                <a:solidFill>
                  <a:schemeClr val="bg1"/>
                </a:solidFill>
                <a:latin typeface="微软雅黑" panose="020B0503020204020204" charset="-122"/>
                <a:ea typeface="微软雅黑" panose="020B0503020204020204" charset="-122"/>
              </a:rPr>
              <a:t>武汉理工大学</a:t>
            </a:r>
            <a:r>
              <a:rPr lang="en-US" altLang="zh-CN" sz="2800" dirty="0">
                <a:solidFill>
                  <a:schemeClr val="bg1"/>
                </a:solidFill>
                <a:latin typeface="微软雅黑" panose="020B0503020204020204" charset="-122"/>
                <a:ea typeface="微软雅黑" panose="020B0503020204020204" charset="-122"/>
              </a:rPr>
              <a:t>-</a:t>
            </a:r>
            <a:r>
              <a:rPr lang="zh-CN" altLang="en-US" sz="2800" dirty="0">
                <a:solidFill>
                  <a:schemeClr val="bg1"/>
                </a:solidFill>
                <a:latin typeface="微软雅黑" panose="020B0503020204020204" charset="-122"/>
                <a:ea typeface="微软雅黑" panose="020B0503020204020204" charset="-122"/>
              </a:rPr>
              <a:t>平台优势</a:t>
            </a:r>
            <a:endParaRPr lang="zh-CN" altLang="en-US" sz="2800" dirty="0">
              <a:solidFill>
                <a:schemeClr val="bg1"/>
              </a:solidFill>
            </a:endParaRPr>
          </a:p>
        </p:txBody>
      </p:sp>
      <p:sp>
        <p:nvSpPr>
          <p:cNvPr id="3" name="矩形 2"/>
          <p:cNvSpPr/>
          <p:nvPr/>
        </p:nvSpPr>
        <p:spPr>
          <a:xfrm>
            <a:off x="460590" y="1139021"/>
            <a:ext cx="5283577" cy="5023619"/>
          </a:xfrm>
          <a:prstGeom prst="rect">
            <a:avLst/>
          </a:prstGeom>
        </p:spPr>
        <p:txBody>
          <a:bodyPr wrap="square">
            <a:spAutoFit/>
          </a:bodyPr>
          <a:lstStyle/>
          <a:p>
            <a:pPr algn="ctr">
              <a:lnSpc>
                <a:spcPct val="125000"/>
              </a:lnSpc>
              <a:spcAft>
                <a:spcPts val="1200"/>
              </a:spcAft>
            </a:pPr>
            <a:r>
              <a:rPr lang="zh-CN" altLang="en-US" sz="2400" dirty="0">
                <a:solidFill>
                  <a:srgbClr val="C00000"/>
                </a:solidFill>
                <a:latin typeface="微软雅黑" panose="020B0503020204020204" charset="-122"/>
                <a:ea typeface="微软雅黑" panose="020B0503020204020204" charset="-122"/>
              </a:rPr>
              <a:t>国家级和省部级科研基地</a:t>
            </a:r>
            <a:endParaRPr lang="zh-CN" altLang="en-US" sz="2400" dirty="0">
              <a:solidFill>
                <a:srgbClr val="C00000"/>
              </a:solidFill>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学校拥有</a:t>
            </a:r>
            <a:r>
              <a:rPr lang="en-US" altLang="zh-CN" dirty="0">
                <a:latin typeface="微软雅黑" panose="020B0503020204020204" charset="-122"/>
                <a:ea typeface="微软雅黑" panose="020B0503020204020204" charset="-122"/>
              </a:rPr>
              <a:t>52</a:t>
            </a:r>
            <a:r>
              <a:rPr lang="zh-CN" altLang="en-US" b="0" dirty="0">
                <a:latin typeface="微软雅黑" panose="020B0503020204020204" charset="-122"/>
                <a:ea typeface="微软雅黑" panose="020B0503020204020204" charset="-122"/>
              </a:rPr>
              <a:t>个国家级与省部级科研基地，</a:t>
            </a:r>
            <a:endParaRPr lang="en-US" altLang="zh-CN" b="0" dirty="0">
              <a:latin typeface="微软雅黑" panose="020B0503020204020204" charset="-122"/>
              <a:ea typeface="微软雅黑" panose="020B0503020204020204" charset="-122"/>
            </a:endParaRPr>
          </a:p>
          <a:p>
            <a:pPr>
              <a:lnSpc>
                <a:spcPct val="125000"/>
              </a:lnSpc>
              <a:spcAft>
                <a:spcPts val="1200"/>
              </a:spcAft>
            </a:pPr>
            <a:r>
              <a:rPr lang="zh-CN" altLang="en-US" b="0" dirty="0">
                <a:latin typeface="微软雅黑" panose="020B0503020204020204" charset="-122"/>
                <a:ea typeface="微软雅黑" panose="020B0503020204020204" charset="-122"/>
              </a:rPr>
              <a:t>涵盖材料、建筑、交通、智能航运等多个关键领域：</a:t>
            </a:r>
            <a:endParaRPr lang="zh-CN" altLang="en-US"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材料复合新技术国家重点实验室、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硅酸盐建筑材料国家重点实验室、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国家水运安全工程技术研究中心、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水路交通控制全国重点实验室、</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光纤传感技术与网络国家工程研究中心、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港口物流技术与装备教育部工程研究中心、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船舶动力工程技术交通运输行业重点实验室。</a:t>
            </a:r>
            <a:endParaRPr lang="zh-CN" altLang="en-US" b="0" dirty="0">
              <a:latin typeface="微软雅黑" panose="020B0503020204020204" charset="-122"/>
              <a:ea typeface="微软雅黑" panose="020B0503020204020204" charset="-122"/>
            </a:endParaRPr>
          </a:p>
        </p:txBody>
      </p:sp>
      <p:sp>
        <p:nvSpPr>
          <p:cNvPr id="6" name="圆角矩形 34"/>
          <p:cNvSpPr/>
          <p:nvPr/>
        </p:nvSpPr>
        <p:spPr bwMode="auto">
          <a:xfrm>
            <a:off x="6106399" y="1156319"/>
            <a:ext cx="5544616" cy="2126001"/>
          </a:xfrm>
          <a:prstGeom prst="roundRect">
            <a:avLst>
              <a:gd name="adj" fmla="val 5363"/>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7" name="矩形 6"/>
          <p:cNvSpPr/>
          <p:nvPr/>
        </p:nvSpPr>
        <p:spPr>
          <a:xfrm>
            <a:off x="6012635" y="1194088"/>
            <a:ext cx="5688632" cy="1971502"/>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省部级协同创新平台</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内河智能航运交通运输行业协同创新平台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汽车零部件技术湖北省协同创新中心</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安全预警与应急联动技术湖北省协同创新中心</a:t>
            </a:r>
            <a:endParaRPr lang="zh-CN" altLang="en-US" b="0" dirty="0">
              <a:latin typeface="微软雅黑" panose="020B0503020204020204" charset="-122"/>
              <a:ea typeface="微软雅黑" panose="020B0503020204020204" charset="-122"/>
            </a:endParaRPr>
          </a:p>
        </p:txBody>
      </p:sp>
      <p:sp>
        <p:nvSpPr>
          <p:cNvPr id="8" name="圆角矩形 34"/>
          <p:cNvSpPr/>
          <p:nvPr/>
        </p:nvSpPr>
        <p:spPr bwMode="auto">
          <a:xfrm>
            <a:off x="6106399" y="3525606"/>
            <a:ext cx="5544616" cy="2709042"/>
          </a:xfrm>
          <a:prstGeom prst="roundRect">
            <a:avLst>
              <a:gd name="adj" fmla="val 4744"/>
            </a:avLst>
          </a:prstGeom>
          <a:solidFill>
            <a:srgbClr val="FFFFFF"/>
          </a:solidFill>
          <a:ln w="12700">
            <a:solidFill>
              <a:schemeClr val="accent1"/>
            </a:solidFill>
            <a:prstDash val="sysDash"/>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21917" tIns="60958" rIns="121917" bIns="60958" anchor="ctr"/>
          <a:lstStyle/>
          <a:p>
            <a:pPr algn="ctr" eaLnBrk="0" fontAlgn="auto" hangingPunct="0">
              <a:lnSpc>
                <a:spcPct val="105000"/>
              </a:lnSpc>
              <a:spcBef>
                <a:spcPts val="0"/>
              </a:spcBef>
              <a:spcAft>
                <a:spcPts val="0"/>
              </a:spcAft>
            </a:pPr>
            <a:endParaRPr lang="en-US">
              <a:solidFill>
                <a:schemeClr val="lt1"/>
              </a:solidFill>
              <a:latin typeface="+mn-lt"/>
              <a:ea typeface="+mn-ea"/>
            </a:endParaRPr>
          </a:p>
        </p:txBody>
      </p:sp>
      <p:sp>
        <p:nvSpPr>
          <p:cNvPr id="9" name="矩形 8"/>
          <p:cNvSpPr/>
          <p:nvPr/>
        </p:nvSpPr>
        <p:spPr>
          <a:xfrm>
            <a:off x="6023992" y="3604565"/>
            <a:ext cx="5688632" cy="2317750"/>
          </a:xfrm>
          <a:prstGeom prst="rect">
            <a:avLst/>
          </a:prstGeom>
        </p:spPr>
        <p:txBody>
          <a:bodyPr wrap="square">
            <a:spAutoFit/>
          </a:bodyPr>
          <a:lstStyle/>
          <a:p>
            <a:pPr algn="ctr">
              <a:lnSpc>
                <a:spcPct val="125000"/>
              </a:lnSpc>
              <a:spcAft>
                <a:spcPts val="800"/>
              </a:spcAft>
            </a:pPr>
            <a:r>
              <a:rPr lang="zh-CN" altLang="en-US" sz="2400" dirty="0">
                <a:solidFill>
                  <a:srgbClr val="C00000"/>
                </a:solidFill>
                <a:latin typeface="微软雅黑" panose="020B0503020204020204" charset="-122"/>
                <a:ea typeface="微软雅黑" panose="020B0503020204020204" charset="-122"/>
              </a:rPr>
              <a:t>科技成果</a:t>
            </a:r>
            <a:endParaRPr lang="en-US" altLang="zh-CN" sz="2400" dirty="0">
              <a:solidFill>
                <a:srgbClr val="C00000"/>
              </a:solidFill>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与企业、政府共建</a:t>
            </a:r>
            <a:r>
              <a:rPr lang="en-US" altLang="zh-CN" b="0" dirty="0">
                <a:latin typeface="微软雅黑" panose="020B0503020204020204" charset="-122"/>
                <a:ea typeface="微软雅黑" panose="020B0503020204020204" charset="-122"/>
              </a:rPr>
              <a:t>204</a:t>
            </a:r>
            <a:r>
              <a:rPr lang="zh-CN" altLang="en-US" b="0" dirty="0">
                <a:latin typeface="微软雅黑" panose="020B0503020204020204" charset="-122"/>
                <a:ea typeface="微软雅黑" panose="020B0503020204020204" charset="-122"/>
              </a:rPr>
              <a:t>个产学研合作服务平台</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入选首批国家知识产权示范高校</a:t>
            </a:r>
            <a:endParaRPr lang="en-US" altLang="zh-CN" b="0" dirty="0">
              <a:latin typeface="微软雅黑" panose="020B0503020204020204" charset="-122"/>
              <a:ea typeface="微软雅黑" panose="020B0503020204020204" charset="-122"/>
            </a:endParaRPr>
          </a:p>
          <a:p>
            <a:pPr marL="742950" lvl="1" indent="-285750">
              <a:lnSpc>
                <a:spcPct val="125000"/>
              </a:lnSpc>
              <a:spcAft>
                <a:spcPts val="1200"/>
              </a:spcAft>
              <a:buFont typeface="Arial" panose="020B0604020202020204" pitchFamily="34" charset="0"/>
              <a:buChar char="•"/>
            </a:pPr>
            <a:r>
              <a:rPr lang="zh-CN" altLang="en-US" b="0" dirty="0">
                <a:latin typeface="微软雅黑" panose="020B0503020204020204" charset="-122"/>
                <a:ea typeface="微软雅黑" panose="020B0503020204020204" charset="-122"/>
              </a:rPr>
              <a:t>近五年获得国家自然科学奖</a:t>
            </a:r>
            <a:r>
              <a:rPr lang="en-US" altLang="zh-CN" b="0" dirty="0">
                <a:latin typeface="微软雅黑" panose="020B0503020204020204" charset="-122"/>
                <a:ea typeface="微软雅黑" panose="020B0503020204020204" charset="-122"/>
              </a:rPr>
              <a:t>2</a:t>
            </a:r>
            <a:r>
              <a:rPr lang="zh-CN" altLang="en-US" b="0" dirty="0">
                <a:latin typeface="微软雅黑" panose="020B0503020204020204" charset="-122"/>
                <a:ea typeface="微软雅黑" panose="020B0503020204020204" charset="-122"/>
              </a:rPr>
              <a:t>项、国家技术发明奖</a:t>
            </a:r>
            <a:r>
              <a:rPr lang="en-US" altLang="zh-CN" b="0" dirty="0">
                <a:latin typeface="微软雅黑" panose="020B0503020204020204" charset="-122"/>
                <a:ea typeface="微软雅黑" panose="020B0503020204020204" charset="-122"/>
              </a:rPr>
              <a:t>3</a:t>
            </a:r>
            <a:r>
              <a:rPr lang="zh-CN" altLang="en-US" b="0" dirty="0">
                <a:latin typeface="微软雅黑" panose="020B0503020204020204" charset="-122"/>
                <a:ea typeface="微软雅黑" panose="020B0503020204020204" charset="-122"/>
              </a:rPr>
              <a:t>项、国家科技进步奖</a:t>
            </a:r>
            <a:r>
              <a:rPr lang="en-US" altLang="zh-CN" b="0" dirty="0">
                <a:latin typeface="微软雅黑" panose="020B0503020204020204" charset="-122"/>
                <a:ea typeface="微软雅黑" panose="020B0503020204020204" charset="-122"/>
              </a:rPr>
              <a:t>4</a:t>
            </a:r>
            <a:r>
              <a:rPr lang="zh-CN" altLang="en-US" b="0" dirty="0">
                <a:latin typeface="微软雅黑" panose="020B0503020204020204" charset="-122"/>
                <a:ea typeface="微软雅黑" panose="020B0503020204020204" charset="-122"/>
              </a:rPr>
              <a:t>项</a:t>
            </a:r>
            <a:endParaRPr lang="en-US" altLang="zh-CN" b="0" dirty="0">
              <a:latin typeface="微软雅黑" panose="020B0503020204020204" charset="-122"/>
              <a:ea typeface="微软雅黑" panose="020B0503020204020204"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1</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、方法类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一种基于事件触发方案和T-S模糊系统的欠驱动无人艇控制方法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DoS攻击下基于切换T-S模糊系统的无人船艇控制方法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ROV与母船协同水下目标搜寻路径规划及动态更新方法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一种动态危险船载环境自适应应急导航方法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一种基于分支定界技术的船舶避台航线动态优化方法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一种基于圆形轨迹单元的无人艇避障方法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一种基于深度强化学习的无人船艇编队路径跟踪方法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一种基于深度强化学习的群无人艇智能避碰方法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一种基于轨迹单元的障碍物情况下无人艇避碰路径规划方法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一种多船会遇避碰方法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一种多艘无人测量船艇覆盖路径规划方法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一种无人水面艇折线路径跟踪控制系统及方法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一种无人船辅助靠离泊及充电方法、装置及系统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一种水上收油机及其收油方法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一种用于群水面无人艇的自主避碰系统及方法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一种航标机群系统和对海洋污染物进行机群监测的方法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一种船舶会遇助航预警方法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一种船舶碰撞风险评估与预警方法及系统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一种面向单艘无人测量船艇覆盖路径规划方法</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方法类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46" name="Group 3"/>
          <p:cNvGrpSpPr/>
          <p:nvPr/>
        </p:nvGrpSpPr>
        <p:grpSpPr>
          <a:xfrm>
            <a:off x="0" y="2060862"/>
            <a:ext cx="12192000" cy="1800225"/>
            <a:chOff x="816" y="2304"/>
            <a:chExt cx="1440" cy="448"/>
          </a:xfrm>
        </p:grpSpPr>
        <p:sp>
          <p:nvSpPr>
            <p:cNvPr id="6148" name="Freeform 4"/>
            <p:cNvSpPr/>
            <p:nvPr/>
          </p:nvSpPr>
          <p:spPr>
            <a:xfrm>
              <a:off x="816" y="2562"/>
              <a:ext cx="1440" cy="190"/>
            </a:xfrm>
            <a:custGeom>
              <a:avLst/>
              <a:gdLst>
                <a:gd name="txL" fmla="*/ 0 w 1120"/>
                <a:gd name="txT" fmla="*/ 0 h 252"/>
                <a:gd name="txR" fmla="*/ 1120 w 1120"/>
                <a:gd name="txB" fmla="*/ 252 h 252"/>
              </a:gdLst>
              <a:ahLst/>
              <a:cxnLst>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2147483647" y="2"/>
                </a:cxn>
                <a:cxn ang="0">
                  <a:pos x="0" y="2"/>
                </a:cxn>
                <a:cxn ang="0">
                  <a:pos x="0" y="2"/>
                </a:cxn>
                <a:cxn ang="0">
                  <a:pos x="2147483647" y="0"/>
                </a:cxn>
                <a:cxn ang="0">
                  <a:pos x="2147483647" y="2"/>
                </a:cxn>
                <a:cxn ang="0">
                  <a:pos x="2147483647" y="2"/>
                </a:cxn>
                <a:cxn ang="0">
                  <a:pos x="2147483647" y="2"/>
                </a:cxn>
              </a:cxnLst>
              <a:rect l="txL" t="txT" r="txR" b="txB"/>
              <a:pathLst>
                <a:path w="1120" h="252">
                  <a:moveTo>
                    <a:pt x="1120" y="252"/>
                  </a:moveTo>
                  <a:lnTo>
                    <a:pt x="1116" y="250"/>
                  </a:lnTo>
                  <a:lnTo>
                    <a:pt x="1100" y="246"/>
                  </a:lnTo>
                  <a:lnTo>
                    <a:pt x="1074" y="240"/>
                  </a:lnTo>
                  <a:lnTo>
                    <a:pt x="1038" y="232"/>
                  </a:lnTo>
                  <a:lnTo>
                    <a:pt x="992" y="222"/>
                  </a:lnTo>
                  <a:lnTo>
                    <a:pt x="938" y="212"/>
                  </a:lnTo>
                  <a:lnTo>
                    <a:pt x="876" y="204"/>
                  </a:lnTo>
                  <a:lnTo>
                    <a:pt x="806" y="196"/>
                  </a:lnTo>
                  <a:lnTo>
                    <a:pt x="730" y="190"/>
                  </a:lnTo>
                  <a:lnTo>
                    <a:pt x="646" y="184"/>
                  </a:lnTo>
                  <a:lnTo>
                    <a:pt x="556" y="184"/>
                  </a:lnTo>
                  <a:lnTo>
                    <a:pt x="466" y="184"/>
                  </a:lnTo>
                  <a:lnTo>
                    <a:pt x="384" y="190"/>
                  </a:lnTo>
                  <a:lnTo>
                    <a:pt x="308" y="196"/>
                  </a:lnTo>
                  <a:lnTo>
                    <a:pt x="238" y="204"/>
                  </a:lnTo>
                  <a:lnTo>
                    <a:pt x="178" y="212"/>
                  </a:lnTo>
                  <a:lnTo>
                    <a:pt x="126" y="222"/>
                  </a:lnTo>
                  <a:lnTo>
                    <a:pt x="82" y="232"/>
                  </a:lnTo>
                  <a:lnTo>
                    <a:pt x="46" y="240"/>
                  </a:lnTo>
                  <a:lnTo>
                    <a:pt x="20" y="246"/>
                  </a:lnTo>
                  <a:lnTo>
                    <a:pt x="6" y="250"/>
                  </a:lnTo>
                  <a:lnTo>
                    <a:pt x="0" y="252"/>
                  </a:lnTo>
                  <a:lnTo>
                    <a:pt x="0" y="62"/>
                  </a:lnTo>
                  <a:lnTo>
                    <a:pt x="560" y="0"/>
                  </a:lnTo>
                  <a:lnTo>
                    <a:pt x="1120" y="62"/>
                  </a:lnTo>
                  <a:lnTo>
                    <a:pt x="1120" y="252"/>
                  </a:lnTo>
                  <a:close/>
                </a:path>
              </a:pathLst>
            </a:custGeom>
            <a:solidFill>
              <a:srgbClr val="969696">
                <a:alpha val="100000"/>
              </a:srgbClr>
            </a:solidFill>
            <a:ln w="0">
              <a:noFill/>
            </a:ln>
          </p:spPr>
          <p:txBody>
            <a:bodyPr/>
            <a:lstStyle/>
            <a:p>
              <a:endParaRPr lang="zh-CN" altLang="en-US" dirty="0"/>
            </a:p>
          </p:txBody>
        </p:sp>
        <p:sp>
          <p:nvSpPr>
            <p:cNvPr id="310277" name="Rectangle 5"/>
            <p:cNvSpPr>
              <a:spLocks noChangeArrowheads="1"/>
            </p:cNvSpPr>
            <p:nvPr/>
          </p:nvSpPr>
          <p:spPr bwMode="gray">
            <a:xfrm>
              <a:off x="816" y="2304"/>
              <a:ext cx="1440" cy="393"/>
            </a:xfrm>
            <a:prstGeom prst="rect">
              <a:avLst/>
            </a:prstGeom>
            <a:solidFill>
              <a:srgbClr val="00469A"/>
            </a:solidFill>
            <a:ln w="9525" algn="ctr">
              <a:noFill/>
              <a:miter lim="800000"/>
            </a:ln>
          </p:spPr>
          <p:txBody>
            <a:bodyPr wrap="none" anchor="ctr"/>
            <a:lstStyle/>
            <a:p>
              <a:pPr algn="dist">
                <a:defRPr/>
              </a:pPr>
              <a:endParaRPr lang="en-US" altLang="zh-CN" dirty="0">
                <a:solidFill>
                  <a:srgbClr val="FFFFFF"/>
                </a:solidFill>
                <a:effectLst>
                  <a:outerShdw blurRad="38100" dist="38100" dir="2700000" algn="tl">
                    <a:srgbClr val="000000"/>
                  </a:outerShdw>
                </a:effectLst>
                <a:latin typeface="Calibri" panose="020F0502020204030204" pitchFamily="34" charset="0"/>
                <a:cs typeface="Arial" panose="020B0604020202020204" pitchFamily="34" charset="0"/>
              </a:endParaRPr>
            </a:p>
          </p:txBody>
        </p:sp>
      </p:grpSp>
      <p:sp>
        <p:nvSpPr>
          <p:cNvPr id="8196" name="矩形 1"/>
          <p:cNvSpPr>
            <a:spLocks noChangeArrowheads="1"/>
          </p:cNvSpPr>
          <p:nvPr/>
        </p:nvSpPr>
        <p:spPr bwMode="auto">
          <a:xfrm>
            <a:off x="30155" y="2434972"/>
            <a:ext cx="12192000" cy="1567180"/>
          </a:xfrm>
          <a:prstGeom prst="rect">
            <a:avLst/>
          </a:prstGeom>
          <a:noFill/>
          <a:ln w="9525" algn="ctr">
            <a:noFill/>
            <a:miter lim="800000"/>
          </a:ln>
        </p:spPr>
        <p:txBody>
          <a:bodyPr wrap="square" lIns="91420" tIns="45718" rIns="91420" bIns="45718">
            <a:spAutoFit/>
          </a:bodyPr>
          <a:lstStyle/>
          <a:p>
            <a:pPr marL="446405" indent="-446405" algn="ctr">
              <a:defRPr/>
            </a:pP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2</a:t>
            </a:r>
            <a:r>
              <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、技术类</a:t>
            </a:r>
            <a:r>
              <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rPr>
              <a:t/>
            </a:r>
            <a:endParaRPr lang="en-US" altLang="zh-CN"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a:p>
            <a:pPr marL="446405" indent="-446405" algn="ctr">
              <a:defRPr/>
            </a:pPr>
            <a:endParaRPr lang="zh-CN" altLang="en-US" sz="4800" b="1" dirty="0">
              <a:ln w="18415" cmpd="sng">
                <a:solidFill>
                  <a:srgbClr val="FFFFFF"/>
                </a:solidFill>
                <a:prstDash val="solid"/>
              </a:ln>
              <a:solidFill>
                <a:srgbClr val="FFFFFF"/>
              </a:solidFill>
              <a:latin typeface="微软雅黑" panose="020B0503020204020204" pitchFamily="34" charset="-122"/>
              <a:ea typeface="微软雅黑" panose="020B0503020204020204" pitchFamily="34" charset="-122"/>
            </a:endParaRPr>
          </a:p>
        </p:txBody>
      </p:sp>
      <p:sp>
        <p:nvSpPr>
          <p:cNvPr id="2" name="灯片编号占位符 1"/>
          <p:cNvSpPr>
            <a:spLocks noGrp="1"/>
          </p:cNvSpPr>
          <p:nvPr>
            <p:ph type="sldNum" sz="quarter" idx="4294967295"/>
          </p:nvPr>
        </p:nvSpPr>
        <p:spPr>
          <a:xfrm>
            <a:off x="8610600" y="6499860"/>
            <a:ext cx="2743200" cy="365125"/>
          </a:xfrm>
        </p:spPr>
        <p:txBody>
          <a:bodyPr/>
          <a:lstStyle/>
          <a:p>
            <a:pPr lvl="0" eaLnBrk="1" hangingPunct="1">
              <a:buNone/>
            </a:pPr>
            <a:fld id="{9A0DB2DC-4C9A-4742-B13C-FB6460FD3503}" type="slidenum">
              <a:rPr lang="zh-CN" altLang="en-US" smtClean="0"/>
            </a:fld>
            <a:endParaRPr lang="zh-CN" altLang="en-US" dirty="0">
              <a:latin typeface="Arial" panose="020B0604020202020204" pitchFamily="34" charset="0"/>
            </a:endParaRPr>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一种船舶应急防碰撞系统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一种面向运输船舶的智能航行眼系统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多功能履带式高效水翼登陆艇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一种便于收展的风帆助航张合结构</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一种抗风浪的海上石油钻井平台</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一种新型船舶轴支架</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一种用于内河客船防沉的机械装置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一种自动保护式风帆</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一种船用风力压差增速发电设备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一种船舶用设备固定装置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一种船舶防倾覆装置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一种节能型可升降式漂浮设备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一种节能航标</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用于内河船载高流速水域的围油栏</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面向无人船舶的自动驾驶集成系统</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一种应用于船舶防撞气囊的主动泄压装置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一种节能型充电装置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32790"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暂无技术原理描述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技术原理与特点</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2" name="文本框 1"/>
          <p:cNvSpPr txBox="1"/>
          <p:nvPr/>
        </p:nvSpPr>
        <p:spPr>
          <a:xfrm>
            <a:off x="1330325" y="4178935"/>
            <a:ext cx="7280275" cy="368300"/>
          </a:xfrm>
          <a:prstGeom prst="rect">
            <a:avLst/>
          </a:prstGeom>
          <a:noFill/>
        </p:spPr>
        <p:txBody>
          <a:bodyPr wrap="square" rtlCol="0">
            <a:spAutoFit/>
          </a:bodyPr>
          <a:p>
            <a:endParaRPr lang="en-US" altLang="zh-CN">
              <a:latin typeface="黑体" panose="02010609060101010101" charset="-122"/>
              <a:ea typeface="黑体" panose="02010609060101010101" charset="-122"/>
            </a:endParaRPr>
          </a:p>
        </p:txBody>
      </p:sp>
      <p:sp>
        <p:nvSpPr>
          <p:cNvPr id="3" name="文本框 2"/>
          <p:cNvSpPr txBox="1"/>
          <p:nvPr/>
        </p:nvSpPr>
        <p:spPr>
          <a:xfrm>
            <a:off x="770255" y="2896235"/>
            <a:ext cx="7280275" cy="368300"/>
          </a:xfrm>
          <a:prstGeom prst="rect">
            <a:avLst/>
          </a:prstGeom>
          <a:noFill/>
        </p:spPr>
        <p:txBody>
          <a:bodyPr wrap="square" rtlCol="0">
            <a:spAutoFit/>
          </a:bodyPr>
          <a:p>
            <a:r>
              <a:rPr lang="en-US" altLang="zh-CN">
                <a:latin typeface="微软雅黑" panose="020B0503020204020204" charset="-122"/>
                <a:ea typeface="微软雅黑" panose="020B0503020204020204" charset="-122"/>
              </a:rPr>
              <a:t>暂无技术特点描述</a:t>
            </a:r>
            <a:endParaRPr lang="en-US" altLang="zh-CN">
              <a:latin typeface="宋体" panose="02010600030101010101" pitchFamily="2" charset="-122"/>
              <a:ea typeface="宋体" panose="02010600030101010101" pitchFamily="2"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前期成果</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4" name="文本框 3"/>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 name="矩形 9"/>
          <p:cNvSpPr/>
          <p:nvPr userDrawn="1"/>
        </p:nvSpPr>
        <p:spPr bwMode="auto">
          <a:xfrm flipV="1">
            <a:off x="-1588" y="813917"/>
            <a:ext cx="12193200" cy="46037"/>
          </a:xfrm>
          <a:prstGeom prst="rect">
            <a:avLst/>
          </a:prstGeom>
          <a:solidFill>
            <a:srgbClr val="005EA4"/>
          </a:solidFill>
          <a:ln>
            <a:solidFill>
              <a:srgbClr val="00479A"/>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 name="组合 12"/>
          <p:cNvGrpSpPr/>
          <p:nvPr/>
        </p:nvGrpSpPr>
        <p:grpSpPr>
          <a:xfrm>
            <a:off x="0" y="6551949"/>
            <a:ext cx="12192000" cy="333435"/>
            <a:chOff x="0" y="6524565"/>
            <a:chExt cx="12192000" cy="333435"/>
          </a:xfrm>
        </p:grpSpPr>
        <p:sp>
          <p:nvSpPr>
            <p:cNvPr id="7" name="矩形 6"/>
            <p:cNvSpPr/>
            <p:nvPr/>
          </p:nvSpPr>
          <p:spPr>
            <a:xfrm>
              <a:off x="0" y="6524565"/>
              <a:ext cx="12192000" cy="333435"/>
            </a:xfrm>
            <a:prstGeom prst="rect">
              <a:avLst/>
            </a:prstGeom>
            <a:solidFill>
              <a:srgbClr val="00479A"/>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grpSp>
          <p:nvGrpSpPr>
            <p:cNvPr id="12" name="组合 11"/>
            <p:cNvGrpSpPr/>
            <p:nvPr/>
          </p:nvGrpSpPr>
          <p:grpSpPr>
            <a:xfrm>
              <a:off x="0" y="6524565"/>
              <a:ext cx="1753364" cy="333435"/>
              <a:chOff x="2" y="6532274"/>
              <a:chExt cx="1753364" cy="333435"/>
            </a:xfrm>
          </p:grpSpPr>
          <p:sp>
            <p:nvSpPr>
              <p:cNvPr id="8" name="矩形 7"/>
              <p:cNvSpPr/>
              <p:nvPr/>
            </p:nvSpPr>
            <p:spPr>
              <a:xfrm>
                <a:off x="2" y="6532274"/>
                <a:ext cx="1753364" cy="333435"/>
              </a:xfrm>
              <a:prstGeom prst="rect">
                <a:avLst/>
              </a:prstGeom>
              <a:solidFill>
                <a:srgbClr val="FBC540"/>
              </a:solidFill>
              <a:ln>
                <a:noFill/>
              </a:ln>
            </p:spPr>
            <p:style>
              <a:lnRef idx="2">
                <a:schemeClr val="accent1">
                  <a:shade val="50000"/>
                </a:schemeClr>
              </a:lnRef>
              <a:fillRef idx="1">
                <a:schemeClr val="accent1"/>
              </a:fillRef>
              <a:effectRef idx="0">
                <a:schemeClr val="accent1"/>
              </a:effectRef>
              <a:fontRef idx="minor">
                <a:schemeClr val="lt1"/>
              </a:fontRef>
            </p:style>
            <p:txBody>
              <a:bodyPr lIns="91420" tIns="45718" rIns="91420" bIns="45718" rtlCol="0" anchor="ctr"/>
              <a:lstStyle/>
              <a:p>
                <a:pPr algn="ctr"/>
                <a:endParaRPr lang="zh-CN" altLang="en-US" sz="3200" dirty="0"/>
              </a:p>
            </p:txBody>
          </p:sp>
          <p:pic>
            <p:nvPicPr>
              <p:cNvPr id="9" name="图片 8"/>
              <p:cNvPicPr/>
              <p:nvPr/>
            </p:nvPicPr>
            <p:blipFill>
              <a:blip r:embed="rId1" cstate="print"/>
              <a:stretch>
                <a:fillRect/>
              </a:stretch>
            </p:blipFill>
            <p:spPr>
              <a:xfrm>
                <a:off x="190420" y="6552687"/>
                <a:ext cx="1372529" cy="292608"/>
              </a:xfrm>
              <a:prstGeom prst="rect">
                <a:avLst/>
              </a:prstGeom>
            </p:spPr>
          </p:pic>
        </p:grpSp>
      </p:grpSp>
      <p:pic>
        <p:nvPicPr>
          <p:cNvPr id="14" name="图片 13"/>
          <p:cNvPicPr>
            <a:picLocks noChangeAspect="1"/>
          </p:cNvPicPr>
          <p:nvPr/>
        </p:nvPicPr>
        <p:blipFill rotWithShape="1">
          <a:blip r:embed="rId2" cstate="print"/>
          <a:srcRect t="33438" b="33438"/>
          <a:stretch>
            <a:fillRect/>
          </a:stretch>
        </p:blipFill>
        <p:spPr>
          <a:xfrm>
            <a:off x="216310" y="6534608"/>
            <a:ext cx="1320743" cy="333435"/>
          </a:xfrm>
          <a:prstGeom prst="rect">
            <a:avLst/>
          </a:prstGeom>
        </p:spPr>
      </p:pic>
      <p:sp>
        <p:nvSpPr>
          <p:cNvPr id="3" name="文本框 2"/>
          <p:cNvSpPr txBox="1"/>
          <p:nvPr/>
        </p:nvSpPr>
        <p:spPr>
          <a:xfrm>
            <a:off x="770255" y="2896235"/>
            <a:ext cx="7280275" cy="337185"/>
          </a:xfrm>
          <a:prstGeom prst="rect">
            <a:avLst/>
          </a:prstGeom>
          <a:noFill/>
        </p:spPr>
        <p:txBody>
          <a:bodyPr wrap="square" rtlCol="0">
            <a:spAutoFit/>
          </a:bodyPr>
          <a:p>
            <a:r>
              <a:rPr lang="en-US" altLang="zh-CN" sz="1600">
                <a:latin typeface="微软雅黑" panose="020B0503020204020204" charset="-122"/>
                <a:ea typeface="微软雅黑" panose="020B0503020204020204" charset="-122"/>
              </a:rPr>
              <a:t>暂无应用情况描述</a:t>
            </a:r>
            <a:endParaRPr lang="en-US" altLang="zh-CN" sz="1600">
              <a:latin typeface="微软雅黑" panose="020B0503020204020204" charset="-122"/>
              <a:ea typeface="微软雅黑" panose="020B0503020204020204" charset="-122"/>
            </a:endParaRPr>
          </a:p>
        </p:txBody>
      </p:sp>
      <p:sp>
        <p:nvSpPr>
          <p:cNvPr id="5" name="矩形 4"/>
          <p:cNvSpPr/>
          <p:nvPr/>
        </p:nvSpPr>
        <p:spPr>
          <a:xfrm>
            <a:off x="0" y="44624"/>
            <a:ext cx="12191612" cy="645160"/>
          </a:xfrm>
          <a:prstGeom prst="rect">
            <a:avLst/>
          </a:prstGeom>
        </p:spPr>
        <p:txBody>
          <a:bodyPr wrap="square">
            <a:spAutoFit/>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3600" b="1" i="0" u="none" strike="noStrike" kern="1200" cap="none" spc="0" normalizeH="0" baseline="0" noProof="0" dirty="0">
              <a:ln>
                <a:noFill/>
              </a:ln>
              <a:solidFill>
                <a:srgbClr val="C00000"/>
              </a:solidFill>
              <a:effectLst/>
              <a:uLnTx/>
              <a:uFillTx/>
              <a:latin typeface="微软雅黑" panose="020B0503020204020204" charset="-122"/>
              <a:ea typeface="微软雅黑" panose="020B0503020204020204" charset="-122"/>
              <a:cs typeface="+mn-cs"/>
              <a:sym typeface="+mn-ea"/>
            </a:endParaRPr>
          </a:p>
        </p:txBody>
      </p:sp>
      <p:sp>
        <p:nvSpPr>
          <p:cNvPr id="6" name="文本框 5"/>
          <p:cNvSpPr txBox="1"/>
          <p:nvPr/>
        </p:nvSpPr>
        <p:spPr>
          <a:xfrm>
            <a:off x="0" y="933656"/>
            <a:ext cx="6629477" cy="540000"/>
          </a:xfrm>
          <a:prstGeom prst="rect">
            <a:avLst/>
          </a:prstGeom>
          <a:solidFill>
            <a:srgbClr val="004698"/>
          </a:solidFill>
        </p:spPr>
        <p:txBody>
          <a:bodyPr wrap="square" rtlCol="0" anchor="ctr" anchorCtr="0">
            <a:noAutofit/>
          </a:bodyPr>
          <a:lstStyle>
            <a:defPPr>
              <a:defRPr lang="zh-CN"/>
            </a:defPPr>
            <a:lvl1pPr>
              <a:lnSpc>
                <a:spcPct val="100000"/>
              </a:lnSpc>
              <a:defRPr sz="2400" b="1">
                <a:solidFill>
                  <a:srgbClr val="FFFF00"/>
                </a:solidFill>
                <a:latin typeface="微软雅黑" panose="020B0503020204020204" charset="-122"/>
                <a:ea typeface="微软雅黑" panose="020B0503020204020204" charset="-122"/>
              </a:defRPr>
            </a:lvl1pPr>
          </a:lstStyle>
          <a:p>
            <a:r>
              <a:rPr lang="en-US" dirty="0"/>
              <a:t>船舶防碰装置</a:t>
            </a:r>
            <a:endParaRPr lang="en-US" dirty="0"/>
          </a:p>
        </p:txBody>
      </p:sp>
      <p:sp>
        <p:nvSpPr>
          <p:cNvPr id="11" name="矩形: 圆角 2"/>
          <p:cNvSpPr/>
          <p:nvPr/>
        </p:nvSpPr>
        <p:spPr>
          <a:xfrm>
            <a:off x="591807" y="1671968"/>
            <a:ext cx="11008385" cy="4791118"/>
          </a:xfrm>
          <a:prstGeom prst="roundRect">
            <a:avLst>
              <a:gd name="adj" fmla="val 0"/>
            </a:avLst>
          </a:prstGeom>
          <a:no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b="1"/>
          </a:p>
        </p:txBody>
      </p:sp>
      <p:sp>
        <p:nvSpPr>
          <p:cNvPr id="78" name="矩形: 圆角 3"/>
          <p:cNvSpPr/>
          <p:nvPr/>
        </p:nvSpPr>
        <p:spPr>
          <a:xfrm>
            <a:off x="314960" y="1508760"/>
            <a:ext cx="3707130" cy="431800"/>
          </a:xfrm>
          <a:prstGeom prst="roundRect">
            <a:avLst>
              <a:gd name="adj" fmla="val 0"/>
            </a:avLst>
          </a:prstGeom>
          <a:solidFill>
            <a:srgbClr val="004698"/>
          </a:solidFill>
          <a:ln>
            <a:solidFill>
              <a:srgbClr val="004698"/>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altLang="zh-CN" sz="2000" b="1" dirty="0">
                <a:solidFill>
                  <a:schemeClr val="bg1"/>
                </a:solidFill>
                <a:latin typeface="微软雅黑" panose="020B0503020204020204" charset="-122"/>
                <a:ea typeface="微软雅黑" panose="020B0503020204020204" charset="-122"/>
              </a:rPr>
              <a:t>应用场景</a:t>
            </a:r>
            <a:endParaRPr lang="en-US" altLang="zh-CN" sz="2000" b="1" dirty="0">
              <a:solidFill>
                <a:schemeClr val="bg1"/>
              </a:solidFill>
              <a:latin typeface="微软雅黑" panose="020B0503020204020204" charset="-122"/>
              <a:ea typeface="微软雅黑" panose="020B0503020204020204" charset="-122"/>
            </a:endParaRPr>
          </a:p>
          <a:p>
            <a:pPr algn="ctr"/>
            <a:endParaRPr lang="en-US" altLang="zh-CN" sz="2000" b="1" dirty="0">
              <a:solidFill>
                <a:schemeClr val="bg1"/>
              </a:solidFill>
              <a:latin typeface="微软雅黑" panose="020B0503020204020204" charset="-122"/>
              <a:ea typeface="微软雅黑" panose="020B0503020204020204" charset="-122"/>
            </a:endParaRPr>
          </a:p>
        </p:txBody>
      </p:sp>
      <p:sp>
        <p:nvSpPr>
          <p:cNvPr id="2" name="文本框 1"/>
          <p:cNvSpPr txBox="1"/>
          <p:nvPr/>
        </p:nvSpPr>
        <p:spPr>
          <a:xfrm>
            <a:off x="1282700" y="44450"/>
            <a:ext cx="9507855" cy="645160"/>
          </a:xfrm>
          <a:prstGeom prst="rect">
            <a:avLst/>
          </a:prstGeom>
          <a:noFill/>
        </p:spPr>
        <p:txBody>
          <a:bodyPr wrap="square" rtlCol="0" anchor="t">
            <a:spAutoFit/>
          </a:bodyPr>
          <a:p>
            <a:pPr marL="0" marR="0" lvl="0" indent="0" algn="ctr" defTabSz="914400" rtl="0" eaLnBrk="1" fontAlgn="base" latinLnBrk="0" hangingPunct="1">
              <a:lnSpc>
                <a:spcPct val="100000"/>
              </a:lnSpc>
              <a:spcBef>
                <a:spcPct val="0"/>
              </a:spcBef>
              <a:spcAft>
                <a:spcPct val="0"/>
              </a:spcAft>
              <a:buClrTx/>
              <a:buSzTx/>
              <a:buFontTx/>
              <a:buNone/>
              <a:defRPr/>
            </a:pPr>
            <a:r>
              <a:rPr lang="en-US" altLang="zh-CN" sz="3600" b="1" noProof="0" dirty="0">
                <a:ln>
                  <a:noFill/>
                </a:ln>
                <a:solidFill>
                  <a:srgbClr val="C00000"/>
                </a:solidFill>
                <a:effectLst/>
                <a:uLnTx/>
                <a:uFillTx/>
                <a:latin typeface="微软雅黑" panose="020B0503020204020204" charset="-122"/>
                <a:ea typeface="微软雅黑" panose="020B0503020204020204" charset="-122"/>
                <a:sym typeface="+mn-ea"/>
              </a:rPr>
              <a:t>技术类</a:t>
            </a:r>
            <a:endParaRPr lang="en-US" sz="3600" b="1" noProof="0" dirty="0">
              <a:ln>
                <a:noFill/>
              </a:ln>
              <a:solidFill>
                <a:srgbClr val="C00000"/>
              </a:solidFill>
              <a:effectLst/>
              <a:uLnTx/>
              <a:uFillTx/>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PLACING_PICTURE_USER_VIEWPORT" val="{&quot;height&quot;:6350.311811023622,&quot;width&quot;:19200}"/>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264</Words>
  <Application>WPS 演示</Application>
  <PresentationFormat>宽屏</PresentationFormat>
  <Paragraphs>27</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黑体</vt:lpstr>
      <vt:lpstr>Calibri</vt:lpstr>
      <vt:lpstr>Arial Unicode MS</vt:lpstr>
      <vt:lpstr>WPS</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10725</dc:creator>
  <cp:lastModifiedBy>lmyg</cp:lastModifiedBy>
  <cp:revision>12</cp:revision>
  <dcterms:created xsi:type="dcterms:W3CDTF">2023-08-09T12:44:00Z</dcterms:created>
  <dcterms:modified xsi:type="dcterms:W3CDTF">2026-03-30T14:52:13Z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1E3A4F3B5DB248D8B25F2F7F07DAE0DA_12</vt:lpwstr>
  </property>
</Properties>
</file>