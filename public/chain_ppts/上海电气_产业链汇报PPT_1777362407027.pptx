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  <p:sldId id="321" r:id="rId74"/>
    <p:sldId id="322" r:id="rId75"/>
    <p:sldId id="323" r:id="rId76"/>
    <p:sldId id="324" r:id="rId77"/>
    <p:sldId id="325" r:id="rId7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GM" initials="F" lastIdx="0" clrIdx="0"/>
  <p:cmAuthor id="2" name="47162" initials="4" lastIdx="0" clrIdx="1"/>
  <p:cmAuthor id="3" name="郭 力行" initials="郭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Relationship Id="rId53" Type="http://schemas.openxmlformats.org/officeDocument/2006/relationships/slide" Target="slides/slide45.xml"/><Relationship Id="rId54" Type="http://schemas.openxmlformats.org/officeDocument/2006/relationships/slide" Target="slides/slide46.xml"/><Relationship Id="rId55" Type="http://schemas.openxmlformats.org/officeDocument/2006/relationships/slide" Target="slides/slide47.xml"/><Relationship Id="rId56" Type="http://schemas.openxmlformats.org/officeDocument/2006/relationships/slide" Target="slides/slide48.xml"/><Relationship Id="rId57" Type="http://schemas.openxmlformats.org/officeDocument/2006/relationships/slide" Target="slides/slide49.xml"/><Relationship Id="rId58" Type="http://schemas.openxmlformats.org/officeDocument/2006/relationships/slide" Target="slides/slide50.xml"/><Relationship Id="rId59" Type="http://schemas.openxmlformats.org/officeDocument/2006/relationships/slide" Target="slides/slide51.xml"/><Relationship Id="rId60" Type="http://schemas.openxmlformats.org/officeDocument/2006/relationships/slide" Target="slides/slide52.xml"/><Relationship Id="rId61" Type="http://schemas.openxmlformats.org/officeDocument/2006/relationships/slide" Target="slides/slide53.xml"/><Relationship Id="rId62" Type="http://schemas.openxmlformats.org/officeDocument/2006/relationships/slide" Target="slides/slide54.xml"/><Relationship Id="rId63" Type="http://schemas.openxmlformats.org/officeDocument/2006/relationships/slide" Target="slides/slide55.xml"/><Relationship Id="rId64" Type="http://schemas.openxmlformats.org/officeDocument/2006/relationships/slide" Target="slides/slide56.xml"/><Relationship Id="rId65" Type="http://schemas.openxmlformats.org/officeDocument/2006/relationships/slide" Target="slides/slide57.xml"/><Relationship Id="rId66" Type="http://schemas.openxmlformats.org/officeDocument/2006/relationships/slide" Target="slides/slide58.xml"/><Relationship Id="rId67" Type="http://schemas.openxmlformats.org/officeDocument/2006/relationships/slide" Target="slides/slide59.xml"/><Relationship Id="rId68" Type="http://schemas.openxmlformats.org/officeDocument/2006/relationships/slide" Target="slides/slide60.xml"/><Relationship Id="rId69" Type="http://schemas.openxmlformats.org/officeDocument/2006/relationships/slide" Target="slides/slide61.xml"/><Relationship Id="rId70" Type="http://schemas.openxmlformats.org/officeDocument/2006/relationships/slide" Target="slides/slide62.xml"/><Relationship Id="rId71" Type="http://schemas.openxmlformats.org/officeDocument/2006/relationships/slide" Target="slides/slide63.xml"/><Relationship Id="rId72" Type="http://schemas.openxmlformats.org/officeDocument/2006/relationships/slide" Target="slides/slide64.xml"/><Relationship Id="rId73" Type="http://schemas.openxmlformats.org/officeDocument/2006/relationships/slide" Target="slides/slide65.xml"/><Relationship Id="rId74" Type="http://schemas.openxmlformats.org/officeDocument/2006/relationships/slide" Target="slides/slide66.xml"/><Relationship Id="rId75" Type="http://schemas.openxmlformats.org/officeDocument/2006/relationships/slide" Target="slides/slide67.xml"/><Relationship Id="rId76" Type="http://schemas.openxmlformats.org/officeDocument/2006/relationships/slide" Target="slides/slide68.xml"/><Relationship Id="rId77" Type="http://schemas.openxmlformats.org/officeDocument/2006/relationships/slide" Target="slides/slide69.xml"/><Relationship Id="rId78" Type="http://schemas.openxmlformats.org/officeDocument/2006/relationships/slide" Target="slides/slide7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9850" y="746125"/>
            <a:ext cx="6624638" cy="372745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尊敬的各位专家，大家上午好！下面由我汇报：。。。</a:t>
            </a: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56"/>
          <a:stretch>
            <a:fillRect/>
          </a:stretch>
        </p:blipFill>
        <p:spPr>
          <a:xfrm>
            <a:off x="0" y="2780030"/>
            <a:ext cx="12192000" cy="374534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188640"/>
            <a:ext cx="2804094" cy="589911"/>
          </a:xfrm>
          <a:prstGeom prst="rect">
            <a:avLst/>
          </a:prstGeom>
        </p:spPr>
      </p:pic>
      <p:sp>
        <p:nvSpPr>
          <p:cNvPr id="8" name="Rectangle 4"/>
          <p:cNvSpPr txBox="1">
            <a:spLocks noChangeArrowheads="1"/>
          </p:cNvSpPr>
          <p:nvPr/>
        </p:nvSpPr>
        <p:spPr bwMode="auto">
          <a:xfrm>
            <a:off x="824865" y="3100666"/>
            <a:ext cx="10535920" cy="11576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1" rIns="91440" bIns="45721" numCol="1" anchor="ctr" anchorCtr="0" compatLnSpc="1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latin typeface="+mn-lt"/>
                <a:ea typeface="仿宋_GB2312" panose="02010609030101010101" pitchFamily="1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latin typeface="+mn-lt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latin typeface="+mn-lt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latin typeface="+mn-lt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9pPr>
          </a:lstStyle>
          <a:p>
            <a:pPr defTabSz="914400">
              <a:lnSpc>
                <a:spcPts val="2400"/>
              </a:lnSpc>
            </a:pPr>
            <a:r>
              <a:rPr lang="zh-CN" altLang="en-US" sz="2400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汇报人：</a:t>
            </a:r>
            <a:endParaRPr lang="zh-CN" altLang="en-US" sz="2400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2026年4月28日</a:t>
            </a:r>
            <a:endParaRPr lang="en-US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1180" y="1380736"/>
            <a:ext cx="11085830" cy="1445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上海电气</a:t>
            </a: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科技服务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ctr">
              <a:lnSpc>
                <a:spcPct val="110000"/>
              </a:lnSpc>
            </a:pP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武汉理工大学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0" y="6524566"/>
            <a:ext cx="12192000" cy="333434"/>
          </a:xfrm>
          <a:prstGeom prst="rect">
            <a:avLst/>
          </a:prstGeom>
          <a:solidFill>
            <a:srgbClr val="0047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10" name="矩形 9"/>
          <p:cNvSpPr/>
          <p:nvPr userDrawn="1"/>
        </p:nvSpPr>
        <p:spPr>
          <a:xfrm>
            <a:off x="1" y="6524566"/>
            <a:ext cx="1753364" cy="333434"/>
          </a:xfrm>
          <a:prstGeom prst="rect">
            <a:avLst/>
          </a:prstGeom>
          <a:solidFill>
            <a:srgbClr val="FBC5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46" y="6566672"/>
            <a:ext cx="1458073" cy="249227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49"/>
    </mc:Choice>
    <mc:Fallback>
      <p:transition spd="slow" advTm="964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" name="Text Box 12"/>
          <p:cNvSpPr txBox="1">
            <a:spLocks noChangeArrowheads="1"/>
          </p:cNvSpPr>
          <p:nvPr/>
        </p:nvSpPr>
        <p:spPr bwMode="auto">
          <a:xfrm>
            <a:off x="-24680" y="332656"/>
            <a:ext cx="12192000" cy="8330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103837" tIns="51919" rIns="103837" bIns="51919">
            <a:spAutoFit/>
          </a:bodyPr>
          <a:lstStyle/>
          <a:p>
            <a:pPr algn="ctr" eaLnBrk="0" hangingPunct="0">
              <a:lnSpc>
                <a:spcPct val="105000"/>
              </a:lnSpc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4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 报 内 容</a:t>
            </a:r>
            <a:endParaRPr lang="zh-CN" altLang="en-US" sz="4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AutoShap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58190" y="1627505"/>
            <a:ext cx="10700385" cy="2771140"/>
          </a:xfrm>
          <a:prstGeom prst="roundRect">
            <a:avLst>
              <a:gd name="adj" fmla="val 7477"/>
            </a:avLst>
          </a:prstGeom>
          <a:solidFill>
            <a:srgbClr val="FFFFFF"/>
          </a:solidFill>
          <a:ln w="19050">
            <a:solidFill>
              <a:srgbClr val="00469A"/>
            </a:solidFill>
            <a:prstDash val="sysDash"/>
            <a:round/>
          </a:ln>
        </p:spPr>
        <p:txBody>
          <a:bodyPr wrap="none" lIns="103837" tIns="51919" rIns="103837" bIns="51919" anchor="ctr"/>
          <a:lstStyle/>
          <a:p>
            <a:pPr indent="444500" algn="r">
              <a:lnSpc>
                <a:spcPct val="120000"/>
              </a:lnSpc>
              <a:spcAft>
                <a:spcPct val="30000"/>
              </a:spcAft>
            </a:pPr>
            <a:endParaRPr lang="zh-CN" altLang="en-US" sz="2800" dirty="0">
              <a:solidFill>
                <a:srgbClr val="CC0000"/>
              </a:solidFill>
              <a:ea typeface="黑体" panose="02010609060101010101" pitchFamily="49" charset="-122"/>
            </a:endParaRPr>
          </a:p>
        </p:txBody>
      </p:sp>
      <p:grpSp>
        <p:nvGrpSpPr>
          <p:cNvPr id="4" name="组合 3"/>
          <p:cNvGrpSpPr/>
          <p:nvPr>
            <p:custDataLst>
              <p:tags r:id="rId2"/>
            </p:custDataLst>
          </p:nvPr>
        </p:nvGrpSpPr>
        <p:grpSpPr>
          <a:xfrm>
            <a:off x="1462405" y="2059940"/>
            <a:ext cx="9746161" cy="791845"/>
            <a:chOff x="1919535" y="1391211"/>
            <a:chExt cx="9362817" cy="792089"/>
          </a:xfrm>
        </p:grpSpPr>
        <p:sp>
          <p:nvSpPr>
            <p:cNvPr id="21" name="矩形 20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1924297" y="1391212"/>
              <a:ext cx="1209675" cy="792088"/>
            </a:xfrm>
            <a:prstGeom prst="rect">
              <a:avLst/>
            </a:prstGeom>
            <a:solidFill>
              <a:srgbClr val="FFD966"/>
            </a:solidFill>
            <a:ln>
              <a:noFill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  <a:defRPr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22" name="矩形 1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3200852" y="1391211"/>
              <a:ext cx="8081500" cy="792088"/>
            </a:xfrm>
            <a:prstGeom prst="rect">
              <a:avLst/>
            </a:prstGeom>
            <a:solidFill>
              <a:srgbClr val="00469A"/>
            </a:solidFill>
            <a:ln w="9525">
              <a:solidFill>
                <a:schemeClr val="accent1"/>
              </a:solidFill>
              <a:miter lim="800000"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23" name="_14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1919535" y="1565596"/>
              <a:ext cx="1209675" cy="4953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 algn="ctr"/>
              <a:r>
                <a:rPr lang="en-US" altLang="zh-CN" sz="3600" dirty="0">
                  <a:solidFill>
                    <a:srgbClr val="00469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en-US" altLang="zh-CN" sz="3600" dirty="0">
                <a:solidFill>
                  <a:srgbClr val="00469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文本框 24"/>
            <p:cNvSpPr txBox="1"/>
            <p:nvPr>
              <p:custDataLst>
                <p:tags r:id="rId6"/>
              </p:custDataLst>
            </p:nvPr>
          </p:nvSpPr>
          <p:spPr>
            <a:xfrm>
              <a:off x="2860604" y="1465891"/>
              <a:ext cx="6661398" cy="6453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60045" algn="l">
                <a:defRPr/>
              </a:pPr>
              <a:r>
                <a:rPr lang="zh-CN" altLang="en-US" sz="3600" b="1" spc="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方法类成果</a:t>
              </a:r>
              <a:endParaRPr lang="zh-CN" altLang="en-US" sz="36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7" name="组合 36"/>
          <p:cNvGrpSpPr/>
          <p:nvPr>
            <p:custDataLst>
              <p:tags r:id="rId7"/>
            </p:custDataLst>
          </p:nvPr>
        </p:nvGrpSpPr>
        <p:grpSpPr>
          <a:xfrm>
            <a:off x="1462405" y="3140075"/>
            <a:ext cx="9746162" cy="791845"/>
            <a:chOff x="1919535" y="1391211"/>
            <a:chExt cx="9362820" cy="792089"/>
          </a:xfrm>
        </p:grpSpPr>
        <p:sp>
          <p:nvSpPr>
            <p:cNvPr id="38" name="矩形 37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1924297" y="1391212"/>
              <a:ext cx="1209675" cy="792088"/>
            </a:xfrm>
            <a:prstGeom prst="rect">
              <a:avLst/>
            </a:prstGeom>
            <a:solidFill>
              <a:srgbClr val="FFD966"/>
            </a:solidFill>
            <a:ln>
              <a:noFill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  <a:defRPr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39" name="矩形 13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3200853" y="1391211"/>
              <a:ext cx="8081502" cy="792088"/>
            </a:xfrm>
            <a:prstGeom prst="rect">
              <a:avLst/>
            </a:prstGeom>
            <a:solidFill>
              <a:srgbClr val="00469A"/>
            </a:solidFill>
            <a:ln w="9525">
              <a:solidFill>
                <a:schemeClr val="accent1"/>
              </a:solidFill>
              <a:miter lim="800000"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</a:pPr>
              <a:endParaRPr lang="zh-CN" altLang="en-US" dirty="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41" name="_14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1919535" y="1546540"/>
              <a:ext cx="1209675" cy="4953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 algn="ctr"/>
              <a:r>
                <a:rPr lang="en-US" altLang="zh-CN" sz="3600" dirty="0">
                  <a:solidFill>
                    <a:srgbClr val="00469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en-US" altLang="zh-CN" sz="3600" dirty="0">
                <a:solidFill>
                  <a:srgbClr val="00469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文本框 47"/>
            <p:cNvSpPr txBox="1"/>
            <p:nvPr>
              <p:custDataLst>
                <p:tags r:id="rId11"/>
              </p:custDataLst>
            </p:nvPr>
          </p:nvSpPr>
          <p:spPr>
            <a:xfrm>
              <a:off x="2860604" y="1448850"/>
              <a:ext cx="7855310" cy="6453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60045" algn="l">
                <a:defRPr/>
              </a:pPr>
              <a:r>
                <a:rPr lang="zh-CN" altLang="en-US" sz="3600" b="1" spc="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技术类成果</a:t>
              </a:r>
              <a:endParaRPr lang="zh-CN" altLang="en-US" sz="36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13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3"/>
          <p:cNvGrpSpPr/>
          <p:nvPr/>
        </p:nvGrpSpPr>
        <p:grpSpPr>
          <a:xfrm>
            <a:off x="0" y="2060862"/>
            <a:ext cx="12192000" cy="1800225"/>
            <a:chOff x="816" y="2304"/>
            <a:chExt cx="1440" cy="448"/>
          </a:xfrm>
        </p:grpSpPr>
        <p:sp>
          <p:nvSpPr>
            <p:cNvPr id="6148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0277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0469A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dist">
                <a:defRPr/>
              </a:pPr>
              <a:endPara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96" name="矩形 1"/>
          <p:cNvSpPr>
            <a:spLocks noChangeArrowheads="1"/>
          </p:cNvSpPr>
          <p:nvPr/>
        </p:nvSpPr>
        <p:spPr bwMode="auto">
          <a:xfrm>
            <a:off x="30155" y="2434972"/>
            <a:ext cx="12192000" cy="156718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91420" tIns="45718" rIns="91420" bIns="45718">
            <a:spAutoFit/>
          </a:bodyPr>
          <a:lstStyle/>
          <a:p>
            <a:pPr marL="446405" indent="-446405" algn="ctr">
              <a:defRPr/>
            </a:pP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、方法类</a:t>
            </a: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405" indent="-446405" algn="ctr">
              <a:defRPr/>
            </a:pPr>
            <a:endParaRPr lang="zh-CN" altLang="en-US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9860"/>
            <a:ext cx="274320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一种基于事件触发方案和T-S模糊系统的欠驱动无人艇控制方法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一种基于事件触发方案和T-S模糊系统的欠驱动无人艇控制方法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一种基于事件触发方案和T-S模糊系统的欠驱动无人艇控制方法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DoS攻击下基于切换T-S模糊系统的无人船艇控制方法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DoS攻击下基于切换T-S模糊系统的无人船艇控制方法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DoS攻击下基于切换T-S模糊系统的无人船艇控制方法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一种无人船辅助靠离泊及充电方法、装置及系统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一种无人船辅助靠离泊及充电方法、装置及系统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一种无人船辅助靠离泊及充电方法、装置及系统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一种用于群水面无人艇的自主避碰系统及方法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一种用于群水面无人艇的自主避碰系统及方法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一种用于群水面无人艇的自主避碰系统及方法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3"/>
          <p:cNvGrpSpPr/>
          <p:nvPr/>
        </p:nvGrpSpPr>
        <p:grpSpPr>
          <a:xfrm>
            <a:off x="0" y="2060862"/>
            <a:ext cx="12192000" cy="1800225"/>
            <a:chOff x="816" y="2304"/>
            <a:chExt cx="1440" cy="448"/>
          </a:xfrm>
        </p:grpSpPr>
        <p:sp>
          <p:nvSpPr>
            <p:cNvPr id="6148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0277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0469A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dist">
                <a:defRPr/>
              </a:pPr>
              <a:endPara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96" name="矩形 1"/>
          <p:cNvSpPr>
            <a:spLocks noChangeArrowheads="1"/>
          </p:cNvSpPr>
          <p:nvPr/>
        </p:nvSpPr>
        <p:spPr bwMode="auto">
          <a:xfrm>
            <a:off x="30155" y="2434972"/>
            <a:ext cx="12192000" cy="156718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91420" tIns="45718" rIns="91420" bIns="45718">
            <a:spAutoFit/>
          </a:bodyPr>
          <a:lstStyle/>
          <a:p>
            <a:pPr marL="446405" indent="-446405" algn="ctr">
              <a:defRPr/>
            </a:pP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、技术类</a:t>
            </a: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405" indent="-446405" algn="ctr">
              <a:defRPr/>
            </a:pPr>
            <a:endParaRPr lang="zh-CN" altLang="en-US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9860"/>
            <a:ext cx="274320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一种用于内河客船防沉的机械装置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一种用于内河客船防沉的机械装置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一种用于内河客船防沉的机械装置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多功能履带式高效水翼登陆艇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多功能履带式高效水翼登陆艇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多功能履带式高效水翼登陆艇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一种便于收展的风帆助航张合结构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一种便于收展的风帆助航张合结构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一种便于收展的风帆助航张合结构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一种自动保护式风帆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一种自动保护式风帆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一种自动保护式风帆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一种船用风力压差增速发电设备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一种船用风力压差增速发电设备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一种船用风力压差增速发电设备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6350.311811023622,&quot;width&quot;:19200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