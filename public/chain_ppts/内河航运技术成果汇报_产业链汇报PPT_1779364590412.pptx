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0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2026年5月21日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内河航运技术成果汇报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6524566"/>
            <a:ext cx="12192000" cy="333434"/>
          </a:xfrm>
          <a:prstGeom prst="rect">
            <a:avLst/>
          </a:prstGeom>
          <a:solidFill>
            <a:srgbClr val="0047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" name="矩形 9"/>
          <p:cNvSpPr/>
          <p:nvPr userDrawn="1"/>
        </p:nvSpPr>
        <p:spPr>
          <a:xfrm>
            <a:off x="1" y="6524566"/>
            <a:ext cx="1753364" cy="333434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6" y="6566672"/>
            <a:ext cx="1458073" cy="2492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27432" y="329184"/>
            <a:ext cx="1220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 报 内 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58952" y="1627632"/>
            <a:ext cx="10698480" cy="2770632"/>
          </a:xfrm>
          <a:prstGeom prst="roundRect">
            <a:avLst>
              <a:gd name="adj" fmla="val 2640"/>
            </a:avLst>
          </a:prstGeom>
          <a:solidFill>
            <a:srgbClr val="FFFFFF"/>
          </a:solidFill>
          <a:ln w="12700">
            <a:solidFill>
              <a:srgbClr val="00469A"/>
            </a:solidFill>
            <a:prstDash val="sysDash"/>
          </a:ln>
        </p:spPr>
      </p:sp>
      <p:sp>
        <p:nvSpPr>
          <p:cNvPr id="4" name="Shape 2"/>
          <p:cNvSpPr/>
          <p:nvPr/>
        </p:nvSpPr>
        <p:spPr>
          <a:xfrm>
            <a:off x="1920240" y="1993392"/>
            <a:ext cx="1207008" cy="566928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1993392"/>
            <a:ext cx="8083296" cy="566928"/>
          </a:xfrm>
          <a:prstGeom prst="rect">
            <a:avLst/>
          </a:prstGeom>
          <a:solidFill>
            <a:srgbClr val="00469A"/>
          </a:solidFill>
          <a:ln w="12700">
            <a:solidFill>
              <a:srgbClr val="0046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2002536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4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364992" y="2002536"/>
            <a:ext cx="7754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船舶与海洋工程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6556248"/>
            <a:ext cx="12188952" cy="329184"/>
          </a:xfrm>
          <a:prstGeom prst="rect">
            <a:avLst/>
          </a:prstGeom>
          <a:solidFill>
            <a:srgbClr val="0B5AA2"/>
          </a:solidFill>
          <a:ln w="12700">
            <a:solidFill>
              <a:srgbClr val="0B5AA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556248"/>
            <a:ext cx="1755648" cy="329184"/>
          </a:xfrm>
          <a:prstGeom prst="rect">
            <a:avLst/>
          </a:prstGeom>
          <a:solidFill>
            <a:srgbClr val="FBC540"/>
          </a:solidFill>
          <a:ln w="12700">
            <a:solidFill>
              <a:srgbClr val="FBC54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、船舶与海洋工程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船闸设备故障预警和诊断系统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船闸设备故障预警和诊断系统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船闸设备故障预警和诊断系统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通航枢纽数字孪生智能调度技术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通航枢纽数字孪生智能调度技术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通航枢纽数字孪生智能调度技术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