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GM" initials="F" lastIdx="0" clrIdx="0"/>
  <p:cmAuthor id="2" name="47162" initials="4" lastIdx="0" clrIdx="1"/>
  <p:cmAuthor id="3" name="郭 力行" initials="郭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9850" y="746125"/>
            <a:ext cx="6624638" cy="372745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尊敬的各位专家，大家上午好！下面由我汇报：。。。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56"/>
          <a:stretch>
            <a:fillRect/>
          </a:stretch>
        </p:blipFill>
        <p:spPr>
          <a:xfrm>
            <a:off x="0" y="2780030"/>
            <a:ext cx="12192000" cy="374534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352" y="188640"/>
            <a:ext cx="2804094" cy="589911"/>
          </a:xfrm>
          <a:prstGeom prst="rect">
            <a:avLst/>
          </a:prstGeom>
        </p:spPr>
      </p:pic>
      <p:sp>
        <p:nvSpPr>
          <p:cNvPr id="8" name="Rectangle 4"/>
          <p:cNvSpPr txBox="1">
            <a:spLocks noChangeArrowheads="1"/>
          </p:cNvSpPr>
          <p:nvPr/>
        </p:nvSpPr>
        <p:spPr bwMode="auto">
          <a:xfrm>
            <a:off x="824865" y="3100666"/>
            <a:ext cx="10535920" cy="115760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1" rIns="91440" bIns="45721" numCol="1" anchor="ctr" anchorCtr="0" compatLnSpc="1"/>
          <a:lstStyle>
            <a:lvl1pPr marL="0" indent="0" algn="ctr">
              <a:buFontTx/>
              <a:buNone/>
              <a:defRPr sz="20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000">
                <a:latin typeface="+mn-lt"/>
                <a:ea typeface="仿宋_GB2312" panose="02010609030101010101" pitchFamily="1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latin typeface="+mn-lt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latin typeface="+mn-lt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latin typeface="+mn-lt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latin typeface="+mn-lt"/>
              </a:defRPr>
            </a:lvl9pPr>
          </a:lstStyle>
          <a:p>
            <a:pPr defTabSz="914400">
              <a:lnSpc>
                <a:spcPts val="2400"/>
              </a:lnSpc>
            </a:pPr>
            <a:r>
              <a:rPr lang="zh-CN" altLang="en-US" sz="2400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汇报人：</a:t>
            </a:r>
            <a:endParaRPr lang="zh-CN" altLang="en-US" sz="2400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kern="0" dirty="0">
                <a:solidFill>
                  <a:srgbClr val="00469A"/>
                </a:solidFill>
                <a:latin typeface="微软雅黑" panose="020B0503020204020204" charset="-122"/>
                <a:ea typeface="微软雅黑" panose="020B0503020204020204" charset="-122"/>
                <a:cs typeface="宋体" panose="02010600030101010101" pitchFamily="2" charset="-122"/>
              </a:rPr>
              <a:t>2026年5月20日</a:t>
            </a:r>
            <a:endParaRPr lang="en-US" kern="0" dirty="0">
              <a:solidFill>
                <a:srgbClr val="00469A"/>
              </a:solidFill>
              <a:latin typeface="微软雅黑" panose="020B0503020204020204" charset="-122"/>
              <a:ea typeface="微软雅黑" panose="020B0503020204020204" charset="-122"/>
              <a:cs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51180" y="1380736"/>
            <a:ext cx="11085830" cy="14452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en-US" altLang="zh-CN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智能体汇报</a:t>
            </a: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科技服务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>
              <a:lnSpc>
                <a:spcPct val="110000"/>
              </a:lnSpc>
            </a:pPr>
            <a:r>
              <a:rPr lang="zh-CN" altLang="en-US" sz="4000" b="1" spc="3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武汉理工大学</a:t>
            </a:r>
            <a:endParaRPr lang="zh-CN" altLang="en-US" sz="4000" b="1" spc="3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 userDrawn="1"/>
        </p:nvSpPr>
        <p:spPr>
          <a:xfrm>
            <a:off x="0" y="6524566"/>
            <a:ext cx="12192000" cy="333434"/>
          </a:xfrm>
          <a:prstGeom prst="rect">
            <a:avLst/>
          </a:prstGeom>
          <a:solidFill>
            <a:srgbClr val="00479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6524566"/>
            <a:ext cx="1753364" cy="333434"/>
          </a:xfrm>
          <a:prstGeom prst="rect">
            <a:avLst/>
          </a:prstGeom>
          <a:solidFill>
            <a:srgbClr val="FBC5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46" y="6566672"/>
            <a:ext cx="1458073" cy="2492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649"/>
    </mc:Choice>
    <mc:Fallback>
      <p:transition spd="slow" advTm="96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-24680" y="332656"/>
            <a:ext cx="12192000" cy="8330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103837" tIns="51919" rIns="103837" bIns="51919">
            <a:spAutoFit/>
          </a:bodyPr>
          <a:lstStyle/>
          <a:p>
            <a:pPr algn="ctr" eaLnBrk="0" hangingPunct="0">
              <a:lnSpc>
                <a:spcPct val="105000"/>
              </a:lnSpc>
              <a:spcBef>
                <a:spcPct val="50000"/>
              </a:spcBef>
              <a:buFont typeface="Arial" panose="020B0604020202020204" pitchFamily="34" charset="0"/>
              <a:buNone/>
            </a:pPr>
            <a:r>
              <a:rPr lang="zh-CN" altLang="en-US" sz="4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 报 内 容</a:t>
            </a:r>
            <a:endParaRPr lang="zh-CN" altLang="en-US" sz="4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AutoShape 4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758190" y="1627505"/>
            <a:ext cx="10700385" cy="2771140"/>
          </a:xfrm>
          <a:prstGeom prst="roundRect">
            <a:avLst>
              <a:gd name="adj" fmla="val 7477"/>
            </a:avLst>
          </a:prstGeom>
          <a:solidFill>
            <a:srgbClr val="FFFFFF"/>
          </a:solidFill>
          <a:ln w="19050">
            <a:solidFill>
              <a:srgbClr val="00469A"/>
            </a:solidFill>
            <a:prstDash val="sysDash"/>
            <a:round/>
          </a:ln>
        </p:spPr>
        <p:txBody>
          <a:bodyPr wrap="none" lIns="103837" tIns="51919" rIns="103837" bIns="51919" anchor="ctr"/>
          <a:lstStyle/>
          <a:p>
            <a:pPr indent="444500" algn="r">
              <a:lnSpc>
                <a:spcPct val="120000"/>
              </a:lnSpc>
              <a:spcAft>
                <a:spcPct val="30000"/>
              </a:spcAft>
            </a:pPr>
            <a:endParaRPr lang="zh-CN" altLang="en-US" sz="2800" dirty="0">
              <a:solidFill>
                <a:srgbClr val="CC0000"/>
              </a:solidFill>
              <a:ea typeface="黑体" panose="02010609060101010101" pitchFamily="49" charset="-122"/>
            </a:endParaRPr>
          </a:p>
        </p:txBody>
      </p:sp>
      <p:grpSp>
        <p:nvGrpSpPr>
          <p:cNvPr id="4" name="组合 3"/>
          <p:cNvGrpSpPr/>
          <p:nvPr>
            <p:custDataLst>
              <p:tags r:id="rId2"/>
            </p:custDataLst>
          </p:nvPr>
        </p:nvGrpSpPr>
        <p:grpSpPr>
          <a:xfrm>
            <a:off x="1462405" y="2059940"/>
            <a:ext cx="9746161" cy="791845"/>
            <a:chOff x="1919535" y="1391211"/>
            <a:chExt cx="9362817" cy="792089"/>
          </a:xfrm>
        </p:grpSpPr>
        <p:sp>
          <p:nvSpPr>
            <p:cNvPr id="21" name="矩形 20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2" name="矩形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3200852" y="1391211"/>
              <a:ext cx="8081500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23" name="_14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1919535" y="1565596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6"/>
              </p:custDataLst>
            </p:nvPr>
          </p:nvSpPr>
          <p:spPr>
            <a:xfrm>
              <a:off x="2860604" y="1465891"/>
              <a:ext cx="6661398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方法类成果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7"/>
            </p:custDataLst>
          </p:nvPr>
        </p:nvGrpSpPr>
        <p:grpSpPr>
          <a:xfrm>
            <a:off x="1462405" y="3140075"/>
            <a:ext cx="9746162" cy="791845"/>
            <a:chOff x="1919535" y="1391211"/>
            <a:chExt cx="9362820" cy="792089"/>
          </a:xfrm>
        </p:grpSpPr>
        <p:sp>
          <p:nvSpPr>
            <p:cNvPr id="38" name="矩形 37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1924297" y="1391212"/>
              <a:ext cx="1209675" cy="792088"/>
            </a:xfrm>
            <a:prstGeom prst="rect">
              <a:avLst/>
            </a:prstGeom>
            <a:solidFill>
              <a:srgbClr val="FFD966"/>
            </a:solidFill>
            <a:ln>
              <a:noFill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  <a:defRPr/>
              </a:pPr>
              <a:endParaRPr lang="zh-CN" altLang="en-US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39" name="矩形 13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3200853" y="1391211"/>
              <a:ext cx="8081502" cy="792088"/>
            </a:xfrm>
            <a:prstGeom prst="rect">
              <a:avLst/>
            </a:prstGeom>
            <a:solidFill>
              <a:srgbClr val="00469A"/>
            </a:solidFill>
            <a:ln w="9525">
              <a:solidFill>
                <a:schemeClr val="accent1"/>
              </a:solidFill>
              <a:miter lim="800000"/>
            </a:ln>
          </p:spPr>
          <p:txBody>
            <a:bodyPr anchor="ctr"/>
            <a:lstStyle/>
            <a:p>
              <a:pPr algn="ctr">
                <a:buFont typeface="Arial" panose="020B0604020202020204" pitchFamily="34" charset="0"/>
                <a:buNone/>
              </a:pPr>
              <a:endParaRPr lang="zh-CN" altLang="en-US" dirty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41" name="_14"/>
            <p:cNvSpPr txBox="1"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1919535" y="1546540"/>
              <a:ext cx="1209675" cy="495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/>
            <a:lstStyle/>
            <a:p>
              <a:pPr algn="ctr"/>
              <a:r>
                <a:rPr lang="en-US" altLang="zh-CN" sz="3600" dirty="0">
                  <a:solidFill>
                    <a:srgbClr val="00469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en-US" altLang="zh-CN" sz="3600" dirty="0">
                <a:solidFill>
                  <a:srgbClr val="00469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1"/>
              </p:custDataLst>
            </p:nvPr>
          </p:nvSpPr>
          <p:spPr>
            <a:xfrm>
              <a:off x="2860604" y="1448850"/>
              <a:ext cx="7855310" cy="64535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60045" algn="l">
                <a:defRPr/>
              </a:pPr>
              <a:r>
                <a:rPr lang="zh-CN" altLang="en-US" sz="3600" b="1" spc="2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技术类成果</a:t>
              </a:r>
              <a:endParaRPr lang="zh-CN" altLang="en-US" sz="3600" b="1" spc="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13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3"/>
          <p:cNvGrpSpPr/>
          <p:nvPr/>
        </p:nvGrpSpPr>
        <p:grpSpPr>
          <a:xfrm>
            <a:off x="0" y="2060862"/>
            <a:ext cx="12192000" cy="1800225"/>
            <a:chOff x="816" y="2304"/>
            <a:chExt cx="1440" cy="448"/>
          </a:xfrm>
        </p:grpSpPr>
        <p:sp>
          <p:nvSpPr>
            <p:cNvPr id="6148" name="Freeform 4"/>
            <p:cNvSpPr/>
            <p:nvPr/>
          </p:nvSpPr>
          <p:spPr>
            <a:xfrm>
              <a:off x="816" y="2562"/>
              <a:ext cx="1440" cy="190"/>
            </a:xfrm>
            <a:custGeom>
              <a:avLst/>
              <a:gdLst>
                <a:gd name="txL" fmla="*/ 0 w 1120"/>
                <a:gd name="txT" fmla="*/ 0 h 252"/>
                <a:gd name="txR" fmla="*/ 1120 w 1120"/>
                <a:gd name="txB" fmla="*/ 252 h 252"/>
              </a:gdLst>
              <a:ahLst/>
              <a:cxnLst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0" y="2"/>
                </a:cxn>
                <a:cxn ang="0">
                  <a:pos x="0" y="2"/>
                </a:cxn>
                <a:cxn ang="0">
                  <a:pos x="2147483647" y="0"/>
                </a:cxn>
                <a:cxn ang="0">
                  <a:pos x="2147483647" y="2"/>
                </a:cxn>
                <a:cxn ang="0">
                  <a:pos x="2147483647" y="2"/>
                </a:cxn>
                <a:cxn ang="0">
                  <a:pos x="2147483647" y="2"/>
                </a:cxn>
              </a:cxnLst>
              <a:rect l="txL" t="txT" r="txR" b="txB"/>
              <a:pathLst>
                <a:path w="1120" h="252">
                  <a:moveTo>
                    <a:pt x="1120" y="252"/>
                  </a:moveTo>
                  <a:lnTo>
                    <a:pt x="1116" y="250"/>
                  </a:lnTo>
                  <a:lnTo>
                    <a:pt x="1100" y="246"/>
                  </a:lnTo>
                  <a:lnTo>
                    <a:pt x="1074" y="240"/>
                  </a:lnTo>
                  <a:lnTo>
                    <a:pt x="1038" y="232"/>
                  </a:lnTo>
                  <a:lnTo>
                    <a:pt x="992" y="222"/>
                  </a:lnTo>
                  <a:lnTo>
                    <a:pt x="938" y="212"/>
                  </a:lnTo>
                  <a:lnTo>
                    <a:pt x="876" y="204"/>
                  </a:lnTo>
                  <a:lnTo>
                    <a:pt x="806" y="196"/>
                  </a:lnTo>
                  <a:lnTo>
                    <a:pt x="730" y="190"/>
                  </a:lnTo>
                  <a:lnTo>
                    <a:pt x="646" y="184"/>
                  </a:lnTo>
                  <a:lnTo>
                    <a:pt x="556" y="184"/>
                  </a:lnTo>
                  <a:lnTo>
                    <a:pt x="466" y="184"/>
                  </a:lnTo>
                  <a:lnTo>
                    <a:pt x="384" y="190"/>
                  </a:lnTo>
                  <a:lnTo>
                    <a:pt x="308" y="196"/>
                  </a:lnTo>
                  <a:lnTo>
                    <a:pt x="238" y="204"/>
                  </a:lnTo>
                  <a:lnTo>
                    <a:pt x="178" y="212"/>
                  </a:lnTo>
                  <a:lnTo>
                    <a:pt x="126" y="222"/>
                  </a:lnTo>
                  <a:lnTo>
                    <a:pt x="82" y="232"/>
                  </a:lnTo>
                  <a:lnTo>
                    <a:pt x="46" y="240"/>
                  </a:lnTo>
                  <a:lnTo>
                    <a:pt x="20" y="246"/>
                  </a:lnTo>
                  <a:lnTo>
                    <a:pt x="6" y="250"/>
                  </a:lnTo>
                  <a:lnTo>
                    <a:pt x="0" y="252"/>
                  </a:lnTo>
                  <a:lnTo>
                    <a:pt x="0" y="62"/>
                  </a:lnTo>
                  <a:lnTo>
                    <a:pt x="560" y="0"/>
                  </a:lnTo>
                  <a:lnTo>
                    <a:pt x="1120" y="62"/>
                  </a:lnTo>
                  <a:lnTo>
                    <a:pt x="1120" y="252"/>
                  </a:lnTo>
                  <a:close/>
                </a:path>
              </a:pathLst>
            </a:custGeom>
            <a:solidFill>
              <a:srgbClr val="969696">
                <a:alpha val="100000"/>
              </a:srgbClr>
            </a:solidFill>
            <a:ln w="0">
              <a:noFill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310277" name="Rectangle 5"/>
            <p:cNvSpPr>
              <a:spLocks noChangeArrowheads="1"/>
            </p:cNvSpPr>
            <p:nvPr/>
          </p:nvSpPr>
          <p:spPr bwMode="gray">
            <a:xfrm>
              <a:off x="816" y="2304"/>
              <a:ext cx="1440" cy="393"/>
            </a:xfrm>
            <a:prstGeom prst="rect">
              <a:avLst/>
            </a:prstGeom>
            <a:solidFill>
              <a:srgbClr val="00469A"/>
            </a:solidFill>
            <a:ln w="9525" algn="ctr">
              <a:noFill/>
              <a:miter lim="800000"/>
            </a:ln>
          </p:spPr>
          <p:txBody>
            <a:bodyPr wrap="none" anchor="ctr"/>
            <a:lstStyle/>
            <a:p>
              <a:pPr algn="dist">
                <a:defRPr/>
              </a:pPr>
              <a:endParaRPr lang="en-US" altLang="zh-CN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alibri" panose="020F050202020403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8196" name="矩形 1"/>
          <p:cNvSpPr>
            <a:spLocks noChangeArrowheads="1"/>
          </p:cNvSpPr>
          <p:nvPr/>
        </p:nvSpPr>
        <p:spPr bwMode="auto">
          <a:xfrm>
            <a:off x="30155" y="2434972"/>
            <a:ext cx="12192000" cy="1567180"/>
          </a:xfrm>
          <a:prstGeom prst="rect">
            <a:avLst/>
          </a:prstGeom>
          <a:noFill/>
          <a:ln w="9525" algn="ctr">
            <a:noFill/>
            <a:miter lim="800000"/>
          </a:ln>
        </p:spPr>
        <p:txBody>
          <a:bodyPr wrap="square" lIns="91420" tIns="45718" rIns="91420" bIns="45718">
            <a:spAutoFit/>
          </a:bodyPr>
          <a:lstStyle/>
          <a:p>
            <a:pPr marL="446405" indent="-446405" algn="ctr">
              <a:defRPr/>
            </a:pP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、技术类</a:t>
            </a:r>
            <a:r>
              <a:rPr lang="en-US" altLang="zh-CN" sz="48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/>
            </a:r>
            <a:endParaRPr lang="en-US" altLang="zh-CN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46405" indent="-446405" algn="ctr">
              <a:defRPr/>
            </a:pPr>
            <a:endParaRPr lang="zh-CN" altLang="en-US" sz="4800" b="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294967295"/>
          </p:nvPr>
        </p:nvSpPr>
        <p:spPr>
          <a:xfrm>
            <a:off x="8610600" y="6499860"/>
            <a:ext cx="2743200" cy="365125"/>
          </a:xfrm>
        </p:spPr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smtClean="0"/>
            </a:fld>
            <a:endParaRPr lang="zh-CN" altLang="en-US" dirty="0">
              <a:latin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结构安全诊断与病害检测技术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高陡边坡控制爆破与安全控制技术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船闸设备故障预警和诊断系统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大坝三维数字化探测技术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工程废弃物就地资源化利用技术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混凝土纳米自清洁涂层技术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水运工程大体积混凝土控裂技术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通航枢纽数字孪生智能调度技术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船舶航道智慧消防技术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{technical_principle_title}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{technical_feature_title}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枢纽断航风险评估技术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{technical_application_title}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技术成果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6350.311811023622,&quot;width&quot;:19200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