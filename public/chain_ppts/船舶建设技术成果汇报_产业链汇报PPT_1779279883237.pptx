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GM" initials="F" lastIdx="0" clrIdx="0"/>
  <p:cmAuthor id="2" name="47162" initials="4" lastIdx="0" clrIdx="1"/>
  <p:cmAuthor id="3" name="郭 力行" initials="郭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9850" y="746125"/>
            <a:ext cx="6624638" cy="372745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尊敬的各位专家，大家上午好！下面由我汇报：。。。</a:t>
            </a:r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856"/>
          <a:stretch>
            <a:fillRect/>
          </a:stretch>
        </p:blipFill>
        <p:spPr>
          <a:xfrm>
            <a:off x="0" y="2780030"/>
            <a:ext cx="12192000" cy="3745344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352" y="188640"/>
            <a:ext cx="2804094" cy="589911"/>
          </a:xfrm>
          <a:prstGeom prst="rect">
            <a:avLst/>
          </a:prstGeom>
        </p:spPr>
      </p:pic>
      <p:sp>
        <p:nvSpPr>
          <p:cNvPr id="8" name="Rectangle 4"/>
          <p:cNvSpPr txBox="1">
            <a:spLocks noChangeArrowheads="1"/>
          </p:cNvSpPr>
          <p:nvPr/>
        </p:nvSpPr>
        <p:spPr bwMode="auto">
          <a:xfrm>
            <a:off x="824865" y="3100666"/>
            <a:ext cx="10535920" cy="11576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1" rIns="91440" bIns="45721" numCol="1" anchor="ctr" anchorCtr="0" compatLnSpc="1"/>
          <a:lstStyle>
            <a:lvl1pPr marL="0" indent="0" algn="ctr">
              <a:buFontTx/>
              <a:buNone/>
              <a:defRPr sz="20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>
                <a:latin typeface="+mn-lt"/>
                <a:ea typeface="仿宋_GB2312" panose="02010609030101010101" pitchFamily="1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latin typeface="+mn-lt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latin typeface="+mn-lt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latin typeface="+mn-lt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9pPr>
          </a:lstStyle>
          <a:p>
            <a:pPr defTabSz="914400">
              <a:lnSpc>
                <a:spcPts val="2400"/>
              </a:lnSpc>
            </a:pPr>
            <a:r>
              <a:rPr lang="zh-CN" altLang="en-US" sz="2400" kern="0" dirty="0">
                <a:solidFill>
                  <a:srgbClr val="00469A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汇报人：</a:t>
            </a:r>
            <a:endParaRPr lang="zh-CN" altLang="en-US" sz="2400" kern="0" dirty="0">
              <a:solidFill>
                <a:srgbClr val="00469A"/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</a:endParaRPr>
          </a:p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kern="0" dirty="0">
                <a:solidFill>
                  <a:srgbClr val="00469A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2026年5月20日</a:t>
            </a:r>
            <a:endParaRPr lang="en-US" kern="0" dirty="0">
              <a:solidFill>
                <a:srgbClr val="00469A"/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51180" y="1380736"/>
            <a:ext cx="11085830" cy="1445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zh-CN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船舶建设技术成果汇报</a:t>
            </a:r>
            <a:r>
              <a:rPr lang="zh-CN" altLang="en-US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科技服务</a:t>
            </a:r>
            <a:endParaRPr lang="zh-CN" altLang="en-US" sz="4000" b="1" spc="3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algn="ctr">
              <a:lnSpc>
                <a:spcPct val="110000"/>
              </a:lnSpc>
            </a:pPr>
            <a:r>
              <a:rPr lang="zh-CN" altLang="en-US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武汉理工大学</a:t>
            </a:r>
            <a:endParaRPr lang="zh-CN" altLang="en-US" sz="4000" b="1" spc="3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0" y="6524566"/>
            <a:ext cx="12192000" cy="333434"/>
          </a:xfrm>
          <a:prstGeom prst="rect">
            <a:avLst/>
          </a:prstGeom>
          <a:solidFill>
            <a:srgbClr val="0047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10" name="矩形 9"/>
          <p:cNvSpPr/>
          <p:nvPr userDrawn="1"/>
        </p:nvSpPr>
        <p:spPr>
          <a:xfrm>
            <a:off x="1" y="6524566"/>
            <a:ext cx="1753364" cy="333434"/>
          </a:xfrm>
          <a:prstGeom prst="rect">
            <a:avLst/>
          </a:prstGeom>
          <a:solidFill>
            <a:srgbClr val="FBC5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646" y="6566672"/>
            <a:ext cx="1458073" cy="249227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649"/>
    </mc:Choice>
    <mc:Fallback>
      <p:transition spd="slow" advTm="964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56032"/>
            <a:ext cx="9144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 报 内 容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252728"/>
            <a:ext cx="8028432" cy="2779776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00469A"/>
            </a:solidFill>
            <a:prstDash val="sysDash"/>
          </a:ln>
        </p:spPr>
      </p:sp>
      <p:sp>
        <p:nvSpPr>
          <p:cNvPr id="4" name="Shape 2"/>
          <p:cNvSpPr/>
          <p:nvPr/>
        </p:nvSpPr>
        <p:spPr>
          <a:xfrm>
            <a:off x="1444752" y="1536192"/>
            <a:ext cx="548640" cy="384048"/>
          </a:xfrm>
          <a:prstGeom prst="rect">
            <a:avLst/>
          </a:prstGeom>
          <a:solidFill>
            <a:srgbClr val="FFD966"/>
          </a:solidFill>
          <a:ln w="12700">
            <a:solidFill>
              <a:srgbClr val="FFD9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57984" y="1536192"/>
            <a:ext cx="5440680" cy="384048"/>
          </a:xfrm>
          <a:prstGeom prst="rect">
            <a:avLst/>
          </a:prstGeom>
          <a:solidFill>
            <a:srgbClr val="00469A"/>
          </a:solidFill>
          <a:ln w="12700">
            <a:solidFill>
              <a:srgbClr val="0046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44752" y="154533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46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249424" y="1545336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船舶与海洋工程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0" y="4828032"/>
            <a:ext cx="9144000" cy="256032"/>
          </a:xfrm>
          <a:prstGeom prst="rect">
            <a:avLst/>
          </a:prstGeom>
          <a:solidFill>
            <a:srgbClr val="0B5AA2"/>
          </a:solidFill>
          <a:ln w="12700">
            <a:solidFill>
              <a:srgbClr val="0B5AA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4828032"/>
            <a:ext cx="1316736" cy="256032"/>
          </a:xfrm>
          <a:prstGeom prst="rect">
            <a:avLst/>
          </a:prstGeom>
          <a:solidFill>
            <a:srgbClr val="FBC540"/>
          </a:solidFill>
          <a:ln w="12700">
            <a:solidFill>
              <a:srgbClr val="FBC54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3"/>
          <p:cNvGrpSpPr/>
          <p:nvPr/>
        </p:nvGrpSpPr>
        <p:grpSpPr>
          <a:xfrm>
            <a:off x="0" y="2060862"/>
            <a:ext cx="12192000" cy="1800225"/>
            <a:chOff x="816" y="2304"/>
            <a:chExt cx="1440" cy="448"/>
          </a:xfrm>
        </p:grpSpPr>
        <p:sp>
          <p:nvSpPr>
            <p:cNvPr id="6148" name="Freeform 4"/>
            <p:cNvSpPr/>
            <p:nvPr/>
          </p:nvSpPr>
          <p:spPr>
            <a:xfrm>
              <a:off x="816" y="2562"/>
              <a:ext cx="1440" cy="190"/>
            </a:xfrm>
            <a:custGeom>
              <a:avLst/>
              <a:gdLst>
                <a:gd name="txL" fmla="*/ 0 w 1120"/>
                <a:gd name="txT" fmla="*/ 0 h 252"/>
                <a:gd name="txR" fmla="*/ 1120 w 1120"/>
                <a:gd name="txB" fmla="*/ 252 h 252"/>
              </a:gdLst>
              <a:ahLst/>
              <a:cxnLst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2147483647" y="0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</a:cxnLst>
              <a:rect l="txL" t="txT" r="txR" b="txB"/>
              <a:pathLst>
                <a:path w="1120" h="252">
                  <a:moveTo>
                    <a:pt x="1120" y="252"/>
                  </a:moveTo>
                  <a:lnTo>
                    <a:pt x="1116" y="250"/>
                  </a:lnTo>
                  <a:lnTo>
                    <a:pt x="1100" y="246"/>
                  </a:lnTo>
                  <a:lnTo>
                    <a:pt x="1074" y="240"/>
                  </a:lnTo>
                  <a:lnTo>
                    <a:pt x="1038" y="232"/>
                  </a:lnTo>
                  <a:lnTo>
                    <a:pt x="992" y="222"/>
                  </a:lnTo>
                  <a:lnTo>
                    <a:pt x="938" y="212"/>
                  </a:lnTo>
                  <a:lnTo>
                    <a:pt x="876" y="204"/>
                  </a:lnTo>
                  <a:lnTo>
                    <a:pt x="806" y="196"/>
                  </a:lnTo>
                  <a:lnTo>
                    <a:pt x="730" y="190"/>
                  </a:lnTo>
                  <a:lnTo>
                    <a:pt x="646" y="184"/>
                  </a:lnTo>
                  <a:lnTo>
                    <a:pt x="556" y="184"/>
                  </a:lnTo>
                  <a:lnTo>
                    <a:pt x="466" y="184"/>
                  </a:lnTo>
                  <a:lnTo>
                    <a:pt x="384" y="190"/>
                  </a:lnTo>
                  <a:lnTo>
                    <a:pt x="308" y="196"/>
                  </a:lnTo>
                  <a:lnTo>
                    <a:pt x="238" y="204"/>
                  </a:lnTo>
                  <a:lnTo>
                    <a:pt x="178" y="212"/>
                  </a:lnTo>
                  <a:lnTo>
                    <a:pt x="126" y="222"/>
                  </a:lnTo>
                  <a:lnTo>
                    <a:pt x="82" y="232"/>
                  </a:lnTo>
                  <a:lnTo>
                    <a:pt x="46" y="240"/>
                  </a:lnTo>
                  <a:lnTo>
                    <a:pt x="20" y="246"/>
                  </a:lnTo>
                  <a:lnTo>
                    <a:pt x="6" y="250"/>
                  </a:lnTo>
                  <a:lnTo>
                    <a:pt x="0" y="252"/>
                  </a:lnTo>
                  <a:lnTo>
                    <a:pt x="0" y="62"/>
                  </a:lnTo>
                  <a:lnTo>
                    <a:pt x="560" y="0"/>
                  </a:lnTo>
                  <a:lnTo>
                    <a:pt x="1120" y="62"/>
                  </a:lnTo>
                  <a:lnTo>
                    <a:pt x="1120" y="252"/>
                  </a:lnTo>
                  <a:close/>
                </a:path>
              </a:pathLst>
            </a:custGeom>
            <a:solidFill>
              <a:srgbClr val="969696">
                <a:alpha val="100000"/>
              </a:srgbClr>
            </a:solidFill>
            <a:ln w="0">
              <a:noFill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310277" name="Rectangle 5"/>
            <p:cNvSpPr>
              <a:spLocks noChangeArrowheads="1"/>
            </p:cNvSpPr>
            <p:nvPr/>
          </p:nvSpPr>
          <p:spPr bwMode="gray">
            <a:xfrm>
              <a:off x="816" y="2304"/>
              <a:ext cx="1440" cy="393"/>
            </a:xfrm>
            <a:prstGeom prst="rect">
              <a:avLst/>
            </a:prstGeom>
            <a:solidFill>
              <a:srgbClr val="00469A"/>
            </a:solidFill>
            <a:ln w="9525" algn="ctr">
              <a:noFill/>
              <a:miter lim="800000"/>
            </a:ln>
          </p:spPr>
          <p:txBody>
            <a:bodyPr wrap="none" anchor="ctr"/>
            <a:lstStyle/>
            <a:p>
              <a:pPr algn="dist">
                <a:defRPr/>
              </a:pPr>
              <a:endParaRPr lang="en-US" altLang="zh-CN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anose="020F050202020403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196" name="矩形 1"/>
          <p:cNvSpPr>
            <a:spLocks noChangeArrowheads="1"/>
          </p:cNvSpPr>
          <p:nvPr/>
        </p:nvSpPr>
        <p:spPr bwMode="auto">
          <a:xfrm>
            <a:off x="30155" y="2434972"/>
            <a:ext cx="12192000" cy="156718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square" lIns="91420" tIns="45718" rIns="91420" bIns="45718">
            <a:spAutoFit/>
          </a:bodyPr>
          <a:lstStyle/>
          <a:p>
            <a:pPr marL="446405" indent="-446405" algn="ctr">
              <a:defRPr/>
            </a:pP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、船舶与海洋工程</a:t>
            </a: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en-US" altLang="zh-CN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6405" indent="-446405" algn="ctr">
              <a:defRPr/>
            </a:pPr>
            <a:endParaRPr lang="zh-CN" altLang="en-US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8610600" y="6499860"/>
            <a:ext cx="2743200" cy="365125"/>
          </a:xfr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smtClean="0"/>
            </a:fld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{technical_principle_content}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船闸设备故障预警和诊断系统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{technical_principle_title}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{technical_feature_content}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船闸设备故障预警和诊断系统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{technical_feature_title}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{technical_application_content}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船闸设备故障预警和诊断系统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{technical_application_title}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{technical_principle_content}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通航枢纽数字孪生智能调度技术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{technical_principle_title}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{technical_feature_content}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通航枢纽数字孪生智能调度技术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{technical_feature_title}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{technical_application_content}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通航枢纽数字孪生智能调度技术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{technical_application_title}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6350.311811023622,&quot;width&quot;:19200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