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ua1_slideLayout1.xml" ContentType="application/vnd.openxmlformats-officedocument.presentationml.slideLayout+xml"/>
  <Override PartName="/ppt/slideMasters/ua1_slideMaster1.xml" ContentType="application/vnd.openxmlformats-officedocument.presentationml.slideMaster+xml"/>
  <Override PartName="/ppt/theme/ua1_theme1.xml" ContentType="application/vnd.openxmlformats-officedocument.theme+xml"/>
  <Override PartName="/ppt/slideLayouts/ua2_slideLayout1.xml" ContentType="application/vnd.openxmlformats-officedocument.presentationml.slideLayout+xml"/>
  <Override PartName="/ppt/slideMasters/ua2_slideMaster1.xml" ContentType="application/vnd.openxmlformats-officedocument.presentationml.slideMaster+xml"/>
  <Override PartName="/ppt/theme/ua2_theme1.xml" ContentType="application/vnd.openxmlformats-officedocument.them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ua1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1_slideMaster1.xml"/></Relationships>
</file>

<file path=ppt/slideLayouts/_rels/ua2_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ua2_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ua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ua2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ua1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1_theme1.xml"/><Relationship Id="rId1" Type="http://schemas.openxmlformats.org/officeDocument/2006/relationships/slideLayout" Target="../slideLayouts/slideLayout1.xml"/></Relationships>
</file>

<file path=ppt/slideMasters/_rels/ua2_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ua2_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ua2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ua1_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7.png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ua1_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.jpeg"/><Relationship Id="rId6" Type="http://schemas.openxmlformats.org/officeDocument/2006/relationships/image" Target="../media/image24.jpeg"/><Relationship Id="rId5" Type="http://schemas.openxmlformats.org/officeDocument/2006/relationships/image" Target="../media/image25.jpeg"/><Relationship Id="rId4" Type="http://schemas.openxmlformats.org/officeDocument/2006/relationships/image" Target="../media/image26.jpeg"/><Relationship Id="rId3" Type="http://schemas.openxmlformats.org/officeDocument/2006/relationships/image" Target="../media/image27.jpeg"/><Relationship Id="rId2" Type="http://schemas.openxmlformats.org/officeDocument/2006/relationships/image" Target="../media/image28.png"/><Relationship Id="rId1" Type="http://schemas.openxmlformats.org/officeDocument/2006/relationships/slideLayout" Target="../slideLayouts/ua1_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31.jpeg"/><Relationship Id="rId3" Type="http://schemas.openxmlformats.org/officeDocument/2006/relationships/image" Target="../media/image32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ua2_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7" Type="http://schemas.openxmlformats.org/officeDocument/2006/relationships/image" Target="../media/image35.png"/><Relationship Id="rId6" Type="http://schemas.openxmlformats.org/officeDocument/2006/relationships/image" Target="../media/image36.png"/><Relationship Id="rId5" Type="http://schemas.openxmlformats.org/officeDocument/2006/relationships/image" Target="../media/image37.png"/><Relationship Id="rId4" Type="http://schemas.openxmlformats.org/officeDocument/2006/relationships/image" Target="../media/image38.png"/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ua2_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41.jpeg"/><Relationship Id="rId4" Type="http://schemas.openxmlformats.org/officeDocument/2006/relationships/image" Target="../media/image42.jpeg"/><Relationship Id="rId3" Type="http://schemas.openxmlformats.org/officeDocument/2006/relationships/image" Target="../media/image43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ua2_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样式修复验证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2651760"/>
            <a:ext cx="1207008" cy="56692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651760"/>
            <a:ext cx="8083296" cy="56692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6090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64992" y="2660904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新能源与智能交通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31139" y="711771"/>
            <a:ext cx="10040619" cy="4123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4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三峡新通道代表船型研发平台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spcBef>
                <a:spcPts val="603"/>
              </a:spcBef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采用理论分析、数值模拟、模型试验、模拟器仿真模拟多位一体的研究手段</a:t>
            </a:r>
            <a:r>
              <a:rPr sz="20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，建立三峡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75920" indent="1270" algn="l" rtl="0" eaLnBrk="0">
              <a:lnSpc>
                <a:spcPct val="205000"/>
              </a:lnSpc>
              <a:spcBef>
                <a:spcPts val="54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XTD复杂通航环境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条件下船型研发平台</a:t>
            </a:r>
            <a:r>
              <a:rPr sz="2000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，包括船型规划论证、船舶型线参数化建模与光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顺、船舶智能布置设计、船舶多学科性能优化、风流联合作用下内河船舶操纵模拟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仿真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系统、长江船型EEDI数据库等三峡XTD标准船型综合研发技术平台。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3.3 三峡新通道代表船型研发平台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/>
          <p:nvPr/>
        </p:nvSpPr>
        <p:spPr>
          <a:xfrm>
            <a:off x="655726" y="420509"/>
            <a:ext cx="7511415" cy="3819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通航船型规划论证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船舶型线参数化建模与光顺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船舶智能布置设计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船舶多学科性能优化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风流联合作用下内河船舶操纵模拟仿真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长江船型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EEDI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数据库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3873512"/>
            <a:ext cx="216408" cy="337718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81940" y="321627"/>
            <a:ext cx="12091669" cy="1362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961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22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该船型研发技术平台已应用于三峡新通道代表船型研究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，另外也应用于全国内河主要通航水域如长江干线、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西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江干线、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8000"/>
              </a:lnSpc>
              <a:spcBef>
                <a:spcPts val="365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京杭运河；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嘉陵江、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乌江、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湘江、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汉江、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赣江；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金沙江、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上湄公河、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红河、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平陆运河、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北江等多种类型的水利水电工程。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089647" y="2520695"/>
            <a:ext cx="4876800" cy="2061972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75275" y="2366771"/>
            <a:ext cx="1783079" cy="276606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0020" y="2727960"/>
            <a:ext cx="1638300" cy="1078991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321051" y="2717292"/>
            <a:ext cx="1546860" cy="108813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321051" y="4332731"/>
            <a:ext cx="1636776" cy="900683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59079" y="4280915"/>
            <a:ext cx="1440180" cy="9128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7880604" y="5760720"/>
            <a:ext cx="2809239" cy="24257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37184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内河过闸运输船舶标准船型主尺度系列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2258567" y="5760720"/>
            <a:ext cx="1876425" cy="24447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06070" algn="l" rtl="0" eaLnBrk="0">
              <a:lnSpc>
                <a:spcPct val="91000"/>
              </a:lnSpc>
              <a:tabLst/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平陆运河最大通航船型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4835652" y="5760720"/>
            <a:ext cx="1823085" cy="24257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91000"/>
              </a:lnSpc>
              <a:spcBef>
                <a:spcPts val="3"/>
              </a:spcBef>
              <a:tabLst/>
            </a:pPr>
            <a:r>
              <a:rPr sz="9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三峡两坝间通航标准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259079" y="5760720"/>
            <a:ext cx="1617344" cy="24257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</a:t>
            </a:r>
            <a:r>
              <a:rPr sz="9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XTD</a:t>
            </a:r>
            <a:r>
              <a:rPr sz="900" kern="0" spc="1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设计代表船型</a:t>
            </a:r>
            <a:endParaRPr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、新能源与智能交通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17591" y="1749551"/>
            <a:ext cx="6530340" cy="371094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3829" y="1974686"/>
            <a:ext cx="4377690" cy="213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船舶升降波浪能发电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边坡光伏阵列太阳能发电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能源管理系统智能调度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光-波浪-储自洽能源系统集成与应用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4.2 三峡新通道光-波浪-储自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洽能源系统关键技术及应用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79710" y="711771"/>
            <a:ext cx="7124065" cy="1014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三峡新通道光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波浪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储自洽能源系统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关键技术及应用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39" y="4119371"/>
            <a:ext cx="2494787" cy="2147316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55391" y="4148328"/>
            <a:ext cx="2101596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400849" y="950493"/>
            <a:ext cx="4681282" cy="5406263"/>
            <a:chOff x="0" y="0"/>
            <a:chExt cx="4681282" cy="5406263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81282" cy="5406263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089245" y="4793347"/>
              <a:ext cx="2305050" cy="276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84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2000"/>
                </a:lnSpc>
                <a:tabLst/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分布式储能管理技术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4751476" y="1207744"/>
              <a:ext cx="1614169" cy="245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9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波浪能捕获技术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5052923" y="871448"/>
              <a:ext cx="1156335" cy="518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1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-635" algn="l" rtl="0" eaLnBrk="0">
                <a:lnSpc>
                  <a:spcPct val="97000"/>
                </a:lnSpc>
                <a:tabLst/>
              </a:pP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光伏阵列跟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踪发电技术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6" name="textbox 26"/>
          <p:cNvSpPr/>
          <p:nvPr/>
        </p:nvSpPr>
        <p:spPr>
          <a:xfrm>
            <a:off x="655726" y="1117612"/>
            <a:ext cx="45910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高效的波浪能捕获技术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灵活的光伏阵列跟踪发电技术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智能化分布式储能管理技术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互补的波光协同能源管理技术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5000" y="617219"/>
            <a:ext cx="5853683" cy="2737104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24144" y="3735323"/>
            <a:ext cx="5853684" cy="2510027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4611" y="4043172"/>
            <a:ext cx="4765548" cy="26182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1708" y="1319783"/>
            <a:ext cx="4076700" cy="2020824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632459" y="725423"/>
            <a:ext cx="42373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0195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稳态电能质量优化控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615696" y="3515867"/>
            <a:ext cx="42373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323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分布式储能优化控制技术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5065991" y="6192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7064679" y="3369792"/>
            <a:ext cx="297815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宁波舟山港滩涂光伏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发电项目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7193069" y="6342888"/>
            <a:ext cx="2726054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069" algn="l" rtl="0" eaLnBrk="0">
              <a:lnSpc>
                <a:spcPct val="84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</a:t>
            </a:r>
            <a:r>
              <a:rPr sz="1700" kern="0" spc="-3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中远盛世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”轮光伏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阵列布置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1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ua2_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2026-05-21T21:38:44</vt:filetime>
  </property>
</Properties>
</file>