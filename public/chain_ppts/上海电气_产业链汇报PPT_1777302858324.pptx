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  <p:sldId id="325" r:id="rId78"/>
    <p:sldId id="326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5" r:id="rId88"/>
    <p:sldId id="336" r:id="rId89"/>
    <p:sldId id="337" r:id="rId90"/>
    <p:sldId id="338" r:id="rId91"/>
    <p:sldId id="339" r:id="rId92"/>
    <p:sldId id="340" r:id="rId93"/>
    <p:sldId id="341" r:id="rId94"/>
    <p:sldId id="342" r:id="rId95"/>
    <p:sldId id="343" r:id="rId9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slide" Target="slides/slide77.xml"/><Relationship Id="rId86" Type="http://schemas.openxmlformats.org/officeDocument/2006/relationships/slide" Target="slides/slide78.xml"/><Relationship Id="rId87" Type="http://schemas.openxmlformats.org/officeDocument/2006/relationships/slide" Target="slides/slide79.xml"/><Relationship Id="rId88" Type="http://schemas.openxmlformats.org/officeDocument/2006/relationships/slide" Target="slides/slide80.xml"/><Relationship Id="rId89" Type="http://schemas.openxmlformats.org/officeDocument/2006/relationships/slide" Target="slides/slide81.xml"/><Relationship Id="rId90" Type="http://schemas.openxmlformats.org/officeDocument/2006/relationships/slide" Target="slides/slide82.xml"/><Relationship Id="rId91" Type="http://schemas.openxmlformats.org/officeDocument/2006/relationships/slide" Target="slides/slide83.xml"/><Relationship Id="rId92" Type="http://schemas.openxmlformats.org/officeDocument/2006/relationships/slide" Target="slides/slide84.xml"/><Relationship Id="rId93" Type="http://schemas.openxmlformats.org/officeDocument/2006/relationships/slide" Target="slides/slide85.xml"/><Relationship Id="rId94" Type="http://schemas.openxmlformats.org/officeDocument/2006/relationships/slide" Target="slides/slide86.xml"/><Relationship Id="rId95" Type="http://schemas.openxmlformats.org/officeDocument/2006/relationships/slide" Target="slides/slide87.xml"/><Relationship Id="rId96" Type="http://schemas.openxmlformats.org/officeDocument/2006/relationships/slide" Target="slides/slide8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2026年4月27日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上海电气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Text Box 12"/>
          <p:cNvSpPr txBox="1">
            <a:spLocks noChangeArrowheads="1"/>
          </p:cNvSpPr>
          <p:nvPr/>
        </p:nvSpPr>
        <p:spPr bwMode="auto">
          <a:xfrm>
            <a:off x="-24680" y="332656"/>
            <a:ext cx="12192000" cy="8330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03837" tIns="51919" rIns="103837" bIns="51919">
            <a:spAutoFit/>
          </a:bodyPr>
          <a:lstStyle/>
          <a:p>
            <a:pPr algn="ctr" eaLnBrk="0" hangingPunct="0">
              <a:lnSpc>
                <a:spcPct val="105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4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 报 内 容</a:t>
            </a:r>
            <a:endParaRPr lang="zh-CN" altLang="en-US" sz="4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AutoShap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58190" y="1627505"/>
            <a:ext cx="10700385" cy="277114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19050">
            <a:solidFill>
              <a:srgbClr val="00469A"/>
            </a:solidFill>
            <a:prstDash val="sysDash"/>
            <a:round/>
          </a:ln>
        </p:spPr>
        <p:txBody>
          <a:bodyPr wrap="none" lIns="103837" tIns="51919" rIns="103837" bIns="51919" anchor="ctr"/>
          <a:lstStyle/>
          <a:p>
            <a:pPr indent="444500" algn="r">
              <a:lnSpc>
                <a:spcPct val="120000"/>
              </a:lnSpc>
              <a:spcAft>
                <a:spcPct val="30000"/>
              </a:spcAft>
            </a:pPr>
            <a:endParaRPr lang="zh-CN" altLang="en-US" sz="2800" dirty="0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1462405" y="2059940"/>
            <a:ext cx="9746161" cy="791845"/>
            <a:chOff x="1919535" y="1391211"/>
            <a:chExt cx="9362817" cy="792089"/>
          </a:xfrm>
        </p:grpSpPr>
        <p:sp>
          <p:nvSpPr>
            <p:cNvPr id="21" name="矩形 20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2" name="矩形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200852" y="1391211"/>
              <a:ext cx="8081500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3" name="_14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919535" y="1565596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6"/>
              </p:custDataLst>
            </p:nvPr>
          </p:nvSpPr>
          <p:spPr>
            <a:xfrm>
              <a:off x="2860604" y="1465891"/>
              <a:ext cx="6661398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7"/>
            </p:custDataLst>
          </p:nvPr>
        </p:nvGrpSpPr>
        <p:grpSpPr>
          <a:xfrm>
            <a:off x="1462405" y="3140075"/>
            <a:ext cx="9746162" cy="791845"/>
            <a:chOff x="1919535" y="1391211"/>
            <a:chExt cx="9362820" cy="792089"/>
          </a:xfrm>
        </p:grpSpPr>
        <p:sp>
          <p:nvSpPr>
            <p:cNvPr id="38" name="矩形 37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39" name="矩形 13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200853" y="1391211"/>
              <a:ext cx="8081502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 dirty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41" name="_14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919535" y="1546540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11"/>
              </p:custDataLst>
            </p:nvPr>
          </p:nvSpPr>
          <p:spPr>
            <a:xfrm>
              <a:off x="2860604" y="1448850"/>
              <a:ext cx="7855310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13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、方法类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一种基于事件触发方案和T-S模糊系统的欠驱动无人艇控制方法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DoS攻击下基于切换T-S模糊系统的无人船艇控制方法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一种基于室内外位置信息的船舶应急疏散方法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一种基于深度强化学习的无人船艇编队路径跟踪方法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一种基于深度强化学习的群无人艇智能避碰方法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一种基于轨迹单元的障碍物情况下无人艇避碰路径规划方法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一种多艘无人测量船艇覆盖路径规划方法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一种无人船辅助靠离泊及充电方法、装置及系统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一种用于群水面无人艇的自主避碰系统及方法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一种面向单艘无人测量船艇覆盖路径规划方法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、技术类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一种应用于船舶防撞气囊的主动泄压装置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一种节能型充电装置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多功能履带式高效水翼登陆艇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多功能履带式高效水翼登陆艇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多功能履带式高效水翼登陆艇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一种便于收展的风帆助航张合结构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一种抗风浪的海上石油钻井平台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一种新型船舶轴支架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一种用于内河客船防沉的机械装置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一种自动保护式风帆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一种船用风力压差增速发电设备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一种船舶应急防碰撞系统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一种船舶用设备固定装置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一种船舶防倾覆装置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一种节能型可升降式漂浮设备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一种节能航标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一种面向运输船舶的智能航行眼系统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船舶防碰装置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面向无人船舶的自动驾驶集成系统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