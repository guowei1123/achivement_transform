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GM" initials="F" lastIdx="0" clrIdx="0"/>
  <p:cmAuthor id="2" name="47162" initials="4" lastIdx="0" clrIdx="1"/>
  <p:cmAuthor id="3" name="郭 力行" initials="郭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9850" y="746125"/>
            <a:ext cx="6624638" cy="37274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尊敬的各位专家，大家上午好！下面由我汇报：。。。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56"/>
          <a:stretch>
            <a:fillRect/>
          </a:stretch>
        </p:blipFill>
        <p:spPr>
          <a:xfrm>
            <a:off x="0" y="2780030"/>
            <a:ext cx="12192000" cy="374534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88640"/>
            <a:ext cx="2804094" cy="589911"/>
          </a:xfrm>
          <a:prstGeom prst="rect">
            <a:avLst/>
          </a:prstGeom>
        </p:spPr>
      </p:pic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824865" y="3100666"/>
            <a:ext cx="10535920" cy="11576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1" rIns="91440" bIns="45721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1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pPr defTabSz="914400">
              <a:lnSpc>
                <a:spcPts val="2400"/>
              </a:lnSpc>
            </a:pPr>
            <a:r>
              <a:rPr lang="zh-CN" altLang="en-US" sz="2400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汇报人：</a:t>
            </a:r>
            <a:endParaRPr lang="zh-CN" altLang="en-US" sz="2400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2026年5月21日</a:t>
            </a:r>
            <a:endParaRPr lang="en-US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180" y="1380736"/>
            <a:ext cx="11085830" cy="1445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航道疏浚技术成果汇报</a:t>
            </a: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科技服务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武汉理工大学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6524566"/>
            <a:ext cx="12192000" cy="333434"/>
          </a:xfrm>
          <a:prstGeom prst="rect">
            <a:avLst/>
          </a:prstGeom>
          <a:solidFill>
            <a:srgbClr val="0047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0" name="矩形 9"/>
          <p:cNvSpPr/>
          <p:nvPr userDrawn="1"/>
        </p:nvSpPr>
        <p:spPr>
          <a:xfrm>
            <a:off x="1" y="6524566"/>
            <a:ext cx="1753364" cy="333434"/>
          </a:xfrm>
          <a:prstGeom prst="rect">
            <a:avLst/>
          </a:prstGeom>
          <a:solidFill>
            <a:srgbClr val="FBC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46" y="6566672"/>
            <a:ext cx="1458073" cy="24922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9"/>
    </mc:Choice>
    <mc:Fallback>
      <p:transition spd="slow" advTm="964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27432" y="329184"/>
            <a:ext cx="1220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 报 内 容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58952" y="1627632"/>
            <a:ext cx="10698480" cy="2770632"/>
          </a:xfrm>
          <a:prstGeom prst="roundRect">
            <a:avLst>
              <a:gd name="adj" fmla="val 2640"/>
            </a:avLst>
          </a:prstGeom>
          <a:solidFill>
            <a:srgbClr val="FFFFFF"/>
          </a:solidFill>
          <a:ln w="12700">
            <a:solidFill>
              <a:srgbClr val="00469A"/>
            </a:solidFill>
            <a:prstDash val="sysDash"/>
          </a:ln>
        </p:spPr>
      </p:sp>
      <p:sp>
        <p:nvSpPr>
          <p:cNvPr id="4" name="Shape 2"/>
          <p:cNvSpPr/>
          <p:nvPr/>
        </p:nvSpPr>
        <p:spPr>
          <a:xfrm>
            <a:off x="1920240" y="1993392"/>
            <a:ext cx="1207008" cy="566928"/>
          </a:xfrm>
          <a:prstGeom prst="rect">
            <a:avLst/>
          </a:prstGeom>
          <a:solidFill>
            <a:srgbClr val="FFD966"/>
          </a:solidFill>
          <a:ln w="12700">
            <a:solidFill>
              <a:srgbClr val="FFD9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1993392"/>
            <a:ext cx="8083296" cy="566928"/>
          </a:xfrm>
          <a:prstGeom prst="rect">
            <a:avLst/>
          </a:prstGeom>
          <a:solidFill>
            <a:srgbClr val="00469A"/>
          </a:solidFill>
          <a:ln w="12700">
            <a:solidFill>
              <a:srgbClr val="0046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2002536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46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364992" y="2002536"/>
            <a:ext cx="7754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船舶与海洋工程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6556248"/>
            <a:ext cx="12188952" cy="329184"/>
          </a:xfrm>
          <a:prstGeom prst="rect">
            <a:avLst/>
          </a:prstGeom>
          <a:solidFill>
            <a:srgbClr val="0B5AA2"/>
          </a:solidFill>
          <a:ln w="12700">
            <a:solidFill>
              <a:srgbClr val="0B5AA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556248"/>
            <a:ext cx="1755648" cy="329184"/>
          </a:xfrm>
          <a:prstGeom prst="rect">
            <a:avLst/>
          </a:prstGeom>
          <a:solidFill>
            <a:srgbClr val="FBC540"/>
          </a:solidFill>
          <a:ln w="12700">
            <a:solidFill>
              <a:srgbClr val="FBC54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、船舶与海洋工程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船舶航道智慧消防技术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船舶航道智慧消防技术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船舶航道智慧消防技术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船闸设备故障预警和诊断系统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船闸设备故障预警和诊断系统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船闸设备故障预警和诊断系统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船组耦合水动力预报技术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船组耦合水动力预报技术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船组耦合水动力预报技术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内河标准船型研发与适配技术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内河标准船型研发与适配技术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内河标准船型研发与适配技术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通航枢纽数字孪生智能调度技术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通航枢纽数字孪生智能调度技术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通航枢纽数字孪生智能调度技术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智能疏浚决策支持系统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智能疏浚决策支持系统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智能疏浚决策支持系统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6350.311811023622,&quot;width&quot;:19200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