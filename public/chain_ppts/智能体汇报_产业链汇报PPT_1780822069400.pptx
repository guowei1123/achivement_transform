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Layouts/ua1_slideLayout1.xml" ContentType="application/vnd.openxmlformats-officedocument.presentationml.slideLayout+xml"/>
  <Override PartName="/ppt/slideMasters/ua1_slideMaster1.xml" ContentType="application/vnd.openxmlformats-officedocument.presentationml.slideMaster+xml"/>
  <Override PartName="/ppt/theme/ua1_theme1.xml" ContentType="application/vnd.openxmlformats-officedocument.theme+xml"/>
  <Override PartName="/ppt/slideLayouts/ua2_slideLayout1.xml" ContentType="application/vnd.openxmlformats-officedocument.presentationml.slideLayout+xml"/>
  <Override PartName="/ppt/slideMasters/ua2_slideMaster1.xml" ContentType="application/vnd.openxmlformats-officedocument.presentationml.slideMaster+xml"/>
  <Override PartName="/ppt/theme/ua2_theme1.xml" ContentType="application/vnd.openxmlformats-officedocument.theme+xml"/>
  <Override PartName="/ppt/slideLayouts/ua3_slideLayout1.xml" ContentType="application/vnd.openxmlformats-officedocument.presentationml.slideLayout+xml"/>
  <Override PartName="/ppt/slideMasters/ua3_slideMaster1.xml" ContentType="application/vnd.openxmlformats-officedocument.presentationml.slideMaster+xml"/>
  <Override PartName="/ppt/theme/ua3_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ua1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1_slideMaster1.xml"/></Relationships>
</file>

<file path=ppt/slideLayouts/_rels/ua2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2_slideMaster1.xml"/></Relationships>
</file>

<file path=ppt/slideLayouts/_rels/ua3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3_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ua1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ua2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ua3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ua1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1_theme1.xml"/><Relationship Id="rId1" Type="http://schemas.openxmlformats.org/officeDocument/2006/relationships/slideLayout" Target="../slideLayouts/slideLayout1.xml"/></Relationships>
</file>

<file path=ppt/slideMasters/_rels/ua2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2_theme1.xml"/><Relationship Id="rId1" Type="http://schemas.openxmlformats.org/officeDocument/2006/relationships/slideLayout" Target="../slideLayouts/slideLayout1.xml"/></Relationships>
</file>

<file path=ppt/slideMasters/_rels/ua3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3_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1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2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3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01.png"/><Relationship Id="rId1" Type="http://schemas.openxmlformats.org/officeDocument/2006/relationships/image" Target="../media/image100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2.jpeg"/><Relationship Id="rId1" Type="http://schemas.openxmlformats.org/officeDocument/2006/relationships/slideLayout" Target="../slideLayouts/ua1_slideLayou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image" Target="../media/image1003.png"/><Relationship Id="rId5" Type="http://schemas.openxmlformats.org/officeDocument/2006/relationships/image" Target="../media/image1004.png"/><Relationship Id="rId4" Type="http://schemas.openxmlformats.org/officeDocument/2006/relationships/image" Target="../media/image1005.png"/><Relationship Id="rId3" Type="http://schemas.openxmlformats.org/officeDocument/2006/relationships/image" Target="../media/image1006.png"/><Relationship Id="rId2" Type="http://schemas.openxmlformats.org/officeDocument/2006/relationships/image" Target="../media/image1007.jpeg"/><Relationship Id="rId1" Type="http://schemas.openxmlformats.org/officeDocument/2006/relationships/slideLayout" Target="../slideLayouts/ua1_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8.jpeg"/><Relationship Id="rId2" Type="http://schemas.openxmlformats.org/officeDocument/2006/relationships/image" Target="../media/image1009.jpeg"/><Relationship Id="rId1" Type="http://schemas.openxmlformats.org/officeDocument/2006/relationships/slideLayout" Target="../slideLayouts/ua1_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0.jpeg"/><Relationship Id="rId2" Type="http://schemas.openxmlformats.org/officeDocument/2006/relationships/image" Target="../media/image1011.jpeg"/><Relationship Id="rId1" Type="http://schemas.openxmlformats.org/officeDocument/2006/relationships/slideLayout" Target="../slideLayouts/ua2_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2.png"/><Relationship Id="rId7" Type="http://schemas.openxmlformats.org/officeDocument/2006/relationships/image" Target="../media/image1013.png"/><Relationship Id="rId6" Type="http://schemas.openxmlformats.org/officeDocument/2006/relationships/image" Target="../media/image1014.png"/><Relationship Id="rId5" Type="http://schemas.openxmlformats.org/officeDocument/2006/relationships/image" Target="../media/image1015.png"/><Relationship Id="rId4" Type="http://schemas.openxmlformats.org/officeDocument/2006/relationships/image" Target="../media/image1016.png"/><Relationship Id="rId3" Type="http://schemas.openxmlformats.org/officeDocument/2006/relationships/image" Target="../media/image1017.png"/><Relationship Id="rId2" Type="http://schemas.openxmlformats.org/officeDocument/2006/relationships/image" Target="../media/image1018.png"/><Relationship Id="rId1" Type="http://schemas.openxmlformats.org/officeDocument/2006/relationships/slideLayout" Target="../slideLayouts/ua2_slideLayout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19.png"/><Relationship Id="rId4" Type="http://schemas.openxmlformats.org/officeDocument/2006/relationships/image" Target="../media/image1020.jpeg"/><Relationship Id="rId3" Type="http://schemas.openxmlformats.org/officeDocument/2006/relationships/image" Target="../media/image1021.png"/><Relationship Id="rId2" Type="http://schemas.openxmlformats.org/officeDocument/2006/relationships/image" Target="../media/image1022.jpeg"/><Relationship Id="rId1" Type="http://schemas.openxmlformats.org/officeDocument/2006/relationships/slideLayout" Target="../slideLayouts/ua2_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3.png"/><Relationship Id="rId1" Type="http://schemas.openxmlformats.org/officeDocument/2006/relationships/slideLayout" Target="../slideLayouts/ua3_slideLayout1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24.png"/><Relationship Id="rId6" Type="http://schemas.openxmlformats.org/officeDocument/2006/relationships/image" Target="../media/image1025.png"/><Relationship Id="rId5" Type="http://schemas.openxmlformats.org/officeDocument/2006/relationships/image" Target="../media/image1026.png"/><Relationship Id="rId4" Type="http://schemas.openxmlformats.org/officeDocument/2006/relationships/image" Target="../media/image1027.png"/><Relationship Id="rId3" Type="http://schemas.openxmlformats.org/officeDocument/2006/relationships/image" Target="../media/image1028.png"/><Relationship Id="rId2" Type="http://schemas.openxmlformats.org/officeDocument/2006/relationships/image" Target="../media/image1029.png"/><Relationship Id="rId1" Type="http://schemas.openxmlformats.org/officeDocument/2006/relationships/slideLayout" Target="../slideLayouts/ua3_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0.png"/><Relationship Id="rId2" Type="http://schemas.openxmlformats.org/officeDocument/2006/relationships/image" Target="../media/image1031.png"/><Relationship Id="rId1" Type="http://schemas.openxmlformats.org/officeDocument/2006/relationships/slideLayout" Target="../slideLayouts/ua3_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2026年6月7日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智能体汇报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0" y="1685543"/>
            <a:ext cx="5791200" cy="435102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36112" y="1844368"/>
            <a:ext cx="5282565" cy="4228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船闸的核心设备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7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如闸门启闭机、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157000"/>
              </a:lnSpc>
              <a:spcBef>
                <a:spcPts val="41"/>
              </a:spcBef>
              <a:tabLst/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液压系统、</a:t>
            </a:r>
            <a:r>
              <a:rPr sz="2700" kern="0" spc="-6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缆车导向系统、</a:t>
            </a:r>
            <a:r>
              <a:rPr sz="2700" kern="0" spc="-6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止水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装置等关键部件的运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行状态（如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振动、</a:t>
            </a:r>
            <a:r>
              <a:rPr sz="2700" kern="0" spc="-6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液压、</a:t>
            </a:r>
            <a:r>
              <a:rPr sz="2700" kern="0" spc="-6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温度、</a:t>
            </a:r>
            <a:r>
              <a:rPr sz="2700" kern="0" spc="-6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位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移等）</a:t>
            </a:r>
            <a:r>
              <a:rPr sz="2700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在线监测与故障智能诊断</a:t>
            </a:r>
            <a:r>
              <a:rPr sz="2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6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设备的可靠性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降低维护成本，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从而保证设备的连续可靠运行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2.4 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基于工业互联</a:t>
            </a: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网的船闸机设备故障预警和诊断系统</a:t>
            </a:r>
            <a:endParaRPr sz="2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6344" y="3080003"/>
            <a:ext cx="10421112" cy="294132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667842" y="192697"/>
            <a:ext cx="7160894" cy="286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稳定可靠的工业物联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网数据采集平台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智能精准的设备故障预警模型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完善有效的故障诊断知识库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可视可知的设备画像应用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542" y="2704413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0542" y="2155773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0542" y="1607134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0542" y="1058494"/>
            <a:ext cx="216408" cy="337718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3616020" y="6262839"/>
            <a:ext cx="4580890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国产化专业的工业软件产品和工业互联网平台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14871" y="2580132"/>
            <a:ext cx="5236463" cy="3480815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3627" y="2580132"/>
            <a:ext cx="5160263" cy="3480815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833627" y="970788"/>
            <a:ext cx="6487795" cy="64643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大型船闸、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水利工程的设备监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测和维护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887832" y="1870240"/>
            <a:ext cx="9598025" cy="38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已应用于大渡河流域水电、</a:t>
            </a:r>
            <a:r>
              <a:rPr sz="2700" kern="0" spc="-6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广西桂冠电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力水电等水利水电工程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2806026" y="6276022"/>
            <a:ext cx="1165225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大渡河水电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8335479" y="6182893"/>
            <a:ext cx="938530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桂冠水电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550278" y="1496098"/>
            <a:ext cx="6425565" cy="3977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风浅水岸壁船闸航道非线性船组水动力预报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3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风、浅水岸壁船组流场预报与流速检测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复杂船闸航道泥沙堆积环境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下船舶水动力预估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系缆力、船组运动响应预报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船舶兴波对航道岸壁影响评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全尺度船组阻力预报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复杂航道泥沙堆积流态预报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74992" y="1353311"/>
            <a:ext cx="4466844" cy="2473451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74458" y="4328159"/>
            <a:ext cx="4466844" cy="2275332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3.1 风、</a:t>
            </a:r>
            <a:r>
              <a:rPr sz="2700" kern="0" spc="-6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浅水、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岸壁以及船闸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航道非线性船组水动力预报系统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8317745" y="3849907"/>
            <a:ext cx="2275839" cy="41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33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0020" indent="-147954" algn="l" rtl="0" eaLnBrk="0">
              <a:lnSpc>
                <a:spcPct val="93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浅水效应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岸壁效应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间效应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运动响应预报与流场检测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8299891" y="6605032"/>
            <a:ext cx="251332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船组、岸壁、假底试验装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置架构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79447" y="3944543"/>
            <a:ext cx="4560854" cy="2095526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655726" y="420509"/>
            <a:ext cx="7658100" cy="3270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92804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复杂航道泥沙堆积多相流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CFD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DEM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333375" indent="-321309" algn="l" rtl="0" eaLnBrk="0">
              <a:lnSpc>
                <a:spcPct val="151000"/>
              </a:lnSpc>
              <a:spcBef>
                <a:spcPts val="364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考虑浅水、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船间效应的船组水动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力和下沉量试验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1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复杂船闸航道限制域非线性船舶运动智能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预报技术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65"/>
              </a:lnSpc>
              <a:spcBef>
                <a:spcPts val="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限制域系缆力、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粘势流/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二因次船模-实船阻力切换技术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332487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8351456" y="950493"/>
            <a:ext cx="3730674" cy="5406263"/>
            <a:chOff x="0" y="0"/>
            <a:chExt cx="3730674" cy="5406263"/>
          </a:xfrm>
        </p:grpSpPr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730674" cy="5406263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1240557" y="5056356"/>
              <a:ext cx="1802129" cy="2120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55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船舶运动智能预报架构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988568" y="3764114"/>
            <a:ext cx="5954674" cy="2609215"/>
            <a:chOff x="0" y="0"/>
            <a:chExt cx="5954674" cy="2609215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5954674" cy="2609215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-12700" y="-12700"/>
              <a:ext cx="5980429" cy="26441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49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261870" algn="l" rtl="0" eaLnBrk="0">
                <a:lnSpc>
                  <a:spcPct val="88000"/>
                </a:lnSpc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分域双数学模型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36"/>
          <p:cNvGraphicFramePr>
            <a:graphicFrameLocks noGrp="1"/>
          </p:cNvGraphicFramePr>
          <p:nvPr/>
        </p:nvGraphicFramePr>
        <p:xfrm>
          <a:off x="277812" y="4227512"/>
          <a:ext cx="11661140" cy="2630170"/>
        </p:xfrm>
        <a:graphic>
          <a:graphicData uri="http://schemas.openxmlformats.org/drawingml/2006/table">
            <a:tbl>
              <a:tblPr/>
              <a:tblGrid>
                <a:gridCol w="11372850"/>
                <a:gridCol w="288290"/>
              </a:tblGrid>
              <a:tr h="26301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76109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五船试验与双数学模型数值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结果对比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286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限制域多船舶试验平台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38544" y="1359407"/>
            <a:ext cx="4928616" cy="2699004"/>
          </a:xfrm>
          <a:prstGeom prst="rect">
            <a:avLst/>
          </a:prstGeom>
        </p:spPr>
      </p:pic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5820727" y="4515713"/>
          <a:ext cx="5830569" cy="2257425"/>
        </p:xfrm>
        <a:graphic>
          <a:graphicData uri="http://schemas.openxmlformats.org/drawingml/2006/table">
            <a:tbl>
              <a:tblPr/>
              <a:tblGrid>
                <a:gridCol w="1802764"/>
                <a:gridCol w="808355"/>
                <a:gridCol w="725804"/>
                <a:gridCol w="852170"/>
                <a:gridCol w="797559"/>
                <a:gridCol w="843915"/>
              </a:tblGrid>
              <a:tr h="795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038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船模阻力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495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3995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1940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12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345" indent="-101600" algn="l" rtl="0" eaLnBrk="0">
                        <a:lnSpc>
                          <a:spcPct val="10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智能工</a:t>
                      </a: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作船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6280" algn="l" rtl="0" eaLnBrk="0">
                        <a:lnSpc>
                          <a:spcPct val="6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EFD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1.37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1.48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7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1.44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1.76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0.23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740" algn="l" rtl="0" eaLnBrk="0">
                        <a:lnSpc>
                          <a:spcPts val="198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CFD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（双数学模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704850" algn="l" rtl="0" eaLnBrk="0">
                        <a:lnSpc>
                          <a:spcPts val="1989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1.20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7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1.57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1.58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0.20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486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/%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12.41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7479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18.24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-9.03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10.11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653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13.04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 rot="21600000">
            <a:off x="900683" y="1389888"/>
            <a:ext cx="3259835" cy="2555747"/>
            <a:chOff x="0" y="0"/>
            <a:chExt cx="3259835" cy="2555747"/>
          </a:xfrm>
        </p:grpSpPr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259835" cy="2555747"/>
            </a:xfrm>
            <a:prstGeom prst="rect">
              <a:avLst/>
            </a:prstGeom>
          </p:spPr>
        </p:pic>
        <p:sp>
          <p:nvSpPr>
            <p:cNvPr id="44" name="textbox 44"/>
            <p:cNvSpPr/>
            <p:nvPr/>
          </p:nvSpPr>
          <p:spPr>
            <a:xfrm>
              <a:off x="1617865" y="828811"/>
              <a:ext cx="694690" cy="1981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6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1000"/>
                </a:lnSpc>
                <a:tabLst/>
              </a:pP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LES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结果</a:t>
              </a:r>
              <a:endParaRPr sz="1400" dirty="0">
                <a:latin typeface="DengXian"/>
                <a:ea typeface="DengXian"/>
                <a:cs typeface="DengXian"/>
              </a:endParaRPr>
            </a:p>
          </p:txBody>
        </p:sp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39723" y="4899660"/>
            <a:ext cx="3589020" cy="1720595"/>
          </a:xfrm>
          <a:prstGeom prst="rect">
            <a:avLst/>
          </a:prstGeom>
        </p:spPr>
      </p:pic>
      <p:sp>
        <p:nvSpPr>
          <p:cNvPr id="48" name="rect 48"/>
          <p:cNvSpPr/>
          <p:nvPr/>
        </p:nvSpPr>
        <p:spPr>
          <a:xfrm>
            <a:off x="6013703" y="882396"/>
            <a:ext cx="6178296" cy="46634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textbox 50"/>
          <p:cNvSpPr/>
          <p:nvPr/>
        </p:nvSpPr>
        <p:spPr>
          <a:xfrm>
            <a:off x="6070066" y="897089"/>
            <a:ext cx="6134734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098"/>
              </a:lnSpc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出版《船舶进出限制水域水动力与智能助航》</a:t>
            </a: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88848" y="4363211"/>
            <a:ext cx="388937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462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限制域多船舶试验测量技术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73836" y="882396"/>
            <a:ext cx="3023870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47675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双数学模型预报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137497" y="3980028"/>
            <a:ext cx="5156200" cy="260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53"/>
              </a:lnSpc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双数学模型在总体方面体现卓越性能（如高效、高精度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与高稳定）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4946700" y="407136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43487" y="5591200"/>
            <a:ext cx="942429" cy="3384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0883" y="1978151"/>
            <a:ext cx="5769864" cy="4072128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94159" y="1971014"/>
            <a:ext cx="5681979" cy="3604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719" algn="l" rtl="0" eaLnBrk="0">
              <a:lnSpc>
                <a:spcPct val="87000"/>
              </a:lnSpc>
              <a:tabLst/>
            </a:pP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管控等新的需求。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1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船闸联合调度规则设计及优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联动控制区的设计及运行组织优化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待闸船舶运行组织与智能管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调度算法、运行组织算法测试与验证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过闸船舶全域运行过程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可观、可测、可控、可视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31139" y="711771"/>
            <a:ext cx="10380344" cy="1041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3054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三峡水运新通道建成后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，整个三峡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枢纽群将面临多船闸的联合调度、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船舶智能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 通航枢纽数字孪生智能调度关键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655726" y="420509"/>
            <a:ext cx="7511415" cy="2706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过闸船舶全域运行数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字孪生技术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自演化规则引擎技术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船闸调度多目标优化技术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基于数字孪生的船闸调度运行仿真与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0282" y="3479547"/>
            <a:ext cx="6104742" cy="2742242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98405" y="3593217"/>
            <a:ext cx="5211229" cy="23766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5082159" y="1610486"/>
            <a:ext cx="6915150" cy="4650485"/>
            <a:chOff x="0" y="0"/>
            <a:chExt cx="6915150" cy="4650485"/>
          </a:xfrm>
        </p:grpSpPr>
        <p:sp>
          <p:nvSpPr>
            <p:cNvPr id="24" name="textbox 24"/>
            <p:cNvSpPr/>
            <p:nvPr/>
          </p:nvSpPr>
          <p:spPr>
            <a:xfrm>
              <a:off x="1883977" y="3339733"/>
              <a:ext cx="722630" cy="958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北线船闸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"/>
                </a:spcBef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南线船闸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26" name="textbox 26"/>
            <p:cNvSpPr/>
            <p:nvPr/>
          </p:nvSpPr>
          <p:spPr>
            <a:xfrm>
              <a:off x="4296292" y="3354795"/>
              <a:ext cx="546100" cy="914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3#船闸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420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2#船闸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8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9000"/>
                </a:lnSpc>
                <a:tabLst/>
              </a:pP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1#船闸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915150" cy="4650485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5538237" y="2985600"/>
              <a:ext cx="1013460" cy="1136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9000"/>
                </a:lnSpc>
                <a:tabLst/>
              </a:pPr>
              <a:r>
                <a:rPr sz="1700" b="1" kern="0" spc="2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中水门</a:t>
              </a:r>
              <a:endParaRPr sz="1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5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75" algn="l" rtl="0" eaLnBrk="0">
                <a:lnSpc>
                  <a:spcPct val="89000"/>
                </a:lnSpc>
                <a:spcBef>
                  <a:spcPts val="401"/>
                </a:spcBef>
                <a:tabLst/>
              </a:pP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下游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2" name="textbox 32"/>
            <p:cNvSpPr/>
            <p:nvPr/>
          </p:nvSpPr>
          <p:spPr>
            <a:xfrm>
              <a:off x="1953433" y="4410610"/>
              <a:ext cx="2888614" cy="2012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三峡大坝</a:t>
              </a: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               </a:t>
              </a: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葛洲坝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3115093" y="3501595"/>
              <a:ext cx="547369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两坝间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02235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6" name="textbox 36"/>
            <p:cNvSpPr/>
            <p:nvPr/>
          </p:nvSpPr>
          <p:spPr>
            <a:xfrm>
              <a:off x="825885" y="3501595"/>
              <a:ext cx="369570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上游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8" name="textbox 38"/>
            <p:cNvSpPr/>
            <p:nvPr/>
          </p:nvSpPr>
          <p:spPr>
            <a:xfrm>
              <a:off x="565672" y="1582542"/>
              <a:ext cx="475615" cy="255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700" b="1" kern="0" spc="5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庙河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8431" y="1620011"/>
            <a:ext cx="4578095" cy="516331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2077211" y="1025652"/>
            <a:ext cx="8037830" cy="44704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525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相关技术和成果已经在三峡通航管理局、长江海事局业务系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统中应用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6277648" y="6375692"/>
            <a:ext cx="4124325" cy="321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三峡-葛洲坝联合通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航调度系统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1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2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3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仿宋_GB2312</vt:lpstr>
      <vt:lpstr>仿宋</vt:lpstr>
      <vt:lpstr>微软雅黑</vt:lpstr>
      <vt:lpstr>Times New Roman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6</cp:revision>
  <dcterms:created xsi:type="dcterms:W3CDTF">2023-08-09T12:44:00Z</dcterms:created>
  <dcterms:modified xsi:type="dcterms:W3CDTF">2026-03-30T07:22:57Z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6B320F145A6F4400BA501BBD40D3EED3_12</vt:lpwstr>
  </property>
</Properties>
</file>