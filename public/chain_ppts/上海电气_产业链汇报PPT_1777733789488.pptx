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GM" initials="F" lastIdx="0" clrIdx="0"/>
  <p:cmAuthor id="2" name="47162" initials="4" lastIdx="0" clrIdx="1"/>
  <p:cmAuthor id="3" name="郭 力行" initials="郭"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 Id="rId137" Type="http://schemas.openxmlformats.org/officeDocument/2006/relationships/slide" Target="slides/slide129.xml"/><Relationship Id="rId138" Type="http://schemas.openxmlformats.org/officeDocument/2006/relationships/slide" Target="slides/slide130.xml"/><Relationship Id="rId139" Type="http://schemas.openxmlformats.org/officeDocument/2006/relationships/slide" Target="slides/slide131.xml"/><Relationship Id="rId140" Type="http://schemas.openxmlformats.org/officeDocument/2006/relationships/slide" Target="slides/slide132.xml"/><Relationship Id="rId141" Type="http://schemas.openxmlformats.org/officeDocument/2006/relationships/slide" Target="slides/slide133.xml"/><Relationship Id="rId142" Type="http://schemas.openxmlformats.org/officeDocument/2006/relationships/slide" Target="slides/slide134.xml"/><Relationship Id="rId143" Type="http://schemas.openxmlformats.org/officeDocument/2006/relationships/slide" Target="slides/slide135.xml"/><Relationship Id="rId144" Type="http://schemas.openxmlformats.org/officeDocument/2006/relationships/slide" Target="slides/slide136.xml"/><Relationship Id="rId145" Type="http://schemas.openxmlformats.org/officeDocument/2006/relationships/slide" Target="slides/slide137.xml"/><Relationship Id="rId146" Type="http://schemas.openxmlformats.org/officeDocument/2006/relationships/slide" Target="slides/slide138.xml"/><Relationship Id="rId147" Type="http://schemas.openxmlformats.org/officeDocument/2006/relationships/slide" Target="slides/slide139.xml"/><Relationship Id="rId148" Type="http://schemas.openxmlformats.org/officeDocument/2006/relationships/slide" Target="slides/slide140.xml"/><Relationship Id="rId149" Type="http://schemas.openxmlformats.org/officeDocument/2006/relationships/slide" Target="slides/slide141.xml"/><Relationship Id="rId150" Type="http://schemas.openxmlformats.org/officeDocument/2006/relationships/slide" Target="slides/slide142.xml"/><Relationship Id="rId151" Type="http://schemas.openxmlformats.org/officeDocument/2006/relationships/slide" Target="slides/slide143.xml"/><Relationship Id="rId152" Type="http://schemas.openxmlformats.org/officeDocument/2006/relationships/slide" Target="slides/slide144.xml"/><Relationship Id="rId153" Type="http://schemas.openxmlformats.org/officeDocument/2006/relationships/slide" Target="slides/slide145.xml"/><Relationship Id="rId154" Type="http://schemas.openxmlformats.org/officeDocument/2006/relationships/slide" Target="slides/slide1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9850" y="746125"/>
            <a:ext cx="6624638" cy="3727450"/>
          </a:xfrm>
        </p:spPr>
      </p:sp>
      <p:sp>
        <p:nvSpPr>
          <p:cNvPr id="3" name="备注占位符 2"/>
          <p:cNvSpPr>
            <a:spLocks noGrp="1"/>
          </p:cNvSpPr>
          <p:nvPr>
            <p:ph type="body" idx="1"/>
          </p:nvPr>
        </p:nvSpPr>
        <p:spPr/>
        <p:txBody>
          <a:bodyPr/>
          <a:lstStyle/>
          <a:p>
            <a:r>
              <a:rPr lang="zh-CN" altLang="en-US" dirty="0"/>
              <a:t>尊敬的各位专家，大家上午好！下面由我汇报：。。。</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b="19856"/>
          <a:stretch>
            <a:fillRect/>
          </a:stretch>
        </p:blipFill>
        <p:spPr>
          <a:xfrm>
            <a:off x="0" y="2780030"/>
            <a:ext cx="12192000" cy="374534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352" y="188640"/>
            <a:ext cx="2804094" cy="589911"/>
          </a:xfrm>
          <a:prstGeom prst="rect">
            <a:avLst/>
          </a:prstGeom>
        </p:spPr>
      </p:pic>
      <p:sp>
        <p:nvSpPr>
          <p:cNvPr id="8" name="Rectangle 4"/>
          <p:cNvSpPr txBox="1">
            <a:spLocks noChangeArrowheads="1"/>
          </p:cNvSpPr>
          <p:nvPr/>
        </p:nvSpPr>
        <p:spPr bwMode="auto">
          <a:xfrm>
            <a:off x="824865" y="3100666"/>
            <a:ext cx="10535920" cy="1157605"/>
          </a:xfrm>
          <a:prstGeom prst="rect">
            <a:avLst/>
          </a:prstGeom>
          <a:noFill/>
          <a:ln>
            <a:noFill/>
          </a:ln>
          <a:effectLst/>
        </p:spPr>
        <p:txBody>
          <a:bodyPr vert="horz" wrap="square" lIns="91440" tIns="45721" rIns="91440" bIns="4572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lnSpc>
                <a:spcPts val="2400"/>
              </a:lnSpc>
            </a:pPr>
            <a:r>
              <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rPr>
              <a:t>汇报人：</a:t>
            </a:r>
            <a:endPar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endParaRPr>
          </a:p>
          <a:p>
            <a:pPr>
              <a:lnSpc>
                <a:spcPct val="110000"/>
              </a:lnSpc>
              <a:spcBef>
                <a:spcPts val="1200"/>
              </a:spcBef>
            </a:pPr>
            <a:r>
              <a:rPr lang="en-US" kern="0" dirty="0">
                <a:solidFill>
                  <a:srgbClr val="00469A"/>
                </a:solidFill>
                <a:latin typeface="微软雅黑" panose="020B0503020204020204" charset="-122"/>
                <a:ea typeface="微软雅黑" panose="020B0503020204020204" charset="-122"/>
                <a:cs typeface="宋体" panose="02010600030101010101" pitchFamily="2" charset="-122"/>
              </a:rPr>
              <a:t>2026年5月2日</a:t>
            </a:r>
            <a:endParaRPr lang="en-US" kern="0" dirty="0">
              <a:solidFill>
                <a:srgbClr val="00469A"/>
              </a:solidFill>
              <a:latin typeface="微软雅黑" panose="020B0503020204020204" charset="-122"/>
              <a:ea typeface="微软雅黑" panose="020B0503020204020204" charset="-122"/>
              <a:cs typeface="宋体" panose="02010600030101010101" pitchFamily="2" charset="-122"/>
            </a:endParaRPr>
          </a:p>
        </p:txBody>
      </p:sp>
      <p:sp>
        <p:nvSpPr>
          <p:cNvPr id="2" name="矩形 1"/>
          <p:cNvSpPr/>
          <p:nvPr/>
        </p:nvSpPr>
        <p:spPr>
          <a:xfrm>
            <a:off x="551180" y="1380736"/>
            <a:ext cx="11085830" cy="1445260"/>
          </a:xfrm>
          <a:prstGeom prst="rect">
            <a:avLst/>
          </a:prstGeom>
        </p:spPr>
        <p:txBody>
          <a:bodyPr wrap="square">
            <a:spAutoFit/>
          </a:bodyPr>
          <a:lstStyle/>
          <a:p>
            <a:pPr algn="ctr">
              <a:lnSpc>
                <a:spcPct val="110000"/>
              </a:lnSpc>
            </a:pPr>
            <a:r>
              <a:rPr lang="en-US" altLang="zh-CN"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上海电气</a:t>
            </a: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科技服务</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p>
            <a:pPr algn="ctr">
              <a:lnSpc>
                <a:spcPct val="110000"/>
              </a:lnSpc>
            </a:pP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武汉理工大学</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5" name="矩形 4"/>
          <p:cNvSpPr/>
          <p:nvPr userDrawn="1"/>
        </p:nvSpPr>
        <p:spPr>
          <a:xfrm>
            <a:off x="0" y="6524566"/>
            <a:ext cx="12192000" cy="333434"/>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矩形 9"/>
          <p:cNvSpPr/>
          <p:nvPr userDrawn="1"/>
        </p:nvSpPr>
        <p:spPr>
          <a:xfrm>
            <a:off x="1" y="6524566"/>
            <a:ext cx="1753364" cy="333434"/>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7646" y="6566672"/>
            <a:ext cx="1458073" cy="24922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advTm="9649"/>
    </mc:Choice>
    <mc:Fallback>
      <p:transition spd="slow" advTm="96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组合 14"/>
          <p:cNvGrpSpPr/>
          <p:nvPr/>
        </p:nvGrpSpPr>
        <p:grpSpPr bwMode="auto">
          <a:xfrm>
            <a:off x="1271464" y="3360683"/>
            <a:ext cx="10153126" cy="1450975"/>
            <a:chOff x="-1" y="188907"/>
            <a:chExt cx="7645784" cy="985497"/>
          </a:xfrm>
        </p:grpSpPr>
        <p:sp>
          <p:nvSpPr>
            <p:cNvPr id="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10256" name="组合 8"/>
            <p:cNvGrpSpPr/>
            <p:nvPr/>
          </p:nvGrpSpPr>
          <p:grpSpPr bwMode="auto">
            <a:xfrm>
              <a:off x="-1" y="188907"/>
              <a:ext cx="826817" cy="985497"/>
              <a:chOff x="0" y="4108"/>
              <a:chExt cx="826817" cy="985497"/>
            </a:xfrm>
          </p:grpSpPr>
          <p:sp>
            <p:nvSpPr>
              <p:cNvPr id="14" name="燕尾形 13"/>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15"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12" name="同侧圆角矩形 11"/>
            <p:cNvSpPr/>
            <p:nvPr/>
          </p:nvSpPr>
          <p:spPr>
            <a:xfrm rot="5400000">
              <a:off x="3933540" y="-2917374"/>
              <a:ext cx="605962" cy="6818525"/>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10244" name="文本框 1"/>
          <p:cNvSpPr txBox="1">
            <a:spLocks noChangeArrowheads="1"/>
          </p:cNvSpPr>
          <p:nvPr/>
        </p:nvSpPr>
        <p:spPr bwMode="auto">
          <a:xfrm>
            <a:off x="3371726" y="3889320"/>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10245" name="文本框 2"/>
          <p:cNvSpPr txBox="1">
            <a:spLocks noChangeArrowheads="1"/>
          </p:cNvSpPr>
          <p:nvPr/>
        </p:nvSpPr>
        <p:spPr bwMode="auto">
          <a:xfrm>
            <a:off x="2388542" y="3506733"/>
            <a:ext cx="89838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en-US" altLang="zh-CN"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{enterprise}</a:t>
            </a:r>
            <a:r>
              <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重点服务领域</a:t>
            </a:r>
            <a:endPar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248" name="文本框 28"/>
          <p:cNvSpPr txBox="1">
            <a:spLocks noChangeArrowheads="1"/>
          </p:cNvSpPr>
          <p:nvPr/>
        </p:nvSpPr>
        <p:spPr bwMode="auto">
          <a:xfrm>
            <a:off x="1456839" y="3831724"/>
            <a:ext cx="750729"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二</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5" name="文本框 1"/>
          <p:cNvSpPr txBox="1">
            <a:spLocks noChangeArrowheads="1"/>
          </p:cNvSpPr>
          <p:nvPr/>
        </p:nvSpPr>
        <p:spPr bwMode="auto">
          <a:xfrm>
            <a:off x="3390254" y="5008433"/>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37" name="文本框 28"/>
          <p:cNvSpPr txBox="1">
            <a:spLocks noChangeArrowheads="1"/>
          </p:cNvSpPr>
          <p:nvPr/>
        </p:nvSpPr>
        <p:spPr bwMode="auto">
          <a:xfrm>
            <a:off x="1460045" y="4922659"/>
            <a:ext cx="747523"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三</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38" name="组合 14"/>
          <p:cNvGrpSpPr/>
          <p:nvPr/>
        </p:nvGrpSpPr>
        <p:grpSpPr bwMode="auto">
          <a:xfrm>
            <a:off x="1289992" y="2247548"/>
            <a:ext cx="10134600" cy="1450975"/>
            <a:chOff x="-1" y="188907"/>
            <a:chExt cx="7631833" cy="985497"/>
          </a:xfrm>
        </p:grpSpPr>
        <p:sp>
          <p:nvSpPr>
            <p:cNvPr id="3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40" name="组合 8"/>
            <p:cNvGrpSpPr/>
            <p:nvPr/>
          </p:nvGrpSpPr>
          <p:grpSpPr bwMode="auto">
            <a:xfrm>
              <a:off x="-1" y="188907"/>
              <a:ext cx="826817" cy="985497"/>
              <a:chOff x="0" y="4108"/>
              <a:chExt cx="826817" cy="985497"/>
            </a:xfrm>
          </p:grpSpPr>
          <p:sp>
            <p:nvSpPr>
              <p:cNvPr id="42" name="燕尾形 41"/>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43"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41" name="同侧圆角矩形 40"/>
            <p:cNvSpPr/>
            <p:nvPr/>
          </p:nvSpPr>
          <p:spPr>
            <a:xfrm rot="5400000">
              <a:off x="3919587" y="-2903422"/>
              <a:ext cx="605962" cy="6790620"/>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44" name="文本框 1"/>
          <p:cNvSpPr txBox="1">
            <a:spLocks noChangeArrowheads="1"/>
          </p:cNvSpPr>
          <p:nvPr/>
        </p:nvSpPr>
        <p:spPr bwMode="auto">
          <a:xfrm>
            <a:off x="3390254" y="2776185"/>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45" name="文本框 2"/>
          <p:cNvSpPr txBox="1">
            <a:spLocks noChangeArrowheads="1"/>
          </p:cNvSpPr>
          <p:nvPr/>
        </p:nvSpPr>
        <p:spPr bwMode="auto">
          <a:xfrm>
            <a:off x="2388235" y="2358390"/>
            <a:ext cx="89839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rPr>
              <a:t>武汉理工大学基本情况</a:t>
            </a:r>
            <a:endPar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6" name="文本框 28"/>
          <p:cNvSpPr txBox="1">
            <a:spLocks noChangeArrowheads="1"/>
          </p:cNvSpPr>
          <p:nvPr/>
        </p:nvSpPr>
        <p:spPr bwMode="auto">
          <a:xfrm>
            <a:off x="1487488" y="2738259"/>
            <a:ext cx="7477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一</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charset="0"/>
                <a:cs typeface="Arial" panose="020B0604020202020204" pitchFamily="34" charset="0"/>
              </a:endParaRPr>
            </a:p>
          </p:txBody>
        </p:sp>
      </p:grpSp>
      <p:sp>
        <p:nvSpPr>
          <p:cNvPr id="8196" name="矩形 1"/>
          <p:cNvSpPr>
            <a:spLocks noChangeArrowheads="1"/>
          </p:cNvSpPr>
          <p:nvPr/>
        </p:nvSpPr>
        <p:spPr bwMode="auto">
          <a:xfrm>
            <a:off x="3282791" y="2527290"/>
            <a:ext cx="6393160" cy="646331"/>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一、武汉理工大学</a:t>
            </a:r>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rPr>
              <a:t>基本情况</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79376" y="763938"/>
            <a:ext cx="11233248" cy="5617390"/>
          </a:xfrm>
          <a:prstGeom prst="roundRect">
            <a:avLst>
              <a:gd name="adj" fmla="val 5362"/>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defRPr/>
            </a:pPr>
            <a:endParaRPr lang="zh-CN" altLang="en-US" dirty="0"/>
          </a:p>
        </p:txBody>
      </p:sp>
      <p:sp>
        <p:nvSpPr>
          <p:cNvPr id="2" name="矩形 1"/>
          <p:cNvSpPr/>
          <p:nvPr/>
        </p:nvSpPr>
        <p:spPr>
          <a:xfrm>
            <a:off x="911806" y="1444784"/>
            <a:ext cx="10501386" cy="3969385"/>
          </a:xfrm>
          <a:prstGeom prst="rect">
            <a:avLst/>
          </a:prstGeom>
        </p:spPr>
        <p:txBody>
          <a:bodyPr wrap="square">
            <a:spAutoFit/>
          </a:bodyPr>
          <a:lstStyle/>
          <a:p>
            <a:pPr algn="just">
              <a:lnSpc>
                <a:spcPct val="150000"/>
              </a:lnSpc>
            </a:pPr>
            <a:r>
              <a:rPr lang="zh-CN" altLang="zh-CN" sz="2400" dirty="0">
                <a:solidFill>
                  <a:srgbClr val="C00000"/>
                </a:solidFill>
                <a:latin typeface="微软雅黑" panose="020B0503020204020204" charset="-122"/>
                <a:ea typeface="微软雅黑" panose="020B0503020204020204" charset="-122"/>
              </a:rPr>
              <a:t>武汉理工大学</a:t>
            </a:r>
            <a:r>
              <a:rPr altLang="zh-CN" sz="2400" dirty="0">
                <a:solidFill>
                  <a:srgbClr val="00469A"/>
                </a:solidFill>
                <a:latin typeface="微软雅黑" panose="020B0503020204020204" charset="-122"/>
                <a:ea typeface="微软雅黑" panose="020B0503020204020204" charset="-122"/>
              </a:rPr>
              <a:t>是首批列入国家“211工程”重点建设的教育部直属全国重点大学，首批列入国家“双一流计划”建设高校，是教育部和交通运输部、国防科技工业局共建高校。学校在建材建工、交通船舶、汽车机电三大行业和战略新兴产业技术领域具有领先的科技与人才优势。办学122年特别是近70年来，学校共培养毕业生60余万人，是教育部直属高校中为三大行业培养人才规模最大的学校，已成为我国三大行业高层次人才培养和科技创新的重要基地。</a:t>
            </a:r>
            <a:endParaRPr altLang="zh-CN" sz="2400" dirty="0">
              <a:solidFill>
                <a:srgbClr val="00469A"/>
              </a:solidFill>
              <a:latin typeface="微软雅黑" panose="020B0503020204020204" charset="-122"/>
              <a:ea typeface="微软雅黑" panose="020B0503020204020204" charset="-122"/>
            </a:endParaRPr>
          </a:p>
        </p:txBody>
      </p:sp>
      <p:sp>
        <p:nvSpPr>
          <p:cNvPr id="7" name="矩形 6"/>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endParaRPr lang="zh-CN" altLang="en-US" sz="28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4"/>
          <p:cNvSpPr/>
          <p:nvPr/>
        </p:nvSpPr>
        <p:spPr bwMode="auto">
          <a:xfrm>
            <a:off x="342983" y="1156318"/>
            <a:ext cx="5544616" cy="5078329"/>
          </a:xfrm>
          <a:prstGeom prst="roundRect">
            <a:avLst>
              <a:gd name="adj" fmla="val 3676"/>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2" name="矩形 1"/>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r>
              <a:rPr lang="en-US" altLang="zh-CN" sz="2800" dirty="0">
                <a:solidFill>
                  <a:schemeClr val="bg1"/>
                </a:solidFill>
                <a:latin typeface="微软雅黑" panose="020B0503020204020204" charset="-122"/>
                <a:ea typeface="微软雅黑" panose="020B0503020204020204" charset="-122"/>
              </a:rPr>
              <a:t>-</a:t>
            </a:r>
            <a:r>
              <a:rPr lang="zh-CN" altLang="en-US" sz="2800" dirty="0">
                <a:solidFill>
                  <a:schemeClr val="bg1"/>
                </a:solidFill>
                <a:latin typeface="微软雅黑" panose="020B0503020204020204" charset="-122"/>
                <a:ea typeface="微软雅黑" panose="020B0503020204020204" charset="-122"/>
              </a:rPr>
              <a:t>平台优势</a:t>
            </a:r>
            <a:endParaRPr lang="zh-CN" altLang="en-US" sz="2800" dirty="0">
              <a:solidFill>
                <a:schemeClr val="bg1"/>
              </a:solidFill>
            </a:endParaRPr>
          </a:p>
        </p:txBody>
      </p:sp>
      <p:sp>
        <p:nvSpPr>
          <p:cNvPr id="3" name="矩形 2"/>
          <p:cNvSpPr/>
          <p:nvPr/>
        </p:nvSpPr>
        <p:spPr>
          <a:xfrm>
            <a:off x="460590" y="1139021"/>
            <a:ext cx="5283577" cy="5023619"/>
          </a:xfrm>
          <a:prstGeom prst="rect">
            <a:avLst/>
          </a:prstGeom>
        </p:spPr>
        <p:txBody>
          <a:bodyPr wrap="square">
            <a:spAutoFit/>
          </a:bodyPr>
          <a:lstStyle/>
          <a:p>
            <a:pPr algn="ctr">
              <a:lnSpc>
                <a:spcPct val="125000"/>
              </a:lnSpc>
              <a:spcAft>
                <a:spcPts val="1200"/>
              </a:spcAft>
            </a:pPr>
            <a:r>
              <a:rPr lang="zh-CN" altLang="en-US" sz="2400" dirty="0">
                <a:solidFill>
                  <a:srgbClr val="C00000"/>
                </a:solidFill>
                <a:latin typeface="微软雅黑" panose="020B0503020204020204" charset="-122"/>
                <a:ea typeface="微软雅黑" panose="020B0503020204020204" charset="-122"/>
              </a:rPr>
              <a:t>国家级和省部级科研基地</a:t>
            </a:r>
            <a:endParaRPr lang="zh-CN" altLang="en-US" sz="2400" dirty="0">
              <a:solidFill>
                <a:srgbClr val="C00000"/>
              </a:solidFill>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学校拥有</a:t>
            </a:r>
            <a:r>
              <a:rPr lang="en-US" altLang="zh-CN" dirty="0">
                <a:latin typeface="微软雅黑" panose="020B0503020204020204" charset="-122"/>
                <a:ea typeface="微软雅黑" panose="020B0503020204020204" charset="-122"/>
              </a:rPr>
              <a:t>52</a:t>
            </a:r>
            <a:r>
              <a:rPr lang="zh-CN" altLang="en-US" b="0" dirty="0">
                <a:latin typeface="微软雅黑" panose="020B0503020204020204" charset="-122"/>
                <a:ea typeface="微软雅黑" panose="020B0503020204020204" charset="-122"/>
              </a:rPr>
              <a:t>个国家级与省部级科研基地，</a:t>
            </a:r>
            <a:endParaRPr lang="en-US" altLang="zh-CN" b="0" dirty="0">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涵盖材料、建筑、交通、智能航运等多个关键领域：</a:t>
            </a:r>
            <a:endParaRPr lang="zh-CN" altLang="en-US"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材料复合新技术国家重点实验室、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硅酸盐建筑材料国家重点实验室、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国家水运安全工程技术研究中心、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水路交通控制全国重点实验室、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光纤传感技术与网络国家工程研究中心、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港口物流技术与装备教育部工程研究中心、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船舶动力工程技术交通运输行业重点实验室。</a:t>
            </a:r>
            <a:endParaRPr lang="zh-CN" altLang="en-US" b="0" dirty="0">
              <a:latin typeface="微软雅黑" panose="020B0503020204020204" charset="-122"/>
              <a:ea typeface="微软雅黑" panose="020B0503020204020204" charset="-122"/>
            </a:endParaRPr>
          </a:p>
        </p:txBody>
      </p:sp>
      <p:sp>
        <p:nvSpPr>
          <p:cNvPr id="6" name="圆角矩形 34"/>
          <p:cNvSpPr/>
          <p:nvPr/>
        </p:nvSpPr>
        <p:spPr bwMode="auto">
          <a:xfrm>
            <a:off x="6106399" y="1156319"/>
            <a:ext cx="5544616" cy="2126001"/>
          </a:xfrm>
          <a:prstGeom prst="roundRect">
            <a:avLst>
              <a:gd name="adj" fmla="val 5363"/>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7" name="矩形 6"/>
          <p:cNvSpPr/>
          <p:nvPr/>
        </p:nvSpPr>
        <p:spPr>
          <a:xfrm>
            <a:off x="6012635" y="1194088"/>
            <a:ext cx="5688632" cy="1971502"/>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省部级协同创新平台</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内河智能航运交通运输行业协同创新平台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汽车零部件技术湖北省协同创新中心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安全预警与应急联动技术湖北省协同创新中心</a:t>
            </a:r>
            <a:endParaRPr lang="zh-CN" altLang="en-US" b="0" dirty="0">
              <a:latin typeface="微软雅黑" panose="020B0503020204020204" charset="-122"/>
              <a:ea typeface="微软雅黑" panose="020B0503020204020204" charset="-122"/>
            </a:endParaRPr>
          </a:p>
        </p:txBody>
      </p:sp>
      <p:sp>
        <p:nvSpPr>
          <p:cNvPr id="8" name="圆角矩形 34"/>
          <p:cNvSpPr/>
          <p:nvPr/>
        </p:nvSpPr>
        <p:spPr bwMode="auto">
          <a:xfrm>
            <a:off x="6106399" y="3525606"/>
            <a:ext cx="5544616" cy="2709042"/>
          </a:xfrm>
          <a:prstGeom prst="roundRect">
            <a:avLst>
              <a:gd name="adj" fmla="val 4744"/>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9" name="矩形 8"/>
          <p:cNvSpPr/>
          <p:nvPr/>
        </p:nvSpPr>
        <p:spPr>
          <a:xfrm>
            <a:off x="6023992" y="3604565"/>
            <a:ext cx="5688632" cy="2317750"/>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科技成果</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与企业、政府共建</a:t>
            </a:r>
            <a:r>
              <a:rPr lang="en-US" altLang="zh-CN" b="0" dirty="0">
                <a:latin typeface="微软雅黑" panose="020B0503020204020204" charset="-122"/>
                <a:ea typeface="微软雅黑" panose="020B0503020204020204" charset="-122"/>
              </a:rPr>
              <a:t>204</a:t>
            </a:r>
            <a:r>
              <a:rPr lang="zh-CN" altLang="en-US" b="0" dirty="0">
                <a:latin typeface="微软雅黑" panose="020B0503020204020204" charset="-122"/>
                <a:ea typeface="微软雅黑" panose="020B0503020204020204" charset="-122"/>
              </a:rPr>
              <a:t>个产学研合作服务平台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入选首批国家知识产权示范高校</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近五年获得国家自然科学奖</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项、国家技术发明奖</a:t>
            </a:r>
            <a:r>
              <a:rPr lang="en-US" altLang="zh-CN" b="0" dirty="0">
                <a:latin typeface="微软雅黑" panose="020B0503020204020204" charset="-122"/>
                <a:ea typeface="微软雅黑" panose="020B0503020204020204" charset="-122"/>
              </a:rPr>
              <a:t>3</a:t>
            </a:r>
            <a:r>
              <a:rPr lang="zh-CN" altLang="en-US" b="0" dirty="0">
                <a:latin typeface="微软雅黑" panose="020B0503020204020204" charset="-122"/>
                <a:ea typeface="微软雅黑" panose="020B0503020204020204" charset="-122"/>
              </a:rPr>
              <a:t>项、国家科技进步奖</a:t>
            </a:r>
            <a:r>
              <a:rPr lang="en-US" altLang="zh-CN" b="0" dirty="0">
                <a:latin typeface="微软雅黑" panose="020B0503020204020204" charset="-122"/>
                <a:ea typeface="微软雅黑" panose="020B0503020204020204" charset="-122"/>
              </a:rPr>
              <a:t>4</a:t>
            </a:r>
            <a:r>
              <a:rPr lang="zh-CN" altLang="en-US" b="0" dirty="0">
                <a:latin typeface="微软雅黑" panose="020B0503020204020204" charset="-122"/>
                <a:ea typeface="微软雅黑" panose="020B0503020204020204" charset="-122"/>
              </a:rPr>
              <a:t>项</a:t>
            </a:r>
            <a:endParaRPr lang="en-US" altLang="zh-CN" b="0" dirty="0">
              <a:latin typeface="微软雅黑" panose="020B0503020204020204" charset="-122"/>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1349107" y="2527290"/>
            <a:ext cx="9841866" cy="645160"/>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二、上海电气</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en-US" altLang="zh-CN"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
            </a:r>
            <a:r>
              <a:rPr lang="zh-CN" altLang="en-US" sz="3600" dirty="0">
                <a:ln w="18415" cmpd="sng">
                  <a:solidFill>
                    <a:srgbClr val="FFFFFF"/>
                  </a:solidFill>
                  <a:prstDash val="solid"/>
                </a:ln>
                <a:solidFill>
                  <a:schemeClr val="bg1"/>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sym typeface="+mn-ea"/>
              </a:rPr>
              <a:t>重点服务领域</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1</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、方法类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一种基于室内外位置信息的船舶应急疏散方法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一种桥区水域船舶通航预警方法及预警系统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一种桥区水域船舶通航预警方法及预警系统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一种桥区水域船舶通航预警方法及预警系统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一种海量船舶AIS轨迹数据在线压缩方法及装置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基于WiFi的船舶驾驶室人员值班行为识别方法及系统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基于WiFi的船舶驾驶室人员值班行为识别方法及系统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基于WiFi的船舶驾驶室人员值班行为识别方法及系统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海上拖带系统AIS虚拟警戒标标示系统及方法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海上拖带系统AIS虚拟警戒标标示系统及方法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海上拖带系统AIS虚拟警戒标标示系统及方法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2</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、技术类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一种可自动排缆的多级分隔式卷筒</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一种基于边缘计算的客轮人员定位导航系统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一种基于边缘计算的客轮人员定位导航系统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一种基于边缘计算的客轮人员定位导航系统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一种无人救援水面艇的救援物料存储柜</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一种桥区水域船舶通航预警系统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6350.311811023622,&quot;width&quot;:192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Words>
  <Application>WPS 演示</Application>
  <PresentationFormat>宽屏</PresentationFormat>
  <Paragraphs>27</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黑体</vt:lpstr>
      <vt:lpstr>Calibri</vt:lpstr>
      <vt:lpstr>Arial Unicode MS</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10725</dc:creator>
  <cp:lastModifiedBy>lmyg</cp:lastModifiedBy>
  <cp:revision>12</cp:revision>
  <dcterms:created xsi:type="dcterms:W3CDTF">2023-08-09T12:44:00Z</dcterms:created>
  <dcterms:modified xsi:type="dcterms:W3CDTF">2026-03-30T14:52:13Z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1E3A4F3B5DB248D8B25F2F7F07DAE0DA_12</vt:lpwstr>
  </property>
</Properties>
</file>