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image" Target="../media/image18.png"/><Relationship Id="rId4" Type="http://schemas.openxmlformats.org/officeDocument/2006/relationships/image" Target="../media/image19.png"/><Relationship Id="rId3" Type="http://schemas.openxmlformats.org/officeDocument/2006/relationships/image" Target="../media/image20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3.jpeg"/><Relationship Id="rId7" Type="http://schemas.openxmlformats.org/officeDocument/2006/relationships/image" Target="../media/image24.png"/><Relationship Id="rId6" Type="http://schemas.openxmlformats.org/officeDocument/2006/relationships/image" Target="../media/image25.png"/><Relationship Id="rId5" Type="http://schemas.openxmlformats.org/officeDocument/2006/relationships/image" Target="../media/image26.png"/><Relationship Id="rId4" Type="http://schemas.openxmlformats.org/officeDocument/2006/relationships/image" Target="../media/image27.png"/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31.png"/><Relationship Id="rId7" Type="http://schemas.openxmlformats.org/officeDocument/2006/relationships/image" Target="../media/image32.png"/><Relationship Id="rId6" Type="http://schemas.openxmlformats.org/officeDocument/2006/relationships/image" Target="../media/image33.png"/><Relationship Id="rId5" Type="http://schemas.openxmlformats.org/officeDocument/2006/relationships/image" Target="../media/image34.jpeg"/><Relationship Id="rId4" Type="http://schemas.openxmlformats.org/officeDocument/2006/relationships/image" Target="../media/image35.png"/><Relationship Id="rId3" Type="http://schemas.openxmlformats.org/officeDocument/2006/relationships/image" Target="../media/image36.jpeg"/><Relationship Id="rId2" Type="http://schemas.openxmlformats.org/officeDocument/2006/relationships/image" Target="../media/image37.jpeg"/><Relationship Id="rId11" Type="http://schemas.openxmlformats.org/officeDocument/2006/relationships/image" Target="../media/image38.png"/><Relationship Id="rId10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jpeg"/><Relationship Id="rId8" Type="http://schemas.openxmlformats.org/officeDocument/2006/relationships/image" Target="../media/image47.png"/><Relationship Id="rId7" Type="http://schemas.openxmlformats.org/officeDocument/2006/relationships/image" Target="../media/image42.png"/><Relationship Id="rId6" Type="http://schemas.openxmlformats.org/officeDocument/2006/relationships/image" Target="../media/image43.jpeg"/><Relationship Id="rId5" Type="http://schemas.openxmlformats.org/officeDocument/2006/relationships/image" Target="../media/image44.jpeg"/><Relationship Id="rId4" Type="http://schemas.openxmlformats.org/officeDocument/2006/relationships/image" Target="../media/image45.jpeg"/><Relationship Id="rId3" Type="http://schemas.openxmlformats.org/officeDocument/2006/relationships/image" Target="../media/image46.jpeg"/><Relationship Id="rId20" Type="http://schemas.openxmlformats.org/officeDocument/2006/relationships/image" Target="../media/image47.png"/><Relationship Id="rId2" Type="http://schemas.openxmlformats.org/officeDocument/2006/relationships/image" Target="../media/image48.jpeg"/><Relationship Id="rId19" Type="http://schemas.openxmlformats.org/officeDocument/2006/relationships/image" Target="../media/image49.png"/><Relationship Id="rId18" Type="http://schemas.openxmlformats.org/officeDocument/2006/relationships/image" Target="../media/image50.png"/><Relationship Id="rId17" Type="http://schemas.openxmlformats.org/officeDocument/2006/relationships/image" Target="../media/image51.png"/><Relationship Id="rId16" Type="http://schemas.openxmlformats.org/officeDocument/2006/relationships/image" Target="../media/image52.png"/><Relationship Id="rId15" Type="http://schemas.openxmlformats.org/officeDocument/2006/relationships/image" Target="../media/image53.png"/><Relationship Id="rId14" Type="http://schemas.openxmlformats.org/officeDocument/2006/relationships/image" Target="../media/image54.jpeg"/><Relationship Id="rId13" Type="http://schemas.openxmlformats.org/officeDocument/2006/relationships/image" Target="../media/image55.png"/><Relationship Id="rId12" Type="http://schemas.openxmlformats.org/officeDocument/2006/relationships/image" Target="../media/image56.png"/><Relationship Id="rId11" Type="http://schemas.openxmlformats.org/officeDocument/2006/relationships/image" Target="../media/image57.jpeg"/><Relationship Id="rId10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image" Target="../media/image28.png"/><Relationship Id="rId5" Type="http://schemas.openxmlformats.org/officeDocument/2006/relationships/image" Target="../media/image29.png"/><Relationship Id="rId4" Type="http://schemas.openxmlformats.org/officeDocument/2006/relationships/image" Target="../media/image18.png"/><Relationship Id="rId3" Type="http://schemas.openxmlformats.org/officeDocument/2006/relationships/image" Target="../media/image19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image" Target="../media/image24.png"/><Relationship Id="rId4" Type="http://schemas.openxmlformats.org/officeDocument/2006/relationships/image" Target="../media/image25.png"/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image" Target="../media/image18.png"/><Relationship Id="rId4" Type="http://schemas.openxmlformats.org/officeDocument/2006/relationships/image" Target="../media/image19.png"/><Relationship Id="rId3" Type="http://schemas.openxmlformats.org/officeDocument/2006/relationships/image" Target="../media/image20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7" Type="http://schemas.openxmlformats.org/officeDocument/2006/relationships/image" Target="../media/image24.png"/><Relationship Id="rId6" Type="http://schemas.openxmlformats.org/officeDocument/2006/relationships/image" Target="../media/image25.png"/><Relationship Id="rId5" Type="http://schemas.openxmlformats.org/officeDocument/2006/relationships/image" Target="../media/image26.png"/><Relationship Id="rId4" Type="http://schemas.openxmlformats.org/officeDocument/2006/relationships/image" Target="../media/image27.png"/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6.jpeg"/><Relationship Id="rId3" Type="http://schemas.openxmlformats.org/officeDocument/2006/relationships/image" Target="../media/image37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7.png"/><Relationship Id="rId7" Type="http://schemas.openxmlformats.org/officeDocument/2006/relationships/image" Target="../media/image28.png"/><Relationship Id="rId6" Type="http://schemas.openxmlformats.org/officeDocument/2006/relationships/image" Target="../media/image29.png"/><Relationship Id="rId5" Type="http://schemas.openxmlformats.org/officeDocument/2006/relationships/image" Target="../media/image18.png"/><Relationship Id="rId4" Type="http://schemas.openxmlformats.org/officeDocument/2006/relationships/image" Target="../media/image19.png"/><Relationship Id="rId3" Type="http://schemas.openxmlformats.org/officeDocument/2006/relationships/image" Target="../media/image20.jpeg"/><Relationship Id="rId2" Type="http://schemas.openxmlformats.org/officeDocument/2006/relationships/image" Target="../media/image21.jpeg"/><Relationship Id="rId19" Type="http://schemas.openxmlformats.org/officeDocument/2006/relationships/image" Target="../media/image32.png"/><Relationship Id="rId18" Type="http://schemas.openxmlformats.org/officeDocument/2006/relationships/image" Target="../media/image33.png"/><Relationship Id="rId17" Type="http://schemas.openxmlformats.org/officeDocument/2006/relationships/image" Target="../media/image34.jpeg"/><Relationship Id="rId16" Type="http://schemas.openxmlformats.org/officeDocument/2006/relationships/image" Target="../media/image35.png"/><Relationship Id="rId15" Type="http://schemas.openxmlformats.org/officeDocument/2006/relationships/image" Target="../media/image36.jpeg"/><Relationship Id="rId14" Type="http://schemas.openxmlformats.org/officeDocument/2006/relationships/image" Target="../media/image37.jpeg"/><Relationship Id="rId13" Type="http://schemas.openxmlformats.org/officeDocument/2006/relationships/image" Target="../media/image22.png"/><Relationship Id="rId12" Type="http://schemas.openxmlformats.org/officeDocument/2006/relationships/image" Target="../media/image23.jpeg"/><Relationship Id="rId11" Type="http://schemas.openxmlformats.org/officeDocument/2006/relationships/image" Target="../media/image24.png"/><Relationship Id="rId10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jpeg"/><Relationship Id="rId8" Type="http://schemas.openxmlformats.org/officeDocument/2006/relationships/image" Target="../media/image45.jpeg"/><Relationship Id="rId7" Type="http://schemas.openxmlformats.org/officeDocument/2006/relationships/image" Target="../media/image46.jpeg"/><Relationship Id="rId6" Type="http://schemas.openxmlformats.org/officeDocument/2006/relationships/image" Target="../media/image48.jpeg"/><Relationship Id="rId5" Type="http://schemas.openxmlformats.org/officeDocument/2006/relationships/image" Target="../media/image38.png"/><Relationship Id="rId4" Type="http://schemas.openxmlformats.org/officeDocument/2006/relationships/image" Target="../media/image39.png"/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png"/><Relationship Id="rId8" Type="http://schemas.openxmlformats.org/officeDocument/2006/relationships/image" Target="../media/image56.png"/><Relationship Id="rId7" Type="http://schemas.openxmlformats.org/officeDocument/2006/relationships/image" Target="../media/image57.jpeg"/><Relationship Id="rId6" Type="http://schemas.openxmlformats.org/officeDocument/2006/relationships/image" Target="../media/image58.jpeg"/><Relationship Id="rId5" Type="http://schemas.openxmlformats.org/officeDocument/2006/relationships/image" Target="../media/image40.jpeg"/><Relationship Id="rId4" Type="http://schemas.openxmlformats.org/officeDocument/2006/relationships/image" Target="../media/image41.png"/><Relationship Id="rId3" Type="http://schemas.openxmlformats.org/officeDocument/2006/relationships/image" Target="../media/image42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image" Target="../media/image28.png"/><Relationship Id="rId6" Type="http://schemas.openxmlformats.org/officeDocument/2006/relationships/image" Target="../media/image29.png"/><Relationship Id="rId5" Type="http://schemas.openxmlformats.org/officeDocument/2006/relationships/image" Target="../media/image18.png"/><Relationship Id="rId4" Type="http://schemas.openxmlformats.org/officeDocument/2006/relationships/image" Target="../media/image19.png"/><Relationship Id="rId3" Type="http://schemas.openxmlformats.org/officeDocument/2006/relationships/image" Target="../media/image20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jpeg"/><Relationship Id="rId8" Type="http://schemas.openxmlformats.org/officeDocument/2006/relationships/image" Target="../media/image37.jpeg"/><Relationship Id="rId7" Type="http://schemas.openxmlformats.org/officeDocument/2006/relationships/image" Target="../media/image22.png"/><Relationship Id="rId6" Type="http://schemas.openxmlformats.org/officeDocument/2006/relationships/image" Target="../media/image23.jpeg"/><Relationship Id="rId5" Type="http://schemas.openxmlformats.org/officeDocument/2006/relationships/image" Target="../media/image24.png"/><Relationship Id="rId4" Type="http://schemas.openxmlformats.org/officeDocument/2006/relationships/image" Target="../media/image25.png"/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image" Target="../media/image30.png"/><Relationship Id="rId6" Type="http://schemas.openxmlformats.org/officeDocument/2006/relationships/image" Target="../media/image31.png"/><Relationship Id="rId5" Type="http://schemas.openxmlformats.org/officeDocument/2006/relationships/image" Target="../media/image32.png"/><Relationship Id="rId4" Type="http://schemas.openxmlformats.org/officeDocument/2006/relationships/image" Target="../media/image33.png"/><Relationship Id="rId3" Type="http://schemas.openxmlformats.org/officeDocument/2006/relationships/image" Target="../media/image34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image" Target="../media/image28.png"/><Relationship Id="rId5" Type="http://schemas.openxmlformats.org/officeDocument/2006/relationships/image" Target="../media/image29.png"/><Relationship Id="rId4" Type="http://schemas.openxmlformats.org/officeDocument/2006/relationships/image" Target="../media/image18.png"/><Relationship Id="rId3" Type="http://schemas.openxmlformats.org/officeDocument/2006/relationships/image" Target="../media/image19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image" Target="../media/image26.png"/><Relationship Id="rId7" Type="http://schemas.openxmlformats.org/officeDocument/2006/relationships/image" Target="../media/image27.png"/><Relationship Id="rId6" Type="http://schemas.openxmlformats.org/officeDocument/2006/relationships/image" Target="../media/image28.png"/><Relationship Id="rId5" Type="http://schemas.openxmlformats.org/officeDocument/2006/relationships/image" Target="../media/image29.png"/><Relationship Id="rId4" Type="http://schemas.openxmlformats.org/officeDocument/2006/relationships/image" Target="../media/image18.png"/><Relationship Id="rId3" Type="http://schemas.openxmlformats.org/officeDocument/2006/relationships/image" Target="../media/image19.png"/><Relationship Id="rId2" Type="http://schemas.openxmlformats.org/officeDocument/2006/relationships/image" Target="../media/image20.jpeg"/><Relationship Id="rId15" Type="http://schemas.openxmlformats.org/officeDocument/2006/relationships/image" Target="../media/image35.png"/><Relationship Id="rId14" Type="http://schemas.openxmlformats.org/officeDocument/2006/relationships/image" Target="../media/image36.jpeg"/><Relationship Id="rId13" Type="http://schemas.openxmlformats.org/officeDocument/2006/relationships/image" Target="../media/image37.jpeg"/><Relationship Id="rId12" Type="http://schemas.openxmlformats.org/officeDocument/2006/relationships/image" Target="../media/image22.png"/><Relationship Id="rId11" Type="http://schemas.openxmlformats.org/officeDocument/2006/relationships/image" Target="../media/image23.jpeg"/><Relationship Id="rId10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2.png"/><Relationship Id="rId3" Type="http://schemas.openxmlformats.org/officeDocument/2006/relationships/image" Target="../media/image33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7" Type="http://schemas.openxmlformats.org/officeDocument/2006/relationships/image" Target="../media/image26.png"/><Relationship Id="rId6" Type="http://schemas.openxmlformats.org/officeDocument/2006/relationships/image" Target="../media/image27.png"/><Relationship Id="rId5" Type="http://schemas.openxmlformats.org/officeDocument/2006/relationships/image" Target="../media/image28.png"/><Relationship Id="rId4" Type="http://schemas.openxmlformats.org/officeDocument/2006/relationships/image" Target="../media/image29.png"/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image" Target="../media/image37.jpeg"/><Relationship Id="rId4" Type="http://schemas.openxmlformats.org/officeDocument/2006/relationships/image" Target="../media/image22.png"/><Relationship Id="rId3" Type="http://schemas.openxmlformats.org/officeDocument/2006/relationships/image" Target="../media/image23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image" Target="../media/image18.png"/><Relationship Id="rId4" Type="http://schemas.openxmlformats.org/officeDocument/2006/relationships/image" Target="../media/image19.png"/><Relationship Id="rId3" Type="http://schemas.openxmlformats.org/officeDocument/2006/relationships/image" Target="../media/image20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3.jpeg"/><Relationship Id="rId7" Type="http://schemas.openxmlformats.org/officeDocument/2006/relationships/image" Target="../media/image24.png"/><Relationship Id="rId6" Type="http://schemas.openxmlformats.org/officeDocument/2006/relationships/image" Target="../media/image25.png"/><Relationship Id="rId5" Type="http://schemas.openxmlformats.org/officeDocument/2006/relationships/image" Target="../media/image26.png"/><Relationship Id="rId4" Type="http://schemas.openxmlformats.org/officeDocument/2006/relationships/image" Target="../media/image27.png"/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1" Type="http://schemas.openxmlformats.org/officeDocument/2006/relationships/image" Target="../media/image36.jpeg"/><Relationship Id="rId10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7" Type="http://schemas.openxmlformats.org/officeDocument/2006/relationships/image" Target="../media/image30.png"/><Relationship Id="rId6" Type="http://schemas.openxmlformats.org/officeDocument/2006/relationships/image" Target="../media/image31.png"/><Relationship Id="rId5" Type="http://schemas.openxmlformats.org/officeDocument/2006/relationships/image" Target="../media/image32.png"/><Relationship Id="rId4" Type="http://schemas.openxmlformats.org/officeDocument/2006/relationships/image" Target="../media/image33.png"/><Relationship Id="rId3" Type="http://schemas.openxmlformats.org/officeDocument/2006/relationships/image" Target="../media/image34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image" Target="../media/image27.png"/><Relationship Id="rId6" Type="http://schemas.openxmlformats.org/officeDocument/2006/relationships/image" Target="../media/image28.png"/><Relationship Id="rId5" Type="http://schemas.openxmlformats.org/officeDocument/2006/relationships/image" Target="../media/image29.png"/><Relationship Id="rId4" Type="http://schemas.openxmlformats.org/officeDocument/2006/relationships/image" Target="../media/image18.png"/><Relationship Id="rId3" Type="http://schemas.openxmlformats.org/officeDocument/2006/relationships/image" Target="../media/image19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5.png"/><Relationship Id="rId7" Type="http://schemas.openxmlformats.org/officeDocument/2006/relationships/image" Target="../media/image26.png"/><Relationship Id="rId6" Type="http://schemas.openxmlformats.org/officeDocument/2006/relationships/image" Target="../media/image27.png"/><Relationship Id="rId5" Type="http://schemas.openxmlformats.org/officeDocument/2006/relationships/image" Target="../media/image28.png"/><Relationship Id="rId4" Type="http://schemas.openxmlformats.org/officeDocument/2006/relationships/image" Target="../media/image29.png"/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3" Type="http://schemas.openxmlformats.org/officeDocument/2006/relationships/image" Target="../media/image36.jpeg"/><Relationship Id="rId12" Type="http://schemas.openxmlformats.org/officeDocument/2006/relationships/image" Target="../media/image37.jpeg"/><Relationship Id="rId11" Type="http://schemas.openxmlformats.org/officeDocument/2006/relationships/image" Target="../media/image22.png"/><Relationship Id="rId10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image" Target="../media/image31.png"/><Relationship Id="rId5" Type="http://schemas.openxmlformats.org/officeDocument/2006/relationships/image" Target="../media/image32.png"/><Relationship Id="rId4" Type="http://schemas.openxmlformats.org/officeDocument/2006/relationships/image" Target="../media/image33.png"/><Relationship Id="rId3" Type="http://schemas.openxmlformats.org/officeDocument/2006/relationships/image" Target="../media/image34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image" Target="../media/image29.png"/><Relationship Id="rId5" Type="http://schemas.openxmlformats.org/officeDocument/2006/relationships/image" Target="../media/image18.png"/><Relationship Id="rId4" Type="http://schemas.openxmlformats.org/officeDocument/2006/relationships/image" Target="../media/image19.png"/><Relationship Id="rId3" Type="http://schemas.openxmlformats.org/officeDocument/2006/relationships/image" Target="../media/image20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7" Type="http://schemas.openxmlformats.org/officeDocument/2006/relationships/image" Target="../media/image23.jpeg"/><Relationship Id="rId6" Type="http://schemas.openxmlformats.org/officeDocument/2006/relationships/image" Target="../media/image24.png"/><Relationship Id="rId5" Type="http://schemas.openxmlformats.org/officeDocument/2006/relationships/image" Target="../media/image25.png"/><Relationship Id="rId4" Type="http://schemas.openxmlformats.org/officeDocument/2006/relationships/image" Target="../media/image26.png"/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6.jpeg"/><Relationship Id="rId3" Type="http://schemas.openxmlformats.org/officeDocument/2006/relationships/image" Target="../media/image37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2026年6月7日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智能体汇报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" y="329184"/>
            <a:ext cx="1220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汇报内容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58952" y="1627632"/>
            <a:ext cx="10698480" cy="2770632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2700">
            <a:solidFill>
              <a:srgbClr val="00469A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1920240" y="1993392"/>
            <a:ext cx="1207008" cy="466344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993392"/>
            <a:ext cx="8083296" cy="466344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002536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64992" y="2002536"/>
            <a:ext cx="77541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新材料与绿色建材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2551176"/>
            <a:ext cx="1207008" cy="466344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551176"/>
            <a:ext cx="8083296" cy="466344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560320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64992" y="2560320"/>
            <a:ext cx="77541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船舶与海洋工程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920240" y="3108960"/>
            <a:ext cx="1207008" cy="466344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3108960"/>
            <a:ext cx="8083296" cy="466344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3118104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64992" y="3118104"/>
            <a:ext cx="77541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信息技术与人工智能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920240" y="3666744"/>
            <a:ext cx="1207008" cy="466344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3666744"/>
            <a:ext cx="8083296" cy="466344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3675888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64992" y="3675888"/>
            <a:ext cx="77541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光纤传感与光电技术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6556248"/>
            <a:ext cx="12188952" cy="329184"/>
          </a:xfrm>
          <a:prstGeom prst="rect">
            <a:avLst/>
          </a:prstGeom>
          <a:solidFill>
            <a:srgbClr val="0B5AA2"/>
          </a:solidFill>
          <a:ln w="12700">
            <a:solidFill>
              <a:srgbClr val="0B5AA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556248"/>
            <a:ext cx="1755648" cy="329184"/>
          </a:xfrm>
          <a:prstGeom prst="rect">
            <a:avLst/>
          </a:prstGeom>
          <a:solidFill>
            <a:srgbClr val="FBC540"/>
          </a:solidFill>
          <a:ln w="12700">
            <a:solidFill>
              <a:srgbClr val="FBC54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、新材料与绿色建材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82867" y="1911096"/>
            <a:ext cx="5897879" cy="3875532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380500" y="1321017"/>
            <a:ext cx="5650865" cy="1851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5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岩质高陡边坡控制爆破与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安全监控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spcBef>
                <a:spcPts val="601"/>
              </a:spcBef>
              <a:tabLst/>
            </a:pP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岩体爆破开挖动力扰动诱发节理岩体松动分析。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边坡、地下洞室特殊部位精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细爆破施工方法。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93000"/>
              </a:lnSpc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岩质高边坡开挖变形全过程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监测及快速反馈。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17447" y="3486911"/>
            <a:ext cx="4338828" cy="2298191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1.6 岩质高陡边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坡（中隔墩）</a:t>
            </a:r>
            <a:r>
              <a:rPr sz="2700" kern="0" spc="-6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控制爆破与安全控制技术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913333" y="6017793"/>
            <a:ext cx="4346575" cy="381291"/>
            <a:chOff x="0" y="0"/>
            <a:chExt cx="4346575" cy="381291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346575" cy="381291"/>
            </a:xfrm>
            <a:prstGeom prst="rect">
              <a:avLst/>
            </a:prstGeom>
          </p:spPr>
        </p:pic>
        <p:sp>
          <p:nvSpPr>
            <p:cNvPr id="12" name="textbox 12"/>
            <p:cNvSpPr/>
            <p:nvPr/>
          </p:nvSpPr>
          <p:spPr>
            <a:xfrm>
              <a:off x="-12700" y="-12700"/>
              <a:ext cx="4371975" cy="4089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289050" algn="l" rtl="0" eaLnBrk="0">
                <a:lnSpc>
                  <a:spcPct val="88000"/>
                </a:lnSpc>
                <a:spcBef>
                  <a:spcPts val="3"/>
                </a:spcBef>
                <a:tabLst/>
              </a:pPr>
              <a:r>
                <a:rPr sz="15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白鹤滩水电站洞室群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6958533" y="6017793"/>
            <a:ext cx="4346574" cy="381291"/>
            <a:chOff x="0" y="0"/>
            <a:chExt cx="4346574" cy="381291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4346574" cy="381291"/>
            </a:xfrm>
            <a:prstGeom prst="rect">
              <a:avLst/>
            </a:prstGeom>
          </p:spPr>
        </p:pic>
        <p:sp>
          <p:nvSpPr>
            <p:cNvPr id="16" name="textbox 16"/>
            <p:cNvSpPr/>
            <p:nvPr/>
          </p:nvSpPr>
          <p:spPr>
            <a:xfrm>
              <a:off x="-12700" y="-12700"/>
              <a:ext cx="4371975" cy="407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068069" algn="l" rtl="0" eaLnBrk="0">
                <a:lnSpc>
                  <a:spcPct val="89000"/>
                </a:lnSpc>
                <a:spcBef>
                  <a:spcPts val="1"/>
                </a:spcBef>
                <a:tabLst/>
              </a:pPr>
              <a:r>
                <a:rPr sz="1500" b="1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永久船闸中隔墩及高</a:t>
              </a: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边坡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8" name="textbox 18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/>
          <p:nvPr/>
        </p:nvSpPr>
        <p:spPr>
          <a:xfrm>
            <a:off x="543331" y="1224927"/>
            <a:ext cx="6760844" cy="2117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多测点位移交叉影响分析识别边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坡位移响应特征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6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复杂地质条件区域高精度的地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应力分析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6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深部岩体时序断裂轮廓控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制爆破技术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动态的边坡位移监控指标优化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56031" y="2992132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56031" y="2407298"/>
            <a:ext cx="216408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56031" y="1822462"/>
            <a:ext cx="216408" cy="337718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56031" y="1237627"/>
            <a:ext cx="216408" cy="337718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7489825" y="3336925"/>
            <a:ext cx="4108450" cy="3044825"/>
            <a:chOff x="0" y="0"/>
            <a:chExt cx="4108450" cy="3044825"/>
          </a:xfrm>
        </p:grpSpPr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4108450" cy="3044825"/>
            </a:xfrm>
            <a:prstGeom prst="rect">
              <a:avLst/>
            </a:prstGeom>
          </p:spPr>
        </p:pic>
        <p:sp>
          <p:nvSpPr>
            <p:cNvPr id="32" name="textbox 32"/>
            <p:cNvSpPr/>
            <p:nvPr/>
          </p:nvSpPr>
          <p:spPr>
            <a:xfrm>
              <a:off x="118214" y="2755251"/>
              <a:ext cx="3878579" cy="2311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57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0000"/>
                </a:lnSpc>
                <a:tabLst/>
              </a:pPr>
              <a:r>
                <a:rPr sz="1500" kern="0" spc="10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特大型水电站地下厂房高</a:t>
              </a:r>
              <a:r>
                <a:rPr sz="15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边墙放大效应分析</a:t>
              </a:r>
              <a:endParaRPr sz="1500" dirty="0">
                <a:latin typeface="SimHei"/>
                <a:ea typeface="SimHei"/>
                <a:cs typeface="SimHei"/>
              </a:endParaRPr>
            </a:p>
          </p:txBody>
        </p:sp>
        <p:sp>
          <p:nvSpPr>
            <p:cNvPr id="34" name="textbox 34"/>
            <p:cNvSpPr/>
            <p:nvPr/>
          </p:nvSpPr>
          <p:spPr>
            <a:xfrm>
              <a:off x="1032614" y="55231"/>
              <a:ext cx="2049779" cy="2311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57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0000"/>
                </a:lnSpc>
                <a:tabLst/>
              </a:pPr>
              <a:r>
                <a:rPr sz="15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监测信息快速反馈平台</a:t>
              </a:r>
              <a:endParaRPr sz="15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36" name="pictur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504176" y="1016508"/>
            <a:ext cx="3900909" cy="2282631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07136" y="3759707"/>
            <a:ext cx="2956560" cy="2159507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742944" y="3759707"/>
            <a:ext cx="2891027" cy="2159508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2066110" y="6048996"/>
            <a:ext cx="3267709" cy="231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深地下工程开挖变形与破裂特征分析</a:t>
            </a:r>
            <a:endParaRPr sz="15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53568" y="1600200"/>
            <a:ext cx="2950464" cy="4671059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720840" y="1539240"/>
            <a:ext cx="3148583" cy="2310383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42055" y="1557528"/>
            <a:ext cx="2850540" cy="2197607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6882257" y="4528692"/>
            <a:ext cx="4121150" cy="1513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kern="0" spc="90" dirty="0">
                <a:solidFill>
                  <a:srgbClr val="ED7D31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大型地下结构：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厂房、</a:t>
            </a:r>
            <a:r>
              <a:rPr sz="1700" b="1" kern="0" spc="-3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深竖井、</a:t>
            </a:r>
            <a:r>
              <a:rPr sz="17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穹顶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8000"/>
              </a:lnSpc>
              <a:spcBef>
                <a:spcPts val="1241"/>
              </a:spcBef>
              <a:tabLst/>
            </a:pPr>
            <a:r>
              <a:rPr sz="1700" kern="0" spc="80" dirty="0">
                <a:solidFill>
                  <a:srgbClr val="ED7D31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大断面隧洞</a:t>
            </a:r>
            <a:r>
              <a:rPr sz="17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导流洞、</a:t>
            </a:r>
            <a:r>
              <a:rPr sz="1700" b="1" kern="0" spc="-3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引水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洞、</a:t>
            </a:r>
            <a:r>
              <a:rPr sz="1700" b="1" kern="0" spc="-3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尾水洞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8000"/>
              </a:lnSpc>
              <a:spcBef>
                <a:spcPts val="1241"/>
              </a:spcBef>
              <a:tabLst/>
            </a:pPr>
            <a:r>
              <a:rPr sz="1700" kern="0" spc="100" dirty="0">
                <a:solidFill>
                  <a:srgbClr val="ED7D31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爆破开挖振动、</a:t>
            </a:r>
            <a:r>
              <a:rPr sz="17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围岩松动圈测试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5"/>
              </a:spcBef>
              <a:tabLst/>
            </a:pPr>
            <a:r>
              <a:rPr sz="1700" kern="0" spc="100" dirty="0">
                <a:solidFill>
                  <a:srgbClr val="ED7D31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大跨度顶拱、</a:t>
            </a:r>
            <a:r>
              <a:rPr sz="1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高边墙、</a:t>
            </a:r>
            <a:r>
              <a:rPr sz="1700" kern="0" spc="-3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岩锚梁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442715" y="4389119"/>
            <a:ext cx="2854451" cy="1834895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0117835" y="1556004"/>
            <a:ext cx="1712976" cy="2231135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348614" y="982979"/>
            <a:ext cx="5790565" cy="458469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5974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2300" b="1" kern="0" spc="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深埋特大型洞室群爆破施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工安全控制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6829082" y="6158991"/>
            <a:ext cx="5017134" cy="416559"/>
          </a:xfrm>
          <a:prstGeom prst="rect">
            <a:avLst/>
          </a:prstGeom>
          <a:solidFill>
            <a:srgbClr val="5897D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799465" algn="l" rtl="0" eaLnBrk="0">
              <a:lnSpc>
                <a:spcPct val="88000"/>
              </a:lnSpc>
              <a:tabLst/>
            </a:pP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sz="1700" b="1" kern="0" spc="8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安全、</a:t>
            </a:r>
            <a:r>
              <a:rPr sz="1700" b="1" kern="0" spc="-38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高效、</a:t>
            </a:r>
            <a:r>
              <a:rPr sz="1700" b="1" kern="0" spc="-37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高质量</a:t>
            </a:r>
            <a:r>
              <a:rPr sz="17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爆破开挖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6704596" y="3857244"/>
            <a:ext cx="3157219" cy="382180"/>
            <a:chOff x="0" y="0"/>
            <a:chExt cx="3157219" cy="382180"/>
          </a:xfrm>
        </p:grpSpPr>
        <p:pic>
          <p:nvPicPr>
            <p:cNvPr id="62" name="picture 6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3157219" cy="382180"/>
            </a:xfrm>
            <a:prstGeom prst="rect">
              <a:avLst/>
            </a:prstGeom>
          </p:spPr>
        </p:pic>
        <p:sp>
          <p:nvSpPr>
            <p:cNvPr id="64" name="textbox 64"/>
            <p:cNvSpPr/>
            <p:nvPr/>
          </p:nvSpPr>
          <p:spPr>
            <a:xfrm>
              <a:off x="-12700" y="-12700"/>
              <a:ext cx="3182620" cy="407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679450" algn="l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地下厂房与引水隧洞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379387" y="6319253"/>
            <a:ext cx="2958464" cy="382384"/>
            <a:chOff x="0" y="0"/>
            <a:chExt cx="2958464" cy="382384"/>
          </a:xfrm>
        </p:grpSpPr>
        <p:pic>
          <p:nvPicPr>
            <p:cNvPr id="66" name="picture 6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2958464" cy="382384"/>
            </a:xfrm>
            <a:prstGeom prst="rect">
              <a:avLst/>
            </a:prstGeom>
          </p:spPr>
        </p:pic>
        <p:sp>
          <p:nvSpPr>
            <p:cNvPr id="68" name="textbox 68"/>
            <p:cNvSpPr/>
            <p:nvPr/>
          </p:nvSpPr>
          <p:spPr>
            <a:xfrm>
              <a:off x="-12700" y="-12700"/>
              <a:ext cx="2983864" cy="4089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657859" algn="l" rtl="0" eaLnBrk="0">
                <a:lnSpc>
                  <a:spcPct val="88000"/>
                </a:lnSpc>
                <a:spcBef>
                  <a:spcPts val="4"/>
                </a:spcBef>
                <a:tabLst/>
              </a:pP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100m</a:t>
              </a: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级深竖井开挖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3432518" y="6309601"/>
            <a:ext cx="2865183" cy="382346"/>
            <a:chOff x="0" y="0"/>
            <a:chExt cx="2865183" cy="382346"/>
          </a:xfrm>
        </p:grpSpPr>
        <p:pic>
          <p:nvPicPr>
            <p:cNvPr id="70" name="picture 7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2865183" cy="382346"/>
            </a:xfrm>
            <a:prstGeom prst="rect">
              <a:avLst/>
            </a:prstGeom>
          </p:spPr>
        </p:pic>
        <p:sp>
          <p:nvSpPr>
            <p:cNvPr id="72" name="textbox 72"/>
            <p:cNvSpPr/>
            <p:nvPr/>
          </p:nvSpPr>
          <p:spPr>
            <a:xfrm>
              <a:off x="-12700" y="-12700"/>
              <a:ext cx="2891154" cy="4083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322579" algn="l" rtl="0" eaLnBrk="0">
                <a:lnSpc>
                  <a:spcPct val="88000"/>
                </a:lnSpc>
                <a:spcBef>
                  <a:spcPts val="6"/>
                </a:spcBef>
                <a:tabLst/>
              </a:pP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半径</a:t>
              </a: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26.50m</a:t>
              </a: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巨型穹顶开挖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3461270" y="3840048"/>
            <a:ext cx="2854235" cy="382320"/>
            <a:chOff x="0" y="0"/>
            <a:chExt cx="2854235" cy="382320"/>
          </a:xfrm>
        </p:grpSpPr>
        <p:pic>
          <p:nvPicPr>
            <p:cNvPr id="74" name="picture 7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2854235" cy="382320"/>
            </a:xfrm>
            <a:prstGeom prst="rect">
              <a:avLst/>
            </a:prstGeom>
          </p:spPr>
        </p:pic>
        <p:sp>
          <p:nvSpPr>
            <p:cNvPr id="76" name="textbox 76"/>
            <p:cNvSpPr/>
            <p:nvPr/>
          </p:nvSpPr>
          <p:spPr>
            <a:xfrm>
              <a:off x="-12700" y="-12700"/>
              <a:ext cx="2879725" cy="4089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87960" algn="l" rtl="0" eaLnBrk="0">
                <a:lnSpc>
                  <a:spcPct val="88000"/>
                </a:lnSpc>
                <a:spcBef>
                  <a:spcPts val="4"/>
                </a:spcBef>
                <a:tabLst/>
              </a:pP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110</a:t>
              </a: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吨级承重吊车梁岩台开挖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78" name="textbox 78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16" name="group 16"/>
          <p:cNvGrpSpPr/>
          <p:nvPr/>
        </p:nvGrpSpPr>
        <p:grpSpPr>
          <a:xfrm rot="21600000">
            <a:off x="10129405" y="3832504"/>
            <a:ext cx="1702434" cy="382193"/>
            <a:chOff x="0" y="0"/>
            <a:chExt cx="1702434" cy="382193"/>
          </a:xfrm>
        </p:grpSpPr>
        <p:pic>
          <p:nvPicPr>
            <p:cNvPr id="80" name="picture 8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1702434" cy="382193"/>
            </a:xfrm>
            <a:prstGeom prst="rect">
              <a:avLst/>
            </a:prstGeom>
          </p:spPr>
        </p:pic>
        <p:sp>
          <p:nvSpPr>
            <p:cNvPr id="82" name="textbox 82"/>
            <p:cNvSpPr/>
            <p:nvPr/>
          </p:nvSpPr>
          <p:spPr>
            <a:xfrm>
              <a:off x="-12700" y="-12700"/>
              <a:ext cx="1727835" cy="4095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255904" algn="l" rtl="0" eaLnBrk="0">
                <a:lnSpc>
                  <a:spcPct val="87000"/>
                </a:lnSpc>
                <a:spcBef>
                  <a:spcPts val="4"/>
                </a:spcBef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现场试验测试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58684" y="4349495"/>
            <a:ext cx="3363467" cy="1842516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7512" y="4349495"/>
            <a:ext cx="3168396" cy="1842516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541775" y="1632204"/>
            <a:ext cx="3055620" cy="1799844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65759" y="1632204"/>
            <a:ext cx="2708147" cy="1799844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 rot="21600000">
            <a:off x="9645932" y="1374686"/>
            <a:ext cx="2334231" cy="2015933"/>
            <a:chOff x="0" y="0"/>
            <a:chExt cx="2334231" cy="2015933"/>
          </a:xfrm>
        </p:grpSpPr>
        <p:pic>
          <p:nvPicPr>
            <p:cNvPr id="92" name="picture 9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25372" y="7581"/>
              <a:ext cx="2308859" cy="1979676"/>
            </a:xfrm>
            <a:prstGeom prst="rect">
              <a:avLst/>
            </a:prstGeom>
          </p:spPr>
        </p:pic>
        <p:pic>
          <p:nvPicPr>
            <p:cNvPr id="94" name="picture 9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1129748" cy="359218"/>
            </a:xfrm>
            <a:prstGeom prst="rect">
              <a:avLst/>
            </a:prstGeom>
          </p:spPr>
        </p:pic>
        <p:pic>
          <p:nvPicPr>
            <p:cNvPr id="96" name="picture 9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217" y="1656715"/>
              <a:ext cx="1666523" cy="359218"/>
            </a:xfrm>
            <a:prstGeom prst="rect">
              <a:avLst/>
            </a:prstGeom>
          </p:spPr>
        </p:pic>
        <p:sp>
          <p:nvSpPr>
            <p:cNvPr id="98" name="textbox 98"/>
            <p:cNvSpPr/>
            <p:nvPr/>
          </p:nvSpPr>
          <p:spPr>
            <a:xfrm>
              <a:off x="111452" y="55233"/>
              <a:ext cx="1450975" cy="18656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95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tabLst/>
              </a:pPr>
              <a:r>
                <a:rPr sz="1400" b="1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轮廓面贯通</a:t>
              </a:r>
              <a:endParaRPr sz="14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3495" algn="l" rtl="0" eaLnBrk="0">
                <a:lnSpc>
                  <a:spcPct val="86000"/>
                </a:lnSpc>
                <a:spcBef>
                  <a:spcPts val="3"/>
                </a:spcBef>
                <a:tabLst/>
              </a:pPr>
              <a:r>
                <a:rPr sz="1400" b="1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围岩损伤范围极小</a:t>
              </a:r>
              <a:endParaRPr sz="14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100" name="picture 10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243571" y="1382267"/>
            <a:ext cx="2310383" cy="1979676"/>
          </a:xfrm>
          <a:prstGeom prst="rect">
            <a:avLst/>
          </a:prstGeom>
        </p:spPr>
      </p:pic>
      <p:pic>
        <p:nvPicPr>
          <p:cNvPr id="102" name="picture 10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129783" y="4349495"/>
            <a:ext cx="1892807" cy="1842516"/>
          </a:xfrm>
          <a:prstGeom prst="rect">
            <a:avLst/>
          </a:prstGeom>
        </p:spPr>
      </p:pic>
      <p:sp>
        <p:nvSpPr>
          <p:cNvPr id="104" name="textbox 104"/>
          <p:cNvSpPr/>
          <p:nvPr/>
        </p:nvSpPr>
        <p:spPr>
          <a:xfrm>
            <a:off x="348907" y="984186"/>
            <a:ext cx="6363334" cy="457834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39419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2300" b="1" kern="0" spc="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岩锚梁时序控制断裂爆破与切槽爆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破方法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6" name="picture 10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3960875" y="4349495"/>
            <a:ext cx="1036320" cy="1842516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 rot="21600000">
            <a:off x="7644066" y="3695839"/>
            <a:ext cx="3861612" cy="407695"/>
            <a:chOff x="0" y="0"/>
            <a:chExt cx="3861612" cy="407695"/>
          </a:xfrm>
        </p:grpSpPr>
        <p:pic>
          <p:nvPicPr>
            <p:cNvPr id="108" name="picture 10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0"/>
              <a:ext cx="3861612" cy="407695"/>
            </a:xfrm>
            <a:prstGeom prst="rect">
              <a:avLst/>
            </a:prstGeom>
          </p:spPr>
        </p:pic>
        <p:sp>
          <p:nvSpPr>
            <p:cNvPr id="110" name="textbox 110"/>
            <p:cNvSpPr/>
            <p:nvPr/>
          </p:nvSpPr>
          <p:spPr>
            <a:xfrm>
              <a:off x="-12700" y="-12700"/>
              <a:ext cx="3887470" cy="4337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21309" algn="l" rtl="0" eaLnBrk="0">
                <a:lnSpc>
                  <a:spcPct val="88000"/>
                </a:lnSpc>
                <a:spcBef>
                  <a:spcPts val="7"/>
                </a:spcBef>
                <a:tabLst/>
              </a:pPr>
              <a:r>
                <a:rPr sz="1500" b="1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先爆孔切槽的时序控制爆</a:t>
              </a: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破效果分析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 rot="21600000">
            <a:off x="8089404" y="6351270"/>
            <a:ext cx="2703144" cy="382194"/>
            <a:chOff x="0" y="0"/>
            <a:chExt cx="2703144" cy="382194"/>
          </a:xfrm>
        </p:grpSpPr>
        <p:pic>
          <p:nvPicPr>
            <p:cNvPr id="112" name="picture 11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0" y="0"/>
              <a:ext cx="2703144" cy="382194"/>
            </a:xfrm>
            <a:prstGeom prst="rect">
              <a:avLst/>
            </a:prstGeom>
          </p:spPr>
        </p:pic>
        <p:sp>
          <p:nvSpPr>
            <p:cNvPr id="114" name="textbox 114"/>
            <p:cNvSpPr/>
            <p:nvPr/>
          </p:nvSpPr>
          <p:spPr>
            <a:xfrm>
              <a:off x="-12700" y="-12700"/>
              <a:ext cx="2728595" cy="407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247650" algn="l" rtl="0" eaLnBrk="0">
                <a:lnSpc>
                  <a:spcPct val="88000"/>
                </a:lnSpc>
                <a:spcBef>
                  <a:spcPts val="6"/>
                </a:spcBef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岩锚梁精细爆破开挖效果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16" name="textbox 11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8" name="picture 1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7624571" y="3445763"/>
            <a:ext cx="3901440" cy="23622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 rot="21600000">
            <a:off x="3887406" y="3708590"/>
            <a:ext cx="2363406" cy="382193"/>
            <a:chOff x="0" y="0"/>
            <a:chExt cx="2363406" cy="382193"/>
          </a:xfrm>
        </p:grpSpPr>
        <p:pic>
          <p:nvPicPr>
            <p:cNvPr id="120" name="picture 12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0" y="0"/>
              <a:ext cx="2363406" cy="382193"/>
            </a:xfrm>
            <a:prstGeom prst="rect">
              <a:avLst/>
            </a:prstGeom>
          </p:spPr>
        </p:pic>
        <p:sp>
          <p:nvSpPr>
            <p:cNvPr id="122" name="textbox 122"/>
            <p:cNvSpPr/>
            <p:nvPr/>
          </p:nvSpPr>
          <p:spPr>
            <a:xfrm>
              <a:off x="-12700" y="-12700"/>
              <a:ext cx="2388870" cy="407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80975" algn="l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地下厂房岩锚梁开挖区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21600000">
            <a:off x="650811" y="3708590"/>
            <a:ext cx="2138629" cy="382193"/>
            <a:chOff x="0" y="0"/>
            <a:chExt cx="2138629" cy="382193"/>
          </a:xfrm>
        </p:grpSpPr>
        <p:pic>
          <p:nvPicPr>
            <p:cNvPr id="124" name="picture 124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0" y="0"/>
              <a:ext cx="2138629" cy="382193"/>
            </a:xfrm>
            <a:prstGeom prst="rect">
              <a:avLst/>
            </a:prstGeom>
          </p:spPr>
        </p:pic>
        <p:sp>
          <p:nvSpPr>
            <p:cNvPr id="126" name="textbox 126"/>
            <p:cNvSpPr/>
            <p:nvPr/>
          </p:nvSpPr>
          <p:spPr>
            <a:xfrm>
              <a:off x="-12700" y="-12700"/>
              <a:ext cx="2164079" cy="407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68910" algn="l" rtl="0" eaLnBrk="0">
                <a:lnSpc>
                  <a:spcPct val="88000"/>
                </a:lnSpc>
                <a:spcBef>
                  <a:spcPts val="6"/>
                </a:spcBef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岩锚梁常规爆破效果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 rot="21600000">
            <a:off x="1501520" y="6351270"/>
            <a:ext cx="1498904" cy="382194"/>
            <a:chOff x="0" y="0"/>
            <a:chExt cx="1498904" cy="382194"/>
          </a:xfrm>
        </p:grpSpPr>
        <p:pic>
          <p:nvPicPr>
            <p:cNvPr id="128" name="picture 128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0" y="0"/>
              <a:ext cx="1498904" cy="382194"/>
            </a:xfrm>
            <a:prstGeom prst="rect">
              <a:avLst/>
            </a:prstGeom>
          </p:spPr>
        </p:pic>
        <p:sp>
          <p:nvSpPr>
            <p:cNvPr id="130" name="textbox 130"/>
            <p:cNvSpPr/>
            <p:nvPr/>
          </p:nvSpPr>
          <p:spPr>
            <a:xfrm>
              <a:off x="-12700" y="-12700"/>
              <a:ext cx="1524635" cy="4089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54939" algn="l" rtl="0" eaLnBrk="0">
                <a:lnSpc>
                  <a:spcPct val="88000"/>
                </a:lnSpc>
                <a:spcBef>
                  <a:spcPts val="4"/>
                </a:spcBef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钻取斜孔过程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 rot="21600000">
            <a:off x="3840988" y="6351270"/>
            <a:ext cx="1277124" cy="382194"/>
            <a:chOff x="0" y="0"/>
            <a:chExt cx="1277124" cy="382194"/>
          </a:xfrm>
        </p:grpSpPr>
        <p:pic>
          <p:nvPicPr>
            <p:cNvPr id="132" name="picture 132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0" y="0"/>
              <a:ext cx="1277124" cy="382194"/>
            </a:xfrm>
            <a:prstGeom prst="rect">
              <a:avLst/>
            </a:prstGeom>
          </p:spPr>
        </p:pic>
        <p:sp>
          <p:nvSpPr>
            <p:cNvPr id="134" name="textbox 134"/>
            <p:cNvSpPr/>
            <p:nvPr/>
          </p:nvSpPr>
          <p:spPr>
            <a:xfrm>
              <a:off x="-12700" y="-12700"/>
              <a:ext cx="1303019" cy="4083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45414" algn="l" rtl="0" eaLnBrk="0">
                <a:lnSpc>
                  <a:spcPct val="88000"/>
                </a:lnSpc>
                <a:spcBef>
                  <a:spcPts val="1"/>
                </a:spcBef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钻取切槽缝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 rot="21600000">
            <a:off x="7218405" y="1374686"/>
            <a:ext cx="1308636" cy="359218"/>
            <a:chOff x="0" y="0"/>
            <a:chExt cx="1308636" cy="359218"/>
          </a:xfrm>
        </p:grpSpPr>
        <p:pic>
          <p:nvPicPr>
            <p:cNvPr id="136" name="picture 136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0" y="0"/>
              <a:ext cx="1308636" cy="359218"/>
            </a:xfrm>
            <a:prstGeom prst="rect">
              <a:avLst/>
            </a:prstGeom>
          </p:spPr>
        </p:pic>
        <p:sp>
          <p:nvSpPr>
            <p:cNvPr id="138" name="textbox 138"/>
            <p:cNvSpPr/>
            <p:nvPr/>
          </p:nvSpPr>
          <p:spPr>
            <a:xfrm>
              <a:off x="-12700" y="-12700"/>
              <a:ext cx="1334135" cy="3873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36525" algn="l" rtl="0" eaLnBrk="0">
                <a:lnSpc>
                  <a:spcPct val="86000"/>
                </a:lnSpc>
                <a:spcBef>
                  <a:spcPts val="1"/>
                </a:spcBef>
                <a:tabLst/>
              </a:pPr>
              <a:r>
                <a:rPr sz="1400" b="1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轮廓面未贯通</a:t>
              </a:r>
              <a:endParaRPr sz="14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 rot="21600000">
            <a:off x="5542813" y="6351270"/>
            <a:ext cx="1066648" cy="382194"/>
            <a:chOff x="0" y="0"/>
            <a:chExt cx="1066648" cy="382194"/>
          </a:xfrm>
        </p:grpSpPr>
        <p:pic>
          <p:nvPicPr>
            <p:cNvPr id="140" name="picture 140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0" y="0"/>
              <a:ext cx="1066648" cy="382194"/>
            </a:xfrm>
            <a:prstGeom prst="rect">
              <a:avLst/>
            </a:prstGeom>
          </p:spPr>
        </p:pic>
        <p:sp>
          <p:nvSpPr>
            <p:cNvPr id="142" name="textbox 142"/>
            <p:cNvSpPr/>
            <p:nvPr/>
          </p:nvSpPr>
          <p:spPr>
            <a:xfrm>
              <a:off x="-12700" y="-12700"/>
              <a:ext cx="1092200" cy="4083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142239" algn="l" rtl="0" eaLnBrk="0">
                <a:lnSpc>
                  <a:spcPct val="87000"/>
                </a:lnSpc>
                <a:spcBef>
                  <a:spcPts val="1"/>
                </a:spcBef>
                <a:tabLst/>
              </a:pPr>
              <a:r>
                <a:rPr sz="15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切槽孔图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44" name="path 144"/>
          <p:cNvSpPr/>
          <p:nvPr/>
        </p:nvSpPr>
        <p:spPr>
          <a:xfrm>
            <a:off x="7182611" y="5018532"/>
            <a:ext cx="489204" cy="505967"/>
          </a:xfrm>
          <a:custGeom>
            <a:avLst/>
            <a:gdLst/>
            <a:ahLst/>
            <a:cxnLst/>
            <a:rect l="0" t="0" r="0" b="0"/>
            <a:pathLst>
              <a:path w="770" h="796">
                <a:moveTo>
                  <a:pt x="770" y="398"/>
                </a:moveTo>
                <a:lnTo>
                  <a:pt x="386" y="796"/>
                </a:lnTo>
                <a:lnTo>
                  <a:pt x="386" y="597"/>
                </a:lnTo>
                <a:lnTo>
                  <a:pt x="0" y="597"/>
                </a:lnTo>
                <a:lnTo>
                  <a:pt x="0" y="199"/>
                </a:lnTo>
                <a:lnTo>
                  <a:pt x="386" y="199"/>
                </a:lnTo>
                <a:lnTo>
                  <a:pt x="386" y="0"/>
                </a:lnTo>
                <a:lnTo>
                  <a:pt x="770" y="398"/>
                </a:lnTo>
              </a:path>
            </a:pathLst>
          </a:custGeom>
          <a:solidFill>
            <a:srgbClr val="ED7D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6" name="path 146"/>
          <p:cNvSpPr/>
          <p:nvPr/>
        </p:nvSpPr>
        <p:spPr>
          <a:xfrm>
            <a:off x="6704076" y="2278379"/>
            <a:ext cx="409955" cy="505967"/>
          </a:xfrm>
          <a:custGeom>
            <a:avLst/>
            <a:gdLst/>
            <a:ahLst/>
            <a:cxnLst/>
            <a:rect l="0" t="0" r="0" b="0"/>
            <a:pathLst>
              <a:path w="645" h="796">
                <a:moveTo>
                  <a:pt x="645" y="398"/>
                </a:moveTo>
                <a:lnTo>
                  <a:pt x="324" y="796"/>
                </a:lnTo>
                <a:lnTo>
                  <a:pt x="324" y="597"/>
                </a:lnTo>
                <a:lnTo>
                  <a:pt x="0" y="597"/>
                </a:lnTo>
                <a:lnTo>
                  <a:pt x="0" y="199"/>
                </a:lnTo>
                <a:lnTo>
                  <a:pt x="324" y="199"/>
                </a:lnTo>
                <a:lnTo>
                  <a:pt x="324" y="0"/>
                </a:lnTo>
                <a:lnTo>
                  <a:pt x="645" y="398"/>
                </a:lnTo>
              </a:path>
            </a:pathLst>
          </a:custGeom>
          <a:solidFill>
            <a:srgbClr val="ED7D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" name="path 148"/>
          <p:cNvSpPr/>
          <p:nvPr/>
        </p:nvSpPr>
        <p:spPr>
          <a:xfrm>
            <a:off x="3131820" y="2314955"/>
            <a:ext cx="335279" cy="432815"/>
          </a:xfrm>
          <a:custGeom>
            <a:avLst/>
            <a:gdLst/>
            <a:ahLst/>
            <a:cxnLst/>
            <a:rect l="0" t="0" r="0" b="0"/>
            <a:pathLst>
              <a:path w="527" h="681">
                <a:moveTo>
                  <a:pt x="0" y="340"/>
                </a:moveTo>
                <a:lnTo>
                  <a:pt x="263" y="0"/>
                </a:lnTo>
                <a:lnTo>
                  <a:pt x="263" y="170"/>
                </a:lnTo>
                <a:lnTo>
                  <a:pt x="527" y="170"/>
                </a:lnTo>
                <a:lnTo>
                  <a:pt x="527" y="511"/>
                </a:lnTo>
                <a:lnTo>
                  <a:pt x="263" y="511"/>
                </a:lnTo>
                <a:lnTo>
                  <a:pt x="263" y="681"/>
                </a:lnTo>
                <a:lnTo>
                  <a:pt x="0" y="340"/>
                </a:lnTo>
              </a:path>
            </a:pathLst>
          </a:custGeom>
          <a:solidFill>
            <a:srgbClr val="ED7D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33059" y="2468879"/>
            <a:ext cx="6096000" cy="37719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649947" y="711771"/>
            <a:ext cx="6853555" cy="13766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工程开挖是三峡新航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道建设的首要工作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1.7 工程废弃物就地高效资源化利用技术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667931" y="3617709"/>
            <a:ext cx="3695700" cy="1826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3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开挖量大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9"/>
              </a:spcBef>
              <a:tabLst/>
            </a:pP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32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弃土、</a:t>
            </a:r>
            <a:r>
              <a:rPr sz="2300" b="1" kern="0" spc="-5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工程泥浆等种类多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3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处置利用需求迫切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6598919" y="1280159"/>
            <a:ext cx="5297423" cy="4971288"/>
            <a:chOff x="0" y="0"/>
            <a:chExt cx="5297423" cy="4971288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297423" cy="4971288"/>
            </a:xfrm>
            <a:prstGeom prst="rect">
              <a:avLst/>
            </a:prstGeom>
          </p:spPr>
        </p:pic>
        <p:sp>
          <p:nvSpPr>
            <p:cNvPr id="12" name="textbox 12"/>
            <p:cNvSpPr/>
            <p:nvPr/>
          </p:nvSpPr>
          <p:spPr>
            <a:xfrm>
              <a:off x="770915" y="2102370"/>
              <a:ext cx="3872229" cy="3270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2374"/>
                </a:lnSpc>
                <a:tabLst/>
              </a:pPr>
              <a:r>
                <a:rPr sz="1700" b="1" kern="0" spc="30" dirty="0">
                  <a:solidFill>
                    <a:srgbClr val="FFFF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工程泥浆制备自流平回填材料（视频</a:t>
              </a:r>
              <a:r>
                <a:rPr sz="1700" b="1" kern="0" spc="20" dirty="0">
                  <a:solidFill>
                    <a:srgbClr val="FFFF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4" name="textbox 14"/>
            <p:cNvSpPr/>
            <p:nvPr/>
          </p:nvSpPr>
          <p:spPr>
            <a:xfrm>
              <a:off x="1782573" y="4553483"/>
              <a:ext cx="2077085" cy="2533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6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FFFF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长寿命生态恢复材料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1149096" y="3229355"/>
            <a:ext cx="4661915" cy="3002279"/>
            <a:chOff x="0" y="0"/>
            <a:chExt cx="4661915" cy="3002279"/>
          </a:xfrm>
        </p:grpSpPr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661915" cy="3002279"/>
            </a:xfrm>
            <a:prstGeom prst="rect">
              <a:avLst/>
            </a:prstGeom>
          </p:spPr>
        </p:pic>
        <p:sp>
          <p:nvSpPr>
            <p:cNvPr id="18" name="textbox 18"/>
            <p:cNvSpPr/>
            <p:nvPr/>
          </p:nvSpPr>
          <p:spPr>
            <a:xfrm>
              <a:off x="1619440" y="2603830"/>
              <a:ext cx="1391285" cy="2527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F2F2F2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工程垃圾分选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20" name="textbox 20"/>
          <p:cNvSpPr/>
          <p:nvPr/>
        </p:nvSpPr>
        <p:spPr>
          <a:xfrm>
            <a:off x="636143" y="1572476"/>
            <a:ext cx="5200650" cy="146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工程垃圾分级分质技术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工程泥浆制备自流平回填材料技术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开挖弃土制备生态恢复材料技术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48843" y="2682455"/>
            <a:ext cx="216407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48843" y="2133815"/>
            <a:ext cx="216407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48843" y="1585176"/>
            <a:ext cx="216407" cy="337718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519671" y="1120139"/>
            <a:ext cx="5029200" cy="2668524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519671" y="4273295"/>
            <a:ext cx="5029200" cy="2474976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853757" y="3908081"/>
            <a:ext cx="4083050" cy="27044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tabLst/>
            </a:pPr>
            <a:r>
              <a:rPr sz="17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北京城市副中心综合管廊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基槽回填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918"/>
              </a:lnSpc>
              <a:spcBef>
                <a:spcPts val="696"/>
              </a:spcBef>
              <a:tabLst/>
            </a:pP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2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工程垃圾占比</a:t>
            </a:r>
            <a:r>
              <a:rPr sz="23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＞90%</a:t>
            </a:r>
            <a:endParaRPr sz="23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2918"/>
              </a:lnSpc>
              <a:spcBef>
                <a:spcPts val="1402"/>
              </a:spcBef>
              <a:tabLst/>
            </a:pP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0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固废资源利用率</a:t>
            </a:r>
            <a:r>
              <a:rPr sz="2300" b="1" kern="0" spc="4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＞95%</a:t>
            </a:r>
            <a:endParaRPr sz="23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2918"/>
              </a:lnSpc>
              <a:spcBef>
                <a:spcPts val="1402"/>
              </a:spcBef>
              <a:tabLst/>
            </a:pP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08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回填成本节省</a:t>
            </a:r>
            <a:r>
              <a:rPr sz="2300" b="1" kern="0" spc="3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69%</a:t>
            </a:r>
            <a:endParaRPr sz="23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918"/>
              </a:lnSpc>
              <a:spcBef>
                <a:spcPts val="3"/>
              </a:spcBef>
              <a:tabLst/>
            </a:pP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29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渗透系数达到</a:t>
            </a:r>
            <a:r>
              <a:rPr sz="2300" b="1" kern="0" spc="6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</a:t>
            </a:r>
            <a:r>
              <a:rPr sz="15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-7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cm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/s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95884" y="1120139"/>
            <a:ext cx="2855976" cy="2638044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607308" y="1152144"/>
            <a:ext cx="2525267" cy="2638044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7264502" y="3861218"/>
            <a:ext cx="3646170" cy="327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374"/>
              </a:lnSpc>
              <a:tabLst/>
            </a:pP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光谷地下空间（亚洲最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大地下空间）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328688" y="836155"/>
            <a:ext cx="7947659" cy="5062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88484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693"/>
              </a:spcBef>
              <a:tabLst/>
            </a:pP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水运及水利工程大体积混凝土亟需控制裂缝和提升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外观质量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925" algn="l" rtl="0" eaLnBrk="0">
              <a:lnSpc>
                <a:spcPct val="93000"/>
              </a:lnSpc>
              <a:spcBef>
                <a:spcPts val="602"/>
              </a:spcBef>
              <a:tabLst>
                <a:tab pos="215900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kern="0" spc="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水运及水利工程</a:t>
            </a:r>
            <a:r>
              <a:rPr sz="2000" kern="0" spc="7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大体积混凝土</a:t>
            </a:r>
            <a:r>
              <a:rPr sz="20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易出现裂缝、</a:t>
            </a:r>
            <a:r>
              <a:rPr sz="2000" kern="0" spc="-48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影响耐久性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000" kern="0" spc="-4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修补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360045" algn="l" rtl="0" eaLnBrk="0">
              <a:lnSpc>
                <a:spcPts val="3455"/>
              </a:lnSpc>
              <a:tabLst/>
            </a:pP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提高了工程造价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925" algn="l" rtl="0" eaLnBrk="0">
              <a:lnSpc>
                <a:spcPts val="2588"/>
              </a:lnSpc>
              <a:spcBef>
                <a:spcPts val="610"/>
              </a:spcBef>
              <a:tabLst>
                <a:tab pos="215900" algn="l"/>
              </a:tabLst>
            </a:pPr>
            <a:r>
              <a:rPr sz="2000" kern="0" spc="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kern="0" spc="5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廊道混凝土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由于其特殊结构</a:t>
            </a:r>
            <a:r>
              <a:rPr sz="2000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服役1-2年面临含砂石水流</a:t>
            </a:r>
            <a:r>
              <a:rPr sz="2000" kern="0" spc="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冲磨破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361315" algn="l" rtl="0" eaLnBrk="0">
              <a:lnSpc>
                <a:spcPts val="3365"/>
              </a:lnSpc>
              <a:tabLst/>
            </a:pPr>
            <a:r>
              <a:rPr sz="2000" kern="0" spc="-5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坏</a:t>
            </a:r>
            <a:r>
              <a:rPr sz="2000" kern="0" spc="-2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5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，需要反复维修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925" algn="l" rtl="0" eaLnBrk="0">
              <a:lnSpc>
                <a:spcPct val="93000"/>
              </a:lnSpc>
              <a:spcBef>
                <a:spcPts val="601"/>
              </a:spcBef>
              <a:tabLst>
                <a:tab pos="215900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kern="0" spc="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水运及水利工程现场部分外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露构件</a:t>
            </a:r>
            <a:r>
              <a:rPr sz="20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容易出现色差、</a:t>
            </a:r>
            <a:r>
              <a:rPr sz="2000" kern="0" spc="-49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裂缝、</a:t>
            </a:r>
            <a:r>
              <a:rPr sz="2000" kern="0" spc="-48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水纹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360045" algn="l" rtl="0" eaLnBrk="0">
              <a:lnSpc>
                <a:spcPts val="3455"/>
              </a:lnSpc>
              <a:tabLst/>
            </a:pPr>
            <a:r>
              <a:rPr sz="2000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和气泡等外观质量问题</a:t>
            </a:r>
            <a:r>
              <a:rPr sz="2000" kern="0" spc="-30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其外观质量有待进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一步研究和改善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64175" y="5164621"/>
            <a:ext cx="180790" cy="28213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64175" y="3945421"/>
            <a:ext cx="180790" cy="28213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64175" y="2726221"/>
            <a:ext cx="180790" cy="282135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062872" y="1136766"/>
            <a:ext cx="2585155" cy="5721233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1.1 水运及水利工程大体积混凝土控裂及外观质量提升成套技术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76334" y="3633215"/>
            <a:ext cx="6206405" cy="3111098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517639" y="1329563"/>
            <a:ext cx="5810250" cy="2009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低温升高抗裂大体积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混凝土技术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低温升高抗裂清水大体积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混凝土技术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廊道高抗冲磨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UHPC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大体积混凝土全过程施工质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量控制技术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0339" y="2988183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30339" y="2439542"/>
            <a:ext cx="216408" cy="33771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30339" y="1890902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30339" y="1342263"/>
            <a:ext cx="216408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370064" y="3913632"/>
            <a:ext cx="4704588" cy="229362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298180" y="1133855"/>
            <a:ext cx="2846832" cy="2308860"/>
          </a:xfrm>
          <a:prstGeom prst="rect">
            <a:avLst/>
          </a:prstGeom>
        </p:spPr>
      </p:pic>
      <p:sp>
        <p:nvSpPr>
          <p:cNvPr id="30" name="textbox 30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7963801" y="6358496"/>
            <a:ext cx="3908425" cy="253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大体积混凝土全过程施工质量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控制技术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8694991" y="3491954"/>
            <a:ext cx="230886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廊道抗冲磨混凝土技术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9064" y="198391"/>
            <a:ext cx="11489593" cy="6659608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300228" y="2938271"/>
            <a:ext cx="11619230" cy="13855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98425" indent="-1905" algn="l" rtl="0" eaLnBrk="0">
              <a:lnSpc>
                <a:spcPct val="99000"/>
              </a:lnSpc>
              <a:spcBef>
                <a:spcPts val="4"/>
              </a:spcBef>
              <a:tabLst/>
            </a:pP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研究成果在万安枢纽二线船闸、</a:t>
            </a:r>
            <a:r>
              <a:rPr sz="2700" kern="0" spc="-6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新干船闸、</a:t>
            </a:r>
            <a:r>
              <a:rPr sz="2700" kern="0" spc="-6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井冈山船闸、</a:t>
            </a:r>
            <a:r>
              <a:rPr sz="2700" kern="0" spc="-6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石虎塘船闸、</a:t>
            </a:r>
            <a:r>
              <a:rPr sz="2700" kern="0" spc="-6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界</a:t>
            </a:r>
            <a:r>
              <a:rPr sz="2700" kern="0" spc="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牌船闸、</a:t>
            </a:r>
            <a:r>
              <a:rPr sz="2700" kern="0" spc="-6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汉江雅口航运枢纽工程工程进行全面应用</a:t>
            </a:r>
            <a:r>
              <a:rPr sz="2700" kern="0" spc="-3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，取得良好的控裂效果，</a:t>
            </a:r>
            <a:r>
              <a:rPr sz="2700" kern="0" spc="6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工程均未出现危害性温度</a:t>
            </a: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裂缝。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9627" y="126996"/>
            <a:ext cx="3966976" cy="281933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308941" y="151982"/>
            <a:ext cx="3966076" cy="28116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、船舶与海洋工程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4515586" y="1923288"/>
            <a:ext cx="3575329" cy="4597870"/>
            <a:chOff x="0" y="0"/>
            <a:chExt cx="3575329" cy="459787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3575329" cy="4597870"/>
            </a:xfrm>
            <a:prstGeom prst="rect">
              <a:avLst/>
            </a:prstGeom>
          </p:spPr>
        </p:pic>
        <p:sp>
          <p:nvSpPr>
            <p:cNvPr id="4" name="textbox 4"/>
            <p:cNvSpPr/>
            <p:nvPr/>
          </p:nvSpPr>
          <p:spPr>
            <a:xfrm>
              <a:off x="153009" y="75562"/>
              <a:ext cx="3159125" cy="1460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61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13384" algn="l" rtl="0" eaLnBrk="0">
                <a:lnSpc>
                  <a:spcPct val="88000"/>
                </a:lnSpc>
                <a:tabLst/>
              </a:pPr>
              <a:r>
                <a:rPr sz="2700" kern="0" spc="7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电动船储能电池</a:t>
              </a:r>
              <a:endParaRPr sz="2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5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80670" indent="-267970" algn="l" rtl="0" eaLnBrk="0">
                <a:lnSpc>
                  <a:spcPct val="107000"/>
                </a:lnSpc>
                <a:spcBef>
                  <a:spcPts val="3"/>
                </a:spcBef>
                <a:tabLst>
                  <a:tab pos="258445" algn="l"/>
                </a:tabLst>
              </a:pPr>
              <a:r>
                <a:rPr sz="23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300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电动船</a:t>
              </a:r>
              <a:r>
                <a:rPr sz="2300" kern="0" spc="10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储能电站/电池</a:t>
              </a:r>
              <a:r>
                <a:rPr sz="2300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热失控</a:t>
              </a:r>
              <a:r>
                <a:rPr sz="23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及</a:t>
              </a:r>
              <a:r>
                <a:rPr sz="2300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燃爆防控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65709" y="811898"/>
              <a:ext cx="245973" cy="337718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353593" y="2766059"/>
              <a:ext cx="2715767" cy="940308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440461" y="1563623"/>
              <a:ext cx="1577339" cy="1039367"/>
            </a:xfrm>
            <a:prstGeom prst="rect">
              <a:avLst/>
            </a:prstGeom>
          </p:spPr>
        </p:pic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73963" y="1929383"/>
            <a:ext cx="3491483" cy="459870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8494776" y="1923288"/>
            <a:ext cx="3480815" cy="4604804"/>
            <a:chOff x="0" y="0"/>
            <a:chExt cx="3480815" cy="4604804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3480815" cy="4604804"/>
            </a:xfrm>
            <a:prstGeom prst="rect">
              <a:avLst/>
            </a:prstGeom>
          </p:spPr>
        </p:pic>
        <p:sp>
          <p:nvSpPr>
            <p:cNvPr id="16" name="textbox 16"/>
            <p:cNvSpPr/>
            <p:nvPr/>
          </p:nvSpPr>
          <p:spPr>
            <a:xfrm>
              <a:off x="131958" y="78250"/>
              <a:ext cx="3221354" cy="35077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25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27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危险化学品等运输物</a:t>
              </a:r>
              <a:endParaRPr sz="2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6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49884" indent="-264795" algn="l" rtl="0" eaLnBrk="0">
                <a:lnSpc>
                  <a:spcPct val="97000"/>
                </a:lnSpc>
                <a:spcBef>
                  <a:spcPts val="699"/>
                </a:spcBef>
                <a:tabLst>
                  <a:tab pos="331470" algn="l"/>
                </a:tabLst>
              </a:pPr>
              <a:r>
                <a:rPr sz="2300" kern="0" spc="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300" kern="0" spc="11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危险化学品</a:t>
              </a:r>
              <a:r>
                <a:rPr sz="2300" kern="0" spc="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储罐火灾</a:t>
              </a:r>
              <a:r>
                <a:rPr sz="23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安全防控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342900" indent="-264795" algn="l" rtl="0" eaLnBrk="0">
                <a:lnSpc>
                  <a:spcPct val="107000"/>
                </a:lnSpc>
                <a:spcBef>
                  <a:spcPts val="5"/>
                </a:spcBef>
                <a:tabLst>
                  <a:tab pos="324484" algn="l"/>
                </a:tabLst>
              </a:pPr>
              <a:r>
                <a:rPr sz="2300" kern="0" spc="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300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煤炭/石油/天然气</a:t>
              </a:r>
              <a:r>
                <a:rPr sz="23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等</a:t>
              </a:r>
              <a:r>
                <a:rPr sz="23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运输物火灾安全防控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210604" y="2862160"/>
              <a:ext cx="245973" cy="337718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217538" y="795451"/>
              <a:ext cx="245973" cy="337718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778508" y="1595628"/>
              <a:ext cx="1488947" cy="1129283"/>
            </a:xfrm>
            <a:prstGeom prst="rect">
              <a:avLst/>
            </a:prstGeom>
          </p:spPr>
        </p:pic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318516" y="1595627"/>
              <a:ext cx="1335023" cy="1107947"/>
            </a:xfrm>
            <a:prstGeom prst="rect">
              <a:avLst/>
            </a:prstGeom>
          </p:spPr>
        </p:pic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365759" y="3590544"/>
              <a:ext cx="1434083" cy="917447"/>
            </a:xfrm>
            <a:prstGeom prst="rect">
              <a:avLst/>
            </a:prstGeom>
          </p:spPr>
        </p:pic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1940051" y="3598163"/>
              <a:ext cx="1280159" cy="922019"/>
            </a:xfrm>
            <a:prstGeom prst="rect">
              <a:avLst/>
            </a:prstGeom>
          </p:spPr>
        </p:pic>
      </p:grpSp>
      <p:sp>
        <p:nvSpPr>
          <p:cNvPr id="30" name="textbox 30"/>
          <p:cNvSpPr/>
          <p:nvPr/>
        </p:nvSpPr>
        <p:spPr>
          <a:xfrm>
            <a:off x="1524" y="0"/>
            <a:ext cx="12190730" cy="706119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3608"/>
              </a:lnSpc>
              <a:spcBef>
                <a:spcPts val="6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5.1 船舶及航道构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筑物智慧消防关键技术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635127" y="2007191"/>
            <a:ext cx="3028950" cy="1369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1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7004" algn="l" rtl="0" eaLnBrk="0">
              <a:lnSpc>
                <a:spcPct val="88000"/>
              </a:lnSpc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船舶及航道构筑物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76225" indent="-263525" algn="l" rtl="0" eaLnBrk="0">
              <a:lnSpc>
                <a:spcPct val="97000"/>
              </a:lnSpc>
              <a:spcBef>
                <a:spcPts val="2"/>
              </a:spcBef>
              <a:tabLst>
                <a:tab pos="258445" algn="l"/>
              </a:tabLst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典型船型</a:t>
            </a:r>
            <a:r>
              <a:rPr sz="2300" kern="0" spc="1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特殊消防系</a:t>
            </a:r>
            <a:r>
              <a:rPr sz="2300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统设计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47827" y="2682912"/>
            <a:ext cx="245973" cy="337718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635127" y="4427270"/>
            <a:ext cx="3159125" cy="808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6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1465" indent="-278765" algn="l" rtl="0" eaLnBrk="0">
              <a:lnSpc>
                <a:spcPct val="112000"/>
              </a:lnSpc>
              <a:tabLst>
                <a:tab pos="258445" algn="l"/>
              </a:tabLst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升船机/船</a:t>
            </a:r>
            <a:r>
              <a:rPr sz="2700" kern="0" spc="-50" baseline="69451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cv</a:t>
            </a: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闸通航等</a:t>
            </a:r>
            <a:r>
              <a:rPr sz="2300" kern="0" spc="-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</a:t>
            </a:r>
            <a:r>
              <a:rPr sz="2300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防安全与应急救援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47827" y="4511712"/>
            <a:ext cx="245973" cy="337718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2253995" y="3421379"/>
            <a:ext cx="1389887" cy="972311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824483" y="3445763"/>
            <a:ext cx="1316736" cy="941832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2264664" y="5361431"/>
            <a:ext cx="1295400" cy="949451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4678806" y="983094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873251" y="5369051"/>
            <a:ext cx="1267968" cy="93421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50500" y="1082764"/>
            <a:ext cx="11734040" cy="5519151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289548" y="3747516"/>
            <a:ext cx="5541263" cy="2688336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09600" y="3741420"/>
            <a:ext cx="5170932" cy="2694432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332220" y="1170432"/>
            <a:ext cx="5437632" cy="2467355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533831" y="1422412"/>
            <a:ext cx="5509895" cy="20186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96000"/>
              </a:lnSpc>
              <a:tabLst>
                <a:tab pos="233045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火灾智慧识别与大数据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应急响应技术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6509" algn="l" rtl="0" eaLnBrk="0">
              <a:lnSpc>
                <a:spcPct val="96000"/>
              </a:lnSpc>
              <a:spcBef>
                <a:spcPts val="1671"/>
              </a:spcBef>
              <a:tabLst>
                <a:tab pos="233045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高精度火灾态势预测技术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74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新能源及储能火灾安全防控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多相灭火介质高效抑火技术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46531" y="3090087"/>
            <a:ext cx="216408" cy="337718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46531" y="2541447"/>
            <a:ext cx="216408" cy="337718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50659" y="1983752"/>
            <a:ext cx="216408" cy="337718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50659" y="1435112"/>
            <a:ext cx="216408" cy="337718"/>
          </a:xfrm>
          <a:prstGeom prst="rect">
            <a:avLst/>
          </a:prstGeom>
        </p:spPr>
      </p:pic>
      <p:sp>
        <p:nvSpPr>
          <p:cNvPr id="68" name="textbox 68"/>
          <p:cNvSpPr/>
          <p:nvPr/>
        </p:nvSpPr>
        <p:spPr>
          <a:xfrm>
            <a:off x="4035501" y="288887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1980" y="1455420"/>
            <a:ext cx="5084063" cy="2514600"/>
          </a:xfrm>
          <a:prstGeom prst="rect">
            <a:avLst/>
          </a:prstGeom>
        </p:spPr>
      </p:pic>
      <p:graphicFrame>
        <p:nvGraphicFramePr>
          <p:cNvPr id="72" name="table 72"/>
          <p:cNvGraphicFramePr>
            <a:graphicFrameLocks noGrp="1"/>
          </p:cNvGraphicFramePr>
          <p:nvPr/>
        </p:nvGraphicFramePr>
        <p:xfrm>
          <a:off x="356615" y="900683"/>
          <a:ext cx="5496559" cy="3147060"/>
        </p:xfrm>
        <a:graphic>
          <a:graphicData uri="http://schemas.openxmlformats.org/drawingml/2006/table">
            <a:tbl>
              <a:tblPr/>
              <a:tblGrid>
                <a:gridCol w="5496559"/>
              </a:tblGrid>
              <a:tr h="520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472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7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舰船智慧消防系统设计</a:t>
                      </a:r>
                      <a:endParaRPr sz="2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98"/>
                    </a:solidFill>
                  </a:tcPr>
                </a:tc>
              </a:tr>
              <a:tr h="26263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9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58110" algn="l" rtl="0" eaLnBrk="0">
                        <a:lnSpc>
                          <a:spcPts val="1024"/>
                        </a:lnSpc>
                        <a:tabLst/>
                      </a:pPr>
                      <a:r>
                        <a:rPr sz="17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cv</a:t>
                      </a:r>
                      <a:endParaRPr sz="17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6" name="group 6"/>
          <p:cNvGrpSpPr/>
          <p:nvPr/>
        </p:nvGrpSpPr>
        <p:grpSpPr>
          <a:xfrm rot="21600000">
            <a:off x="370331" y="4101083"/>
            <a:ext cx="5497067" cy="2676384"/>
            <a:chOff x="0" y="0"/>
            <a:chExt cx="5497067" cy="2676384"/>
          </a:xfrm>
        </p:grpSpPr>
        <p:pic>
          <p:nvPicPr>
            <p:cNvPr id="74" name="picture 7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497067" cy="2676384"/>
            </a:xfrm>
            <a:prstGeom prst="rect">
              <a:avLst/>
            </a:prstGeom>
          </p:spPr>
        </p:pic>
        <p:pic>
          <p:nvPicPr>
            <p:cNvPr id="76" name="picture 7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2802635" y="675132"/>
              <a:ext cx="2598420" cy="1958339"/>
            </a:xfrm>
            <a:prstGeom prst="rect">
              <a:avLst/>
            </a:prstGeom>
          </p:spPr>
        </p:pic>
        <p:pic>
          <p:nvPicPr>
            <p:cNvPr id="78" name="picture 7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76784" y="699516"/>
              <a:ext cx="2479547" cy="1787651"/>
            </a:xfrm>
            <a:prstGeom prst="rect">
              <a:avLst/>
            </a:prstGeom>
          </p:spPr>
        </p:pic>
        <p:sp>
          <p:nvSpPr>
            <p:cNvPr id="80" name="textbox 80"/>
            <p:cNvSpPr/>
            <p:nvPr/>
          </p:nvSpPr>
          <p:spPr>
            <a:xfrm>
              <a:off x="428136" y="76805"/>
              <a:ext cx="4644390" cy="3854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412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27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锂电池热失控及抑火技术应用</a:t>
              </a:r>
              <a:endParaRPr sz="2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6204241" y="1363979"/>
            <a:ext cx="5476531" cy="2684145"/>
            <a:chOff x="0" y="0"/>
            <a:chExt cx="5476531" cy="2684145"/>
          </a:xfrm>
        </p:grpSpPr>
        <p:pic>
          <p:nvPicPr>
            <p:cNvPr id="82" name="picture 8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5476531" cy="2684145"/>
            </a:xfrm>
            <a:prstGeom prst="rect">
              <a:avLst/>
            </a:prstGeom>
          </p:spPr>
        </p:pic>
        <p:sp>
          <p:nvSpPr>
            <p:cNvPr id="84" name="textbox 84"/>
            <p:cNvSpPr/>
            <p:nvPr/>
          </p:nvSpPr>
          <p:spPr>
            <a:xfrm>
              <a:off x="2631211" y="1303312"/>
              <a:ext cx="224154" cy="1555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024"/>
                </a:lnSpc>
                <a:tabLst/>
              </a:pPr>
              <a:r>
                <a:rPr sz="1700" kern="0" spc="-1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cv</a:t>
              </a:r>
              <a:endParaRPr sz="1700" dirty="0">
                <a:latin typeface="DengXian"/>
                <a:ea typeface="DengXian"/>
                <a:cs typeface="DengXian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6196583" y="4107179"/>
            <a:ext cx="5497068" cy="2642578"/>
            <a:chOff x="0" y="0"/>
            <a:chExt cx="5497068" cy="2642578"/>
          </a:xfrm>
        </p:grpSpPr>
        <p:pic>
          <p:nvPicPr>
            <p:cNvPr id="86" name="picture 8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5497068" cy="2642578"/>
            </a:xfrm>
            <a:prstGeom prst="rect">
              <a:avLst/>
            </a:prstGeom>
          </p:spPr>
        </p:pic>
        <p:pic>
          <p:nvPicPr>
            <p:cNvPr id="88" name="picture 8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179832" y="603503"/>
              <a:ext cx="2662427" cy="1959864"/>
            </a:xfrm>
            <a:prstGeom prst="rect">
              <a:avLst/>
            </a:prstGeom>
          </p:spPr>
        </p:pic>
        <p:pic>
          <p:nvPicPr>
            <p:cNvPr id="90" name="picture 9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2996183" y="551688"/>
              <a:ext cx="2369819" cy="2046732"/>
            </a:xfrm>
            <a:prstGeom prst="rect">
              <a:avLst/>
            </a:prstGeom>
          </p:spPr>
        </p:pic>
        <p:sp>
          <p:nvSpPr>
            <p:cNvPr id="92" name="textbox 92"/>
            <p:cNvSpPr/>
            <p:nvPr/>
          </p:nvSpPr>
          <p:spPr>
            <a:xfrm>
              <a:off x="305701" y="69672"/>
              <a:ext cx="4893945" cy="3340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5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23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工程尺度电气设施高效灭火技术应用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94" name="textbox 94"/>
          <p:cNvSpPr/>
          <p:nvPr/>
        </p:nvSpPr>
        <p:spPr>
          <a:xfrm>
            <a:off x="6196583" y="900683"/>
            <a:ext cx="5497195" cy="520065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329689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舰船火灾态势预测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4946700" y="210794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0188" y="2141308"/>
            <a:ext cx="4962016" cy="210663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7356" y="1647281"/>
            <a:ext cx="11623864" cy="5210718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178295" y="1671827"/>
            <a:ext cx="5856732" cy="2631947"/>
          </a:xfrm>
          <a:prstGeom prst="rect">
            <a:avLst/>
          </a:prstGeom>
        </p:spPr>
      </p:pic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152895" y="1646428"/>
          <a:ext cx="5907405" cy="2682239"/>
        </p:xfrm>
        <a:graphic>
          <a:graphicData uri="http://schemas.openxmlformats.org/drawingml/2006/table">
            <a:tbl>
              <a:tblPr/>
              <a:tblGrid>
                <a:gridCol w="5907405"/>
              </a:tblGrid>
              <a:tr h="26758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万元</a:t>
                      </a:r>
                      <a:endParaRPr sz="14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box 10"/>
          <p:cNvSpPr/>
          <p:nvPr/>
        </p:nvSpPr>
        <p:spPr>
          <a:xfrm>
            <a:off x="292338" y="711771"/>
            <a:ext cx="9285605" cy="929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62145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7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>
                <a:tab pos="210184" algn="l"/>
              </a:tabLst>
            </a:pP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100" b="1" kern="0" spc="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运输船舶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交通事故数量不断攀升</a:t>
            </a:r>
            <a:r>
              <a:rPr sz="2100" b="1" kern="0" spc="-3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经济损失巨大</a:t>
            </a:r>
            <a:r>
              <a:rPr sz="2100" b="1" kern="0" spc="-3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提升航运安全刻不容缓</a:t>
            </a:r>
            <a:endParaRPr sz="2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05038" y="1319515"/>
            <a:ext cx="197923" cy="308871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4234040" y="5380596"/>
            <a:ext cx="7723505" cy="1097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8000"/>
              </a:lnSpc>
              <a:tabLst/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2021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年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由于驾驶人员疏忽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3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“长赐号”货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轮在苏伊士运河搁浅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船头顶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indent="-635" algn="l" rtl="0" eaLnBrk="0">
              <a:lnSpc>
                <a:spcPct val="162000"/>
              </a:lnSpc>
              <a:spcBef>
                <a:spcPts val="40"/>
              </a:spcBef>
              <a:tabLst/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住运河东岸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船尾抵在西岸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造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河道堵塞近一周</a:t>
            </a:r>
            <a:r>
              <a:rPr sz="1700" b="1" kern="0" spc="-26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共有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450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艘船只被堵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在苏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伊士运河</a:t>
            </a:r>
            <a:r>
              <a:rPr sz="1700" b="1" kern="0" spc="-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造成重大影响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是苏伊士运河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150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多年历史上最严重的事故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6204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3.4 船舶智能运动</a:t>
            </a: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62356" y="4913376"/>
            <a:ext cx="3393948" cy="1909572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1742988" y="1712107"/>
            <a:ext cx="3776345" cy="1327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600" b="1" kern="0" spc="60" dirty="0">
                <a:solidFill>
                  <a:srgbClr val="5AA6E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2017-2022</a:t>
            </a:r>
            <a:r>
              <a:rPr sz="1600" b="1" kern="0" spc="60" dirty="0">
                <a:solidFill>
                  <a:srgbClr val="5AA6E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年运输船舶交通事</a:t>
            </a:r>
            <a:r>
              <a:rPr sz="1600" b="1" kern="0" spc="50" dirty="0">
                <a:solidFill>
                  <a:srgbClr val="5AA6E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故统计</a:t>
            </a:r>
            <a:endParaRPr sz="1600" dirty="0">
              <a:latin typeface="Microsoft YaHei"/>
              <a:ea typeface="Microsoft YaHei"/>
              <a:cs typeface="Microsoft YaHei"/>
            </a:endParaRPr>
          </a:p>
          <a:p>
            <a:pPr marL="542290" algn="l" rtl="0" eaLnBrk="0">
              <a:lnSpc>
                <a:spcPct val="70000"/>
              </a:lnSpc>
              <a:spcBef>
                <a:spcPts val="431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237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2209800" algn="l" rtl="0" eaLnBrk="0">
              <a:lnSpc>
                <a:spcPts val="1039"/>
              </a:lnSpc>
              <a:spcBef>
                <a:spcPts val="957"/>
              </a:spcBef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196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215265" algn="l" rtl="0" eaLnBrk="0">
              <a:lnSpc>
                <a:spcPts val="1091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176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384935" algn="l" rtl="0" eaLnBrk="0">
              <a:lnSpc>
                <a:spcPts val="983"/>
              </a:lnSpc>
              <a:tabLst/>
            </a:pP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155                                  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153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040764" algn="l" rtl="0" eaLnBrk="0">
              <a:lnSpc>
                <a:spcPct val="82000"/>
              </a:lnSpc>
              <a:spcBef>
                <a:spcPts val="15"/>
              </a:spcBef>
              <a:tabLst/>
            </a:pPr>
            <a:r>
              <a:rPr sz="2100" kern="0" spc="-50" baseline="49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137</a:t>
            </a:r>
            <a:r>
              <a:rPr sz="1300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</a:t>
            </a:r>
            <a:r>
              <a:rPr sz="2100" kern="0" spc="-50" baseline="7441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138</a:t>
            </a:r>
            <a:r>
              <a:rPr sz="1300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</a:t>
            </a:r>
            <a:r>
              <a:rPr sz="2100" kern="0" spc="-50" baseline="-12401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129</a:t>
            </a:r>
            <a:endParaRPr sz="2100" baseline="-12401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70000"/>
              </a:lnSpc>
              <a:spcBef>
                <a:spcPts val="356"/>
              </a:spcBef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103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707064" y="3391455"/>
            <a:ext cx="5028565" cy="9137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99060" algn="l" rtl="0" eaLnBrk="0">
              <a:lnSpc>
                <a:spcPct val="70000"/>
              </a:lnSpc>
              <a:spcBef>
                <a:spcPts val="1424"/>
              </a:spcBef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70000"/>
              </a:lnSpc>
              <a:spcBef>
                <a:spcPts val="575"/>
              </a:spcBef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2017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2018</a:t>
            </a:r>
            <a:r>
              <a:rPr sz="1400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2019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2020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2021</a:t>
            </a:r>
            <a:r>
              <a:rPr sz="1400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2022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923414" algn="l" rtl="0" eaLnBrk="0">
              <a:lnSpc>
                <a:spcPct val="87000"/>
              </a:lnSpc>
              <a:spcBef>
                <a:spcPts val="9"/>
              </a:spcBef>
              <a:tabLst/>
            </a:pP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事故数</a:t>
            </a:r>
            <a:r>
              <a:rPr sz="1400" b="1" kern="0" spc="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死亡失踪人数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292338" y="4484355"/>
            <a:ext cx="10123805" cy="334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2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>
                <a:tab pos="210184" algn="l"/>
              </a:tabLst>
            </a:pP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100" b="1" kern="0" spc="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大部分事故由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人为因素造成</a:t>
            </a:r>
            <a:r>
              <a:rPr sz="2100" b="1" kern="0" spc="-3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-5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智能船舶作为解</a:t>
            </a:r>
            <a:r>
              <a:rPr sz="2100" b="1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决航运安全的关键</a:t>
            </a:r>
            <a:r>
              <a:rPr sz="2100" b="1" kern="0" spc="-3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-5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转型迫在眉睫</a:t>
            </a:r>
            <a:endParaRPr sz="2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05038" y="4497055"/>
            <a:ext cx="197923" cy="308871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613347" y="1816532"/>
            <a:ext cx="384809" cy="1419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82000"/>
              </a:lnSpc>
              <a:tabLst/>
            </a:pP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数量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70000"/>
              </a:lnSpc>
              <a:spcBef>
                <a:spcPts val="628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250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0000"/>
              </a:lnSpc>
              <a:spcBef>
                <a:spcPts val="1419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29209" algn="l" rtl="0" eaLnBrk="0">
              <a:lnSpc>
                <a:spcPct val="70000"/>
              </a:lnSpc>
              <a:spcBef>
                <a:spcPts val="1424"/>
              </a:spcBef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8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09" algn="l" rtl="0" eaLnBrk="0">
              <a:lnSpc>
                <a:spcPct val="70000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100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1120519" y="2251795"/>
            <a:ext cx="271779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196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1464447" y="2291393"/>
            <a:ext cx="271779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190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5625986" y="2964569"/>
            <a:ext cx="193039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5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88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7371588" y="999744"/>
            <a:ext cx="4354068" cy="2118359"/>
            <a:chOff x="0" y="0"/>
            <a:chExt cx="4354068" cy="2118359"/>
          </a:xfrm>
        </p:grpSpPr>
        <p:pic>
          <p:nvPicPr>
            <p:cNvPr id="36" name="picture 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354068" cy="2118359"/>
            </a:xfrm>
            <a:prstGeom prst="rect">
              <a:avLst/>
            </a:prstGeom>
          </p:spPr>
        </p:pic>
        <p:sp>
          <p:nvSpPr>
            <p:cNvPr id="38" name="textbox 38"/>
            <p:cNvSpPr/>
            <p:nvPr/>
          </p:nvSpPr>
          <p:spPr>
            <a:xfrm>
              <a:off x="1662200" y="61924"/>
              <a:ext cx="1162050" cy="2527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98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三峡新通道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733107" y="3165347"/>
            <a:ext cx="2635885" cy="3280854"/>
            <a:chOff x="0" y="0"/>
            <a:chExt cx="2635885" cy="3280854"/>
          </a:xfrm>
        </p:grpSpPr>
        <p:pic>
          <p:nvPicPr>
            <p:cNvPr id="40" name="picture 4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635885" cy="3280854"/>
            </a:xfrm>
            <a:prstGeom prst="rect">
              <a:avLst/>
            </a:prstGeom>
          </p:spPr>
        </p:pic>
        <p:sp>
          <p:nvSpPr>
            <p:cNvPr id="42" name="textbox 42"/>
            <p:cNvSpPr/>
            <p:nvPr/>
          </p:nvSpPr>
          <p:spPr>
            <a:xfrm>
              <a:off x="1469828" y="560276"/>
              <a:ext cx="969644" cy="22802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58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水文气象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4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6364" algn="l" rtl="0" eaLnBrk="0">
                <a:lnSpc>
                  <a:spcPct val="87000"/>
                </a:lnSpc>
                <a:spcBef>
                  <a:spcPts val="454"/>
                </a:spcBef>
                <a:tabLst/>
              </a:pPr>
              <a:r>
                <a:rPr sz="1500" b="1" kern="0" spc="6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障碍物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spcBef>
                  <a:spcPts val="452"/>
                </a:spcBef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数据融合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环境重构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4" name="textbox 44"/>
            <p:cNvSpPr/>
            <p:nvPr/>
          </p:nvSpPr>
          <p:spPr>
            <a:xfrm>
              <a:off x="262260" y="553346"/>
              <a:ext cx="835660" cy="7105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66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航行条件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5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5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33655" algn="l" rtl="0" eaLnBrk="0">
                <a:lnSpc>
                  <a:spcPct val="87000"/>
                </a:lnSpc>
                <a:spcBef>
                  <a:spcPts val="3"/>
                </a:spcBef>
                <a:tabLst/>
              </a:pPr>
              <a:r>
                <a:rPr sz="1500" b="1" kern="0" spc="5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目标识别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6" name="textbox 46"/>
            <p:cNvSpPr/>
            <p:nvPr/>
          </p:nvSpPr>
          <p:spPr>
            <a:xfrm>
              <a:off x="853033" y="62928"/>
              <a:ext cx="935355" cy="2520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64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7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智能感知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6328727" y="3165347"/>
            <a:ext cx="2635885" cy="3280854"/>
            <a:chOff x="0" y="0"/>
            <a:chExt cx="2635885" cy="3280854"/>
          </a:xfrm>
        </p:grpSpPr>
        <p:pic>
          <p:nvPicPr>
            <p:cNvPr id="48" name="picture 4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635885" cy="3280854"/>
            </a:xfrm>
            <a:prstGeom prst="rect">
              <a:avLst/>
            </a:prstGeom>
          </p:spPr>
        </p:pic>
        <p:sp>
          <p:nvSpPr>
            <p:cNvPr id="50" name="textbox 50"/>
            <p:cNvSpPr/>
            <p:nvPr/>
          </p:nvSpPr>
          <p:spPr>
            <a:xfrm>
              <a:off x="352200" y="1355932"/>
              <a:ext cx="1995170" cy="16325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9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500" b="1" kern="0" spc="8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操纵预报、</a:t>
              </a:r>
              <a:r>
                <a:rPr sz="1500" b="1" kern="0" spc="-32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500" b="1" kern="0" spc="8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控制模型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spcBef>
                  <a:spcPts val="460"/>
                </a:spcBef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航向控制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r" rtl="0" eaLnBrk="0">
                <a:lnSpc>
                  <a:spcPts val="4028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航速控制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52" name="textbox 52"/>
            <p:cNvSpPr/>
            <p:nvPr/>
          </p:nvSpPr>
          <p:spPr>
            <a:xfrm>
              <a:off x="534263" y="62928"/>
              <a:ext cx="1392555" cy="2520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64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7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智能运动控制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3526472" y="3165347"/>
            <a:ext cx="2635884" cy="3280854"/>
            <a:chOff x="0" y="0"/>
            <a:chExt cx="2635884" cy="3280854"/>
          </a:xfrm>
        </p:grpSpPr>
        <p:pic>
          <p:nvPicPr>
            <p:cNvPr id="54" name="picture 5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635884" cy="3280854"/>
            </a:xfrm>
            <a:prstGeom prst="rect">
              <a:avLst/>
            </a:prstGeom>
          </p:spPr>
        </p:pic>
        <p:sp>
          <p:nvSpPr>
            <p:cNvPr id="56" name="textbox 56"/>
            <p:cNvSpPr/>
            <p:nvPr/>
          </p:nvSpPr>
          <p:spPr>
            <a:xfrm>
              <a:off x="317625" y="1396167"/>
              <a:ext cx="2133600" cy="15614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67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多物理场耦合决策模型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spcBef>
                  <a:spcPts val="455"/>
                </a:spcBef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避碰决策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308100" algn="l" rtl="0" eaLnBrk="0">
                <a:lnSpc>
                  <a:spcPts val="4079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航线规划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58" name="textbox 58"/>
            <p:cNvSpPr/>
            <p:nvPr/>
          </p:nvSpPr>
          <p:spPr>
            <a:xfrm>
              <a:off x="544512" y="62014"/>
              <a:ext cx="1395094" cy="2546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6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航行自主决策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60" name="picture 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104312" y="3306127"/>
            <a:ext cx="2635885" cy="3139440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746328" y="1356334"/>
            <a:ext cx="5695950" cy="146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船舶航行信息智能感知技术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舶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航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</a:t>
            </a:r>
            <a:r>
              <a:rPr sz="2300" b="1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</a:t>
            </a:r>
            <a:r>
              <a:rPr sz="23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决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策</a:t>
            </a:r>
            <a:r>
              <a:rPr sz="2300" b="1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及</a:t>
            </a:r>
            <a:r>
              <a:rPr sz="23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</a:t>
            </a:r>
            <a:r>
              <a:rPr sz="23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</a:t>
            </a:r>
            <a:r>
              <a:rPr sz="2300" b="1" kern="0" spc="-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体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</a:t>
            </a:r>
            <a:r>
              <a:rPr sz="2300" b="1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络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保</a:t>
            </a:r>
            <a:r>
              <a:rPr sz="2300" b="1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障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4" name="picture 6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59028" y="2466314"/>
            <a:ext cx="216408" cy="337718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59028" y="1917674"/>
            <a:ext cx="216408" cy="337718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59028" y="1369034"/>
            <a:ext cx="216408" cy="337718"/>
          </a:xfrm>
          <a:prstGeom prst="rect">
            <a:avLst/>
          </a:prstGeom>
        </p:spPr>
      </p:pic>
      <p:sp>
        <p:nvSpPr>
          <p:cNvPr id="70" name="textbox 70"/>
          <p:cNvSpPr/>
          <p:nvPr/>
        </p:nvSpPr>
        <p:spPr>
          <a:xfrm>
            <a:off x="9880896" y="4580187"/>
            <a:ext cx="1633220" cy="150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船岸通信系统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461"/>
              </a:spcBef>
              <a:tabLst/>
            </a:pPr>
            <a:r>
              <a:rPr sz="15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降低延迟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790575" algn="l" rtl="0" eaLnBrk="0">
              <a:lnSpc>
                <a:spcPts val="3812"/>
              </a:lnSpc>
              <a:tabLst/>
            </a:pPr>
            <a:r>
              <a:rPr sz="1500" b="1" kern="0" spc="9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提高稳定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4" name="rect 74"/>
          <p:cNvSpPr/>
          <p:nvPr/>
        </p:nvSpPr>
        <p:spPr>
          <a:xfrm>
            <a:off x="9497567" y="3118104"/>
            <a:ext cx="1808988" cy="368807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" name="textbox 76"/>
          <p:cNvSpPr/>
          <p:nvPr/>
        </p:nvSpPr>
        <p:spPr>
          <a:xfrm>
            <a:off x="9715601" y="3180943"/>
            <a:ext cx="1384300" cy="252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1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网络安全保障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78"/>
          <p:cNvSpPr/>
          <p:nvPr/>
        </p:nvSpPr>
        <p:spPr>
          <a:xfrm>
            <a:off x="640867" y="321627"/>
            <a:ext cx="10537190" cy="157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37379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indent="454659" algn="l" rtl="0" eaLnBrk="0">
              <a:lnSpc>
                <a:spcPct val="153000"/>
              </a:lnSpc>
              <a:spcBef>
                <a:spcPts val="95"/>
              </a:spcBef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研发智能驾驶集成系统、</a:t>
            </a:r>
            <a:r>
              <a:rPr sz="2300" b="1" kern="0" spc="-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拖轮智能航行系统、</a:t>
            </a:r>
            <a:r>
              <a:rPr sz="2300" b="1" kern="0" spc="-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多款船舶自主航行及协同控制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等系列智能运动控制技术产品</a:t>
            </a:r>
            <a:r>
              <a:rPr sz="2300" b="1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b="1" kern="0" spc="-5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并成功应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用于多艘船舶。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0" name="picture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367783" y="4614671"/>
            <a:ext cx="3569207" cy="2170176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21792" y="4616195"/>
            <a:ext cx="3544823" cy="2170176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145780" y="4614671"/>
            <a:ext cx="3497580" cy="2170176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367783" y="2642616"/>
            <a:ext cx="3569207" cy="1923287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37031" y="2604516"/>
            <a:ext cx="3529583" cy="1923287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145780" y="2644139"/>
            <a:ext cx="3497580" cy="1921764"/>
          </a:xfrm>
          <a:prstGeom prst="rect">
            <a:avLst/>
          </a:prstGeom>
        </p:spPr>
      </p:pic>
      <p:sp>
        <p:nvSpPr>
          <p:cNvPr id="92" name="textbox 92"/>
          <p:cNvSpPr/>
          <p:nvPr/>
        </p:nvSpPr>
        <p:spPr>
          <a:xfrm>
            <a:off x="4367783" y="2026920"/>
            <a:ext cx="3584575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577215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拖轮智能航行系统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629412" y="2026920"/>
            <a:ext cx="3538854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551815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智能驾驶集成系统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8151876" y="2026920"/>
            <a:ext cx="3491865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25425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船舶自主协同控制系统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19800" y="1685543"/>
            <a:ext cx="5791200" cy="435102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536112" y="1844368"/>
            <a:ext cx="5282565" cy="4228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船闸的核心设备</a:t>
            </a:r>
            <a:r>
              <a:rPr sz="2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7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如闸门启闭机、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13334" algn="l" rtl="0" eaLnBrk="0">
              <a:lnSpc>
                <a:spcPct val="157000"/>
              </a:lnSpc>
              <a:spcBef>
                <a:spcPts val="41"/>
              </a:spcBef>
              <a:tabLst/>
            </a:pP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液压系统、</a:t>
            </a:r>
            <a:r>
              <a:rPr sz="2700" kern="0" spc="-6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缆车导向系统、</a:t>
            </a:r>
            <a:r>
              <a:rPr sz="2700" kern="0" spc="-6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止水</a:t>
            </a:r>
            <a:r>
              <a:rPr sz="2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装置等关键部件的运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行状态（如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振动、</a:t>
            </a:r>
            <a:r>
              <a:rPr sz="2700" kern="0" spc="-6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液压、</a:t>
            </a:r>
            <a:r>
              <a:rPr sz="2700" kern="0" spc="-6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温度、</a:t>
            </a:r>
            <a:r>
              <a:rPr sz="2700" kern="0" spc="-6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位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移等）</a:t>
            </a:r>
            <a:r>
              <a:rPr sz="2700" kern="0" spc="-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在线监测与故障智能诊断</a:t>
            </a:r>
            <a:r>
              <a:rPr sz="2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6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提高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设备的可靠性</a:t>
            </a:r>
            <a:r>
              <a:rPr sz="2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降低维护成本，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6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从而保证设备的连续可靠运行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2.4 </a:t>
            </a: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基于工业互联</a:t>
            </a:r>
            <a:r>
              <a:rPr sz="2700" b="1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网的船闸机设备故障预警和诊断系统</a:t>
            </a:r>
            <a:endParaRPr sz="2700" dirty="0">
              <a:latin typeface="DengXian"/>
              <a:ea typeface="DengXian"/>
              <a:cs typeface="DengXian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66344" y="3080003"/>
            <a:ext cx="10421112" cy="294132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667842" y="192697"/>
            <a:ext cx="7160894" cy="2862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5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稳定可靠的工业物联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网数据采集平台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智能精准的设备故障预警模型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完善有效的故障诊断知识库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可视可知的设备画像应用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0542" y="2704413"/>
            <a:ext cx="216408" cy="337718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0542" y="2155773"/>
            <a:ext cx="216408" cy="33771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80542" y="1607134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80542" y="1058494"/>
            <a:ext cx="216408" cy="337718"/>
          </a:xfrm>
          <a:prstGeom prst="rect">
            <a:avLst/>
          </a:prstGeom>
        </p:spPr>
      </p:pic>
      <p:sp>
        <p:nvSpPr>
          <p:cNvPr id="22" name="textbox 22"/>
          <p:cNvSpPr/>
          <p:nvPr/>
        </p:nvSpPr>
        <p:spPr>
          <a:xfrm>
            <a:off x="3616020" y="6262839"/>
            <a:ext cx="4580890" cy="253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国产化专业的工业软件产品和工业互联网平台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214871" y="2580132"/>
            <a:ext cx="5236463" cy="3480815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33627" y="2580132"/>
            <a:ext cx="5160263" cy="3480815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833627" y="970788"/>
            <a:ext cx="6487795" cy="64643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6519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大型船闸、</a:t>
            </a:r>
            <a:r>
              <a:rPr sz="2700" kern="0" spc="-6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水利工程的设备监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测和维护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887832" y="1870240"/>
            <a:ext cx="9598025" cy="389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8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已应用于大渡河流域水电、</a:t>
            </a:r>
            <a:r>
              <a:rPr sz="2700" kern="0" spc="-6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广西桂冠电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力水电等水利水电工程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2806026" y="6276022"/>
            <a:ext cx="1165225" cy="252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2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大渡河水电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8335479" y="6182893"/>
            <a:ext cx="938530" cy="248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桂冠水电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96000" y="1914068"/>
            <a:ext cx="5915761" cy="3439451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713450" y="2097063"/>
            <a:ext cx="3649979" cy="3355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风险情景分析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施工期风险识别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-11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断航风险分析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-110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断航风险等级评估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施工期断航过坝运输影响分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析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应对措施分析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696937" y="711771"/>
            <a:ext cx="9776459" cy="10267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5765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4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大型水利枢纽长施工期通航安全风险评估                    </a:t>
            </a:r>
            <a:r>
              <a:rPr sz="2300" b="1" kern="0" spc="7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改建三号船闸方</a:t>
            </a:r>
            <a:r>
              <a:rPr sz="2300" b="1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案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5.4 大型水利枢纽断航风险评估技术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836411" y="1011301"/>
            <a:ext cx="6245719" cy="5345455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80542" y="3206800"/>
            <a:ext cx="5339701" cy="3132594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53627" y="4468367"/>
            <a:ext cx="3243071" cy="1676400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678103" y="1296161"/>
            <a:ext cx="3676650" cy="146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过坝运输影响分析方法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通航安全评估方法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社会稳定风险评估方法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90803" y="2406141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90803" y="1857502"/>
            <a:ext cx="216408" cy="33771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90803" y="1308861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52856" y="3425952"/>
            <a:ext cx="4067555" cy="1005839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001511" y="2976372"/>
            <a:ext cx="3421379" cy="1174186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234683" y="4468367"/>
            <a:ext cx="2220468" cy="1682495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370320" y="1129284"/>
            <a:ext cx="2343912" cy="1478279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334500" y="1100328"/>
            <a:ext cx="2103119" cy="1328927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9659111" y="2816352"/>
            <a:ext cx="2103120" cy="1194815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1957762" y="4583346"/>
            <a:ext cx="1624330" cy="210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产业链与供应链分析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3243072" y="4747259"/>
            <a:ext cx="2107692" cy="1136903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91896" y="4791455"/>
            <a:ext cx="2183891" cy="1048511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877562" y="5917416"/>
            <a:ext cx="4850129" cy="213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葛洲坝枢纽客运量统计图</a:t>
            </a:r>
            <a:r>
              <a:rPr sz="14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葛洲坝三座船闸货运量分担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柱状图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9884050" y="4047686"/>
            <a:ext cx="1624330" cy="416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22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-1270" algn="l" rtl="0" eaLnBrk="0">
              <a:lnSpc>
                <a:spcPct val="93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社会稳定风险负面后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果及其定量值范围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9047514" y="2523877"/>
            <a:ext cx="2868929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过闸危险货物运量、艘次及流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向统计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6590393" y="4207145"/>
            <a:ext cx="2328545" cy="212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断航、通航风险等级划分标准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503637" y="2677597"/>
            <a:ext cx="2154554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三峡枢纽各类货物运量分析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8227279" y="6070059"/>
            <a:ext cx="1799589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6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专家问卷调查结果统计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54111" y="1930908"/>
            <a:ext cx="3378707" cy="4696967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40308" y="3529583"/>
            <a:ext cx="5274563" cy="27432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34466" y="1177925"/>
            <a:ext cx="5586183" cy="1663966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6969252" y="961644"/>
            <a:ext cx="4755515" cy="86296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6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3344" indent="146685" algn="l" rtl="0" eaLnBrk="0">
              <a:lnSpc>
                <a:spcPct val="113000"/>
              </a:lnSpc>
              <a:tabLst/>
            </a:pPr>
            <a:r>
              <a:rPr sz="2300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《三峡水运新通道断航和通航安全</a:t>
            </a:r>
            <a:r>
              <a:rPr sz="2300" kern="0" spc="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稳定风险及应对措施研究</a:t>
            </a: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》报告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1139761" y="2978530"/>
            <a:ext cx="5014595" cy="32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323"/>
              </a:lnSpc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施工期三江航道航线布置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（下游引航道开挖Ⅰ期）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2233523" y="6416599"/>
            <a:ext cx="2496185" cy="32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323"/>
              </a:lnSpc>
              <a:tabLst/>
            </a:pP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长江溪桥（黄柏河大桥）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550278" y="1496098"/>
            <a:ext cx="6425565" cy="3977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风浅水岸壁船闸航道非线性船组水动力预报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3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风、浅水岸壁船组流场预报与流速检测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复杂船闸航道泥沙堆积环境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下船舶水动力预估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系缆力、船组运动响应预报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船舶兴波对航道岸壁影响评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估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全尺度船组阻力预报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复杂航道泥沙堆积流态预报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174992" y="1353311"/>
            <a:ext cx="4466844" cy="2473451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174458" y="4328159"/>
            <a:ext cx="4466844" cy="2275332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6204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3.1 风、</a:t>
            </a:r>
            <a:r>
              <a:rPr sz="2700" kern="0" spc="-6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浅水、</a:t>
            </a:r>
            <a:r>
              <a:rPr sz="2700" kern="0" spc="-6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岸壁以及船闸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航道非线性船组水动力预报系统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8317745" y="3849907"/>
            <a:ext cx="2275839" cy="416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33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0020" indent="-147954" algn="l" rtl="0" eaLnBrk="0">
              <a:lnSpc>
                <a:spcPct val="93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浅水效应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岸壁效应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间效应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运动响应预报与流场检测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8299891" y="6605032"/>
            <a:ext cx="2513329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船组、岸壁、假底试验装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置架构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679447" y="3944543"/>
            <a:ext cx="4560854" cy="2095526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655726" y="420509"/>
            <a:ext cx="7658100" cy="3270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92804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83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复杂航道泥沙堆积多相流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CFD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DEM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数学模型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333375" indent="-321309" algn="l" rtl="0" eaLnBrk="0">
              <a:lnSpc>
                <a:spcPct val="151000"/>
              </a:lnSpc>
              <a:spcBef>
                <a:spcPts val="364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考虑浅水、</a:t>
            </a:r>
            <a:r>
              <a:rPr sz="2300" b="1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岸壁、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船间效应的船组水动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力和下沉量试验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测量技术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1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复杂船闸航道限制域非线性船舶运动智能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预报技术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165"/>
              </a:lnSpc>
              <a:spcBef>
                <a:spcPts val="5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限制域系缆力、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粘势流/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二因次船模-实船阻力切换技术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3324872"/>
            <a:ext cx="216408" cy="33771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8351456" y="950493"/>
            <a:ext cx="3730674" cy="5406263"/>
            <a:chOff x="0" y="0"/>
            <a:chExt cx="3730674" cy="5406263"/>
          </a:xfrm>
        </p:grpSpPr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3730674" cy="5406263"/>
            </a:xfrm>
            <a:prstGeom prst="rect">
              <a:avLst/>
            </a:prstGeom>
          </p:spPr>
        </p:pic>
        <p:sp>
          <p:nvSpPr>
            <p:cNvPr id="30" name="textbox 30"/>
            <p:cNvSpPr/>
            <p:nvPr/>
          </p:nvSpPr>
          <p:spPr>
            <a:xfrm>
              <a:off x="1240557" y="5056356"/>
              <a:ext cx="1802129" cy="2120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55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4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船舶运动智能预报架构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988568" y="3764114"/>
            <a:ext cx="5954674" cy="2609215"/>
            <a:chOff x="0" y="0"/>
            <a:chExt cx="5954674" cy="2609215"/>
          </a:xfrm>
        </p:grpSpPr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5954674" cy="2609215"/>
            </a:xfrm>
            <a:prstGeom prst="rect">
              <a:avLst/>
            </a:prstGeom>
          </p:spPr>
        </p:pic>
        <p:sp>
          <p:nvSpPr>
            <p:cNvPr id="34" name="textbox 34"/>
            <p:cNvSpPr/>
            <p:nvPr/>
          </p:nvSpPr>
          <p:spPr>
            <a:xfrm>
              <a:off x="-12700" y="-12700"/>
              <a:ext cx="5980429" cy="26441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49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261870" algn="l" rtl="0" eaLnBrk="0">
                <a:lnSpc>
                  <a:spcPct val="88000"/>
                </a:lnSpc>
                <a:tabLst/>
              </a:pPr>
              <a:r>
                <a:rPr sz="14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分域双数学模型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able 36"/>
          <p:cNvGraphicFramePr>
            <a:graphicFrameLocks noGrp="1"/>
          </p:cNvGraphicFramePr>
          <p:nvPr/>
        </p:nvGraphicFramePr>
        <p:xfrm>
          <a:off x="277812" y="4227512"/>
          <a:ext cx="11661140" cy="2630170"/>
        </p:xfrm>
        <a:graphic>
          <a:graphicData uri="http://schemas.openxmlformats.org/drawingml/2006/table">
            <a:tbl>
              <a:tblPr/>
              <a:tblGrid>
                <a:gridCol w="11372850"/>
                <a:gridCol w="288290"/>
              </a:tblGrid>
              <a:tr h="26301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76109" algn="l" rtl="0" eaLnBrk="0">
                        <a:lnSpc>
                          <a:spcPct val="8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五船试验与双数学模型数值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结果对比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72869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限制域多船舶试验平台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38544" y="1359407"/>
            <a:ext cx="4928616" cy="2699004"/>
          </a:xfrm>
          <a:prstGeom prst="rect">
            <a:avLst/>
          </a:prstGeom>
        </p:spPr>
      </p:pic>
      <p:graphicFrame>
        <p:nvGraphicFramePr>
          <p:cNvPr id="40" name="table 40"/>
          <p:cNvGraphicFramePr>
            <a:graphicFrameLocks noGrp="1"/>
          </p:cNvGraphicFramePr>
          <p:nvPr/>
        </p:nvGraphicFramePr>
        <p:xfrm>
          <a:off x="5820727" y="4515713"/>
          <a:ext cx="5830569" cy="2257425"/>
        </p:xfrm>
        <a:graphic>
          <a:graphicData uri="http://schemas.openxmlformats.org/drawingml/2006/table">
            <a:tbl>
              <a:tblPr/>
              <a:tblGrid>
                <a:gridCol w="1802764"/>
                <a:gridCol w="808355"/>
                <a:gridCol w="725804"/>
                <a:gridCol w="852170"/>
                <a:gridCol w="797559"/>
                <a:gridCol w="843915"/>
              </a:tblGrid>
              <a:tr h="7950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0380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船模阻力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4954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1925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3995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5425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1940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12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345" indent="-101600" algn="l" rtl="0" eaLnBrk="0">
                        <a:lnSpc>
                          <a:spcPct val="10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智能工</a:t>
                      </a: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作船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6280" algn="l" rtl="0" eaLnBrk="0">
                        <a:lnSpc>
                          <a:spcPct val="6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EFD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1.37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2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1.48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17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1.44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447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1.76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82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0.23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5740" algn="l" rtl="0" eaLnBrk="0">
                        <a:lnSpc>
                          <a:spcPts val="198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CFD</a:t>
                      </a:r>
                      <a:r>
                        <a:rPr sz="15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（双数学模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704850" algn="l" rtl="0" eaLnBrk="0">
                        <a:lnSpc>
                          <a:spcPts val="1989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型）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1.20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2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1.21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17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1.57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447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1.58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82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0.20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4864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3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118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/%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754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12.41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7479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18.24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250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-9.03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7485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10.11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6534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13.04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  <p:grpSp>
        <p:nvGrpSpPr>
          <p:cNvPr id="6" name="group 6"/>
          <p:cNvGrpSpPr/>
          <p:nvPr/>
        </p:nvGrpSpPr>
        <p:grpSpPr>
          <a:xfrm rot="21600000">
            <a:off x="900683" y="1389888"/>
            <a:ext cx="3259835" cy="2555747"/>
            <a:chOff x="0" y="0"/>
            <a:chExt cx="3259835" cy="2555747"/>
          </a:xfrm>
        </p:grpSpPr>
        <p:pic>
          <p:nvPicPr>
            <p:cNvPr id="42" name="picture 4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259835" cy="2555747"/>
            </a:xfrm>
            <a:prstGeom prst="rect">
              <a:avLst/>
            </a:prstGeom>
          </p:spPr>
        </p:pic>
        <p:sp>
          <p:nvSpPr>
            <p:cNvPr id="44" name="textbox 44"/>
            <p:cNvSpPr/>
            <p:nvPr/>
          </p:nvSpPr>
          <p:spPr>
            <a:xfrm>
              <a:off x="1617865" y="828811"/>
              <a:ext cx="694690" cy="1981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64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1000"/>
                </a:lnSpc>
                <a:tabLst/>
              </a:pP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LES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结果</a:t>
              </a:r>
              <a:endParaRPr sz="1400" dirty="0">
                <a:latin typeface="DengXian"/>
                <a:ea typeface="DengXian"/>
                <a:cs typeface="DengXian"/>
              </a:endParaRPr>
            </a:p>
          </p:txBody>
        </p:sp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39723" y="4899660"/>
            <a:ext cx="3589020" cy="1720595"/>
          </a:xfrm>
          <a:prstGeom prst="rect">
            <a:avLst/>
          </a:prstGeom>
        </p:spPr>
      </p:pic>
      <p:sp>
        <p:nvSpPr>
          <p:cNvPr id="48" name="rect 48"/>
          <p:cNvSpPr/>
          <p:nvPr/>
        </p:nvSpPr>
        <p:spPr>
          <a:xfrm>
            <a:off x="6013703" y="882396"/>
            <a:ext cx="6178296" cy="46634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" name="textbox 50"/>
          <p:cNvSpPr/>
          <p:nvPr/>
        </p:nvSpPr>
        <p:spPr>
          <a:xfrm>
            <a:off x="6070066" y="897089"/>
            <a:ext cx="6134734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098"/>
              </a:lnSpc>
              <a:tabLst/>
            </a:pPr>
            <a:r>
              <a:rPr sz="23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出版《船舶进出限制水域水动力与智能助航》</a:t>
            </a:r>
            <a:r>
              <a:rPr sz="23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88848" y="4363211"/>
            <a:ext cx="3889375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34620" algn="l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23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限制域多船舶试验测量技术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73836" y="882396"/>
            <a:ext cx="3023870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447675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双数学模型预报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137497" y="3980028"/>
            <a:ext cx="5156200" cy="2609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853"/>
              </a:lnSpc>
              <a:tabLst/>
            </a:pP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双数学模型在总体方面体现卓越性能（如高效、高精度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与高稳定）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4946700" y="407136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743487" y="5591200"/>
            <a:ext cx="942429" cy="33842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4316" y="1283207"/>
            <a:ext cx="4969763" cy="2144267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2.11 基于数据-机理混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合驱动的绞吸式挖泥船智能疏浚决策支持系统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684769" y="1432559"/>
            <a:ext cx="3220211" cy="2281428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1035" y="2334406"/>
            <a:ext cx="2508757" cy="2631819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897381" y="3663886"/>
            <a:ext cx="5187950" cy="13601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93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454025" algn="l" rtl="0" eaLnBrk="0">
              <a:lnSpc>
                <a:spcPct val="102000"/>
              </a:lnSpc>
              <a:tabLst/>
            </a:pP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“推进装备技术升级</a:t>
            </a:r>
            <a:r>
              <a:rPr sz="1700" b="1" kern="0" spc="-23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。推广新能源</a:t>
            </a:r>
            <a:r>
              <a:rPr sz="1700" b="1" kern="0" spc="-2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-35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清洁能源</a:t>
            </a:r>
            <a:r>
              <a:rPr sz="1700" b="1" kern="0" spc="-2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智能化</a:t>
            </a:r>
            <a:r>
              <a:rPr sz="1700" b="1" kern="0" spc="-2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-33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数字化</a:t>
            </a:r>
            <a:r>
              <a:rPr sz="1700" b="1" kern="0" spc="-2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-35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轻量化</a:t>
            </a:r>
            <a:r>
              <a:rPr sz="1700" b="1" kern="0" spc="-2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、环保型交通装备及</a:t>
            </a:r>
            <a:r>
              <a:rPr sz="1700" b="1" kern="0" spc="5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成套</a:t>
            </a:r>
            <a:r>
              <a:rPr sz="1700" b="1" kern="0" spc="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技术装备</a:t>
            </a:r>
            <a:r>
              <a:rPr sz="1700" b="1" kern="0" spc="-20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。</a:t>
            </a:r>
            <a:r>
              <a:rPr sz="1700" b="1" kern="0" spc="-30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”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431414" algn="l" rtl="0" eaLnBrk="0">
              <a:lnSpc>
                <a:spcPts val="2188"/>
              </a:lnSpc>
              <a:spcBef>
                <a:spcPts val="2"/>
              </a:spcBef>
              <a:tabLst/>
            </a:pPr>
            <a:r>
              <a:rPr sz="1700" b="1" kern="0" spc="9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——《交通强国建设纲要》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374787" y="5306998"/>
            <a:ext cx="5419725" cy="12344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3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700" kern="0" spc="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700" kern="0" spc="-129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b="1" kern="0" spc="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交通强国</a:t>
            </a:r>
            <a:r>
              <a:rPr sz="2000" b="1" kern="0" spc="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重大国家战略需求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350"/>
              </a:spcBef>
              <a:tabLst/>
            </a:pPr>
            <a:r>
              <a:rPr sz="2700" kern="0" spc="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700" kern="0" spc="-19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b="1" kern="0" spc="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“推进装备技术升级”</a:t>
            </a:r>
            <a:r>
              <a:rPr sz="2000" b="1" kern="0" spc="4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是发展国家战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338454" algn="l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2000" b="1" kern="0" spc="-2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略的重要组成内容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9288691" y="3742524"/>
            <a:ext cx="2349500" cy="1670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kern="0" spc="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6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土质坚硬，</a:t>
            </a:r>
            <a:r>
              <a:rPr sz="1700" b="1" kern="0" spc="-3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挖掘困难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98000"/>
              </a:lnSpc>
              <a:spcBef>
                <a:spcPts val="654"/>
              </a:spcBef>
              <a:tabLst/>
            </a:pPr>
            <a:r>
              <a:rPr sz="1700" kern="0" spc="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7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6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挖掘控制困难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98000"/>
              </a:lnSpc>
              <a:spcBef>
                <a:spcPts val="654"/>
              </a:spcBef>
              <a:tabLst/>
            </a:pPr>
            <a:r>
              <a:rPr sz="1700" kern="0" spc="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6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4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生产效率低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98000"/>
              </a:lnSpc>
              <a:spcBef>
                <a:spcPts val="654"/>
              </a:spcBef>
              <a:tabLst/>
            </a:pPr>
            <a:r>
              <a:rPr sz="1700" kern="0" spc="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70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设备损耗大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28575" algn="l" rtl="0" eaLnBrk="0">
              <a:lnSpc>
                <a:spcPct val="98000"/>
              </a:lnSpc>
              <a:spcBef>
                <a:spcPts val="4"/>
              </a:spcBef>
              <a:tabLst/>
            </a:pPr>
            <a:r>
              <a:rPr sz="1700" kern="0" spc="7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73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7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对生态环境有影响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7042251" y="3966654"/>
            <a:ext cx="1591526" cy="1327835"/>
            <a:chOff x="0" y="0"/>
            <a:chExt cx="1591526" cy="1327835"/>
          </a:xfrm>
        </p:grpSpPr>
        <p:sp>
          <p:nvSpPr>
            <p:cNvPr id="16" name="path 16"/>
            <p:cNvSpPr/>
            <p:nvPr/>
          </p:nvSpPr>
          <p:spPr>
            <a:xfrm>
              <a:off x="0" y="0"/>
              <a:ext cx="1591526" cy="1327835"/>
            </a:xfrm>
            <a:custGeom>
              <a:avLst/>
              <a:gdLst/>
              <a:ahLst/>
              <a:cxnLst/>
              <a:rect l="0" t="0" r="0" b="0"/>
              <a:pathLst>
                <a:path w="2506" h="2091">
                  <a:moveTo>
                    <a:pt x="0" y="228"/>
                  </a:moveTo>
                  <a:moveTo>
                    <a:pt x="0" y="228"/>
                  </a:moveTo>
                  <a:cubicBezTo>
                    <a:pt x="0" y="102"/>
                    <a:pt x="102" y="0"/>
                    <a:pt x="228" y="0"/>
                  </a:cubicBezTo>
                  <a:lnTo>
                    <a:pt x="2277" y="0"/>
                  </a:lnTo>
                  <a:cubicBezTo>
                    <a:pt x="2404" y="0"/>
                    <a:pt x="2506" y="102"/>
                    <a:pt x="2505" y="228"/>
                  </a:cubicBezTo>
                  <a:lnTo>
                    <a:pt x="2505" y="1862"/>
                  </a:lnTo>
                  <a:cubicBezTo>
                    <a:pt x="2506" y="1988"/>
                    <a:pt x="2404" y="2091"/>
                    <a:pt x="2277" y="2090"/>
                  </a:cubicBezTo>
                  <a:lnTo>
                    <a:pt x="228" y="2090"/>
                  </a:lnTo>
                  <a:cubicBezTo>
                    <a:pt x="102" y="2091"/>
                    <a:pt x="0" y="1988"/>
                    <a:pt x="0" y="1862"/>
                  </a:cubicBezTo>
                  <a:lnTo>
                    <a:pt x="0" y="22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" name="textbox 18"/>
            <p:cNvSpPr/>
            <p:nvPr/>
          </p:nvSpPr>
          <p:spPr>
            <a:xfrm>
              <a:off x="277500" y="359295"/>
              <a:ext cx="1039494" cy="6711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7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3495" algn="l" rtl="0" eaLnBrk="0">
                <a:lnSpc>
                  <a:spcPct val="83000"/>
                </a:lnSpc>
                <a:tabLst/>
              </a:pPr>
              <a:r>
                <a:rPr sz="2000" b="1" kern="0" spc="-3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三峡库区</a:t>
              </a:r>
              <a:endParaRPr sz="2000" dirty="0">
                <a:latin typeface="DengXian"/>
                <a:ea typeface="DengXian"/>
                <a:cs typeface="DengXian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46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2000" b="1" kern="0" spc="-1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疏浚作业</a:t>
              </a:r>
              <a:endParaRPr sz="2000" dirty="0">
                <a:latin typeface="DengXian"/>
                <a:ea typeface="DengXian"/>
                <a:cs typeface="DengXian"/>
              </a:endParaRPr>
            </a:p>
          </p:txBody>
        </p:sp>
      </p:grpSp>
      <p:sp>
        <p:nvSpPr>
          <p:cNvPr id="20" name="textbox 20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7530948" y="5879261"/>
            <a:ext cx="3364865" cy="322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2300" b="1" kern="0" spc="9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新型绿色疏浚装备与技</a:t>
            </a:r>
            <a:r>
              <a:rPr sz="2300" b="1" kern="0" spc="8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术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" name="path 24"/>
          <p:cNvSpPr/>
          <p:nvPr/>
        </p:nvSpPr>
        <p:spPr>
          <a:xfrm>
            <a:off x="7740396" y="5586983"/>
            <a:ext cx="2901695" cy="210311"/>
          </a:xfrm>
          <a:custGeom>
            <a:avLst/>
            <a:gdLst/>
            <a:ahLst/>
            <a:cxnLst/>
            <a:rect l="0" t="0" r="0" b="0"/>
            <a:pathLst>
              <a:path w="4569" h="331">
                <a:moveTo>
                  <a:pt x="0" y="0"/>
                </a:moveTo>
                <a:lnTo>
                  <a:pt x="2284" y="331"/>
                </a:lnTo>
                <a:lnTo>
                  <a:pt x="4569" y="0"/>
                </a:lnTo>
                <a:lnTo>
                  <a:pt x="0" y="0"/>
                </a:lnTo>
              </a:path>
            </a:pathLst>
          </a:custGeom>
          <a:solidFill>
            <a:srgbClr val="A6A6A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570207" y="6236208"/>
            <a:ext cx="406907" cy="40690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/>
          <p:nvPr/>
        </p:nvSpPr>
        <p:spPr>
          <a:xfrm>
            <a:off x="655726" y="1117612"/>
            <a:ext cx="7590790" cy="2270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硬质岩土挖掘物理模型与数值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硬质岩土挖掘装备设计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环保疏浚作业技术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智能疏浚决策支持系统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1500" b="1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SPH</a:t>
            </a:r>
            <a:r>
              <a:rPr sz="1500" b="1" kern="0" spc="10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法切削黏土</a:t>
            </a:r>
            <a:r>
              <a:rPr sz="1500" b="1" kern="0" spc="2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10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离散单元法切削岩石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16863" y="3255264"/>
            <a:ext cx="3683508" cy="2506979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351519" y="1050035"/>
            <a:ext cx="3361943" cy="2465832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471916" y="3913631"/>
            <a:ext cx="3238500" cy="1680972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074920" y="3924300"/>
            <a:ext cx="3067812" cy="1725167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690871" y="1633728"/>
            <a:ext cx="1903476" cy="1333500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906767" y="1610867"/>
            <a:ext cx="1132331" cy="1333500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1554434" y="5995843"/>
            <a:ext cx="2054860" cy="226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模块化环保绞吸船设计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110488" y="3604112"/>
            <a:ext cx="1851025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挖掘装备试制与实验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5778944" y="5901213"/>
            <a:ext cx="1646554" cy="2273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智能决策支持系统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9247299" y="5822764"/>
            <a:ext cx="1239519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工况智能寻优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21600000">
            <a:off x="4979034" y="1069428"/>
            <a:ext cx="6954837" cy="5158816"/>
            <a:chOff x="0" y="0"/>
            <a:chExt cx="6954837" cy="5158816"/>
          </a:xfrm>
        </p:grpSpPr>
        <p:sp>
          <p:nvSpPr>
            <p:cNvPr id="60" name="rect 60"/>
            <p:cNvSpPr/>
            <p:nvPr/>
          </p:nvSpPr>
          <p:spPr>
            <a:xfrm>
              <a:off x="0" y="0"/>
              <a:ext cx="6954837" cy="5158816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2" name="textbox 62"/>
            <p:cNvSpPr/>
            <p:nvPr/>
          </p:nvSpPr>
          <p:spPr>
            <a:xfrm>
              <a:off x="156200" y="149928"/>
              <a:ext cx="6323329" cy="48952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278765" algn="l" rtl="0" eaLnBrk="0">
                <a:lnSpc>
                  <a:spcPct val="85000"/>
                </a:lnSpc>
                <a:spcBef>
                  <a:spcPts val="7"/>
                </a:spcBef>
                <a:tabLst>
                  <a:tab pos="445134" algn="l"/>
                </a:tabLst>
              </a:pPr>
              <a:r>
                <a:rPr sz="1700" b="1" kern="0" spc="0" dirty="0">
                  <a:solidFill>
                    <a:srgbClr val="40404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	</a:t>
              </a:r>
              <a:r>
                <a:rPr sz="1700" b="1" kern="0" spc="90" dirty="0">
                  <a:solidFill>
                    <a:srgbClr val="40404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研究成果推广</a:t>
              </a:r>
              <a:endParaRPr sz="1700" dirty="0">
                <a:latin typeface="DengXian"/>
                <a:ea typeface="DengXian"/>
                <a:cs typeface="DengXian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854200" algn="l" rtl="0" eaLnBrk="0">
                <a:lnSpc>
                  <a:spcPct val="98000"/>
                </a:lnSpc>
                <a:spcBef>
                  <a:spcPts val="458"/>
                </a:spcBef>
                <a:tabLst/>
              </a:pP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38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长江宜昌航道工程局、</a:t>
              </a:r>
              <a:r>
                <a:rPr sz="1500" kern="0" spc="-30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长江武汉航道工程局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854200" algn="l" rtl="0" eaLnBrk="0">
                <a:lnSpc>
                  <a:spcPct val="98000"/>
                </a:lnSpc>
                <a:spcBef>
                  <a:spcPts val="1116"/>
                </a:spcBef>
                <a:tabLst/>
              </a:pP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29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中交疏浚技术装备国家工程研究中心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854200" algn="l" rtl="0" eaLnBrk="0">
                <a:lnSpc>
                  <a:spcPct val="98000"/>
                </a:lnSpc>
                <a:spcBef>
                  <a:spcPts val="1116"/>
                </a:spcBef>
                <a:tabLst/>
              </a:pPr>
              <a:r>
                <a:rPr sz="1500" kern="0" spc="7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24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7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中交水利水电建设有限公司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854200" algn="l" rtl="0" eaLnBrk="0">
                <a:lnSpc>
                  <a:spcPts val="2059"/>
                </a:lnSpc>
                <a:spcBef>
                  <a:spcPts val="893"/>
                </a:spcBef>
                <a:tabLst/>
              </a:pPr>
              <a:r>
                <a:rPr sz="1500" kern="0" spc="9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40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9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上海交通大学等15家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企事业单位和高等院校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298825" algn="l" rtl="0" eaLnBrk="0">
                <a:lnSpc>
                  <a:spcPts val="2103"/>
                </a:lnSpc>
                <a:spcBef>
                  <a:spcPts val="1355"/>
                </a:spcBef>
                <a:tabLst/>
              </a:pPr>
              <a:r>
                <a:rPr sz="1500" b="1" kern="0" spc="5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27.78亿元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298825" algn="l" rtl="0" eaLnBrk="0">
                <a:lnSpc>
                  <a:spcPts val="2103"/>
                </a:lnSpc>
                <a:spcBef>
                  <a:spcPts val="776"/>
                </a:spcBef>
                <a:tabLst/>
              </a:pPr>
              <a:r>
                <a:rPr sz="1500" b="1" kern="0" spc="5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2.16亿元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291204" algn="l" rtl="0" eaLnBrk="0">
                <a:lnSpc>
                  <a:spcPts val="2103"/>
                </a:lnSpc>
                <a:spcBef>
                  <a:spcPts val="776"/>
                </a:spcBef>
                <a:tabLst/>
              </a:pPr>
              <a:r>
                <a:rPr sz="1500" b="1" kern="0" spc="6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4630万元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3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673475" algn="l" rtl="0" eaLnBrk="0">
                <a:lnSpc>
                  <a:spcPts val="2103"/>
                </a:lnSpc>
                <a:spcBef>
                  <a:spcPts val="452"/>
                </a:spcBef>
                <a:tabLst/>
              </a:pPr>
              <a:r>
                <a:rPr sz="1500" b="1" kern="0" spc="8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高水平论文74篇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670300" algn="l" rtl="0" eaLnBrk="0">
                <a:lnSpc>
                  <a:spcPct val="88000"/>
                </a:lnSpc>
                <a:spcBef>
                  <a:spcPts val="1109"/>
                </a:spcBef>
                <a:tabLst/>
              </a:pPr>
              <a:r>
                <a:rPr sz="1500" b="1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研究成果行业项目应用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671570" indent="2540" algn="l" rtl="0" eaLnBrk="0">
                <a:lnSpc>
                  <a:spcPct val="157000"/>
                </a:lnSpc>
                <a:spcBef>
                  <a:spcPts val="251"/>
                </a:spcBef>
                <a:tabLst/>
              </a:pPr>
              <a:r>
                <a:rPr sz="1500" b="1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长江航道绞吸挖泥船作业实践</a:t>
              </a:r>
              <a:r>
                <a:rPr sz="1500" b="1" kern="0" spc="10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培养疏浚领域的创新</a:t>
              </a:r>
              <a:r>
                <a:rPr sz="1500" b="1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人才团队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64" name="picture 6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168900" y="162628"/>
              <a:ext cx="266104" cy="494375"/>
            </a:xfrm>
            <a:prstGeom prst="rect">
              <a:avLst/>
            </a:prstGeom>
          </p:spPr>
        </p:pic>
        <p:pic>
          <p:nvPicPr>
            <p:cNvPr id="66" name="picture 6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60546" y="790248"/>
              <a:ext cx="1555599" cy="458043"/>
            </a:xfrm>
            <a:prstGeom prst="rect">
              <a:avLst/>
            </a:prstGeom>
          </p:spPr>
        </p:pic>
        <p:pic>
          <p:nvPicPr>
            <p:cNvPr id="68" name="picture 6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81779" y="2427430"/>
              <a:ext cx="1555016" cy="458043"/>
            </a:xfrm>
            <a:prstGeom prst="rect">
              <a:avLst/>
            </a:prstGeom>
          </p:spPr>
        </p:pic>
        <p:pic>
          <p:nvPicPr>
            <p:cNvPr id="70" name="picture 7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70159" y="3726081"/>
              <a:ext cx="1555016" cy="458043"/>
            </a:xfrm>
            <a:prstGeom prst="rect">
              <a:avLst/>
            </a:prstGeom>
          </p:spPr>
        </p:pic>
        <p:pic>
          <p:nvPicPr>
            <p:cNvPr id="72" name="picture 7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75595" y="673019"/>
              <a:ext cx="6283364" cy="94352"/>
            </a:xfrm>
            <a:prstGeom prst="rect">
              <a:avLst/>
            </a:prstGeom>
          </p:spPr>
        </p:pic>
      </p:grpSp>
      <p:pic>
        <p:nvPicPr>
          <p:cNvPr id="74" name="picture 7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42594" y="838293"/>
            <a:ext cx="4480935" cy="5867331"/>
          </a:xfrm>
          <a:prstGeom prst="rect">
            <a:avLst/>
          </a:prstGeom>
        </p:spPr>
      </p:pic>
      <p:sp>
        <p:nvSpPr>
          <p:cNvPr id="76" name="textbox 76"/>
          <p:cNvSpPr/>
          <p:nvPr/>
        </p:nvSpPr>
        <p:spPr>
          <a:xfrm>
            <a:off x="6965738" y="4770954"/>
            <a:ext cx="1647825" cy="1343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科学研究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301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行业技术交流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57000"/>
              </a:lnSpc>
              <a:spcBef>
                <a:spcPts val="259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保障航道安全畅通</a:t>
            </a: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人才培养社会效益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6975333" y="3518209"/>
            <a:ext cx="837564" cy="9582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新增收入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290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新增利润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节支总额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9665117" y="3810454"/>
            <a:ext cx="1853564" cy="287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59"/>
              </a:lnSpc>
              <a:tabLst/>
            </a:pPr>
            <a:r>
              <a:rPr sz="1600" i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(自2015年以来累计)</a:t>
            </a:r>
            <a:endParaRPr sz="1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5477713" y="4864658"/>
            <a:ext cx="93980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9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社会效益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5493448" y="3566020"/>
            <a:ext cx="935989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4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经济效益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5473407" y="1929295"/>
            <a:ext cx="934719" cy="247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9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应用单位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90" name="picture 9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570207" y="6236208"/>
            <a:ext cx="406907" cy="40690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10883" y="1978151"/>
            <a:ext cx="5769864" cy="4072128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594159" y="1971014"/>
            <a:ext cx="5681979" cy="3604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719" algn="l" rtl="0" eaLnBrk="0">
              <a:lnSpc>
                <a:spcPct val="87000"/>
              </a:lnSpc>
              <a:tabLst/>
            </a:pP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管控等新的需求。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1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船闸联合调度规则设计及优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联动控制区的设计及运行组织优化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待闸船舶运行组织与智能管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调度算法、运行组织算法测试与验证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过闸船舶全域运行过程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可观、可测、可控、可视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631139" y="711771"/>
            <a:ext cx="10380344" cy="1041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23054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三峡水运新通道建成后</a:t>
            </a:r>
            <a:r>
              <a:rPr sz="2300" b="1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，整个三峡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枢纽群将面临多船闸的联合调度、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船舶智能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2.1 通航枢纽数字孪生智能调度关键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/>
          <p:nvPr/>
        </p:nvSpPr>
        <p:spPr>
          <a:xfrm>
            <a:off x="655726" y="420509"/>
            <a:ext cx="7511415" cy="2706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83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过闸船舶全域运行数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字孪生技术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自演化规则引擎技术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船闸调度多目标优化技术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基于数字孪生的船闸调度运行仿真与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推演技术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60282" y="3479547"/>
            <a:ext cx="6104742" cy="2742242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98405" y="3593217"/>
            <a:ext cx="5211229" cy="237666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5082159" y="1610486"/>
            <a:ext cx="6915150" cy="4650485"/>
            <a:chOff x="0" y="0"/>
            <a:chExt cx="6915150" cy="4650485"/>
          </a:xfrm>
        </p:grpSpPr>
        <p:sp>
          <p:nvSpPr>
            <p:cNvPr id="24" name="textbox 24"/>
            <p:cNvSpPr/>
            <p:nvPr/>
          </p:nvSpPr>
          <p:spPr>
            <a:xfrm>
              <a:off x="1883977" y="3339733"/>
              <a:ext cx="722630" cy="9588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334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北线船闸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1"/>
                </a:spcBef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南线船闸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26" name="textbox 26"/>
            <p:cNvSpPr/>
            <p:nvPr/>
          </p:nvSpPr>
          <p:spPr>
            <a:xfrm>
              <a:off x="4296292" y="3354795"/>
              <a:ext cx="546100" cy="9144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9000"/>
                </a:lnSpc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3#船闸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1420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2#船闸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38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3495" algn="l" rtl="0" eaLnBrk="0">
                <a:lnSpc>
                  <a:spcPct val="89000"/>
                </a:lnSpc>
                <a:tabLst/>
              </a:pPr>
              <a:r>
                <a:rPr sz="1300" kern="0" spc="2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1#船闸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6915150" cy="4650485"/>
            </a:xfrm>
            <a:prstGeom prst="rect">
              <a:avLst/>
            </a:prstGeom>
          </p:spPr>
        </p:pic>
        <p:sp>
          <p:nvSpPr>
            <p:cNvPr id="30" name="textbox 30"/>
            <p:cNvSpPr/>
            <p:nvPr/>
          </p:nvSpPr>
          <p:spPr>
            <a:xfrm>
              <a:off x="5538237" y="2985600"/>
              <a:ext cx="1013460" cy="11366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4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9000"/>
                </a:lnSpc>
                <a:tabLst/>
              </a:pPr>
              <a:r>
                <a:rPr sz="1700" b="1" kern="0" spc="20" dirty="0">
                  <a:solidFill>
                    <a:srgbClr val="FF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中水门</a:t>
              </a:r>
              <a:endParaRPr sz="17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5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875" algn="l" rtl="0" eaLnBrk="0">
                <a:lnSpc>
                  <a:spcPct val="89000"/>
                </a:lnSpc>
                <a:spcBef>
                  <a:spcPts val="401"/>
                </a:spcBef>
                <a:tabLst/>
              </a:pPr>
              <a:r>
                <a:rPr sz="1300" kern="0" spc="3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下游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2" name="textbox 32"/>
            <p:cNvSpPr/>
            <p:nvPr/>
          </p:nvSpPr>
          <p:spPr>
            <a:xfrm>
              <a:off x="1953433" y="4410610"/>
              <a:ext cx="2888614" cy="2012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三峡大坝</a:t>
              </a:r>
              <a:r>
                <a:rPr sz="1300" kern="0" spc="3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                  </a:t>
              </a: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葛洲坝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4" name="textbox 34"/>
            <p:cNvSpPr/>
            <p:nvPr/>
          </p:nvSpPr>
          <p:spPr>
            <a:xfrm>
              <a:off x="3115093" y="3501595"/>
              <a:ext cx="547369" cy="624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两坝间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02235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6" name="textbox 36"/>
            <p:cNvSpPr/>
            <p:nvPr/>
          </p:nvSpPr>
          <p:spPr>
            <a:xfrm>
              <a:off x="825885" y="3501595"/>
              <a:ext cx="369570" cy="624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上游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3334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8" name="textbox 38"/>
            <p:cNvSpPr/>
            <p:nvPr/>
          </p:nvSpPr>
          <p:spPr>
            <a:xfrm>
              <a:off x="565672" y="1582542"/>
              <a:ext cx="475615" cy="2559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4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700" b="1" kern="0" spc="50" dirty="0">
                  <a:solidFill>
                    <a:srgbClr val="FF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庙河</a:t>
              </a:r>
              <a:endParaRPr sz="17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8431" y="1620011"/>
            <a:ext cx="4578095" cy="5163311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2077211" y="1025652"/>
            <a:ext cx="8037830" cy="44704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95250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相关技术和成果已经在三峡通航管理局、长江海事局业务系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统中应用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6277648" y="6375692"/>
            <a:ext cx="4124325" cy="3213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2300" b="1" kern="0" spc="9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三峡-葛洲坝联合通</a:t>
            </a:r>
            <a:r>
              <a:rPr sz="2300" b="1" kern="0" spc="8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航调度系统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、信息技术与人工智能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392167" y="1862328"/>
            <a:ext cx="7725156" cy="4538471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44068" y="3646932"/>
            <a:ext cx="3520440" cy="3150107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2.9 大坝三维数字化探测技术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627316" y="711771"/>
            <a:ext cx="6876415" cy="8312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7000"/>
              </a:lnSpc>
              <a:spcBef>
                <a:spcPts val="283"/>
              </a:spcBef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大坝三维数字化探测技术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730049" y="1942186"/>
            <a:ext cx="3649979" cy="152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水下结构完整性检测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水库库容与淤积分析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大坝安全管理三维数字化监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7252728" y="1114958"/>
            <a:ext cx="4732096" cy="5032933"/>
            <a:chOff x="0" y="0"/>
            <a:chExt cx="4732096" cy="5032933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732096" cy="5032933"/>
            </a:xfrm>
            <a:prstGeom prst="rect">
              <a:avLst/>
            </a:prstGeom>
          </p:spPr>
        </p:pic>
        <p:sp>
          <p:nvSpPr>
            <p:cNvPr id="14" name="textbox 14"/>
            <p:cNvSpPr/>
            <p:nvPr/>
          </p:nvSpPr>
          <p:spPr>
            <a:xfrm>
              <a:off x="638340" y="892467"/>
              <a:ext cx="3771900" cy="4000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365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847339" indent="3810" algn="l" rtl="0" eaLnBrk="0">
                <a:lnSpc>
                  <a:spcPct val="98000"/>
                </a:lnSpc>
                <a:tabLst/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三维激光</a:t>
              </a: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扫描技术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spcBef>
                  <a:spcPts val="510"/>
                </a:spcBef>
                <a:tabLst/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无人机、</a:t>
              </a:r>
              <a:r>
                <a:rPr sz="1700" kern="0" spc="-3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车、船搭载进行扫描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667510" algn="l" rtl="0" eaLnBrk="0">
                <a:lnSpc>
                  <a:spcPct val="88000"/>
                </a:lnSpc>
                <a:spcBef>
                  <a:spcPts val="1"/>
                </a:spcBef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浅地层剖面探测技术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2025383" y="2757525"/>
              <a:ext cx="2362200" cy="1565147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446519" y="2762097"/>
              <a:ext cx="1373632" cy="2151012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88807" y="70713"/>
              <a:ext cx="1292352" cy="1866900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595871" y="159105"/>
              <a:ext cx="1152143" cy="1778507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 rot="21600000">
            <a:off x="488238" y="3211360"/>
            <a:ext cx="6602843" cy="1581454"/>
            <a:chOff x="0" y="0"/>
            <a:chExt cx="6602843" cy="1581454"/>
          </a:xfrm>
        </p:grpSpPr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6602843" cy="1581454"/>
            </a:xfrm>
            <a:prstGeom prst="rect">
              <a:avLst/>
            </a:prstGeom>
          </p:spPr>
        </p:pic>
        <p:sp>
          <p:nvSpPr>
            <p:cNvPr id="26" name="textbox 26"/>
            <p:cNvSpPr/>
            <p:nvPr/>
          </p:nvSpPr>
          <p:spPr>
            <a:xfrm>
              <a:off x="-12700" y="-12700"/>
              <a:ext cx="6628765" cy="16071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09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304665" algn="l" rtl="0" eaLnBrk="0">
                <a:lnSpc>
                  <a:spcPct val="85000"/>
                </a:lnSpc>
                <a:tabLst>
                  <a:tab pos="4544059" algn="l"/>
                </a:tabLst>
              </a:pP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0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多波束探测技术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8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642745" algn="l" rtl="0" eaLnBrk="0">
                <a:lnSpc>
                  <a:spcPts val="2674"/>
                </a:lnSpc>
                <a:spcBef>
                  <a:spcPts val="1"/>
                </a:spcBef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三维数字化点云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470357" y="53047"/>
              <a:ext cx="3822191" cy="118110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 rot="21600000">
            <a:off x="537095" y="4876228"/>
            <a:ext cx="6631927" cy="1499590"/>
            <a:chOff x="0" y="0"/>
            <a:chExt cx="6631927" cy="1499590"/>
          </a:xfrm>
        </p:grpSpPr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6631927" cy="1499590"/>
            </a:xfrm>
            <a:prstGeom prst="rect">
              <a:avLst/>
            </a:prstGeom>
          </p:spPr>
        </p:pic>
        <p:sp>
          <p:nvSpPr>
            <p:cNvPr id="32" name="textbox 32"/>
            <p:cNvSpPr/>
            <p:nvPr/>
          </p:nvSpPr>
          <p:spPr>
            <a:xfrm>
              <a:off x="4699482" y="416102"/>
              <a:ext cx="1622425" cy="5676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065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7479" indent="-145414" algn="l" rtl="0" eaLnBrk="0">
                <a:lnSpc>
                  <a:spcPct val="105000"/>
                </a:lnSpc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水下无人潜航器</a:t>
              </a:r>
              <a:r>
                <a:rPr sz="17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（ROV）</a:t>
              </a:r>
              <a:r>
                <a:rPr sz="1700" kern="0" spc="-3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系统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34" name="textbox 34"/>
          <p:cNvSpPr/>
          <p:nvPr/>
        </p:nvSpPr>
        <p:spPr>
          <a:xfrm>
            <a:off x="655726" y="1117612"/>
            <a:ext cx="4657725" cy="2009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多波束探测技术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3165"/>
              </a:lnSpc>
              <a:spcBef>
                <a:spcPts val="1277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水下无人潜航器（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ROV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548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三维激光扫描技术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浅地层剖面探测技术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01060" y="355092"/>
            <a:ext cx="2638044" cy="5783579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35151" y="848867"/>
            <a:ext cx="3599688" cy="2520696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858511" y="859535"/>
            <a:ext cx="3599688" cy="2520696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35151" y="3782567"/>
            <a:ext cx="3599688" cy="2520695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858511" y="3781044"/>
            <a:ext cx="3599688" cy="2520695"/>
          </a:xfrm>
          <a:prstGeom prst="rect">
            <a:avLst/>
          </a:prstGeom>
        </p:spPr>
      </p:pic>
      <p:sp>
        <p:nvSpPr>
          <p:cNvPr id="56" name="textbox 5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4942509" y="6424574"/>
            <a:ext cx="3448684" cy="252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4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10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上游坝面混凝土表观</a:t>
            </a: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完整情况检测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8964371" y="6361201"/>
            <a:ext cx="2992120" cy="254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龚嘴水电站上游库区探测成果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5584532" y="3429558"/>
            <a:ext cx="2307589" cy="255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5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近坝库区水底地形探测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1569935" y="6425717"/>
            <a:ext cx="2081529" cy="251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尾水渠水下检测成果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1571307" y="3422002"/>
            <a:ext cx="1622425" cy="251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消力塘水下检测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、光纤传感与光电技术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371909" y="1337030"/>
            <a:ext cx="4324984" cy="2971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89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9530" indent="-1270" algn="l" rtl="0" eaLnBrk="0">
              <a:lnSpc>
                <a:spcPct val="99000"/>
              </a:lnSpc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基于探地雷达的渗流追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踪、</a:t>
            </a:r>
            <a:r>
              <a:rPr sz="2300" b="1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大坝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安全检测、</a:t>
            </a:r>
            <a:r>
              <a:rPr sz="2300" b="1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混凝土钢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筋网下的隐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蔽病害检测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8"/>
              </a:spcBef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钢筋网直径和间距检测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钢筋网锈蚀检测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钢筋网下的裂缝等病害检测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02692" y="4701540"/>
            <a:ext cx="4511040" cy="1914144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35523" y="1411223"/>
            <a:ext cx="3275076" cy="2328671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337048" y="3966971"/>
            <a:ext cx="3314699" cy="2298191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5.3 基于探地雷达的渗流追踪和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大坝安全检测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828531" y="1411223"/>
            <a:ext cx="3157728" cy="2356104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828531" y="3966971"/>
            <a:ext cx="3096768" cy="2310383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8972" y="3098292"/>
            <a:ext cx="6367271" cy="3176015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655726" y="420509"/>
            <a:ext cx="7511415" cy="2639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306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基于深度网络的钢筋直径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估计技术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基于无监督的探地雷达杂波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抑制技术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3165"/>
              </a:lnSpc>
              <a:spcBef>
                <a:spcPts val="1277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双/多极化探地雷达对钢筋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网下隐蔽病害探测技术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3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基于生成对抗网络的钢筋网下病害探测和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识别技术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2709557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2160917"/>
            <a:ext cx="216408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612277"/>
            <a:ext cx="216408" cy="337718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8426" y="1063637"/>
            <a:ext cx="216408" cy="337718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342631" y="3098291"/>
            <a:ext cx="4431792" cy="326440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7972" y="4053840"/>
            <a:ext cx="10928604" cy="2804160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96840" y="763523"/>
            <a:ext cx="5582411" cy="2955035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37972" y="1479804"/>
            <a:ext cx="3433571" cy="2028444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537972" y="944879"/>
            <a:ext cx="3434079" cy="46799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3980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钢筋直径估计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537972" y="3508248"/>
            <a:ext cx="3404870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3980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钢筋网下的病害识别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2026-05-21T21:38:41</vt:filetime>
  </property>
</Properties>
</file>