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GM" initials="F" lastIdx="0" clrIdx="0"/>
  <p:cmAuthor id="2" name="47162" initials="4" lastIdx="0" clrIdx="1"/>
  <p:cmAuthor id="3" name="郭 力行" initials="郭"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viewProps" Target="viewProps.xml"/><Relationship Id="rId6" Type="http://schemas.openxmlformats.org/officeDocument/2006/relationships/tableStyles" Target="tableStyles.xml"/><Relationship Id="rId5" Type="http://schemas.openxmlformats.org/officeDocument/2006/relationships/presProps" Target="presProps.xml"/><Relationship Id="rId4" Type="http://schemas.openxmlformats.org/officeDocument/2006/relationships/slide" Target="slides/slide3.xml"/><Relationship Id="rId3" Type="http://schemas.openxmlformats.org/officeDocument/2006/relationships/slide" Target="slides/slide2.xml"/><Relationship Id="rId2" Type="http://schemas.openxmlformats.org/officeDocument/2006/relationships/slide" Target="slides/slide1.xml"/><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9850" y="746125"/>
            <a:ext cx="6624638" cy="3727450"/>
          </a:xfrm>
        </p:spPr>
      </p:sp>
      <p:sp>
        <p:nvSpPr>
          <p:cNvPr id="3" name="备注占位符 2"/>
          <p:cNvSpPr>
            <a:spLocks noGrp="1"/>
          </p:cNvSpPr>
          <p:nvPr>
            <p:ph type="body" idx="1"/>
          </p:nvPr>
        </p:nvSpPr>
        <p:spPr/>
        <p:txBody>
          <a:bodyPr/>
          <a:lstStyle/>
          <a:p>
            <a:r>
              <a:rPr lang="zh-CN" altLang="en-US" dirty="0"/>
              <a:t>尊敬的各位专家，大家上午好！下面由我汇报：。。。</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15.png"/><Relationship Id="rId6" Type="http://schemas.openxmlformats.org/officeDocument/2006/relationships/image" Target="../media/image16.png"/><Relationship Id="rId5" Type="http://schemas.openxmlformats.org/officeDocument/2006/relationships/image" Target="../media/image22.jpeg"/><Relationship Id="rId4" Type="http://schemas.openxmlformats.org/officeDocument/2006/relationships/image" Target="../media/image21.jpeg"/><Relationship Id="rId3" Type="http://schemas.openxmlformats.org/officeDocument/2006/relationships/image" Target="../media/image19.png"/><Relationship Id="rId2" Type="http://schemas.openxmlformats.org/officeDocument/2006/relationships/image" Target="../media/image20.png"/><Relationship Id="rId19" Type="http://schemas.openxmlformats.org/officeDocument/2006/relationships/image" Target="../media/image21.jpeg"/><Relationship Id="rId18" Type="http://schemas.openxmlformats.org/officeDocument/2006/relationships/image" Target="../media/image22.jpeg"/><Relationship Id="rId17" Type="http://schemas.openxmlformats.org/officeDocument/2006/relationships/image" Target="../media/image23.jpeg"/><Relationship Id="rId16" Type="http://schemas.openxmlformats.org/officeDocument/2006/relationships/image" Target="../media/image24.jpeg"/><Relationship Id="rId15" Type="http://schemas.openxmlformats.org/officeDocument/2006/relationships/image" Target="../media/image25.png"/><Relationship Id="rId14" Type="http://schemas.openxmlformats.org/officeDocument/2006/relationships/image" Target="../media/image26.png"/><Relationship Id="rId13" Type="http://schemas.openxmlformats.org/officeDocument/2006/relationships/image" Target="../media/image27.png"/><Relationship Id="rId12" Type="http://schemas.openxmlformats.org/officeDocument/2006/relationships/image" Target="../media/image28.png"/><Relationship Id="rId11" Type="http://schemas.openxmlformats.org/officeDocument/2006/relationships/image" Target="../media/image29.jpeg"/><Relationship Id="rId10" Type="http://schemas.openxmlformats.org/officeDocument/2006/relationships/image" Target="../media/image3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2.png"/><Relationship Id="rId7" Type="http://schemas.openxmlformats.org/officeDocument/2006/relationships/image" Target="../media/image33.png"/><Relationship Id="rId6" Type="http://schemas.openxmlformats.org/officeDocument/2006/relationships/image" Target="../media/image34.png"/><Relationship Id="rId5" Type="http://schemas.openxmlformats.org/officeDocument/2006/relationships/image" Target="../media/image35.jpeg"/><Relationship Id="rId4" Type="http://schemas.openxmlformats.org/officeDocument/2006/relationships/image" Target="../media/image36.jpeg"/><Relationship Id="rId3" Type="http://schemas.openxmlformats.org/officeDocument/2006/relationships/image" Target="../media/image37.jpe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40.jpeg"/><Relationship Id="rId7" Type="http://schemas.openxmlformats.org/officeDocument/2006/relationships/image" Target="../media/image41.png"/><Relationship Id="rId6" Type="http://schemas.openxmlformats.org/officeDocument/2006/relationships/image" Target="../media/image42.png"/><Relationship Id="rId5" Type="http://schemas.openxmlformats.org/officeDocument/2006/relationships/image" Target="../media/image43.jpeg"/><Relationship Id="rId4" Type="http://schemas.openxmlformats.org/officeDocument/2006/relationships/image" Target="../media/image44.jpeg"/><Relationship Id="rId3" Type="http://schemas.openxmlformats.org/officeDocument/2006/relationships/image" Target="../media/image45.png"/><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7" Type="http://schemas.openxmlformats.org/officeDocument/2006/relationships/image" Target="../media/image15.png"/><Relationship Id="rId6" Type="http://schemas.openxmlformats.org/officeDocument/2006/relationships/image" Target="../media/image16.png"/><Relationship Id="rId5" Type="http://schemas.openxmlformats.org/officeDocument/2006/relationships/image" Target="../media/image17.jpeg"/><Relationship Id="rId4" Type="http://schemas.openxmlformats.org/officeDocument/2006/relationships/image" Target="../media/image18.jpeg"/><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6.png"/><Relationship Id="rId7" Type="http://schemas.openxmlformats.org/officeDocument/2006/relationships/image" Target="../media/image27.png"/><Relationship Id="rId6" Type="http://schemas.openxmlformats.org/officeDocument/2006/relationships/image" Target="../media/image28.png"/><Relationship Id="rId5" Type="http://schemas.openxmlformats.org/officeDocument/2006/relationships/image" Target="../media/image29.jpeg"/><Relationship Id="rId4" Type="http://schemas.openxmlformats.org/officeDocument/2006/relationships/image" Target="../media/image30.jpeg"/><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7" Type="http://schemas.openxmlformats.org/officeDocument/2006/relationships/image" Target="../media/image37.jpeg"/><Relationship Id="rId6" Type="http://schemas.openxmlformats.org/officeDocument/2006/relationships/image" Target="../media/image38.png"/><Relationship Id="rId5" Type="http://schemas.openxmlformats.org/officeDocument/2006/relationships/image" Target="../media/image21.jpeg"/><Relationship Id="rId4" Type="http://schemas.openxmlformats.org/officeDocument/2006/relationships/image" Target="../media/image22.jpeg"/><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7.jpeg"/><Relationship Id="rId3" Type="http://schemas.openxmlformats.org/officeDocument/2006/relationships/image" Target="../media/image18.jpe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9" Type="http://schemas.openxmlformats.org/officeDocument/2006/relationships/image" Target="../media/image30.jpeg"/><Relationship Id="rId8" Type="http://schemas.openxmlformats.org/officeDocument/2006/relationships/image" Target="../media/image13.png"/><Relationship Id="rId7" Type="http://schemas.openxmlformats.org/officeDocument/2006/relationships/image" Target="../media/image14.png"/><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7.jpeg"/><Relationship Id="rId3" Type="http://schemas.openxmlformats.org/officeDocument/2006/relationships/image" Target="../media/image18.jpeg"/><Relationship Id="rId2" Type="http://schemas.openxmlformats.org/officeDocument/2006/relationships/image" Target="../media/image19.png"/><Relationship Id="rId15" Type="http://schemas.openxmlformats.org/officeDocument/2006/relationships/image" Target="../media/image24.jpeg"/><Relationship Id="rId14" Type="http://schemas.openxmlformats.org/officeDocument/2006/relationships/image" Target="../media/image25.png"/><Relationship Id="rId13" Type="http://schemas.openxmlformats.org/officeDocument/2006/relationships/image" Target="../media/image26.png"/><Relationship Id="rId12" Type="http://schemas.openxmlformats.org/officeDocument/2006/relationships/image" Target="../media/image27.png"/><Relationship Id="rId11" Type="http://schemas.openxmlformats.org/officeDocument/2006/relationships/image" Target="../media/image28.png"/><Relationship Id="rId10" Type="http://schemas.openxmlformats.org/officeDocument/2006/relationships/image" Target="../media/image29.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4" Type="http://schemas.openxmlformats.org/officeDocument/2006/relationships/image" Target="../media/image21.jpeg"/><Relationship Id="rId3" Type="http://schemas.openxmlformats.org/officeDocument/2006/relationships/image" Target="../media/image22.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0.jpeg"/><Relationship Id="rId7" Type="http://schemas.openxmlformats.org/officeDocument/2006/relationships/image" Target="../media/image13.png"/><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image" Target="../media/image16.png"/><Relationship Id="rId3" Type="http://schemas.openxmlformats.org/officeDocument/2006/relationships/image" Target="../media/image17.jpe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5" Type="http://schemas.openxmlformats.org/officeDocument/2006/relationships/image" Target="../media/image26.png"/><Relationship Id="rId4" Type="http://schemas.openxmlformats.org/officeDocument/2006/relationships/image" Target="../media/image27.png"/><Relationship Id="rId3" Type="http://schemas.openxmlformats.org/officeDocument/2006/relationships/image" Target="../media/image28.png"/><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7" Type="http://schemas.openxmlformats.org/officeDocument/2006/relationships/image" Target="../media/image15.png"/><Relationship Id="rId6" Type="http://schemas.openxmlformats.org/officeDocument/2006/relationships/image" Target="../media/image16.png"/><Relationship Id="rId5" Type="http://schemas.openxmlformats.org/officeDocument/2006/relationships/image" Target="../media/image17.jpeg"/><Relationship Id="rId4" Type="http://schemas.openxmlformats.org/officeDocument/2006/relationships/image" Target="../media/image18.jpeg"/><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5" Type="http://schemas.openxmlformats.org/officeDocument/2006/relationships/image" Target="../media/image17.jpeg"/><Relationship Id="rId4" Type="http://schemas.openxmlformats.org/officeDocument/2006/relationships/image" Target="../media/image18.jpeg"/><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8.png"/><Relationship Id="rId7" Type="http://schemas.openxmlformats.org/officeDocument/2006/relationships/image" Target="../media/image29.jpeg"/><Relationship Id="rId6" Type="http://schemas.openxmlformats.org/officeDocument/2006/relationships/image" Target="../media/image30.jpeg"/><Relationship Id="rId5" Type="http://schemas.openxmlformats.org/officeDocument/2006/relationships/image" Target="../media/image26.png"/><Relationship Id="rId4" Type="http://schemas.openxmlformats.org/officeDocument/2006/relationships/image" Target="../media/image14.png"/><Relationship Id="rId3" Type="http://schemas.openxmlformats.org/officeDocument/2006/relationships/image" Target="../media/image15.png"/><Relationship Id="rId2" Type="http://schemas.openxmlformats.org/officeDocument/2006/relationships/image" Target="../media/image16.png"/><Relationship Id="rId11" Type="http://schemas.openxmlformats.org/officeDocument/2006/relationships/image" Target="../media/image25.png"/><Relationship Id="rId10" Type="http://schemas.openxmlformats.org/officeDocument/2006/relationships/image" Target="../media/image2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7.jpeg"/><Relationship Id="rId7" Type="http://schemas.openxmlformats.org/officeDocument/2006/relationships/image" Target="../media/image37.jpeg"/><Relationship Id="rId6" Type="http://schemas.openxmlformats.org/officeDocument/2006/relationships/image" Target="../media/image38.png"/><Relationship Id="rId5" Type="http://schemas.openxmlformats.org/officeDocument/2006/relationships/image" Target="../media/image21.jpeg"/><Relationship Id="rId4" Type="http://schemas.openxmlformats.org/officeDocument/2006/relationships/image" Target="../media/image22.jpeg"/><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image" Target="../media/image13.png"/><Relationship Id="rId4" Type="http://schemas.openxmlformats.org/officeDocument/2006/relationships/image" Target="../media/image14.png"/><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7" Type="http://schemas.openxmlformats.org/officeDocument/2006/relationships/image" Target="../media/image14.png"/><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7.jpeg"/><Relationship Id="rId3" Type="http://schemas.openxmlformats.org/officeDocument/2006/relationships/image" Target="../media/image18.jpe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image" Target="../media/image30.jpe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15.png"/><Relationship Id="rId4" Type="http://schemas.openxmlformats.org/officeDocument/2006/relationships/image" Target="../media/image16.png"/><Relationship Id="rId3" Type="http://schemas.openxmlformats.org/officeDocument/2006/relationships/image" Target="../media/image17.jpeg"/><Relationship Id="rId2" Type="http://schemas.openxmlformats.org/officeDocument/2006/relationships/image" Target="../media/image18.jpeg"/><Relationship Id="rId13" Type="http://schemas.openxmlformats.org/officeDocument/2006/relationships/image" Target="../media/image25.png"/><Relationship Id="rId12" Type="http://schemas.openxmlformats.org/officeDocument/2006/relationships/image" Target="../media/image26.png"/><Relationship Id="rId11" Type="http://schemas.openxmlformats.org/officeDocument/2006/relationships/image" Target="../media/image27.png"/><Relationship Id="rId10" Type="http://schemas.openxmlformats.org/officeDocument/2006/relationships/image" Target="../media/image28.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6" Type="http://schemas.openxmlformats.org/officeDocument/2006/relationships/image" Target="../media/image38.png"/><Relationship Id="rId5" Type="http://schemas.openxmlformats.org/officeDocument/2006/relationships/image" Target="../media/image21.jpeg"/><Relationship Id="rId4" Type="http://schemas.openxmlformats.org/officeDocument/2006/relationships/image" Target="../media/image22.jpeg"/><Relationship Id="rId3" Type="http://schemas.openxmlformats.org/officeDocument/2006/relationships/image" Target="../media/image23.jpeg"/><Relationship Id="rId2" Type="http://schemas.openxmlformats.org/officeDocument/2006/relationships/image" Target="../media/image2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b="19856"/>
          <a:stretch>
            <a:fillRect/>
          </a:stretch>
        </p:blipFill>
        <p:spPr>
          <a:xfrm>
            <a:off x="0" y="2780030"/>
            <a:ext cx="12192000" cy="374534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352" y="188640"/>
            <a:ext cx="2804094" cy="589911"/>
          </a:xfrm>
          <a:prstGeom prst="rect">
            <a:avLst/>
          </a:prstGeom>
        </p:spPr>
      </p:pic>
      <p:sp>
        <p:nvSpPr>
          <p:cNvPr id="8" name="Rectangle 4"/>
          <p:cNvSpPr txBox="1">
            <a:spLocks noChangeArrowheads="1"/>
          </p:cNvSpPr>
          <p:nvPr/>
        </p:nvSpPr>
        <p:spPr bwMode="auto">
          <a:xfrm>
            <a:off x="824865" y="3100666"/>
            <a:ext cx="10535920" cy="1157605"/>
          </a:xfrm>
          <a:prstGeom prst="rect">
            <a:avLst/>
          </a:prstGeom>
          <a:noFill/>
          <a:ln>
            <a:noFill/>
          </a:ln>
          <a:effectLst/>
        </p:spPr>
        <p:txBody>
          <a:bodyPr vert="horz" wrap="square" lIns="91440" tIns="45721" rIns="91440" bIns="4572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lnSpc>
                <a:spcPts val="2400"/>
              </a:lnSpc>
            </a:pPr>
            <a:r>
              <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rPr>
              <a:t>汇报人：</a:t>
            </a:r>
            <a:endPar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endParaRPr>
          </a:p>
          <a:p>
            <a:pPr>
              <a:lnSpc>
                <a:spcPct val="110000"/>
              </a:lnSpc>
              <a:spcBef>
                <a:spcPts val="1200"/>
              </a:spcBef>
            </a:pPr>
            <a:r>
              <a:rPr lang="en-US" kern="0" dirty="0">
                <a:solidFill>
                  <a:srgbClr val="00469A"/>
                </a:solidFill>
                <a:latin typeface="微软雅黑" panose="020B0503020204020204" charset="-122"/>
                <a:ea typeface="微软雅黑" panose="020B0503020204020204" charset="-122"/>
                <a:cs typeface="宋体" panose="02010600030101010101" pitchFamily="2" charset="-122"/>
              </a:rPr>
              <a:t>2026年6月7日</a:t>
            </a:r>
            <a:endParaRPr lang="en-US" kern="0" dirty="0">
              <a:solidFill>
                <a:srgbClr val="00469A"/>
              </a:solidFill>
              <a:latin typeface="微软雅黑" panose="020B0503020204020204" charset="-122"/>
              <a:ea typeface="微软雅黑" panose="020B0503020204020204" charset="-122"/>
              <a:cs typeface="宋体" panose="02010600030101010101" pitchFamily="2" charset="-122"/>
            </a:endParaRPr>
          </a:p>
        </p:txBody>
      </p:sp>
      <p:sp>
        <p:nvSpPr>
          <p:cNvPr id="2" name="矩形 1"/>
          <p:cNvSpPr/>
          <p:nvPr/>
        </p:nvSpPr>
        <p:spPr>
          <a:xfrm>
            <a:off x="551180" y="1380736"/>
            <a:ext cx="11085830" cy="1445260"/>
          </a:xfrm>
          <a:prstGeom prst="rect">
            <a:avLst/>
          </a:prstGeom>
        </p:spPr>
        <p:txBody>
          <a:bodyPr wrap="square">
            <a:spAutoFit/>
          </a:bodyPr>
          <a:lstStyle/>
          <a:p>
            <a:pPr algn="ctr">
              <a:lnSpc>
                <a:spcPct val="110000"/>
              </a:lnSpc>
            </a:pPr>
            <a:r>
              <a:rPr lang="en-US" altLang="zh-CN"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三峡水运新通道关键技术成果汇报</a:t>
            </a: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科技服务</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p>
            <a:pPr algn="ctr">
              <a:lnSpc>
                <a:spcPct val="110000"/>
              </a:lnSpc>
            </a:pP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武汉理工大学</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5" name="矩形 4"/>
          <p:cNvSpPr/>
          <p:nvPr userDrawn="1"/>
        </p:nvSpPr>
        <p:spPr>
          <a:xfrm>
            <a:off x="0" y="6524566"/>
            <a:ext cx="12192000" cy="333434"/>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矩形 9"/>
          <p:cNvSpPr/>
          <p:nvPr userDrawn="1"/>
        </p:nvSpPr>
        <p:spPr>
          <a:xfrm>
            <a:off x="1" y="6524566"/>
            <a:ext cx="1753364" cy="333434"/>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7646" y="6566672"/>
            <a:ext cx="1458073" cy="24922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advTm="9649"/>
    </mc:Choice>
    <mc:Fallback>
      <p:transition spd="slow" advTm="96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 y="329184"/>
            <a:ext cx="12207240" cy="713232"/>
          </a:xfrm>
          <a:prstGeom prst="rect">
            <a:avLst/>
          </a:prstGeom>
          <a:noFill/>
          <a:ln/>
        </p:spPr>
        <p:txBody>
          <a:bodyPr wrap="square" lIns="0" tIns="0" rIns="0" bIns="0" rtlCol="0" anchor="ctr"/>
          <a:lstStyle/>
          <a:p>
            <a:pPr algn="ctr" indent="0" marL="0">
              <a:buNone/>
            </a:pPr>
            <a:r>
              <a:rPr lang="en-US" sz="2400" b="1" dirty="0">
                <a:solidFill>
                  <a:srgbClr val="FF0000"/>
                </a:solidFill>
                <a:latin typeface="Microsoft YaHei" pitchFamily="34" charset="0"/>
                <a:ea typeface="Microsoft YaHei" pitchFamily="34" charset="-122"/>
                <a:cs typeface="Microsoft YaHei" pitchFamily="34" charset="-120"/>
              </a:rPr>
              <a:t>汇报内容</a:t>
            </a:r>
            <a:endParaRPr lang="en-US" sz="2400" dirty="0"/>
          </a:p>
        </p:txBody>
      </p:sp>
      <p:sp>
        <p:nvSpPr>
          <p:cNvPr id="3" name="Shape 1"/>
          <p:cNvSpPr/>
          <p:nvPr/>
        </p:nvSpPr>
        <p:spPr>
          <a:xfrm>
            <a:off x="758952" y="1627632"/>
            <a:ext cx="10698480" cy="2770632"/>
          </a:xfrm>
          <a:prstGeom prst="roundRect">
            <a:avLst>
              <a:gd name="adj" fmla="val 2640"/>
            </a:avLst>
          </a:prstGeom>
          <a:solidFill>
            <a:srgbClr val="FFFFFF"/>
          </a:solidFill>
          <a:ln w="12700">
            <a:solidFill>
              <a:srgbClr val="00469A"/>
            </a:solidFill>
            <a:prstDash val="sysDash"/>
          </a:ln>
        </p:spPr>
      </p:sp>
      <p:sp>
        <p:nvSpPr>
          <p:cNvPr id="4" name="Shape 2"/>
          <p:cNvSpPr/>
          <p:nvPr/>
        </p:nvSpPr>
        <p:spPr>
          <a:xfrm>
            <a:off x="1920240" y="1993392"/>
            <a:ext cx="1207008" cy="566928"/>
          </a:xfrm>
          <a:prstGeom prst="rect">
            <a:avLst/>
          </a:prstGeom>
          <a:solidFill>
            <a:srgbClr val="FFD966"/>
          </a:solidFill>
          <a:ln w="12700">
            <a:solidFill>
              <a:srgbClr val="FFD966"/>
            </a:solidFill>
            <a:prstDash val="solid"/>
          </a:ln>
        </p:spPr>
      </p:sp>
      <p:sp>
        <p:nvSpPr>
          <p:cNvPr id="5" name="Shape 3"/>
          <p:cNvSpPr/>
          <p:nvPr/>
        </p:nvSpPr>
        <p:spPr>
          <a:xfrm>
            <a:off x="3200400" y="1993392"/>
            <a:ext cx="8083296" cy="566928"/>
          </a:xfrm>
          <a:prstGeom prst="rect">
            <a:avLst/>
          </a:prstGeom>
          <a:solidFill>
            <a:srgbClr val="00469A"/>
          </a:solidFill>
          <a:ln w="12700">
            <a:solidFill>
              <a:srgbClr val="00469A"/>
            </a:solidFill>
            <a:prstDash val="solid"/>
          </a:ln>
        </p:spPr>
      </p:sp>
      <p:sp>
        <p:nvSpPr>
          <p:cNvPr id="6" name="Text 4"/>
          <p:cNvSpPr/>
          <p:nvPr/>
        </p:nvSpPr>
        <p:spPr>
          <a:xfrm>
            <a:off x="1920240" y="2002536"/>
            <a:ext cx="1207008" cy="548640"/>
          </a:xfrm>
          <a:prstGeom prst="rect">
            <a:avLst/>
          </a:prstGeom>
          <a:noFill/>
          <a:ln/>
        </p:spPr>
        <p:txBody>
          <a:bodyPr wrap="square" lIns="0" tIns="0" rIns="0" bIns="0" rtlCol="0" anchor="ctr"/>
          <a:lstStyle/>
          <a:p>
            <a:pPr algn="ctr" indent="0" marL="0">
              <a:buNone/>
            </a:pPr>
            <a:r>
              <a:rPr lang="en-US" sz="1800" b="1" dirty="0">
                <a:solidFill>
                  <a:srgbClr val="00469A"/>
                </a:solidFill>
                <a:latin typeface="Microsoft YaHei" pitchFamily="34" charset="0"/>
                <a:ea typeface="Microsoft YaHei" pitchFamily="34" charset="-122"/>
                <a:cs typeface="Microsoft YaHei" pitchFamily="34" charset="-120"/>
              </a:rPr>
              <a:t>1</a:t>
            </a:r>
            <a:endParaRPr lang="en-US" sz="1800" dirty="0"/>
          </a:p>
        </p:txBody>
      </p:sp>
      <p:sp>
        <p:nvSpPr>
          <p:cNvPr id="7" name="Text 5"/>
          <p:cNvSpPr/>
          <p:nvPr/>
        </p:nvSpPr>
        <p:spPr>
          <a:xfrm>
            <a:off x="3364992" y="2002536"/>
            <a:ext cx="7754112" cy="54864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icrosoft YaHei" pitchFamily="34" charset="0"/>
                <a:ea typeface="Microsoft YaHei" pitchFamily="34" charset="-122"/>
                <a:cs typeface="Microsoft YaHei" pitchFamily="34" charset="-120"/>
              </a:rPr>
              <a:t>船舶与海洋工程</a:t>
            </a:r>
            <a:endParaRPr lang="en-US" sz="1800" dirty="0"/>
          </a:p>
        </p:txBody>
      </p:sp>
      <p:sp>
        <p:nvSpPr>
          <p:cNvPr id="8" name="Shape 6"/>
          <p:cNvSpPr/>
          <p:nvPr/>
        </p:nvSpPr>
        <p:spPr>
          <a:xfrm>
            <a:off x="1920240" y="2651760"/>
            <a:ext cx="1207008" cy="566928"/>
          </a:xfrm>
          <a:prstGeom prst="rect">
            <a:avLst/>
          </a:prstGeom>
          <a:solidFill>
            <a:srgbClr val="FFD966"/>
          </a:solidFill>
          <a:ln w="12700">
            <a:solidFill>
              <a:srgbClr val="FFD966"/>
            </a:solidFill>
            <a:prstDash val="solid"/>
          </a:ln>
        </p:spPr>
      </p:sp>
      <p:sp>
        <p:nvSpPr>
          <p:cNvPr id="9" name="Shape 7"/>
          <p:cNvSpPr/>
          <p:nvPr/>
        </p:nvSpPr>
        <p:spPr>
          <a:xfrm>
            <a:off x="3200400" y="2651760"/>
            <a:ext cx="8083296" cy="566928"/>
          </a:xfrm>
          <a:prstGeom prst="rect">
            <a:avLst/>
          </a:prstGeom>
          <a:solidFill>
            <a:srgbClr val="00469A"/>
          </a:solidFill>
          <a:ln w="12700">
            <a:solidFill>
              <a:srgbClr val="00469A"/>
            </a:solidFill>
            <a:prstDash val="solid"/>
          </a:ln>
        </p:spPr>
      </p:sp>
      <p:sp>
        <p:nvSpPr>
          <p:cNvPr id="10" name="Text 8"/>
          <p:cNvSpPr/>
          <p:nvPr/>
        </p:nvSpPr>
        <p:spPr>
          <a:xfrm>
            <a:off x="1920240" y="2660904"/>
            <a:ext cx="1207008" cy="548640"/>
          </a:xfrm>
          <a:prstGeom prst="rect">
            <a:avLst/>
          </a:prstGeom>
          <a:noFill/>
          <a:ln/>
        </p:spPr>
        <p:txBody>
          <a:bodyPr wrap="square" lIns="0" tIns="0" rIns="0" bIns="0" rtlCol="0" anchor="ctr"/>
          <a:lstStyle/>
          <a:p>
            <a:pPr algn="ctr" indent="0" marL="0">
              <a:buNone/>
            </a:pPr>
            <a:r>
              <a:rPr lang="en-US" sz="1800" b="1" dirty="0">
                <a:solidFill>
                  <a:srgbClr val="00469A"/>
                </a:solidFill>
                <a:latin typeface="Microsoft YaHei" pitchFamily="34" charset="0"/>
                <a:ea typeface="Microsoft YaHei" pitchFamily="34" charset="-122"/>
                <a:cs typeface="Microsoft YaHei" pitchFamily="34" charset="-120"/>
              </a:rPr>
              <a:t>2</a:t>
            </a:r>
            <a:endParaRPr lang="en-US" sz="1800" dirty="0"/>
          </a:p>
        </p:txBody>
      </p:sp>
      <p:sp>
        <p:nvSpPr>
          <p:cNvPr id="11" name="Text 9"/>
          <p:cNvSpPr/>
          <p:nvPr/>
        </p:nvSpPr>
        <p:spPr>
          <a:xfrm>
            <a:off x="3364992" y="2660904"/>
            <a:ext cx="7754112" cy="54864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Microsoft YaHei" pitchFamily="34" charset="0"/>
                <a:ea typeface="Microsoft YaHei" pitchFamily="34" charset="-122"/>
                <a:cs typeface="Microsoft YaHei" pitchFamily="34" charset="-120"/>
              </a:rPr>
              <a:t>信息技术与人工智能</a:t>
            </a:r>
            <a:endParaRPr lang="en-US" sz="1800" dirty="0"/>
          </a:p>
        </p:txBody>
      </p:sp>
      <p:sp>
        <p:nvSpPr>
          <p:cNvPr id="12" name="Shape 10"/>
          <p:cNvSpPr/>
          <p:nvPr/>
        </p:nvSpPr>
        <p:spPr>
          <a:xfrm>
            <a:off x="0" y="6556248"/>
            <a:ext cx="12188952" cy="329184"/>
          </a:xfrm>
          <a:prstGeom prst="rect">
            <a:avLst/>
          </a:prstGeom>
          <a:solidFill>
            <a:srgbClr val="0B5AA2"/>
          </a:solidFill>
          <a:ln w="12700">
            <a:solidFill>
              <a:srgbClr val="0B5AA2"/>
            </a:solidFill>
            <a:prstDash val="solid"/>
          </a:ln>
        </p:spPr>
      </p:sp>
      <p:sp>
        <p:nvSpPr>
          <p:cNvPr id="13" name="Shape 11"/>
          <p:cNvSpPr/>
          <p:nvPr/>
        </p:nvSpPr>
        <p:spPr>
          <a:xfrm>
            <a:off x="0" y="6556248"/>
            <a:ext cx="1755648" cy="329184"/>
          </a:xfrm>
          <a:prstGeom prst="rect">
            <a:avLst/>
          </a:prstGeom>
          <a:solidFill>
            <a:srgbClr val="FBC540"/>
          </a:solidFill>
          <a:ln w="12700">
            <a:solidFill>
              <a:srgbClr val="FBC54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1</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、船舶与海洋工程</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4515586" y="1923288"/>
            <a:ext cx="3575329" cy="4597870"/>
            <a:chOff x="0" y="0"/>
            <a:chExt cx="3575329" cy="4597870"/>
          </a:xfrm>
        </p:grpSpPr>
        <p:pic>
          <p:nvPicPr>
            <p:cNvPr id="2" name="picture 2"/>
            <p:cNvPicPr>
              <a:picLocks noChangeAspect="1"/>
            </p:cNvPicPr>
            <p:nvPr/>
          </p:nvPicPr>
          <p:blipFill>
            <a:blip r:embed="rId2"/>
            <a:stretch>
              <a:fillRect/>
            </a:stretch>
          </p:blipFill>
          <p:spPr>
            <a:xfrm rot="21600000">
              <a:off x="0" y="0"/>
              <a:ext cx="3575329" cy="4597870"/>
            </a:xfrm>
            <a:prstGeom prst="rect">
              <a:avLst/>
            </a:prstGeom>
          </p:spPr>
        </p:pic>
        <p:sp>
          <p:nvSpPr>
            <p:cNvPr id="4" name="textbox 4"/>
            <p:cNvSpPr/>
            <p:nvPr/>
          </p:nvSpPr>
          <p:spPr>
            <a:xfrm>
              <a:off x="153009" y="75562"/>
              <a:ext cx="3159125" cy="1460500"/>
            </a:xfrm>
            <a:prstGeom prst="rect">
              <a:avLst/>
            </a:prstGeom>
            <a:noFill/>
            <a:ln w="0" cap="flat">
              <a:noFill/>
              <a:prstDash val="solid"/>
              <a:miter lim="0"/>
            </a:ln>
          </p:spPr>
          <p:txBody>
            <a:bodyPr vert="horz" wrap="square" lIns="0" tIns="0" rIns="0" bIns="0"/>
            <a:lstStyle/>
            <a:p>
              <a:pPr algn="l" rtl="0" eaLnBrk="0">
                <a:lnSpc>
                  <a:spcPct val="91610"/>
                </a:lnSpc>
                <a:tabLst/>
              </a:pPr>
              <a:endParaRPr sz="100" dirty="0">
                <a:latin typeface="Arial"/>
                <a:ea typeface="Arial"/>
                <a:cs typeface="Arial"/>
              </a:endParaRPr>
            </a:p>
            <a:p>
              <a:pPr marL="413384" algn="l" rtl="0" eaLnBrk="0">
                <a:lnSpc>
                  <a:spcPct val="88000"/>
                </a:lnSpc>
                <a:tabLst/>
              </a:pPr>
              <a:r>
                <a:rPr sz="2700" kern="0" spc="70" dirty="0">
                  <a:solidFill>
                    <a:srgbClr val="FFFFFF">
                      <a:alpha val="100000"/>
                    </a:srgbClr>
                  </a:solidFill>
                  <a:latin typeface="Microsoft YaHei"/>
                  <a:ea typeface="Microsoft YaHei"/>
                  <a:cs typeface="Microsoft YaHei"/>
                </a:rPr>
                <a:t>电动船储能电池</a:t>
              </a:r>
              <a:endParaRPr sz="2700" dirty="0">
                <a:latin typeface="Microsoft YaHei"/>
                <a:ea typeface="Microsoft YaHei"/>
                <a:cs typeface="Microsoft YaHei"/>
              </a:endParaRPr>
            </a:p>
            <a:p>
              <a:pPr algn="l" rtl="0" eaLnBrk="0">
                <a:lnSpc>
                  <a:spcPct val="153000"/>
                </a:lnSpc>
                <a:tabLst/>
              </a:pPr>
              <a:endParaRPr sz="1000" dirty="0">
                <a:latin typeface="Arial"/>
                <a:ea typeface="Arial"/>
                <a:cs typeface="Arial"/>
              </a:endParaRPr>
            </a:p>
            <a:p>
              <a:pPr algn="l" rtl="0" eaLnBrk="0">
                <a:lnSpc>
                  <a:spcPct val="115000"/>
                </a:lnSpc>
                <a:tabLst/>
              </a:pPr>
              <a:endParaRPr sz="500" dirty="0">
                <a:latin typeface="Arial"/>
                <a:ea typeface="Arial"/>
                <a:cs typeface="Arial"/>
              </a:endParaRPr>
            </a:p>
            <a:p>
              <a:pPr marL="280670" indent="-267970" algn="l" rtl="0" eaLnBrk="0">
                <a:lnSpc>
                  <a:spcPct val="107000"/>
                </a:lnSpc>
                <a:spcBef>
                  <a:spcPts val="3"/>
                </a:spcBef>
                <a:tabLst>
                  <a:tab pos="258445" algn="l"/>
                </a:tabLst>
              </a:pPr>
              <a:r>
                <a:rPr sz="2300" kern="0" spc="0" dirty="0">
                  <a:solidFill>
                    <a:srgbClr val="000000">
                      <a:alpha val="100000"/>
                    </a:srgbClr>
                  </a:solidFill>
                  <a:latin typeface="Microsoft YaHei"/>
                  <a:ea typeface="Microsoft YaHei"/>
                  <a:cs typeface="Microsoft YaHei"/>
                </a:rPr>
                <a:t>	</a:t>
              </a:r>
              <a:r>
                <a:rPr sz="2300" kern="0" spc="100" dirty="0">
                  <a:solidFill>
                    <a:srgbClr val="000000">
                      <a:alpha val="100000"/>
                    </a:srgbClr>
                  </a:solidFill>
                  <a:latin typeface="Microsoft YaHei"/>
                  <a:ea typeface="Microsoft YaHei"/>
                  <a:cs typeface="Microsoft YaHei"/>
                </a:rPr>
                <a:t>电动船</a:t>
              </a:r>
              <a:r>
                <a:rPr sz="2300" kern="0" spc="100" dirty="0">
                  <a:solidFill>
                    <a:srgbClr val="C00000">
                      <a:alpha val="100000"/>
                    </a:srgbClr>
                  </a:solidFill>
                  <a:latin typeface="Microsoft YaHei"/>
                  <a:ea typeface="Microsoft YaHei"/>
                  <a:cs typeface="Microsoft YaHei"/>
                </a:rPr>
                <a:t>储能电站/电池</a:t>
              </a:r>
              <a:r>
                <a:rPr sz="2300" kern="0" spc="90" dirty="0">
                  <a:solidFill>
                    <a:srgbClr val="C00000">
                      <a:alpha val="100000"/>
                    </a:srgbClr>
                  </a:solidFill>
                  <a:latin typeface="Microsoft YaHei"/>
                  <a:ea typeface="Microsoft YaHei"/>
                  <a:cs typeface="Microsoft YaHei"/>
                </a:rPr>
                <a:t>热失控</a:t>
              </a:r>
              <a:r>
                <a:rPr sz="2300" kern="0" spc="90" dirty="0">
                  <a:solidFill>
                    <a:srgbClr val="000000">
                      <a:alpha val="100000"/>
                    </a:srgbClr>
                  </a:solidFill>
                  <a:latin typeface="Microsoft YaHei"/>
                  <a:ea typeface="Microsoft YaHei"/>
                  <a:cs typeface="Microsoft YaHei"/>
                </a:rPr>
                <a:t>及</a:t>
              </a:r>
              <a:r>
                <a:rPr sz="2300" kern="0" spc="90" dirty="0">
                  <a:solidFill>
                    <a:srgbClr val="C00000">
                      <a:alpha val="100000"/>
                    </a:srgbClr>
                  </a:solidFill>
                  <a:latin typeface="Microsoft YaHei"/>
                  <a:ea typeface="Microsoft YaHei"/>
                  <a:cs typeface="Microsoft YaHei"/>
                </a:rPr>
                <a:t>燃爆防控</a:t>
              </a:r>
              <a:endParaRPr sz="2300" dirty="0">
                <a:latin typeface="Microsoft YaHei"/>
                <a:ea typeface="Microsoft YaHei"/>
                <a:cs typeface="Microsoft YaHei"/>
              </a:endParaRPr>
            </a:p>
          </p:txBody>
        </p:sp>
        <p:pic>
          <p:nvPicPr>
            <p:cNvPr id="6" name="picture 6"/>
            <p:cNvPicPr>
              <a:picLocks noChangeAspect="1"/>
            </p:cNvPicPr>
            <p:nvPr/>
          </p:nvPicPr>
          <p:blipFill>
            <a:blip r:embed="rId3"/>
            <a:stretch>
              <a:fillRect/>
            </a:stretch>
          </p:blipFill>
          <p:spPr>
            <a:xfrm rot="21600000">
              <a:off x="165709" y="811898"/>
              <a:ext cx="245973" cy="337718"/>
            </a:xfrm>
            <a:prstGeom prst="rect">
              <a:avLst/>
            </a:prstGeom>
          </p:spPr>
        </p:pic>
        <p:pic>
          <p:nvPicPr>
            <p:cNvPr id="8" name="picture 8"/>
            <p:cNvPicPr>
              <a:picLocks noChangeAspect="1"/>
            </p:cNvPicPr>
            <p:nvPr/>
          </p:nvPicPr>
          <p:blipFill>
            <a:blip r:embed="rId4"/>
            <a:stretch>
              <a:fillRect/>
            </a:stretch>
          </p:blipFill>
          <p:spPr>
            <a:xfrm rot="21600000">
              <a:off x="353593" y="2766059"/>
              <a:ext cx="2715767" cy="940308"/>
            </a:xfrm>
            <a:prstGeom prst="rect">
              <a:avLst/>
            </a:prstGeom>
          </p:spPr>
        </p:pic>
        <p:pic>
          <p:nvPicPr>
            <p:cNvPr id="10" name="picture 10"/>
            <p:cNvPicPr>
              <a:picLocks noChangeAspect="1"/>
            </p:cNvPicPr>
            <p:nvPr/>
          </p:nvPicPr>
          <p:blipFill>
            <a:blip r:embed="rId5"/>
            <a:stretch>
              <a:fillRect/>
            </a:stretch>
          </p:blipFill>
          <p:spPr>
            <a:xfrm rot="21600000">
              <a:off x="440461" y="1563623"/>
              <a:ext cx="1577339" cy="1039367"/>
            </a:xfrm>
            <a:prstGeom prst="rect">
              <a:avLst/>
            </a:prstGeom>
          </p:spPr>
        </p:pic>
      </p:grpSp>
      <p:pic>
        <p:nvPicPr>
          <p:cNvPr id="12" name="picture 12"/>
          <p:cNvPicPr>
            <a:picLocks noChangeAspect="1"/>
          </p:cNvPicPr>
          <p:nvPr/>
        </p:nvPicPr>
        <p:blipFill>
          <a:blip r:embed="rId6"/>
          <a:stretch>
            <a:fillRect/>
          </a:stretch>
        </p:blipFill>
        <p:spPr>
          <a:xfrm rot="21600000">
            <a:off x="473963" y="1929383"/>
            <a:ext cx="3491483" cy="4598708"/>
          </a:xfrm>
          <a:prstGeom prst="rect">
            <a:avLst/>
          </a:prstGeom>
        </p:spPr>
      </p:pic>
      <p:grpSp>
        <p:nvGrpSpPr>
          <p:cNvPr id="4" name="group 4"/>
          <p:cNvGrpSpPr/>
          <p:nvPr/>
        </p:nvGrpSpPr>
        <p:grpSpPr>
          <a:xfrm rot="21600000">
            <a:off x="8494776" y="1923288"/>
            <a:ext cx="3480815" cy="4604804"/>
            <a:chOff x="0" y="0"/>
            <a:chExt cx="3480815" cy="4604804"/>
          </a:xfrm>
        </p:grpSpPr>
        <p:pic>
          <p:nvPicPr>
            <p:cNvPr id="14" name="picture 14"/>
            <p:cNvPicPr>
              <a:picLocks noChangeAspect="1"/>
            </p:cNvPicPr>
            <p:nvPr/>
          </p:nvPicPr>
          <p:blipFill>
            <a:blip r:embed="rId7"/>
            <a:stretch>
              <a:fillRect/>
            </a:stretch>
          </p:blipFill>
          <p:spPr>
            <a:xfrm rot="21600000">
              <a:off x="0" y="0"/>
              <a:ext cx="3480815" cy="4604804"/>
            </a:xfrm>
            <a:prstGeom prst="rect">
              <a:avLst/>
            </a:prstGeom>
          </p:spPr>
        </p:pic>
        <p:sp>
          <p:nvSpPr>
            <p:cNvPr id="16" name="textbox 16"/>
            <p:cNvSpPr/>
            <p:nvPr/>
          </p:nvSpPr>
          <p:spPr>
            <a:xfrm>
              <a:off x="131958" y="78250"/>
              <a:ext cx="3221354" cy="3507740"/>
            </a:xfrm>
            <a:prstGeom prst="rect">
              <a:avLst/>
            </a:prstGeom>
            <a:noFill/>
            <a:ln w="0" cap="flat">
              <a:noFill/>
              <a:prstDash val="solid"/>
              <a:miter lim="0"/>
            </a:ln>
          </p:spPr>
          <p:txBody>
            <a:bodyPr vert="horz" wrap="square" lIns="0" tIns="0" rIns="0" bIns="0"/>
            <a:lstStyle/>
            <a:p>
              <a:pPr algn="l" rtl="0" eaLnBrk="0">
                <a:lnSpc>
                  <a:spcPct val="89252"/>
                </a:lnSpc>
                <a:tabLst/>
              </a:pPr>
              <a:endParaRPr sz="100" dirty="0">
                <a:latin typeface="Arial"/>
                <a:ea typeface="Arial"/>
                <a:cs typeface="Arial"/>
              </a:endParaRPr>
            </a:p>
            <a:p>
              <a:pPr marL="12700" algn="l" rtl="0" eaLnBrk="0">
                <a:lnSpc>
                  <a:spcPct val="87000"/>
                </a:lnSpc>
                <a:tabLst/>
              </a:pPr>
              <a:r>
                <a:rPr sz="2700" kern="0" spc="90" dirty="0">
                  <a:solidFill>
                    <a:srgbClr val="FFFFFF">
                      <a:alpha val="100000"/>
                    </a:srgbClr>
                  </a:solidFill>
                  <a:latin typeface="Microsoft YaHei"/>
                  <a:ea typeface="Microsoft YaHei"/>
                  <a:cs typeface="Microsoft YaHei"/>
                </a:rPr>
                <a:t>危险化学品等运输物</a:t>
              </a:r>
              <a:endParaRPr sz="2700" dirty="0">
                <a:latin typeface="Microsoft YaHei"/>
                <a:ea typeface="Microsoft YaHei"/>
                <a:cs typeface="Microsoft YaHei"/>
              </a:endParaRPr>
            </a:p>
            <a:p>
              <a:pPr algn="l" rtl="0" eaLnBrk="0">
                <a:lnSpc>
                  <a:spcPct val="169000"/>
                </a:lnSpc>
                <a:tabLst/>
              </a:pPr>
              <a:endParaRPr sz="1000" dirty="0">
                <a:latin typeface="Arial"/>
                <a:ea typeface="Arial"/>
                <a:cs typeface="Arial"/>
              </a:endParaRPr>
            </a:p>
            <a:p>
              <a:pPr marL="349884" indent="-264795" algn="l" rtl="0" eaLnBrk="0">
                <a:lnSpc>
                  <a:spcPct val="97000"/>
                </a:lnSpc>
                <a:spcBef>
                  <a:spcPts val="699"/>
                </a:spcBef>
                <a:tabLst>
                  <a:tab pos="331470" algn="l"/>
                </a:tabLst>
              </a:pPr>
              <a:r>
                <a:rPr sz="2300" kern="0" spc="0" dirty="0">
                  <a:solidFill>
                    <a:srgbClr val="C00000">
                      <a:alpha val="100000"/>
                    </a:srgbClr>
                  </a:solidFill>
                  <a:latin typeface="Microsoft YaHei"/>
                  <a:ea typeface="Microsoft YaHei"/>
                  <a:cs typeface="Microsoft YaHei"/>
                </a:rPr>
                <a:t>	</a:t>
              </a:r>
              <a:r>
                <a:rPr sz="2300" kern="0" spc="110" dirty="0">
                  <a:solidFill>
                    <a:srgbClr val="C00000">
                      <a:alpha val="100000"/>
                    </a:srgbClr>
                  </a:solidFill>
                  <a:latin typeface="Microsoft YaHei"/>
                  <a:ea typeface="Microsoft YaHei"/>
                  <a:cs typeface="Microsoft YaHei"/>
                </a:rPr>
                <a:t>危险化学品</a:t>
              </a:r>
              <a:r>
                <a:rPr sz="2300" kern="0" spc="110" dirty="0">
                  <a:solidFill>
                    <a:srgbClr val="000000">
                      <a:alpha val="100000"/>
                    </a:srgbClr>
                  </a:solidFill>
                  <a:latin typeface="Microsoft YaHei"/>
                  <a:ea typeface="Microsoft YaHei"/>
                  <a:cs typeface="Microsoft YaHei"/>
                </a:rPr>
                <a:t>储罐火灾</a:t>
              </a:r>
              <a:r>
                <a:rPr sz="2300" kern="0" spc="80" dirty="0">
                  <a:solidFill>
                    <a:srgbClr val="000000">
                      <a:alpha val="100000"/>
                    </a:srgbClr>
                  </a:solidFill>
                  <a:latin typeface="Microsoft YaHei"/>
                  <a:ea typeface="Microsoft YaHei"/>
                  <a:cs typeface="Microsoft YaHei"/>
                </a:rPr>
                <a:t>安全防控</a:t>
              </a:r>
              <a:endParaRPr sz="23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15000"/>
                </a:lnSpc>
                <a:tabLst/>
              </a:pPr>
              <a:endParaRPr sz="500" dirty="0">
                <a:latin typeface="Arial"/>
                <a:ea typeface="Arial"/>
                <a:cs typeface="Arial"/>
              </a:endParaRPr>
            </a:p>
            <a:p>
              <a:pPr marL="342900" indent="-264795" algn="l" rtl="0" eaLnBrk="0">
                <a:lnSpc>
                  <a:spcPct val="107000"/>
                </a:lnSpc>
                <a:spcBef>
                  <a:spcPts val="5"/>
                </a:spcBef>
                <a:tabLst>
                  <a:tab pos="324484" algn="l"/>
                </a:tabLst>
              </a:pPr>
              <a:r>
                <a:rPr sz="2300" kern="0" spc="0" dirty="0">
                  <a:solidFill>
                    <a:srgbClr val="C00000">
                      <a:alpha val="100000"/>
                    </a:srgbClr>
                  </a:solidFill>
                  <a:latin typeface="Microsoft YaHei"/>
                  <a:ea typeface="Microsoft YaHei"/>
                  <a:cs typeface="Microsoft YaHei"/>
                </a:rPr>
                <a:t>	</a:t>
              </a:r>
              <a:r>
                <a:rPr sz="2300" kern="0" spc="90" dirty="0">
                  <a:solidFill>
                    <a:srgbClr val="C00000">
                      <a:alpha val="100000"/>
                    </a:srgbClr>
                  </a:solidFill>
                  <a:latin typeface="Microsoft YaHei"/>
                  <a:ea typeface="Microsoft YaHei"/>
                  <a:cs typeface="Microsoft YaHei"/>
                </a:rPr>
                <a:t>煤炭/石油/天然气</a:t>
              </a:r>
              <a:r>
                <a:rPr sz="2300" kern="0" spc="90" dirty="0">
                  <a:solidFill>
                    <a:srgbClr val="000000">
                      <a:alpha val="100000"/>
                    </a:srgbClr>
                  </a:solidFill>
                  <a:latin typeface="Microsoft YaHei"/>
                  <a:ea typeface="Microsoft YaHei"/>
                  <a:cs typeface="Microsoft YaHei"/>
                </a:rPr>
                <a:t>等</a:t>
              </a:r>
              <a:r>
                <a:rPr sz="2300" kern="0" spc="90" dirty="0">
                  <a:solidFill>
                    <a:srgbClr val="000000">
                      <a:alpha val="100000"/>
                    </a:srgbClr>
                  </a:solidFill>
                  <a:latin typeface="Microsoft YaHei"/>
                  <a:ea typeface="Microsoft YaHei"/>
                  <a:cs typeface="Microsoft YaHei"/>
                </a:rPr>
                <a:t>运输物火灾安全防控</a:t>
              </a:r>
              <a:endParaRPr sz="2300" dirty="0">
                <a:latin typeface="Microsoft YaHei"/>
                <a:ea typeface="Microsoft YaHei"/>
                <a:cs typeface="Microsoft YaHei"/>
              </a:endParaRPr>
            </a:p>
          </p:txBody>
        </p:sp>
        <p:pic>
          <p:nvPicPr>
            <p:cNvPr id="18" name="picture 18"/>
            <p:cNvPicPr>
              <a:picLocks noChangeAspect="1"/>
            </p:cNvPicPr>
            <p:nvPr/>
          </p:nvPicPr>
          <p:blipFill>
            <a:blip r:embed="rId8"/>
            <a:stretch>
              <a:fillRect/>
            </a:stretch>
          </p:blipFill>
          <p:spPr>
            <a:xfrm rot="21600000">
              <a:off x="210604" y="2862160"/>
              <a:ext cx="245973" cy="337718"/>
            </a:xfrm>
            <a:prstGeom prst="rect">
              <a:avLst/>
            </a:prstGeom>
          </p:spPr>
        </p:pic>
        <p:pic>
          <p:nvPicPr>
            <p:cNvPr id="20" name="picture 20"/>
            <p:cNvPicPr>
              <a:picLocks noChangeAspect="1"/>
            </p:cNvPicPr>
            <p:nvPr/>
          </p:nvPicPr>
          <p:blipFill>
            <a:blip r:embed="rId9"/>
            <a:stretch>
              <a:fillRect/>
            </a:stretch>
          </p:blipFill>
          <p:spPr>
            <a:xfrm rot="21600000">
              <a:off x="217538" y="795451"/>
              <a:ext cx="245973" cy="337718"/>
            </a:xfrm>
            <a:prstGeom prst="rect">
              <a:avLst/>
            </a:prstGeom>
          </p:spPr>
        </p:pic>
        <p:pic>
          <p:nvPicPr>
            <p:cNvPr id="22" name="picture 22"/>
            <p:cNvPicPr>
              <a:picLocks noChangeAspect="1"/>
            </p:cNvPicPr>
            <p:nvPr/>
          </p:nvPicPr>
          <p:blipFill>
            <a:blip r:embed="rId10"/>
            <a:stretch>
              <a:fillRect/>
            </a:stretch>
          </p:blipFill>
          <p:spPr>
            <a:xfrm rot="21600000">
              <a:off x="1778508" y="1595628"/>
              <a:ext cx="1488947" cy="1129283"/>
            </a:xfrm>
            <a:prstGeom prst="rect">
              <a:avLst/>
            </a:prstGeom>
          </p:spPr>
        </p:pic>
        <p:pic>
          <p:nvPicPr>
            <p:cNvPr id="24" name="picture 24"/>
            <p:cNvPicPr>
              <a:picLocks noChangeAspect="1"/>
            </p:cNvPicPr>
            <p:nvPr/>
          </p:nvPicPr>
          <p:blipFill>
            <a:blip r:embed="rId11"/>
            <a:stretch>
              <a:fillRect/>
            </a:stretch>
          </p:blipFill>
          <p:spPr>
            <a:xfrm rot="21600000">
              <a:off x="318516" y="1595627"/>
              <a:ext cx="1335023" cy="1107947"/>
            </a:xfrm>
            <a:prstGeom prst="rect">
              <a:avLst/>
            </a:prstGeom>
          </p:spPr>
        </p:pic>
        <p:pic>
          <p:nvPicPr>
            <p:cNvPr id="26" name="picture 26"/>
            <p:cNvPicPr>
              <a:picLocks noChangeAspect="1"/>
            </p:cNvPicPr>
            <p:nvPr/>
          </p:nvPicPr>
          <p:blipFill>
            <a:blip r:embed="rId12"/>
            <a:stretch>
              <a:fillRect/>
            </a:stretch>
          </p:blipFill>
          <p:spPr>
            <a:xfrm rot="21600000">
              <a:off x="365759" y="3590544"/>
              <a:ext cx="1434083" cy="917447"/>
            </a:xfrm>
            <a:prstGeom prst="rect">
              <a:avLst/>
            </a:prstGeom>
          </p:spPr>
        </p:pic>
        <p:pic>
          <p:nvPicPr>
            <p:cNvPr id="28" name="picture 28"/>
            <p:cNvPicPr>
              <a:picLocks noChangeAspect="1"/>
            </p:cNvPicPr>
            <p:nvPr/>
          </p:nvPicPr>
          <p:blipFill>
            <a:blip r:embed="rId13"/>
            <a:stretch>
              <a:fillRect/>
            </a:stretch>
          </p:blipFill>
          <p:spPr>
            <a:xfrm rot="21600000">
              <a:off x="1940051" y="3598163"/>
              <a:ext cx="1280159" cy="922019"/>
            </a:xfrm>
            <a:prstGeom prst="rect">
              <a:avLst/>
            </a:prstGeom>
          </p:spPr>
        </p:pic>
      </p:grpSp>
      <p:sp>
        <p:nvSpPr>
          <p:cNvPr id="30" name="textbox 30"/>
          <p:cNvSpPr/>
          <p:nvPr/>
        </p:nvSpPr>
        <p:spPr>
          <a:xfrm>
            <a:off x="1524" y="0"/>
            <a:ext cx="12190730" cy="706119"/>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16000"/>
              </a:lnSpc>
              <a:tabLst/>
            </a:pPr>
            <a:endParaRPr sz="500" dirty="0">
              <a:latin typeface="Arial"/>
              <a:ea typeface="Arial"/>
              <a:cs typeface="Arial"/>
            </a:endParaRPr>
          </a:p>
          <a:p>
            <a:pPr marL="121285" algn="l" rtl="0" eaLnBrk="0">
              <a:lnSpc>
                <a:spcPts val="3608"/>
              </a:lnSpc>
              <a:spcBef>
                <a:spcPts val="6"/>
              </a:spcBef>
              <a:tabLst/>
            </a:pPr>
            <a:r>
              <a:rPr sz="2700" kern="0" spc="80" dirty="0">
                <a:solidFill>
                  <a:srgbClr val="FFFFFF">
                    <a:alpha val="100000"/>
                  </a:srgbClr>
                </a:solidFill>
                <a:latin typeface="Microsoft YaHei"/>
                <a:ea typeface="Microsoft YaHei"/>
                <a:cs typeface="Microsoft YaHei"/>
              </a:rPr>
              <a:t>5.1 船舶及航道构</a:t>
            </a:r>
            <a:r>
              <a:rPr sz="2700" kern="0" spc="70" dirty="0">
                <a:solidFill>
                  <a:srgbClr val="FFFFFF">
                    <a:alpha val="100000"/>
                  </a:srgbClr>
                </a:solidFill>
                <a:latin typeface="Microsoft YaHei"/>
                <a:ea typeface="Microsoft YaHei"/>
                <a:cs typeface="Microsoft YaHei"/>
              </a:rPr>
              <a:t>筑物智慧消防关键技术</a:t>
            </a:r>
            <a:endParaRPr sz="2700" dirty="0">
              <a:latin typeface="Microsoft YaHei"/>
              <a:ea typeface="Microsoft YaHei"/>
              <a:cs typeface="Microsoft YaHei"/>
            </a:endParaRPr>
          </a:p>
        </p:txBody>
      </p:sp>
      <p:sp>
        <p:nvSpPr>
          <p:cNvPr id="32" name="textbox 32"/>
          <p:cNvSpPr/>
          <p:nvPr/>
        </p:nvSpPr>
        <p:spPr>
          <a:xfrm>
            <a:off x="635127" y="2007191"/>
            <a:ext cx="3028950" cy="1369060"/>
          </a:xfrm>
          <a:prstGeom prst="rect">
            <a:avLst/>
          </a:prstGeom>
          <a:noFill/>
          <a:ln w="0" cap="flat">
            <a:noFill/>
            <a:prstDash val="solid"/>
            <a:miter lim="0"/>
          </a:ln>
        </p:spPr>
        <p:txBody>
          <a:bodyPr vert="horz" wrap="square" lIns="0" tIns="0" rIns="0" bIns="0"/>
          <a:lstStyle/>
          <a:p>
            <a:pPr algn="l" rtl="0" eaLnBrk="0">
              <a:lnSpc>
                <a:spcPct val="71171"/>
              </a:lnSpc>
              <a:tabLst/>
            </a:pPr>
            <a:endParaRPr sz="100" dirty="0">
              <a:latin typeface="Arial"/>
              <a:ea typeface="Arial"/>
              <a:cs typeface="Arial"/>
            </a:endParaRPr>
          </a:p>
          <a:p>
            <a:pPr marL="167004" algn="l" rtl="0" eaLnBrk="0">
              <a:lnSpc>
                <a:spcPct val="88000"/>
              </a:lnSpc>
              <a:tabLst/>
            </a:pPr>
            <a:r>
              <a:rPr sz="2700" kern="0" spc="90" dirty="0">
                <a:solidFill>
                  <a:srgbClr val="FFFFFF">
                    <a:alpha val="100000"/>
                  </a:srgbClr>
                </a:solidFill>
                <a:latin typeface="Microsoft YaHei"/>
                <a:ea typeface="Microsoft YaHei"/>
                <a:cs typeface="Microsoft YaHei"/>
              </a:rPr>
              <a:t>船舶及航道构筑物</a:t>
            </a:r>
            <a:endParaRPr sz="2700" dirty="0">
              <a:latin typeface="Microsoft YaHei"/>
              <a:ea typeface="Microsoft YaHei"/>
              <a:cs typeface="Microsoft YaHei"/>
            </a:endParaRPr>
          </a:p>
          <a:p>
            <a:pPr algn="l" rtl="0" eaLnBrk="0">
              <a:lnSpc>
                <a:spcPct val="141000"/>
              </a:lnSpc>
              <a:tabLst/>
            </a:pPr>
            <a:endParaRPr sz="1000" dirty="0">
              <a:latin typeface="Arial"/>
              <a:ea typeface="Arial"/>
              <a:cs typeface="Arial"/>
            </a:endParaRPr>
          </a:p>
          <a:p>
            <a:pPr algn="l" rtl="0" eaLnBrk="0">
              <a:lnSpc>
                <a:spcPct val="116000"/>
              </a:lnSpc>
              <a:tabLst/>
            </a:pPr>
            <a:endParaRPr sz="500" dirty="0">
              <a:latin typeface="Arial"/>
              <a:ea typeface="Arial"/>
              <a:cs typeface="Arial"/>
            </a:endParaRPr>
          </a:p>
          <a:p>
            <a:pPr marL="276225" indent="-263525" algn="l" rtl="0" eaLnBrk="0">
              <a:lnSpc>
                <a:spcPct val="97000"/>
              </a:lnSpc>
              <a:spcBef>
                <a:spcPts val="2"/>
              </a:spcBef>
              <a:tabLst>
                <a:tab pos="258445" algn="l"/>
              </a:tabLst>
            </a:pPr>
            <a:r>
              <a:rPr sz="2300" kern="0" spc="0" dirty="0">
                <a:solidFill>
                  <a:srgbClr val="000000">
                    <a:alpha val="100000"/>
                  </a:srgbClr>
                </a:solidFill>
                <a:latin typeface="Microsoft YaHei"/>
                <a:ea typeface="Microsoft YaHei"/>
                <a:cs typeface="Microsoft YaHei"/>
              </a:rPr>
              <a:t>	</a:t>
            </a:r>
            <a:r>
              <a:rPr sz="2300" kern="0" spc="110" dirty="0">
                <a:solidFill>
                  <a:srgbClr val="000000">
                    <a:alpha val="100000"/>
                  </a:srgbClr>
                </a:solidFill>
                <a:latin typeface="Microsoft YaHei"/>
                <a:ea typeface="Microsoft YaHei"/>
                <a:cs typeface="Microsoft YaHei"/>
              </a:rPr>
              <a:t>典型船型</a:t>
            </a:r>
            <a:r>
              <a:rPr sz="2300" kern="0" spc="110" dirty="0">
                <a:solidFill>
                  <a:srgbClr val="C00000">
                    <a:alpha val="100000"/>
                  </a:srgbClr>
                </a:solidFill>
                <a:latin typeface="Microsoft YaHei"/>
                <a:ea typeface="Microsoft YaHei"/>
                <a:cs typeface="Microsoft YaHei"/>
              </a:rPr>
              <a:t>特殊消防系</a:t>
            </a:r>
            <a:r>
              <a:rPr sz="2300" kern="0" spc="80" dirty="0">
                <a:solidFill>
                  <a:srgbClr val="C00000">
                    <a:alpha val="100000"/>
                  </a:srgbClr>
                </a:solidFill>
                <a:latin typeface="Microsoft YaHei"/>
                <a:ea typeface="Microsoft YaHei"/>
                <a:cs typeface="Microsoft YaHei"/>
              </a:rPr>
              <a:t>统设计</a:t>
            </a:r>
            <a:endParaRPr sz="2300" dirty="0">
              <a:latin typeface="Microsoft YaHei"/>
              <a:ea typeface="Microsoft YaHei"/>
              <a:cs typeface="Microsoft YaHei"/>
            </a:endParaRPr>
          </a:p>
        </p:txBody>
      </p:sp>
      <p:pic>
        <p:nvPicPr>
          <p:cNvPr id="34" name="picture 34"/>
          <p:cNvPicPr>
            <a:picLocks noChangeAspect="1"/>
          </p:cNvPicPr>
          <p:nvPr/>
        </p:nvPicPr>
        <p:blipFill>
          <a:blip r:embed="rId14"/>
          <a:stretch>
            <a:fillRect/>
          </a:stretch>
        </p:blipFill>
        <p:spPr>
          <a:xfrm rot="21600000">
            <a:off x="647827" y="2682912"/>
            <a:ext cx="245973" cy="337718"/>
          </a:xfrm>
          <a:prstGeom prst="rect">
            <a:avLst/>
          </a:prstGeom>
        </p:spPr>
      </p:pic>
      <p:sp>
        <p:nvSpPr>
          <p:cNvPr id="36" name="textbox 36"/>
          <p:cNvSpPr/>
          <p:nvPr/>
        </p:nvSpPr>
        <p:spPr>
          <a:xfrm>
            <a:off x="635127" y="4427270"/>
            <a:ext cx="3159125" cy="808355"/>
          </a:xfrm>
          <a:prstGeom prst="rect">
            <a:avLst/>
          </a:prstGeom>
          <a:noFill/>
          <a:ln w="0" cap="flat">
            <a:noFill/>
            <a:prstDash val="solid"/>
            <a:miter lim="0"/>
          </a:ln>
        </p:spPr>
        <p:txBody>
          <a:bodyPr vert="horz" wrap="square" lIns="0" tIns="0" rIns="0" bIns="0"/>
          <a:lstStyle/>
          <a:p>
            <a:pPr algn="l" rtl="0" eaLnBrk="0">
              <a:lnSpc>
                <a:spcPct val="67684"/>
              </a:lnSpc>
              <a:tabLst/>
            </a:pPr>
            <a:endParaRPr sz="100" dirty="0">
              <a:latin typeface="Arial"/>
              <a:ea typeface="Arial"/>
              <a:cs typeface="Arial"/>
            </a:endParaRPr>
          </a:p>
          <a:p>
            <a:pPr marL="291465" indent="-278765" algn="l" rtl="0" eaLnBrk="0">
              <a:lnSpc>
                <a:spcPct val="112000"/>
              </a:lnSpc>
              <a:tabLst>
                <a:tab pos="258445" algn="l"/>
              </a:tabLst>
            </a:pPr>
            <a:r>
              <a:rPr sz="2300" kern="0" spc="0" dirty="0">
                <a:solidFill>
                  <a:srgbClr val="000000">
                    <a:alpha val="100000"/>
                  </a:srgbClr>
                </a:solidFill>
                <a:latin typeface="Microsoft YaHei"/>
                <a:ea typeface="Microsoft YaHei"/>
                <a:cs typeface="Microsoft YaHei"/>
              </a:rPr>
              <a:t>	</a:t>
            </a:r>
            <a:r>
              <a:rPr sz="2300" kern="0" spc="-50" dirty="0">
                <a:solidFill>
                  <a:srgbClr val="000000">
                    <a:alpha val="100000"/>
                  </a:srgbClr>
                </a:solidFill>
                <a:latin typeface="Microsoft YaHei"/>
                <a:ea typeface="Microsoft YaHei"/>
                <a:cs typeface="Microsoft YaHei"/>
              </a:rPr>
              <a:t>升船机/船</a:t>
            </a:r>
            <a:r>
              <a:rPr sz="2700" kern="0" spc="-50" baseline="69451" dirty="0">
                <a:solidFill>
                  <a:srgbClr val="FFFFFF">
                    <a:alpha val="100000"/>
                  </a:srgbClr>
                </a:solidFill>
                <a:latin typeface="DengXian"/>
                <a:ea typeface="DengXian"/>
                <a:cs typeface="DengXian"/>
              </a:rPr>
              <a:t>cv</a:t>
            </a:r>
            <a:r>
              <a:rPr sz="2300" kern="0" spc="-50" dirty="0">
                <a:solidFill>
                  <a:srgbClr val="000000">
                    <a:alpha val="100000"/>
                  </a:srgbClr>
                </a:solidFill>
                <a:latin typeface="Microsoft YaHei"/>
                <a:ea typeface="Microsoft YaHei"/>
                <a:cs typeface="Microsoft YaHei"/>
              </a:rPr>
              <a:t>闸通航等</a:t>
            </a:r>
            <a:r>
              <a:rPr sz="2300" kern="0" spc="-50" dirty="0">
                <a:solidFill>
                  <a:srgbClr val="C00000">
                    <a:alpha val="100000"/>
                  </a:srgbClr>
                </a:solidFill>
                <a:latin typeface="Microsoft YaHei"/>
                <a:ea typeface="Microsoft YaHei"/>
                <a:cs typeface="Microsoft YaHei"/>
              </a:rPr>
              <a:t>消</a:t>
            </a:r>
            <a:r>
              <a:rPr sz="2300" kern="0" spc="70" dirty="0">
                <a:solidFill>
                  <a:srgbClr val="C00000">
                    <a:alpha val="100000"/>
                  </a:srgbClr>
                </a:solidFill>
                <a:latin typeface="Microsoft YaHei"/>
                <a:ea typeface="Microsoft YaHei"/>
                <a:cs typeface="Microsoft YaHei"/>
              </a:rPr>
              <a:t>防安全与应急救援</a:t>
            </a:r>
            <a:endParaRPr sz="2300" dirty="0">
              <a:latin typeface="Microsoft YaHei"/>
              <a:ea typeface="Microsoft YaHei"/>
              <a:cs typeface="Microsoft YaHei"/>
            </a:endParaRPr>
          </a:p>
        </p:txBody>
      </p:sp>
      <p:pic>
        <p:nvPicPr>
          <p:cNvPr id="38" name="picture 38"/>
          <p:cNvPicPr>
            <a:picLocks noChangeAspect="1"/>
          </p:cNvPicPr>
          <p:nvPr/>
        </p:nvPicPr>
        <p:blipFill>
          <a:blip r:embed="rId15"/>
          <a:stretch>
            <a:fillRect/>
          </a:stretch>
        </p:blipFill>
        <p:spPr>
          <a:xfrm rot="21600000">
            <a:off x="647827" y="4511712"/>
            <a:ext cx="245973" cy="337718"/>
          </a:xfrm>
          <a:prstGeom prst="rect">
            <a:avLst/>
          </a:prstGeom>
        </p:spPr>
      </p:pic>
      <p:pic>
        <p:nvPicPr>
          <p:cNvPr id="40" name="picture 40"/>
          <p:cNvPicPr>
            <a:picLocks noChangeAspect="1"/>
          </p:cNvPicPr>
          <p:nvPr/>
        </p:nvPicPr>
        <p:blipFill>
          <a:blip r:embed="rId16"/>
          <a:stretch>
            <a:fillRect/>
          </a:stretch>
        </p:blipFill>
        <p:spPr>
          <a:xfrm rot="21600000">
            <a:off x="2253995" y="3421379"/>
            <a:ext cx="1389887" cy="972311"/>
          </a:xfrm>
          <a:prstGeom prst="rect">
            <a:avLst/>
          </a:prstGeom>
        </p:spPr>
      </p:pic>
      <p:pic>
        <p:nvPicPr>
          <p:cNvPr id="42" name="picture 42"/>
          <p:cNvPicPr>
            <a:picLocks noChangeAspect="1"/>
          </p:cNvPicPr>
          <p:nvPr/>
        </p:nvPicPr>
        <p:blipFill>
          <a:blip r:embed="rId17"/>
          <a:stretch>
            <a:fillRect/>
          </a:stretch>
        </p:blipFill>
        <p:spPr>
          <a:xfrm rot="21600000">
            <a:off x="824483" y="3445763"/>
            <a:ext cx="1316736" cy="941832"/>
          </a:xfrm>
          <a:prstGeom prst="rect">
            <a:avLst/>
          </a:prstGeom>
        </p:spPr>
      </p:pic>
      <p:pic>
        <p:nvPicPr>
          <p:cNvPr id="44" name="picture 44"/>
          <p:cNvPicPr>
            <a:picLocks noChangeAspect="1"/>
          </p:cNvPicPr>
          <p:nvPr/>
        </p:nvPicPr>
        <p:blipFill>
          <a:blip r:embed="rId18"/>
          <a:stretch>
            <a:fillRect/>
          </a:stretch>
        </p:blipFill>
        <p:spPr>
          <a:xfrm rot="21600000">
            <a:off x="2264664" y="5361431"/>
            <a:ext cx="1295400" cy="949451"/>
          </a:xfrm>
          <a:prstGeom prst="rect">
            <a:avLst/>
          </a:prstGeom>
        </p:spPr>
      </p:pic>
      <p:sp>
        <p:nvSpPr>
          <p:cNvPr id="46" name="textbox 46"/>
          <p:cNvSpPr/>
          <p:nvPr/>
        </p:nvSpPr>
        <p:spPr>
          <a:xfrm>
            <a:off x="4678806" y="983094"/>
            <a:ext cx="2761614" cy="49021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p:txBody>
      </p:sp>
      <p:pic>
        <p:nvPicPr>
          <p:cNvPr id="48" name="picture 48"/>
          <p:cNvPicPr>
            <a:picLocks noChangeAspect="1"/>
          </p:cNvPicPr>
          <p:nvPr/>
        </p:nvPicPr>
        <p:blipFill>
          <a:blip r:embed="rId19"/>
          <a:stretch>
            <a:fillRect/>
          </a:stretch>
        </p:blipFill>
        <p:spPr>
          <a:xfrm rot="21600000">
            <a:off x="873251" y="5369051"/>
            <a:ext cx="1267968" cy="9342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50"/>
          <p:cNvPicPr>
            <a:picLocks noChangeAspect="1"/>
          </p:cNvPicPr>
          <p:nvPr/>
        </p:nvPicPr>
        <p:blipFill>
          <a:blip r:embed="rId2"/>
          <a:stretch>
            <a:fillRect/>
          </a:stretch>
        </p:blipFill>
        <p:spPr>
          <a:xfrm rot="21600000">
            <a:off x="250500" y="1082764"/>
            <a:ext cx="11734040" cy="5519151"/>
          </a:xfrm>
          <a:prstGeom prst="rect">
            <a:avLst/>
          </a:prstGeom>
        </p:spPr>
      </p:pic>
      <p:pic>
        <p:nvPicPr>
          <p:cNvPr id="52" name="picture 52"/>
          <p:cNvPicPr>
            <a:picLocks noChangeAspect="1"/>
          </p:cNvPicPr>
          <p:nvPr/>
        </p:nvPicPr>
        <p:blipFill>
          <a:blip r:embed="rId3"/>
          <a:stretch>
            <a:fillRect/>
          </a:stretch>
        </p:blipFill>
        <p:spPr>
          <a:xfrm rot="21600000">
            <a:off x="6289548" y="3747516"/>
            <a:ext cx="5541263" cy="2688336"/>
          </a:xfrm>
          <a:prstGeom prst="rect">
            <a:avLst/>
          </a:prstGeom>
        </p:spPr>
      </p:pic>
      <p:pic>
        <p:nvPicPr>
          <p:cNvPr id="54" name="picture 54"/>
          <p:cNvPicPr>
            <a:picLocks noChangeAspect="1"/>
          </p:cNvPicPr>
          <p:nvPr/>
        </p:nvPicPr>
        <p:blipFill>
          <a:blip r:embed="rId4"/>
          <a:stretch>
            <a:fillRect/>
          </a:stretch>
        </p:blipFill>
        <p:spPr>
          <a:xfrm rot="21600000">
            <a:off x="609600" y="3741420"/>
            <a:ext cx="5170932" cy="2694432"/>
          </a:xfrm>
          <a:prstGeom prst="rect">
            <a:avLst/>
          </a:prstGeom>
        </p:spPr>
      </p:pic>
      <p:pic>
        <p:nvPicPr>
          <p:cNvPr id="56" name="picture 56"/>
          <p:cNvPicPr>
            <a:picLocks noChangeAspect="1"/>
          </p:cNvPicPr>
          <p:nvPr/>
        </p:nvPicPr>
        <p:blipFill>
          <a:blip r:embed="rId5"/>
          <a:stretch>
            <a:fillRect/>
          </a:stretch>
        </p:blipFill>
        <p:spPr>
          <a:xfrm rot="21600000">
            <a:off x="6332220" y="1170432"/>
            <a:ext cx="5437632" cy="2467355"/>
          </a:xfrm>
          <a:prstGeom prst="rect">
            <a:avLst/>
          </a:prstGeom>
        </p:spPr>
      </p:pic>
      <p:sp>
        <p:nvSpPr>
          <p:cNvPr id="58" name="textbox 58"/>
          <p:cNvSpPr/>
          <p:nvPr/>
        </p:nvSpPr>
        <p:spPr>
          <a:xfrm>
            <a:off x="533831" y="1422412"/>
            <a:ext cx="5509895" cy="2018664"/>
          </a:xfrm>
          <a:prstGeom prst="rect">
            <a:avLst/>
          </a:prstGeom>
          <a:noFill/>
          <a:ln w="0" cap="flat">
            <a:noFill/>
            <a:prstDash val="solid"/>
            <a:miter lim="0"/>
          </a:ln>
        </p:spPr>
        <p:txBody>
          <a:bodyPr vert="horz" wrap="square" lIns="0" tIns="0" rIns="0" bIns="0"/>
          <a:lstStyle/>
          <a:p>
            <a:pPr algn="l" rtl="0" eaLnBrk="0">
              <a:lnSpc>
                <a:spcPct val="91552"/>
              </a:lnSpc>
              <a:tabLst/>
            </a:pPr>
            <a:endParaRPr sz="100" dirty="0">
              <a:latin typeface="Arial"/>
              <a:ea typeface="Arial"/>
              <a:cs typeface="Arial"/>
            </a:endParaRPr>
          </a:p>
          <a:p>
            <a:pPr marL="16509" algn="l" rtl="0" eaLnBrk="0">
              <a:lnSpc>
                <a:spcPct val="96000"/>
              </a:lnSpc>
              <a:tabLst>
                <a:tab pos="233045"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火灾智慧识别与大数据</a:t>
            </a:r>
            <a:r>
              <a:rPr sz="2300" b="1" kern="0" spc="90" dirty="0">
                <a:solidFill>
                  <a:srgbClr val="000000">
                    <a:alpha val="100000"/>
                  </a:srgbClr>
                </a:solidFill>
                <a:latin typeface="Microsoft YaHei"/>
                <a:ea typeface="Microsoft YaHei"/>
                <a:cs typeface="Microsoft YaHei"/>
              </a:rPr>
              <a:t>应急响应技术</a:t>
            </a:r>
            <a:endParaRPr sz="2300" dirty="0">
              <a:latin typeface="Microsoft YaHei"/>
              <a:ea typeface="Microsoft YaHei"/>
              <a:cs typeface="Microsoft YaHei"/>
            </a:endParaRPr>
          </a:p>
          <a:p>
            <a:pPr marL="16509" algn="l" rtl="0" eaLnBrk="0">
              <a:lnSpc>
                <a:spcPct val="96000"/>
              </a:lnSpc>
              <a:spcBef>
                <a:spcPts val="1671"/>
              </a:spcBef>
              <a:tabLst>
                <a:tab pos="233045"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高精度火灾态势预测技术</a:t>
            </a:r>
            <a:endParaRPr sz="2300" dirty="0">
              <a:latin typeface="Microsoft YaHei"/>
              <a:ea typeface="Microsoft YaHei"/>
              <a:cs typeface="Microsoft YaHei"/>
            </a:endParaRPr>
          </a:p>
          <a:p>
            <a:pPr marL="12700" algn="l" rtl="0" eaLnBrk="0">
              <a:lnSpc>
                <a:spcPct val="96000"/>
              </a:lnSpc>
              <a:spcBef>
                <a:spcPts val="174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7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新能源及储能火灾安全防控</a:t>
            </a:r>
            <a:r>
              <a:rPr sz="2300" b="1" kern="0" spc="90" dirty="0">
                <a:solidFill>
                  <a:srgbClr val="000000">
                    <a:alpha val="100000"/>
                  </a:srgbClr>
                </a:solidFill>
                <a:latin typeface="Microsoft YaHei"/>
                <a:ea typeface="Microsoft YaHei"/>
                <a:cs typeface="Microsoft YaHei"/>
              </a:rPr>
              <a:t>技术</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多相灭火介质高效抑火技术</a:t>
            </a:r>
            <a:endParaRPr sz="2300" dirty="0">
              <a:latin typeface="Microsoft YaHei"/>
              <a:ea typeface="Microsoft YaHei"/>
              <a:cs typeface="Microsoft YaHei"/>
            </a:endParaRPr>
          </a:p>
        </p:txBody>
      </p:sp>
      <p:pic>
        <p:nvPicPr>
          <p:cNvPr id="60" name="picture 60"/>
          <p:cNvPicPr>
            <a:picLocks noChangeAspect="1"/>
          </p:cNvPicPr>
          <p:nvPr/>
        </p:nvPicPr>
        <p:blipFill>
          <a:blip r:embed="rId6"/>
          <a:stretch>
            <a:fillRect/>
          </a:stretch>
        </p:blipFill>
        <p:spPr>
          <a:xfrm rot="21600000">
            <a:off x="546531" y="3090087"/>
            <a:ext cx="216408" cy="337718"/>
          </a:xfrm>
          <a:prstGeom prst="rect">
            <a:avLst/>
          </a:prstGeom>
        </p:spPr>
      </p:pic>
      <p:pic>
        <p:nvPicPr>
          <p:cNvPr id="62" name="picture 62"/>
          <p:cNvPicPr>
            <a:picLocks noChangeAspect="1"/>
          </p:cNvPicPr>
          <p:nvPr/>
        </p:nvPicPr>
        <p:blipFill>
          <a:blip r:embed="rId7"/>
          <a:stretch>
            <a:fillRect/>
          </a:stretch>
        </p:blipFill>
        <p:spPr>
          <a:xfrm rot="21600000">
            <a:off x="546531" y="2541447"/>
            <a:ext cx="216408" cy="337718"/>
          </a:xfrm>
          <a:prstGeom prst="rect">
            <a:avLst/>
          </a:prstGeom>
        </p:spPr>
      </p:pic>
      <p:pic>
        <p:nvPicPr>
          <p:cNvPr id="64" name="picture 64"/>
          <p:cNvPicPr>
            <a:picLocks noChangeAspect="1"/>
          </p:cNvPicPr>
          <p:nvPr/>
        </p:nvPicPr>
        <p:blipFill>
          <a:blip r:embed="rId8"/>
          <a:stretch>
            <a:fillRect/>
          </a:stretch>
        </p:blipFill>
        <p:spPr>
          <a:xfrm rot="21600000">
            <a:off x="550659" y="1983752"/>
            <a:ext cx="216408" cy="337718"/>
          </a:xfrm>
          <a:prstGeom prst="rect">
            <a:avLst/>
          </a:prstGeom>
        </p:spPr>
      </p:pic>
      <p:pic>
        <p:nvPicPr>
          <p:cNvPr id="66" name="picture 66"/>
          <p:cNvPicPr>
            <a:picLocks noChangeAspect="1"/>
          </p:cNvPicPr>
          <p:nvPr/>
        </p:nvPicPr>
        <p:blipFill>
          <a:blip r:embed="rId9"/>
          <a:stretch>
            <a:fillRect/>
          </a:stretch>
        </p:blipFill>
        <p:spPr>
          <a:xfrm rot="21600000">
            <a:off x="550659" y="1435112"/>
            <a:ext cx="216408" cy="337718"/>
          </a:xfrm>
          <a:prstGeom prst="rect">
            <a:avLst/>
          </a:prstGeom>
        </p:spPr>
      </p:pic>
      <p:sp>
        <p:nvSpPr>
          <p:cNvPr id="68" name="textbox 68"/>
          <p:cNvSpPr/>
          <p:nvPr/>
        </p:nvSpPr>
        <p:spPr>
          <a:xfrm>
            <a:off x="4035501" y="288887"/>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70"/>
          <p:cNvPicPr>
            <a:picLocks noChangeAspect="1"/>
          </p:cNvPicPr>
          <p:nvPr/>
        </p:nvPicPr>
        <p:blipFill>
          <a:blip r:embed="rId2"/>
          <a:stretch>
            <a:fillRect/>
          </a:stretch>
        </p:blipFill>
        <p:spPr>
          <a:xfrm rot="21600000">
            <a:off x="601980" y="1455420"/>
            <a:ext cx="5084063" cy="2514600"/>
          </a:xfrm>
          <a:prstGeom prst="rect">
            <a:avLst/>
          </a:prstGeom>
        </p:spPr>
      </p:pic>
      <p:graphicFrame>
        <p:nvGraphicFramePr>
          <p:cNvPr id="72" name="table 72"/>
          <p:cNvGraphicFramePr>
            <a:graphicFrameLocks noGrp="1"/>
          </p:cNvGraphicFramePr>
          <p:nvPr/>
        </p:nvGraphicFramePr>
        <p:xfrm>
          <a:off x="356615" y="900683"/>
          <a:ext cx="5496559" cy="3147060"/>
        </p:xfrm>
        <a:graphic>
          <a:graphicData uri="http://schemas.openxmlformats.org/drawingml/2006/table">
            <a:tbl>
              <a:tblPr/>
              <a:tblGrid>
                <a:gridCol w="5496559"/>
              </a:tblGrid>
              <a:tr h="520700">
                <a:tc>
                  <a:txBody>
                    <a:bodyPr/>
                    <a:lstStyle/>
                    <a:p>
                      <a:pPr algn="l" rtl="0" eaLnBrk="0">
                        <a:lnSpc>
                          <a:spcPct val="116000"/>
                        </a:lnSpc>
                        <a:tabLst/>
                      </a:pPr>
                      <a:endParaRPr sz="500" dirty="0">
                        <a:latin typeface="Arial"/>
                        <a:ea typeface="Arial"/>
                        <a:cs typeface="Arial"/>
                      </a:endParaRPr>
                    </a:p>
                    <a:p>
                      <a:pPr marL="974725" algn="l" rtl="0" eaLnBrk="0">
                        <a:lnSpc>
                          <a:spcPct val="88000"/>
                        </a:lnSpc>
                        <a:spcBef>
                          <a:spcPts val="5"/>
                        </a:spcBef>
                        <a:tabLst/>
                      </a:pPr>
                      <a:r>
                        <a:rPr sz="2700" kern="0" spc="90" dirty="0">
                          <a:solidFill>
                            <a:srgbClr val="FFFFFF">
                              <a:alpha val="100000"/>
                            </a:srgbClr>
                          </a:solidFill>
                          <a:latin typeface="Microsoft YaHei"/>
                          <a:ea typeface="Microsoft YaHei"/>
                          <a:cs typeface="Microsoft YaHei"/>
                        </a:rPr>
                        <a:t>舰船智慧消防系统设计</a:t>
                      </a:r>
                      <a:endParaRPr sz="2700" dirty="0">
                        <a:latin typeface="Microsoft YaHei"/>
                        <a:ea typeface="Microsoft YaHei"/>
                        <a:cs typeface="Microsoft YaHei"/>
                      </a:endParaRPr>
                    </a:p>
                  </a:txBody>
                  <a:tcPr marL="0" marR="0" marT="0" marB="0" vert="horz">
                    <a:lnL>
                      <a:noFill/>
                    </a:lnL>
                    <a:lnR>
                      <a:noFill/>
                    </a:lnR>
                    <a:lnT>
                      <a:noFill/>
                    </a:lnT>
                    <a:lnB w="6350" cap="flat" cmpd="sng" algn="ctr">
                      <a:solidFill>
                        <a:srgbClr val="004698"/>
                      </a:solidFill>
                      <a:prstDash val="solid"/>
                      <a:round/>
                      <a:headEnd type="none" w="med" len="med"/>
                      <a:tailEnd type="none" w="med" len="med"/>
                    </a:lnB>
                    <a:solidFill>
                      <a:srgbClr val="004698"/>
                    </a:solidFill>
                  </a:tcPr>
                </a:tc>
              </a:tr>
              <a:tr h="2626360">
                <a:tc>
                  <a:txBody>
                    <a:bodyPr/>
                    <a:lstStyle/>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7790"/>
                        </a:lnSpc>
                        <a:tabLst/>
                      </a:pPr>
                      <a:endParaRPr sz="100" dirty="0">
                        <a:latin typeface="Arial"/>
                        <a:ea typeface="Arial"/>
                        <a:cs typeface="Arial"/>
                      </a:endParaRPr>
                    </a:p>
                    <a:p>
                      <a:pPr marL="2658110" algn="l" rtl="0" eaLnBrk="0">
                        <a:lnSpc>
                          <a:spcPts val="1024"/>
                        </a:lnSpc>
                        <a:tabLst/>
                      </a:pPr>
                      <a:r>
                        <a:rPr sz="1700" kern="0" spc="-10" dirty="0">
                          <a:solidFill>
                            <a:srgbClr val="FFFFFF">
                              <a:alpha val="100000"/>
                            </a:srgbClr>
                          </a:solidFill>
                          <a:latin typeface="DengXian"/>
                          <a:ea typeface="DengXian"/>
                          <a:cs typeface="DengXian"/>
                        </a:rPr>
                        <a:t>cv</a:t>
                      </a:r>
                      <a:endParaRPr sz="1700" dirty="0">
                        <a:latin typeface="DengXian"/>
                        <a:ea typeface="DengXian"/>
                        <a:cs typeface="DengXian"/>
                      </a:endParaRPr>
                    </a:p>
                  </a:txBody>
                  <a:tcPr marL="0" marR="0" marT="0" marB="0" vert="horz">
                    <a:lnL w="6350" cap="flat" cmpd="sng" algn="ctr">
                      <a:solidFill>
                        <a:srgbClr val="004698"/>
                      </a:solidFill>
                      <a:prstDash val="solid"/>
                      <a:round/>
                      <a:headEnd type="none" w="med" len="med"/>
                      <a:tailEnd type="none" w="med" len="med"/>
                    </a:lnL>
                    <a:lnR w="6350" cap="flat" cmpd="sng" algn="ctr">
                      <a:solidFill>
                        <a:srgbClr val="004698"/>
                      </a:solidFill>
                      <a:prstDash val="solid"/>
                      <a:round/>
                      <a:headEnd type="none" w="med" len="med"/>
                      <a:tailEnd type="none" w="med" len="med"/>
                    </a:lnR>
                    <a:lnT w="6350" cap="flat" cmpd="sng" algn="ctr">
                      <a:solidFill>
                        <a:srgbClr val="004698"/>
                      </a:solidFill>
                      <a:prstDash val="solid"/>
                      <a:round/>
                      <a:headEnd type="none" w="med" len="med"/>
                      <a:tailEnd type="none" w="med" len="med"/>
                    </a:lnT>
                    <a:lnB w="6350" cap="flat" cmpd="sng" algn="ctr">
                      <a:solidFill>
                        <a:srgbClr val="004698"/>
                      </a:solidFill>
                      <a:prstDash val="solid"/>
                      <a:round/>
                      <a:headEnd type="none" w="med" len="med"/>
                      <a:tailEnd type="none" w="med" len="med"/>
                    </a:lnB>
                  </a:tcPr>
                </a:tc>
              </a:tr>
            </a:tbl>
          </a:graphicData>
        </a:graphic>
      </p:graphicFrame>
      <p:grpSp>
        <p:nvGrpSpPr>
          <p:cNvPr id="6" name="group 6"/>
          <p:cNvGrpSpPr/>
          <p:nvPr/>
        </p:nvGrpSpPr>
        <p:grpSpPr>
          <a:xfrm rot="21600000">
            <a:off x="370331" y="4101083"/>
            <a:ext cx="5497067" cy="2676384"/>
            <a:chOff x="0" y="0"/>
            <a:chExt cx="5497067" cy="2676384"/>
          </a:xfrm>
        </p:grpSpPr>
        <p:pic>
          <p:nvPicPr>
            <p:cNvPr id="74" name="picture 74"/>
            <p:cNvPicPr>
              <a:picLocks noChangeAspect="1"/>
            </p:cNvPicPr>
            <p:nvPr/>
          </p:nvPicPr>
          <p:blipFill>
            <a:blip r:embed="rId3"/>
            <a:stretch>
              <a:fillRect/>
            </a:stretch>
          </p:blipFill>
          <p:spPr>
            <a:xfrm rot="21600000">
              <a:off x="0" y="0"/>
              <a:ext cx="5497067" cy="2676384"/>
            </a:xfrm>
            <a:prstGeom prst="rect">
              <a:avLst/>
            </a:prstGeom>
          </p:spPr>
        </p:pic>
        <p:pic>
          <p:nvPicPr>
            <p:cNvPr id="76" name="picture 76"/>
            <p:cNvPicPr>
              <a:picLocks noChangeAspect="1"/>
            </p:cNvPicPr>
            <p:nvPr/>
          </p:nvPicPr>
          <p:blipFill>
            <a:blip r:embed="rId4"/>
            <a:stretch>
              <a:fillRect/>
            </a:stretch>
          </p:blipFill>
          <p:spPr>
            <a:xfrm rot="21600000">
              <a:off x="2802635" y="675132"/>
              <a:ext cx="2598420" cy="1958339"/>
            </a:xfrm>
            <a:prstGeom prst="rect">
              <a:avLst/>
            </a:prstGeom>
          </p:spPr>
        </p:pic>
        <p:pic>
          <p:nvPicPr>
            <p:cNvPr id="78" name="picture 78"/>
            <p:cNvPicPr>
              <a:picLocks noChangeAspect="1"/>
            </p:cNvPicPr>
            <p:nvPr/>
          </p:nvPicPr>
          <p:blipFill>
            <a:blip r:embed="rId5"/>
            <a:stretch>
              <a:fillRect/>
            </a:stretch>
          </p:blipFill>
          <p:spPr>
            <a:xfrm rot="21600000">
              <a:off x="176784" y="699516"/>
              <a:ext cx="2479547" cy="1787651"/>
            </a:xfrm>
            <a:prstGeom prst="rect">
              <a:avLst/>
            </a:prstGeom>
          </p:spPr>
        </p:pic>
        <p:sp>
          <p:nvSpPr>
            <p:cNvPr id="80" name="textbox 80"/>
            <p:cNvSpPr/>
            <p:nvPr/>
          </p:nvSpPr>
          <p:spPr>
            <a:xfrm>
              <a:off x="428136" y="76805"/>
              <a:ext cx="4644390" cy="385445"/>
            </a:xfrm>
            <a:prstGeom prst="rect">
              <a:avLst/>
            </a:prstGeom>
            <a:noFill/>
            <a:ln w="0" cap="flat">
              <a:noFill/>
              <a:prstDash val="solid"/>
              <a:miter lim="0"/>
            </a:ln>
          </p:spPr>
          <p:txBody>
            <a:bodyPr vert="horz" wrap="square" lIns="0" tIns="0" rIns="0" bIns="0"/>
            <a:lstStyle/>
            <a:p>
              <a:pPr algn="l" rtl="0" eaLnBrk="0">
                <a:lnSpc>
                  <a:spcPct val="94121"/>
                </a:lnSpc>
                <a:tabLst/>
              </a:pPr>
              <a:endParaRPr sz="100" dirty="0">
                <a:latin typeface="Arial"/>
                <a:ea typeface="Arial"/>
                <a:cs typeface="Arial"/>
              </a:endParaRPr>
            </a:p>
            <a:p>
              <a:pPr marL="12700" algn="l" rtl="0" eaLnBrk="0">
                <a:lnSpc>
                  <a:spcPct val="87000"/>
                </a:lnSpc>
                <a:tabLst/>
              </a:pPr>
              <a:r>
                <a:rPr sz="2700" kern="0" spc="90" dirty="0">
                  <a:solidFill>
                    <a:srgbClr val="FFFFFF">
                      <a:alpha val="100000"/>
                    </a:srgbClr>
                  </a:solidFill>
                  <a:latin typeface="Microsoft YaHei"/>
                  <a:ea typeface="Microsoft YaHei"/>
                  <a:cs typeface="Microsoft YaHei"/>
                </a:rPr>
                <a:t>锂电池热失控及抑火技术应用</a:t>
              </a:r>
              <a:endParaRPr sz="2700" dirty="0">
                <a:latin typeface="Microsoft YaHei"/>
                <a:ea typeface="Microsoft YaHei"/>
                <a:cs typeface="Microsoft YaHei"/>
              </a:endParaRPr>
            </a:p>
          </p:txBody>
        </p:sp>
      </p:grpSp>
      <p:grpSp>
        <p:nvGrpSpPr>
          <p:cNvPr id="8" name="group 8"/>
          <p:cNvGrpSpPr/>
          <p:nvPr/>
        </p:nvGrpSpPr>
        <p:grpSpPr>
          <a:xfrm rot="21600000">
            <a:off x="6204241" y="1363979"/>
            <a:ext cx="5476531" cy="2684145"/>
            <a:chOff x="0" y="0"/>
            <a:chExt cx="5476531" cy="2684145"/>
          </a:xfrm>
        </p:grpSpPr>
        <p:pic>
          <p:nvPicPr>
            <p:cNvPr id="82" name="picture 82"/>
            <p:cNvPicPr>
              <a:picLocks noChangeAspect="1"/>
            </p:cNvPicPr>
            <p:nvPr/>
          </p:nvPicPr>
          <p:blipFill>
            <a:blip r:embed="rId6"/>
            <a:stretch>
              <a:fillRect/>
            </a:stretch>
          </p:blipFill>
          <p:spPr>
            <a:xfrm rot="21600000">
              <a:off x="0" y="0"/>
              <a:ext cx="5476531" cy="2684145"/>
            </a:xfrm>
            <a:prstGeom prst="rect">
              <a:avLst/>
            </a:prstGeom>
          </p:spPr>
        </p:pic>
        <p:sp>
          <p:nvSpPr>
            <p:cNvPr id="84" name="textbox 84"/>
            <p:cNvSpPr/>
            <p:nvPr/>
          </p:nvSpPr>
          <p:spPr>
            <a:xfrm>
              <a:off x="2631211" y="1303312"/>
              <a:ext cx="224154" cy="1555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024"/>
                </a:lnSpc>
                <a:tabLst/>
              </a:pPr>
              <a:r>
                <a:rPr sz="1700" kern="0" spc="-10" dirty="0">
                  <a:solidFill>
                    <a:srgbClr val="FFFFFF">
                      <a:alpha val="100000"/>
                    </a:srgbClr>
                  </a:solidFill>
                  <a:latin typeface="DengXian"/>
                  <a:ea typeface="DengXian"/>
                  <a:cs typeface="DengXian"/>
                </a:rPr>
                <a:t>cv</a:t>
              </a:r>
              <a:endParaRPr sz="1700" dirty="0">
                <a:latin typeface="DengXian"/>
                <a:ea typeface="DengXian"/>
                <a:cs typeface="DengXian"/>
              </a:endParaRPr>
            </a:p>
          </p:txBody>
        </p:sp>
      </p:grpSp>
      <p:grpSp>
        <p:nvGrpSpPr>
          <p:cNvPr id="10" name="group 10"/>
          <p:cNvGrpSpPr/>
          <p:nvPr/>
        </p:nvGrpSpPr>
        <p:grpSpPr>
          <a:xfrm rot="21600000">
            <a:off x="6196583" y="4107179"/>
            <a:ext cx="5497068" cy="2642578"/>
            <a:chOff x="0" y="0"/>
            <a:chExt cx="5497068" cy="2642578"/>
          </a:xfrm>
        </p:grpSpPr>
        <p:pic>
          <p:nvPicPr>
            <p:cNvPr id="86" name="picture 86"/>
            <p:cNvPicPr>
              <a:picLocks noChangeAspect="1"/>
            </p:cNvPicPr>
            <p:nvPr/>
          </p:nvPicPr>
          <p:blipFill>
            <a:blip r:embed="rId7"/>
            <a:stretch>
              <a:fillRect/>
            </a:stretch>
          </p:blipFill>
          <p:spPr>
            <a:xfrm rot="21600000">
              <a:off x="0" y="0"/>
              <a:ext cx="5497068" cy="2642578"/>
            </a:xfrm>
            <a:prstGeom prst="rect">
              <a:avLst/>
            </a:prstGeom>
          </p:spPr>
        </p:pic>
        <p:pic>
          <p:nvPicPr>
            <p:cNvPr id="88" name="picture 88"/>
            <p:cNvPicPr>
              <a:picLocks noChangeAspect="1"/>
            </p:cNvPicPr>
            <p:nvPr/>
          </p:nvPicPr>
          <p:blipFill>
            <a:blip r:embed="rId8"/>
            <a:stretch>
              <a:fillRect/>
            </a:stretch>
          </p:blipFill>
          <p:spPr>
            <a:xfrm rot="21600000">
              <a:off x="179832" y="603503"/>
              <a:ext cx="2662427" cy="1959864"/>
            </a:xfrm>
            <a:prstGeom prst="rect">
              <a:avLst/>
            </a:prstGeom>
          </p:spPr>
        </p:pic>
        <p:pic>
          <p:nvPicPr>
            <p:cNvPr id="90" name="picture 90"/>
            <p:cNvPicPr>
              <a:picLocks noChangeAspect="1"/>
            </p:cNvPicPr>
            <p:nvPr/>
          </p:nvPicPr>
          <p:blipFill>
            <a:blip r:embed="rId9"/>
            <a:stretch>
              <a:fillRect/>
            </a:stretch>
          </p:blipFill>
          <p:spPr>
            <a:xfrm rot="21600000">
              <a:off x="2996183" y="551688"/>
              <a:ext cx="2369819" cy="2046732"/>
            </a:xfrm>
            <a:prstGeom prst="rect">
              <a:avLst/>
            </a:prstGeom>
          </p:spPr>
        </p:pic>
        <p:sp>
          <p:nvSpPr>
            <p:cNvPr id="92" name="textbox 92"/>
            <p:cNvSpPr/>
            <p:nvPr/>
          </p:nvSpPr>
          <p:spPr>
            <a:xfrm>
              <a:off x="305701" y="69672"/>
              <a:ext cx="4893945" cy="334009"/>
            </a:xfrm>
            <a:prstGeom prst="rect">
              <a:avLst/>
            </a:prstGeom>
            <a:noFill/>
            <a:ln w="0" cap="flat">
              <a:noFill/>
              <a:prstDash val="solid"/>
              <a:miter lim="0"/>
            </a:ln>
          </p:spPr>
          <p:txBody>
            <a:bodyPr vert="horz" wrap="square" lIns="0" tIns="0" rIns="0" bIns="0"/>
            <a:lstStyle/>
            <a:p>
              <a:pPr algn="l" rtl="0" eaLnBrk="0">
                <a:lnSpc>
                  <a:spcPct val="81583"/>
                </a:lnSpc>
                <a:tabLst/>
              </a:pPr>
              <a:endParaRPr sz="100" dirty="0">
                <a:latin typeface="Arial"/>
                <a:ea typeface="Arial"/>
                <a:cs typeface="Arial"/>
              </a:endParaRPr>
            </a:p>
            <a:p>
              <a:pPr marL="12700" algn="l" rtl="0" eaLnBrk="0">
                <a:lnSpc>
                  <a:spcPct val="88000"/>
                </a:lnSpc>
                <a:tabLst/>
              </a:pPr>
              <a:r>
                <a:rPr sz="2300" kern="0" spc="90" dirty="0">
                  <a:solidFill>
                    <a:srgbClr val="FFFFFF">
                      <a:alpha val="100000"/>
                    </a:srgbClr>
                  </a:solidFill>
                  <a:latin typeface="Microsoft YaHei"/>
                  <a:ea typeface="Microsoft YaHei"/>
                  <a:cs typeface="Microsoft YaHei"/>
                </a:rPr>
                <a:t>工程尺度电气设施高效灭火技术应用</a:t>
              </a:r>
              <a:endParaRPr sz="2300" dirty="0">
                <a:latin typeface="Microsoft YaHei"/>
                <a:ea typeface="Microsoft YaHei"/>
                <a:cs typeface="Microsoft YaHei"/>
              </a:endParaRPr>
            </a:p>
          </p:txBody>
        </p:sp>
      </p:grpSp>
      <p:sp>
        <p:nvSpPr>
          <p:cNvPr id="94" name="textbox 94"/>
          <p:cNvSpPr/>
          <p:nvPr/>
        </p:nvSpPr>
        <p:spPr>
          <a:xfrm>
            <a:off x="6196583" y="900683"/>
            <a:ext cx="5497195" cy="520065"/>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16000"/>
              </a:lnSpc>
              <a:tabLst/>
            </a:pPr>
            <a:endParaRPr sz="500" dirty="0">
              <a:latin typeface="Arial"/>
              <a:ea typeface="Arial"/>
              <a:cs typeface="Arial"/>
            </a:endParaRPr>
          </a:p>
          <a:p>
            <a:pPr marL="1329689" algn="l" rtl="0" eaLnBrk="0">
              <a:lnSpc>
                <a:spcPct val="88000"/>
              </a:lnSpc>
              <a:spcBef>
                <a:spcPts val="6"/>
              </a:spcBef>
              <a:tabLst/>
            </a:pPr>
            <a:r>
              <a:rPr sz="2700" kern="0" spc="90" dirty="0">
                <a:solidFill>
                  <a:srgbClr val="FFFFFF">
                    <a:alpha val="100000"/>
                  </a:srgbClr>
                </a:solidFill>
                <a:latin typeface="Microsoft YaHei"/>
                <a:ea typeface="Microsoft YaHei"/>
                <a:cs typeface="Microsoft YaHei"/>
              </a:rPr>
              <a:t>舰船火灾态势预测</a:t>
            </a:r>
            <a:endParaRPr sz="2700" dirty="0">
              <a:latin typeface="Microsoft YaHei"/>
              <a:ea typeface="Microsoft YaHei"/>
              <a:cs typeface="Microsoft YaHei"/>
            </a:endParaRPr>
          </a:p>
        </p:txBody>
      </p:sp>
      <p:sp>
        <p:nvSpPr>
          <p:cNvPr id="96" name="textbox 96"/>
          <p:cNvSpPr/>
          <p:nvPr/>
        </p:nvSpPr>
        <p:spPr>
          <a:xfrm>
            <a:off x="4946700" y="210794"/>
            <a:ext cx="2305050" cy="492125"/>
          </a:xfrm>
          <a:prstGeom prst="rect">
            <a:avLst/>
          </a:prstGeom>
          <a:noFill/>
          <a:ln w="0" cap="flat">
            <a:noFill/>
            <a:prstDash val="solid"/>
            <a:miter lim="0"/>
          </a:ln>
        </p:spPr>
        <p:txBody>
          <a:bodyPr vert="horz" wrap="square" lIns="0" tIns="0" rIns="0" bIns="0"/>
          <a:lstStyle/>
          <a:p>
            <a:pPr algn="l" rtl="0" eaLnBrk="0">
              <a:lnSpc>
                <a:spcPct val="98238"/>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1000188" y="2141308"/>
            <a:ext cx="4962016" cy="2106637"/>
          </a:xfrm>
          <a:prstGeom prst="rect">
            <a:avLst/>
          </a:prstGeom>
        </p:spPr>
      </p:pic>
      <p:pic>
        <p:nvPicPr>
          <p:cNvPr id="4" name="picture 4"/>
          <p:cNvPicPr>
            <a:picLocks noChangeAspect="1"/>
          </p:cNvPicPr>
          <p:nvPr/>
        </p:nvPicPr>
        <p:blipFill>
          <a:blip r:embed="rId3"/>
          <a:stretch>
            <a:fillRect/>
          </a:stretch>
        </p:blipFill>
        <p:spPr>
          <a:xfrm rot="21600000">
            <a:off x="517356" y="1647281"/>
            <a:ext cx="11623864" cy="5210718"/>
          </a:xfrm>
          <a:prstGeom prst="rect">
            <a:avLst/>
          </a:prstGeom>
        </p:spPr>
      </p:pic>
      <p:pic>
        <p:nvPicPr>
          <p:cNvPr id="6" name="picture 6"/>
          <p:cNvPicPr>
            <a:picLocks noChangeAspect="1"/>
          </p:cNvPicPr>
          <p:nvPr/>
        </p:nvPicPr>
        <p:blipFill>
          <a:blip r:embed="rId4"/>
          <a:stretch>
            <a:fillRect/>
          </a:stretch>
        </p:blipFill>
        <p:spPr>
          <a:xfrm rot="21600000">
            <a:off x="6178295" y="1671827"/>
            <a:ext cx="5856732" cy="2631947"/>
          </a:xfrm>
          <a:prstGeom prst="rect">
            <a:avLst/>
          </a:prstGeom>
        </p:spPr>
      </p:pic>
      <p:graphicFrame>
        <p:nvGraphicFramePr>
          <p:cNvPr id="8" name="table 8"/>
          <p:cNvGraphicFramePr>
            <a:graphicFrameLocks noGrp="1"/>
          </p:cNvGraphicFramePr>
          <p:nvPr/>
        </p:nvGraphicFramePr>
        <p:xfrm>
          <a:off x="6152895" y="1646428"/>
          <a:ext cx="5907405" cy="2682239"/>
        </p:xfrm>
        <a:graphic>
          <a:graphicData uri="http://schemas.openxmlformats.org/drawingml/2006/table">
            <a:tbl>
              <a:tblPr/>
              <a:tblGrid>
                <a:gridCol w="5907405"/>
              </a:tblGrid>
              <a:tr h="2675889">
                <a:tc>
                  <a:txBody>
                    <a:bodyPr/>
                    <a:lstStyle/>
                    <a:p>
                      <a:pPr algn="l" rtl="0" eaLnBrk="0">
                        <a:lnSpc>
                          <a:spcPct val="164000"/>
                        </a:lnSpc>
                        <a:tabLst/>
                      </a:pPr>
                      <a:endParaRPr sz="1000" dirty="0">
                        <a:latin typeface="Arial"/>
                        <a:ea typeface="Arial"/>
                        <a:cs typeface="Arial"/>
                      </a:endParaRPr>
                    </a:p>
                    <a:p>
                      <a:pPr marL="127000" algn="l" rtl="0" eaLnBrk="0">
                        <a:lnSpc>
                          <a:spcPct val="74000"/>
                        </a:lnSpc>
                        <a:spcBef>
                          <a:spcPts val="4"/>
                        </a:spcBef>
                        <a:tabLst/>
                      </a:pPr>
                      <a:r>
                        <a:rPr sz="1400" b="1" kern="0" spc="-50" dirty="0">
                          <a:solidFill>
                            <a:srgbClr val="000000">
                              <a:alpha val="100000"/>
                            </a:srgbClr>
                          </a:solidFill>
                          <a:latin typeface="DengXian"/>
                          <a:ea typeface="DengXian"/>
                          <a:cs typeface="DengXian"/>
                        </a:rPr>
                        <a:t>万元</a:t>
                      </a:r>
                      <a:endParaRPr sz="1400" dirty="0">
                        <a:latin typeface="DengXian"/>
                        <a:ea typeface="DengXian"/>
                        <a:cs typeface="DengXian"/>
                      </a:endParaRPr>
                    </a:p>
                  </a:txBody>
                  <a:tcPr marL="0" marR="0" marT="0" marB="0" vert="horz">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r>
            </a:tbl>
          </a:graphicData>
        </a:graphic>
      </p:graphicFrame>
      <p:sp>
        <p:nvSpPr>
          <p:cNvPr id="10" name="textbox 10"/>
          <p:cNvSpPr/>
          <p:nvPr/>
        </p:nvSpPr>
        <p:spPr>
          <a:xfrm>
            <a:off x="292338" y="711771"/>
            <a:ext cx="9285605" cy="92963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4462145"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algn="l" rtl="0" eaLnBrk="0">
              <a:lnSpc>
                <a:spcPct val="105000"/>
              </a:lnSpc>
              <a:tabLst/>
            </a:pPr>
            <a:endParaRPr sz="800" dirty="0">
              <a:latin typeface="Arial"/>
              <a:ea typeface="Arial"/>
              <a:cs typeface="Arial"/>
            </a:endParaRPr>
          </a:p>
          <a:p>
            <a:pPr algn="l" rtl="0" eaLnBrk="0">
              <a:lnSpc>
                <a:spcPct val="6724"/>
              </a:lnSpc>
              <a:tabLst/>
            </a:pPr>
            <a:endParaRPr sz="100" dirty="0">
              <a:latin typeface="Arial"/>
              <a:ea typeface="Arial"/>
              <a:cs typeface="Arial"/>
            </a:endParaRPr>
          </a:p>
          <a:p>
            <a:pPr marL="12700" algn="l" rtl="0" eaLnBrk="0">
              <a:lnSpc>
                <a:spcPct val="97000"/>
              </a:lnSpc>
              <a:tabLst>
                <a:tab pos="210184" algn="l"/>
              </a:tabLst>
            </a:pPr>
            <a:r>
              <a:rPr sz="2100" b="1" kern="0" spc="0" dirty="0">
                <a:solidFill>
                  <a:srgbClr val="000000">
                    <a:alpha val="100000"/>
                  </a:srgbClr>
                </a:solidFill>
                <a:latin typeface="Microsoft YaHei"/>
                <a:ea typeface="Microsoft YaHei"/>
                <a:cs typeface="Microsoft YaHei"/>
              </a:rPr>
              <a:t>	</a:t>
            </a:r>
            <a:r>
              <a:rPr sz="2100" b="1" kern="0" spc="370" dirty="0">
                <a:solidFill>
                  <a:srgbClr val="000000">
                    <a:alpha val="100000"/>
                  </a:srgbClr>
                </a:solidFill>
                <a:latin typeface="Microsoft YaHei"/>
                <a:ea typeface="Microsoft YaHei"/>
                <a:cs typeface="Microsoft YaHei"/>
              </a:rPr>
              <a:t> </a:t>
            </a:r>
            <a:r>
              <a:rPr sz="2100" b="1" kern="0" spc="80" dirty="0">
                <a:solidFill>
                  <a:srgbClr val="000000">
                    <a:alpha val="100000"/>
                  </a:srgbClr>
                </a:solidFill>
                <a:latin typeface="Microsoft YaHei"/>
                <a:ea typeface="Microsoft YaHei"/>
                <a:cs typeface="Microsoft YaHei"/>
              </a:rPr>
              <a:t>运输船舶</a:t>
            </a:r>
            <a:r>
              <a:rPr sz="2100" b="1" kern="0" spc="80" dirty="0">
                <a:solidFill>
                  <a:srgbClr val="C00000">
                    <a:alpha val="100000"/>
                  </a:srgbClr>
                </a:solidFill>
                <a:latin typeface="Microsoft YaHei"/>
                <a:ea typeface="Microsoft YaHei"/>
                <a:cs typeface="Microsoft YaHei"/>
              </a:rPr>
              <a:t>交通事故数量不断攀升</a:t>
            </a:r>
            <a:r>
              <a:rPr sz="2100" b="1" kern="0" spc="-330" dirty="0">
                <a:solidFill>
                  <a:srgbClr val="C00000">
                    <a:alpha val="100000"/>
                  </a:srgbClr>
                </a:solidFill>
                <a:latin typeface="Microsoft YaHei"/>
                <a:ea typeface="Microsoft YaHei"/>
                <a:cs typeface="Microsoft YaHei"/>
              </a:rPr>
              <a:t> </a:t>
            </a:r>
            <a:r>
              <a:rPr sz="2100" b="1" kern="0" spc="80" dirty="0">
                <a:solidFill>
                  <a:srgbClr val="000000">
                    <a:alpha val="100000"/>
                  </a:srgbClr>
                </a:solidFill>
                <a:latin typeface="Microsoft YaHei"/>
                <a:ea typeface="Microsoft YaHei"/>
                <a:cs typeface="Microsoft YaHei"/>
              </a:rPr>
              <a:t>，</a:t>
            </a:r>
            <a:r>
              <a:rPr sz="2100" b="1" kern="0" spc="80" dirty="0">
                <a:solidFill>
                  <a:srgbClr val="C00000">
                    <a:alpha val="100000"/>
                  </a:srgbClr>
                </a:solidFill>
                <a:latin typeface="Microsoft YaHei"/>
                <a:ea typeface="Microsoft YaHei"/>
                <a:cs typeface="Microsoft YaHei"/>
              </a:rPr>
              <a:t>经济损失巨大</a:t>
            </a:r>
            <a:r>
              <a:rPr sz="2100" b="1" kern="0" spc="-340" dirty="0">
                <a:solidFill>
                  <a:srgbClr val="C00000">
                    <a:alpha val="100000"/>
                  </a:srgbClr>
                </a:solidFill>
                <a:latin typeface="Microsoft YaHei"/>
                <a:ea typeface="Microsoft YaHei"/>
                <a:cs typeface="Microsoft YaHei"/>
              </a:rPr>
              <a:t> </a:t>
            </a:r>
            <a:r>
              <a:rPr sz="2100" b="1" kern="0" spc="80" dirty="0">
                <a:solidFill>
                  <a:srgbClr val="000000">
                    <a:alpha val="100000"/>
                  </a:srgbClr>
                </a:solidFill>
                <a:latin typeface="Microsoft YaHei"/>
                <a:ea typeface="Microsoft YaHei"/>
                <a:cs typeface="Microsoft YaHei"/>
              </a:rPr>
              <a:t>，</a:t>
            </a:r>
            <a:r>
              <a:rPr sz="2100" b="1" kern="0" spc="80" dirty="0">
                <a:solidFill>
                  <a:srgbClr val="C00000">
                    <a:alpha val="100000"/>
                  </a:srgbClr>
                </a:solidFill>
                <a:latin typeface="Microsoft YaHei"/>
                <a:ea typeface="Microsoft YaHei"/>
                <a:cs typeface="Microsoft YaHei"/>
              </a:rPr>
              <a:t>提升航运安全刻不容缓</a:t>
            </a:r>
            <a:endParaRPr sz="2100" dirty="0">
              <a:latin typeface="Microsoft YaHei"/>
              <a:ea typeface="Microsoft YaHei"/>
              <a:cs typeface="Microsoft YaHei"/>
            </a:endParaRPr>
          </a:p>
        </p:txBody>
      </p:sp>
      <p:pic>
        <p:nvPicPr>
          <p:cNvPr id="12" name="picture 12"/>
          <p:cNvPicPr>
            <a:picLocks noChangeAspect="1"/>
          </p:cNvPicPr>
          <p:nvPr/>
        </p:nvPicPr>
        <p:blipFill>
          <a:blip r:embed="rId5"/>
          <a:stretch>
            <a:fillRect/>
          </a:stretch>
        </p:blipFill>
        <p:spPr>
          <a:xfrm rot="21600000">
            <a:off x="305038" y="1319515"/>
            <a:ext cx="197923" cy="308871"/>
          </a:xfrm>
          <a:prstGeom prst="rect">
            <a:avLst/>
          </a:prstGeom>
        </p:spPr>
      </p:pic>
      <p:sp>
        <p:nvSpPr>
          <p:cNvPr id="14" name="textbox 14"/>
          <p:cNvSpPr/>
          <p:nvPr/>
        </p:nvSpPr>
        <p:spPr>
          <a:xfrm>
            <a:off x="4234040" y="5380596"/>
            <a:ext cx="7723505" cy="1097280"/>
          </a:xfrm>
          <a:prstGeom prst="rect">
            <a:avLst/>
          </a:prstGeom>
          <a:noFill/>
          <a:ln w="0" cap="flat">
            <a:noFill/>
            <a:prstDash val="solid"/>
            <a:miter lim="0"/>
          </a:ln>
        </p:spPr>
        <p:txBody>
          <a:bodyPr vert="horz" wrap="square" lIns="0" tIns="0" rIns="0" bIns="0"/>
          <a:lstStyle/>
          <a:p>
            <a:pPr algn="l" rtl="0" eaLnBrk="0">
              <a:lnSpc>
                <a:spcPct val="78483"/>
              </a:lnSpc>
              <a:tabLst/>
            </a:pPr>
            <a:endParaRPr sz="100" dirty="0">
              <a:latin typeface="Arial"/>
              <a:ea typeface="Arial"/>
              <a:cs typeface="Arial"/>
            </a:endParaRPr>
          </a:p>
          <a:p>
            <a:pPr marL="15240" algn="l" rtl="0" eaLnBrk="0">
              <a:lnSpc>
                <a:spcPct val="88000"/>
              </a:lnSpc>
              <a:tabLst/>
            </a:pPr>
            <a:r>
              <a:rPr sz="1700" b="1" kern="0" spc="70" dirty="0">
                <a:solidFill>
                  <a:srgbClr val="000000">
                    <a:alpha val="100000"/>
                  </a:srgbClr>
                </a:solidFill>
                <a:latin typeface="Times New Roman"/>
                <a:ea typeface="Times New Roman"/>
                <a:cs typeface="Times New Roman"/>
              </a:rPr>
              <a:t>2021</a:t>
            </a:r>
            <a:r>
              <a:rPr sz="1700" b="1" kern="0" spc="70" dirty="0">
                <a:solidFill>
                  <a:srgbClr val="000000">
                    <a:alpha val="100000"/>
                  </a:srgbClr>
                </a:solidFill>
                <a:latin typeface="Microsoft YaHei"/>
                <a:ea typeface="Microsoft YaHei"/>
                <a:cs typeface="Microsoft YaHei"/>
              </a:rPr>
              <a:t>年</a:t>
            </a:r>
            <a:r>
              <a:rPr sz="1700" b="1" kern="0" spc="70" dirty="0">
                <a:solidFill>
                  <a:srgbClr val="000000">
                    <a:alpha val="100000"/>
                  </a:srgbClr>
                </a:solidFill>
                <a:latin typeface="Times New Roman"/>
                <a:ea typeface="Times New Roman"/>
                <a:cs typeface="Times New Roman"/>
              </a:rPr>
              <a:t>3</a:t>
            </a:r>
            <a:r>
              <a:rPr sz="1700" b="1" kern="0" spc="70" dirty="0">
                <a:solidFill>
                  <a:srgbClr val="000000">
                    <a:alpha val="100000"/>
                  </a:srgbClr>
                </a:solidFill>
                <a:latin typeface="Microsoft YaHei"/>
                <a:ea typeface="Microsoft YaHei"/>
                <a:cs typeface="Microsoft YaHei"/>
              </a:rPr>
              <a:t>月</a:t>
            </a:r>
            <a:r>
              <a:rPr sz="1700" b="1" kern="0" spc="-270" dirty="0">
                <a:solidFill>
                  <a:srgbClr val="000000">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a:t>
            </a:r>
            <a:r>
              <a:rPr sz="1700" b="1" kern="0" spc="-300" dirty="0">
                <a:solidFill>
                  <a:srgbClr val="000000">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由于驾驶人员疏忽</a:t>
            </a:r>
            <a:r>
              <a:rPr sz="1700" b="1" kern="0" spc="-270" dirty="0">
                <a:solidFill>
                  <a:srgbClr val="000000">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a:t>
            </a:r>
            <a:r>
              <a:rPr sz="1700" b="1" kern="0" spc="-330" dirty="0">
                <a:solidFill>
                  <a:srgbClr val="000000">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“长赐号”货</a:t>
            </a:r>
            <a:r>
              <a:rPr sz="1700" b="1" kern="0" spc="60" dirty="0">
                <a:solidFill>
                  <a:srgbClr val="000000">
                    <a:alpha val="100000"/>
                  </a:srgbClr>
                </a:solidFill>
                <a:latin typeface="Microsoft YaHei"/>
                <a:ea typeface="Microsoft YaHei"/>
                <a:cs typeface="Microsoft YaHei"/>
              </a:rPr>
              <a:t>轮在苏伊士运河搁浅</a:t>
            </a:r>
            <a:r>
              <a:rPr sz="1700" b="1" kern="0" spc="-270" dirty="0">
                <a:solidFill>
                  <a:srgbClr val="000000">
                    <a:alpha val="100000"/>
                  </a:srgbClr>
                </a:solidFill>
                <a:latin typeface="Microsoft YaHei"/>
                <a:ea typeface="Microsoft YaHei"/>
                <a:cs typeface="Microsoft YaHei"/>
              </a:rPr>
              <a:t> </a:t>
            </a:r>
            <a:r>
              <a:rPr sz="1700" b="1" kern="0" spc="60" dirty="0">
                <a:solidFill>
                  <a:srgbClr val="000000">
                    <a:alpha val="100000"/>
                  </a:srgbClr>
                </a:solidFill>
                <a:latin typeface="Microsoft YaHei"/>
                <a:ea typeface="Microsoft YaHei"/>
                <a:cs typeface="Microsoft YaHei"/>
              </a:rPr>
              <a:t>，</a:t>
            </a:r>
            <a:r>
              <a:rPr sz="1700" b="1" kern="0" spc="-400" dirty="0">
                <a:solidFill>
                  <a:srgbClr val="000000">
                    <a:alpha val="100000"/>
                  </a:srgbClr>
                </a:solidFill>
                <a:latin typeface="Microsoft YaHei"/>
                <a:ea typeface="Microsoft YaHei"/>
                <a:cs typeface="Microsoft YaHei"/>
              </a:rPr>
              <a:t> </a:t>
            </a:r>
            <a:r>
              <a:rPr sz="1700" b="1" kern="0" spc="60" dirty="0">
                <a:solidFill>
                  <a:srgbClr val="000000">
                    <a:alpha val="100000"/>
                  </a:srgbClr>
                </a:solidFill>
                <a:latin typeface="Microsoft YaHei"/>
                <a:ea typeface="Microsoft YaHei"/>
                <a:cs typeface="Microsoft YaHei"/>
              </a:rPr>
              <a:t>船头顶</a:t>
            </a:r>
            <a:endParaRPr sz="1700" dirty="0">
              <a:latin typeface="Microsoft YaHei"/>
              <a:ea typeface="Microsoft YaHei"/>
              <a:cs typeface="Microsoft YaHei"/>
            </a:endParaRPr>
          </a:p>
          <a:p>
            <a:pPr marL="12700" indent="-635" algn="l" rtl="0" eaLnBrk="0">
              <a:lnSpc>
                <a:spcPct val="162000"/>
              </a:lnSpc>
              <a:spcBef>
                <a:spcPts val="40"/>
              </a:spcBef>
              <a:tabLst/>
            </a:pPr>
            <a:r>
              <a:rPr sz="1700" b="1" kern="0" spc="80" dirty="0">
                <a:solidFill>
                  <a:srgbClr val="000000">
                    <a:alpha val="100000"/>
                  </a:srgbClr>
                </a:solidFill>
                <a:latin typeface="Microsoft YaHei"/>
                <a:ea typeface="Microsoft YaHei"/>
                <a:cs typeface="Microsoft YaHei"/>
              </a:rPr>
              <a:t>住运河东岸</a:t>
            </a:r>
            <a:r>
              <a:rPr sz="1700" b="1" kern="0" spc="-27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a:t>
            </a:r>
            <a:r>
              <a:rPr sz="1700" b="1" kern="0" spc="-41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船尾抵在西岸</a:t>
            </a:r>
            <a:r>
              <a:rPr sz="1700" b="1" kern="0" spc="-27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a:t>
            </a:r>
            <a:r>
              <a:rPr sz="1700" b="1" kern="0" spc="-40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造</a:t>
            </a:r>
            <a:r>
              <a:rPr sz="1700" b="1" kern="0" spc="70" dirty="0">
                <a:solidFill>
                  <a:srgbClr val="000000">
                    <a:alpha val="100000"/>
                  </a:srgbClr>
                </a:solidFill>
                <a:latin typeface="Microsoft YaHei"/>
                <a:ea typeface="Microsoft YaHei"/>
                <a:cs typeface="Microsoft YaHei"/>
              </a:rPr>
              <a:t>成</a:t>
            </a:r>
            <a:r>
              <a:rPr sz="1700" b="1" kern="0" spc="70" dirty="0">
                <a:solidFill>
                  <a:srgbClr val="0000FF">
                    <a:alpha val="100000"/>
                  </a:srgbClr>
                </a:solidFill>
                <a:latin typeface="Microsoft YaHei"/>
                <a:ea typeface="Microsoft YaHei"/>
                <a:cs typeface="Microsoft YaHei"/>
              </a:rPr>
              <a:t>河道堵塞近一周</a:t>
            </a:r>
            <a:r>
              <a:rPr sz="1700" b="1" kern="0" spc="-260" dirty="0">
                <a:solidFill>
                  <a:srgbClr val="0000FF">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a:t>
            </a:r>
            <a:r>
              <a:rPr sz="1700" b="1" kern="0" spc="-410" dirty="0">
                <a:solidFill>
                  <a:srgbClr val="000000">
                    <a:alpha val="100000"/>
                  </a:srgbClr>
                </a:solidFill>
                <a:latin typeface="Microsoft YaHei"/>
                <a:ea typeface="Microsoft YaHei"/>
                <a:cs typeface="Microsoft YaHei"/>
              </a:rPr>
              <a:t> </a:t>
            </a:r>
            <a:r>
              <a:rPr sz="1700" b="1" kern="0" spc="70" dirty="0">
                <a:solidFill>
                  <a:srgbClr val="000000">
                    <a:alpha val="100000"/>
                  </a:srgbClr>
                </a:solidFill>
                <a:latin typeface="Microsoft YaHei"/>
                <a:ea typeface="Microsoft YaHei"/>
                <a:cs typeface="Microsoft YaHei"/>
              </a:rPr>
              <a:t>共有</a:t>
            </a:r>
            <a:r>
              <a:rPr sz="1700" b="1" kern="0" spc="70" dirty="0">
                <a:solidFill>
                  <a:srgbClr val="0000FF">
                    <a:alpha val="100000"/>
                  </a:srgbClr>
                </a:solidFill>
                <a:latin typeface="Times New Roman"/>
                <a:ea typeface="Times New Roman"/>
                <a:cs typeface="Times New Roman"/>
              </a:rPr>
              <a:t>450</a:t>
            </a:r>
            <a:r>
              <a:rPr sz="1700" b="1" kern="0" spc="70" dirty="0">
                <a:solidFill>
                  <a:srgbClr val="0000FF">
                    <a:alpha val="100000"/>
                  </a:srgbClr>
                </a:solidFill>
                <a:latin typeface="Microsoft YaHei"/>
                <a:ea typeface="Microsoft YaHei"/>
                <a:cs typeface="Microsoft YaHei"/>
              </a:rPr>
              <a:t>艘船只被堵</a:t>
            </a:r>
            <a:r>
              <a:rPr sz="1700" b="1" kern="0" spc="70" dirty="0">
                <a:solidFill>
                  <a:srgbClr val="000000">
                    <a:alpha val="100000"/>
                  </a:srgbClr>
                </a:solidFill>
                <a:latin typeface="Microsoft YaHei"/>
                <a:ea typeface="Microsoft YaHei"/>
                <a:cs typeface="Microsoft YaHei"/>
              </a:rPr>
              <a:t>在苏</a:t>
            </a:r>
            <a:r>
              <a:rPr sz="1700" b="1" kern="0" spc="80" dirty="0">
                <a:solidFill>
                  <a:srgbClr val="000000">
                    <a:alpha val="100000"/>
                  </a:srgbClr>
                </a:solidFill>
                <a:latin typeface="Microsoft YaHei"/>
                <a:ea typeface="Microsoft YaHei"/>
                <a:cs typeface="Microsoft YaHei"/>
              </a:rPr>
              <a:t>伊士运河</a:t>
            </a:r>
            <a:r>
              <a:rPr sz="1700" b="1" kern="0" spc="-28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a:t>
            </a:r>
            <a:r>
              <a:rPr sz="1700" b="1" kern="0" spc="-41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造成重大影响</a:t>
            </a:r>
            <a:r>
              <a:rPr sz="1700" b="1" kern="0" spc="-270" dirty="0">
                <a:solidFill>
                  <a:srgbClr val="000000">
                    <a:alpha val="100000"/>
                  </a:srgbClr>
                </a:solidFill>
                <a:latin typeface="Microsoft YaHei"/>
                <a:ea typeface="Microsoft YaHei"/>
                <a:cs typeface="Microsoft YaHei"/>
              </a:rPr>
              <a:t> </a:t>
            </a:r>
            <a:r>
              <a:rPr sz="1700" b="1" kern="0" spc="80" dirty="0">
                <a:solidFill>
                  <a:srgbClr val="000000">
                    <a:alpha val="100000"/>
                  </a:srgbClr>
                </a:solidFill>
                <a:latin typeface="Microsoft YaHei"/>
                <a:ea typeface="Microsoft YaHei"/>
                <a:cs typeface="Microsoft YaHei"/>
              </a:rPr>
              <a:t>，</a:t>
            </a:r>
            <a:r>
              <a:rPr sz="1700" b="1" kern="0" spc="70" dirty="0">
                <a:solidFill>
                  <a:srgbClr val="000000">
                    <a:alpha val="100000"/>
                  </a:srgbClr>
                </a:solidFill>
                <a:latin typeface="Microsoft YaHei"/>
                <a:ea typeface="Microsoft YaHei"/>
                <a:cs typeface="Microsoft YaHei"/>
              </a:rPr>
              <a:t>是苏伊士运河</a:t>
            </a:r>
            <a:r>
              <a:rPr sz="1700" b="1" kern="0" spc="70" dirty="0">
                <a:solidFill>
                  <a:srgbClr val="0000FF">
                    <a:alpha val="100000"/>
                  </a:srgbClr>
                </a:solidFill>
                <a:latin typeface="Times New Roman"/>
                <a:ea typeface="Times New Roman"/>
                <a:cs typeface="Times New Roman"/>
              </a:rPr>
              <a:t>150</a:t>
            </a:r>
            <a:r>
              <a:rPr sz="1700" b="1" kern="0" spc="70" dirty="0">
                <a:solidFill>
                  <a:srgbClr val="0000FF">
                    <a:alpha val="100000"/>
                  </a:srgbClr>
                </a:solidFill>
                <a:latin typeface="Microsoft YaHei"/>
                <a:ea typeface="Microsoft YaHei"/>
                <a:cs typeface="Microsoft YaHei"/>
              </a:rPr>
              <a:t>多年历史上最严重的事故</a:t>
            </a:r>
            <a:r>
              <a:rPr sz="1700" b="1" kern="0" spc="70" dirty="0">
                <a:solidFill>
                  <a:srgbClr val="000000">
                    <a:alpha val="100000"/>
                  </a:srgbClr>
                </a:solidFill>
                <a:latin typeface="Microsoft YaHei"/>
                <a:ea typeface="Microsoft YaHei"/>
                <a:cs typeface="Microsoft YaHei"/>
              </a:rPr>
              <a:t>。</a:t>
            </a:r>
            <a:endParaRPr sz="1700" dirty="0">
              <a:latin typeface="Microsoft YaHei"/>
              <a:ea typeface="Microsoft YaHei"/>
              <a:cs typeface="Microsoft YaHei"/>
            </a:endParaRPr>
          </a:p>
        </p:txBody>
      </p:sp>
      <p:sp>
        <p:nvSpPr>
          <p:cNvPr id="16" name="textbox 16"/>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6204" algn="l" rtl="0" eaLnBrk="0">
              <a:lnSpc>
                <a:spcPts val="3608"/>
              </a:lnSpc>
              <a:spcBef>
                <a:spcPts val="1"/>
              </a:spcBef>
              <a:tabLst/>
            </a:pPr>
            <a:r>
              <a:rPr sz="2700" kern="0" spc="70" dirty="0">
                <a:solidFill>
                  <a:srgbClr val="FFFFFF">
                    <a:alpha val="100000"/>
                  </a:srgbClr>
                </a:solidFill>
                <a:latin typeface="Microsoft YaHei"/>
                <a:ea typeface="Microsoft YaHei"/>
                <a:cs typeface="Microsoft YaHei"/>
              </a:rPr>
              <a:t>3.4 船舶智能运动</a:t>
            </a:r>
            <a:r>
              <a:rPr sz="2700" kern="0" spc="60" dirty="0">
                <a:solidFill>
                  <a:srgbClr val="FFFFFF">
                    <a:alpha val="100000"/>
                  </a:srgbClr>
                </a:solidFill>
                <a:latin typeface="Microsoft YaHei"/>
                <a:ea typeface="Microsoft YaHei"/>
                <a:cs typeface="Microsoft YaHei"/>
              </a:rPr>
              <a:t>控制系统</a:t>
            </a:r>
            <a:endParaRPr sz="2700" dirty="0">
              <a:latin typeface="Microsoft YaHei"/>
              <a:ea typeface="Microsoft YaHei"/>
              <a:cs typeface="Microsoft YaHei"/>
            </a:endParaRPr>
          </a:p>
        </p:txBody>
      </p:sp>
      <p:pic>
        <p:nvPicPr>
          <p:cNvPr id="18" name="picture 18"/>
          <p:cNvPicPr>
            <a:picLocks noChangeAspect="1"/>
          </p:cNvPicPr>
          <p:nvPr/>
        </p:nvPicPr>
        <p:blipFill>
          <a:blip r:embed="rId6"/>
          <a:stretch>
            <a:fillRect/>
          </a:stretch>
        </p:blipFill>
        <p:spPr>
          <a:xfrm rot="21600000">
            <a:off x="562356" y="4913376"/>
            <a:ext cx="3393948" cy="1909572"/>
          </a:xfrm>
          <a:prstGeom prst="rect">
            <a:avLst/>
          </a:prstGeom>
        </p:spPr>
      </p:pic>
      <p:sp>
        <p:nvSpPr>
          <p:cNvPr id="20" name="textbox 20"/>
          <p:cNvSpPr/>
          <p:nvPr/>
        </p:nvSpPr>
        <p:spPr>
          <a:xfrm>
            <a:off x="1742988" y="1712107"/>
            <a:ext cx="3776345" cy="1327785"/>
          </a:xfrm>
          <a:prstGeom prst="rect">
            <a:avLst/>
          </a:prstGeom>
          <a:noFill/>
          <a:ln w="0" cap="flat">
            <a:noFill/>
            <a:prstDash val="solid"/>
            <a:miter lim="0"/>
          </a:ln>
        </p:spPr>
        <p:txBody>
          <a:bodyPr vert="horz" wrap="square" lIns="0" tIns="0" rIns="0" bIns="0"/>
          <a:lstStyle/>
          <a:p>
            <a:pPr algn="l" rtl="0" eaLnBrk="0">
              <a:lnSpc>
                <a:spcPct val="79980"/>
              </a:lnSpc>
              <a:tabLst/>
            </a:pPr>
            <a:endParaRPr sz="100" dirty="0">
              <a:latin typeface="Arial"/>
              <a:ea typeface="Arial"/>
              <a:cs typeface="Arial"/>
            </a:endParaRPr>
          </a:p>
          <a:p>
            <a:pPr marL="12700" algn="l" rtl="0" eaLnBrk="0">
              <a:lnSpc>
                <a:spcPct val="88000"/>
              </a:lnSpc>
              <a:tabLst/>
            </a:pPr>
            <a:r>
              <a:rPr sz="1600" b="1" kern="0" spc="60" dirty="0">
                <a:solidFill>
                  <a:srgbClr val="5AA6E4">
                    <a:alpha val="100000"/>
                  </a:srgbClr>
                </a:solidFill>
                <a:latin typeface="Times New Roman"/>
                <a:ea typeface="Times New Roman"/>
                <a:cs typeface="Times New Roman"/>
              </a:rPr>
              <a:t>2017-2022</a:t>
            </a:r>
            <a:r>
              <a:rPr sz="1600" b="1" kern="0" spc="60" dirty="0">
                <a:solidFill>
                  <a:srgbClr val="5AA6E4">
                    <a:alpha val="100000"/>
                  </a:srgbClr>
                </a:solidFill>
                <a:latin typeface="Microsoft YaHei"/>
                <a:ea typeface="Microsoft YaHei"/>
                <a:cs typeface="Microsoft YaHei"/>
              </a:rPr>
              <a:t>年运输船舶交通事</a:t>
            </a:r>
            <a:r>
              <a:rPr sz="1600" b="1" kern="0" spc="50" dirty="0">
                <a:solidFill>
                  <a:srgbClr val="5AA6E4">
                    <a:alpha val="100000"/>
                  </a:srgbClr>
                </a:solidFill>
                <a:latin typeface="Microsoft YaHei"/>
                <a:ea typeface="Microsoft YaHei"/>
                <a:cs typeface="Microsoft YaHei"/>
              </a:rPr>
              <a:t>故统计</a:t>
            </a:r>
            <a:endParaRPr sz="1600" dirty="0">
              <a:latin typeface="Microsoft YaHei"/>
              <a:ea typeface="Microsoft YaHei"/>
              <a:cs typeface="Microsoft YaHei"/>
            </a:endParaRPr>
          </a:p>
          <a:p>
            <a:pPr marL="542290" algn="l" rtl="0" eaLnBrk="0">
              <a:lnSpc>
                <a:spcPct val="70000"/>
              </a:lnSpc>
              <a:spcBef>
                <a:spcPts val="431"/>
              </a:spcBef>
              <a:tabLst/>
            </a:pPr>
            <a:r>
              <a:rPr sz="1400" kern="0" spc="-20" dirty="0">
                <a:solidFill>
                  <a:srgbClr val="404040">
                    <a:alpha val="100000"/>
                  </a:srgbClr>
                </a:solidFill>
                <a:latin typeface="Times New Roman"/>
                <a:ea typeface="Times New Roman"/>
                <a:cs typeface="Times New Roman"/>
              </a:rPr>
              <a:t>237</a:t>
            </a:r>
            <a:endParaRPr sz="1400" dirty="0">
              <a:latin typeface="Times New Roman"/>
              <a:ea typeface="Times New Roman"/>
              <a:cs typeface="Times New Roman"/>
            </a:endParaRPr>
          </a:p>
          <a:p>
            <a:pPr marL="2209800" algn="l" rtl="0" eaLnBrk="0">
              <a:lnSpc>
                <a:spcPts val="1039"/>
              </a:lnSpc>
              <a:spcBef>
                <a:spcPts val="957"/>
              </a:spcBef>
              <a:tabLst/>
            </a:pPr>
            <a:r>
              <a:rPr sz="1400" kern="0" spc="-60" dirty="0">
                <a:solidFill>
                  <a:srgbClr val="404040">
                    <a:alpha val="100000"/>
                  </a:srgbClr>
                </a:solidFill>
                <a:latin typeface="Times New Roman"/>
                <a:ea typeface="Times New Roman"/>
                <a:cs typeface="Times New Roman"/>
              </a:rPr>
              <a:t>196</a:t>
            </a:r>
            <a:endParaRPr sz="1400" dirty="0">
              <a:latin typeface="Times New Roman"/>
              <a:ea typeface="Times New Roman"/>
              <a:cs typeface="Times New Roman"/>
            </a:endParaRPr>
          </a:p>
          <a:p>
            <a:pPr marL="215265" algn="l" rtl="0" eaLnBrk="0">
              <a:lnSpc>
                <a:spcPts val="1091"/>
              </a:lnSpc>
              <a:tabLst/>
            </a:pPr>
            <a:r>
              <a:rPr sz="1400" kern="0" spc="-60" dirty="0">
                <a:solidFill>
                  <a:srgbClr val="404040">
                    <a:alpha val="100000"/>
                  </a:srgbClr>
                </a:solidFill>
                <a:latin typeface="Times New Roman"/>
                <a:ea typeface="Times New Roman"/>
                <a:cs typeface="Times New Roman"/>
              </a:rPr>
              <a:t>176</a:t>
            </a:r>
            <a:endParaRPr sz="1400" dirty="0">
              <a:latin typeface="Times New Roman"/>
              <a:ea typeface="Times New Roman"/>
              <a:cs typeface="Times New Roman"/>
            </a:endParaRPr>
          </a:p>
          <a:p>
            <a:pPr marL="1384935" algn="l" rtl="0" eaLnBrk="0">
              <a:lnSpc>
                <a:spcPts val="983"/>
              </a:lnSpc>
              <a:tabLst/>
            </a:pPr>
            <a:r>
              <a:rPr sz="1400" kern="0" spc="-30" dirty="0">
                <a:solidFill>
                  <a:srgbClr val="404040">
                    <a:alpha val="100000"/>
                  </a:srgbClr>
                </a:solidFill>
                <a:latin typeface="Times New Roman"/>
                <a:ea typeface="Times New Roman"/>
                <a:cs typeface="Times New Roman"/>
              </a:rPr>
              <a:t>155                                  </a:t>
            </a:r>
            <a:r>
              <a:rPr sz="1400" kern="0" spc="-30" dirty="0">
                <a:solidFill>
                  <a:srgbClr val="404040">
                    <a:alpha val="100000"/>
                  </a:srgbClr>
                </a:solidFill>
                <a:latin typeface="Times New Roman"/>
                <a:ea typeface="Times New Roman"/>
                <a:cs typeface="Times New Roman"/>
              </a:rPr>
              <a:t>153</a:t>
            </a:r>
            <a:endParaRPr sz="1400" dirty="0">
              <a:latin typeface="Times New Roman"/>
              <a:ea typeface="Times New Roman"/>
              <a:cs typeface="Times New Roman"/>
            </a:endParaRPr>
          </a:p>
          <a:p>
            <a:pPr marL="1040764" algn="l" rtl="0" eaLnBrk="0">
              <a:lnSpc>
                <a:spcPct val="82000"/>
              </a:lnSpc>
              <a:spcBef>
                <a:spcPts val="15"/>
              </a:spcBef>
              <a:tabLst/>
            </a:pPr>
            <a:r>
              <a:rPr sz="2100" kern="0" spc="-50" baseline="4960" dirty="0">
                <a:solidFill>
                  <a:srgbClr val="404040">
                    <a:alpha val="100000"/>
                  </a:srgbClr>
                </a:solidFill>
                <a:latin typeface="Times New Roman"/>
                <a:ea typeface="Times New Roman"/>
                <a:cs typeface="Times New Roman"/>
              </a:rPr>
              <a:t>137</a:t>
            </a:r>
            <a:r>
              <a:rPr sz="1300" kern="0" spc="0" dirty="0">
                <a:solidFill>
                  <a:srgbClr val="404040">
                    <a:alpha val="100000"/>
                  </a:srgbClr>
                </a:solidFill>
                <a:latin typeface="Times New Roman"/>
                <a:ea typeface="Times New Roman"/>
                <a:cs typeface="Times New Roman"/>
              </a:rPr>
              <a:t>              </a:t>
            </a:r>
            <a:r>
              <a:rPr sz="2100" kern="0" spc="-50" baseline="7441" dirty="0">
                <a:solidFill>
                  <a:srgbClr val="404040">
                    <a:alpha val="100000"/>
                  </a:srgbClr>
                </a:solidFill>
                <a:latin typeface="Times New Roman"/>
                <a:ea typeface="Times New Roman"/>
                <a:cs typeface="Times New Roman"/>
              </a:rPr>
              <a:t>138</a:t>
            </a:r>
            <a:r>
              <a:rPr sz="1300" kern="0" spc="0" dirty="0">
                <a:solidFill>
                  <a:srgbClr val="404040">
                    <a:alpha val="100000"/>
                  </a:srgbClr>
                </a:solidFill>
                <a:latin typeface="Times New Roman"/>
                <a:ea typeface="Times New Roman"/>
                <a:cs typeface="Times New Roman"/>
              </a:rPr>
              <a:t>              </a:t>
            </a:r>
            <a:r>
              <a:rPr sz="2100" kern="0" spc="-50" baseline="-12401" dirty="0">
                <a:solidFill>
                  <a:srgbClr val="404040">
                    <a:alpha val="100000"/>
                  </a:srgbClr>
                </a:solidFill>
                <a:latin typeface="Times New Roman"/>
                <a:ea typeface="Times New Roman"/>
                <a:cs typeface="Times New Roman"/>
              </a:rPr>
              <a:t>129</a:t>
            </a:r>
            <a:endParaRPr sz="2100" baseline="-12401" dirty="0">
              <a:latin typeface="Times New Roman"/>
              <a:ea typeface="Times New Roman"/>
              <a:cs typeface="Times New Roman"/>
            </a:endParaRPr>
          </a:p>
          <a:p>
            <a:pPr algn="r" rtl="0" eaLnBrk="0">
              <a:lnSpc>
                <a:spcPct val="70000"/>
              </a:lnSpc>
              <a:spcBef>
                <a:spcPts val="356"/>
              </a:spcBef>
              <a:tabLst/>
            </a:pPr>
            <a:r>
              <a:rPr sz="1400" kern="0" spc="-60" dirty="0">
                <a:solidFill>
                  <a:srgbClr val="404040">
                    <a:alpha val="100000"/>
                  </a:srgbClr>
                </a:solidFill>
                <a:latin typeface="Times New Roman"/>
                <a:ea typeface="Times New Roman"/>
                <a:cs typeface="Times New Roman"/>
              </a:rPr>
              <a:t>103</a:t>
            </a:r>
            <a:endParaRPr sz="1400" dirty="0">
              <a:latin typeface="Times New Roman"/>
              <a:ea typeface="Times New Roman"/>
              <a:cs typeface="Times New Roman"/>
            </a:endParaRPr>
          </a:p>
        </p:txBody>
      </p:sp>
      <p:sp>
        <p:nvSpPr>
          <p:cNvPr id="22" name="textbox 22"/>
          <p:cNvSpPr/>
          <p:nvPr/>
        </p:nvSpPr>
        <p:spPr>
          <a:xfrm>
            <a:off x="707064" y="3391455"/>
            <a:ext cx="5028565" cy="913764"/>
          </a:xfrm>
          <a:prstGeom prst="rect">
            <a:avLst/>
          </a:prstGeom>
          <a:noFill/>
          <a:ln w="0" cap="flat">
            <a:noFill/>
            <a:prstDash val="solid"/>
            <a:miter lim="0"/>
          </a:ln>
        </p:spPr>
        <p:txBody>
          <a:bodyPr vert="horz" wrap="square" lIns="0" tIns="0" rIns="0" bIns="0"/>
          <a:lstStyle/>
          <a:p>
            <a:pPr algn="l" rtl="0" eaLnBrk="0">
              <a:lnSpc>
                <a:spcPct val="79175"/>
              </a:lnSpc>
              <a:tabLst/>
            </a:pPr>
            <a:endParaRPr sz="100" dirty="0">
              <a:latin typeface="Arial"/>
              <a:ea typeface="Arial"/>
              <a:cs typeface="Arial"/>
            </a:endParaRPr>
          </a:p>
          <a:p>
            <a:pPr marL="12700" algn="l" rtl="0" eaLnBrk="0">
              <a:lnSpc>
                <a:spcPct val="70000"/>
              </a:lnSpc>
              <a:tabLst/>
            </a:pPr>
            <a:r>
              <a:rPr sz="1400" kern="0" spc="-40" dirty="0">
                <a:solidFill>
                  <a:srgbClr val="404040">
                    <a:alpha val="100000"/>
                  </a:srgbClr>
                </a:solidFill>
                <a:latin typeface="Times New Roman"/>
                <a:ea typeface="Times New Roman"/>
                <a:cs typeface="Times New Roman"/>
              </a:rPr>
              <a:t>50</a:t>
            </a:r>
            <a:endParaRPr sz="1400" dirty="0">
              <a:latin typeface="Times New Roman"/>
              <a:ea typeface="Times New Roman"/>
              <a:cs typeface="Times New Roman"/>
            </a:endParaRPr>
          </a:p>
          <a:p>
            <a:pPr marL="99060" algn="l" rtl="0" eaLnBrk="0">
              <a:lnSpc>
                <a:spcPct val="70000"/>
              </a:lnSpc>
              <a:spcBef>
                <a:spcPts val="1424"/>
              </a:spcBef>
              <a:tabLst/>
            </a:pPr>
            <a:r>
              <a:rPr sz="1400" kern="0" spc="-10" dirty="0">
                <a:solidFill>
                  <a:srgbClr val="404040">
                    <a:alpha val="100000"/>
                  </a:srgbClr>
                </a:solidFill>
                <a:latin typeface="Times New Roman"/>
                <a:ea typeface="Times New Roman"/>
                <a:cs typeface="Times New Roman"/>
              </a:rPr>
              <a:t>0</a:t>
            </a:r>
            <a:endParaRPr sz="1400" dirty="0">
              <a:latin typeface="Times New Roman"/>
              <a:ea typeface="Times New Roman"/>
              <a:cs typeface="Times New Roman"/>
            </a:endParaRPr>
          </a:p>
          <a:p>
            <a:pPr algn="r" rtl="0" eaLnBrk="0">
              <a:lnSpc>
                <a:spcPct val="70000"/>
              </a:lnSpc>
              <a:spcBef>
                <a:spcPts val="575"/>
              </a:spcBef>
              <a:tabLst/>
            </a:pPr>
            <a:r>
              <a:rPr sz="1400" kern="0" spc="-10" dirty="0">
                <a:solidFill>
                  <a:srgbClr val="404040">
                    <a:alpha val="100000"/>
                  </a:srgbClr>
                </a:solidFill>
                <a:latin typeface="Times New Roman"/>
                <a:ea typeface="Times New Roman"/>
                <a:cs typeface="Times New Roman"/>
              </a:rPr>
              <a:t>2017</a:t>
            </a:r>
            <a:r>
              <a:rPr sz="1400" kern="0" spc="20" dirty="0">
                <a:solidFill>
                  <a:srgbClr val="404040">
                    <a:alpha val="100000"/>
                  </a:srgbClr>
                </a:solidFill>
                <a:latin typeface="Times New Roman"/>
                <a:ea typeface="Times New Roman"/>
                <a:cs typeface="Times New Roman"/>
              </a:rPr>
              <a:t>          </a:t>
            </a:r>
            <a:r>
              <a:rPr sz="1400" kern="0" spc="-10" dirty="0">
                <a:solidFill>
                  <a:srgbClr val="404040">
                    <a:alpha val="100000"/>
                  </a:srgbClr>
                </a:solidFill>
                <a:latin typeface="Times New Roman"/>
                <a:ea typeface="Times New Roman"/>
                <a:cs typeface="Times New Roman"/>
              </a:rPr>
              <a:t>2018</a:t>
            </a:r>
            <a:r>
              <a:rPr sz="1400" kern="0" spc="30" dirty="0">
                <a:solidFill>
                  <a:srgbClr val="404040">
                    <a:alpha val="100000"/>
                  </a:srgbClr>
                </a:solidFill>
                <a:latin typeface="Times New Roman"/>
                <a:ea typeface="Times New Roman"/>
                <a:cs typeface="Times New Roman"/>
              </a:rPr>
              <a:t>          </a:t>
            </a:r>
            <a:r>
              <a:rPr sz="1400" kern="0" spc="-10" dirty="0">
                <a:solidFill>
                  <a:srgbClr val="404040">
                    <a:alpha val="100000"/>
                  </a:srgbClr>
                </a:solidFill>
                <a:latin typeface="Times New Roman"/>
                <a:ea typeface="Times New Roman"/>
                <a:cs typeface="Times New Roman"/>
              </a:rPr>
              <a:t>2019</a:t>
            </a:r>
            <a:r>
              <a:rPr sz="1400" kern="0" spc="20" dirty="0">
                <a:solidFill>
                  <a:srgbClr val="404040">
                    <a:alpha val="100000"/>
                  </a:srgbClr>
                </a:solidFill>
                <a:latin typeface="Times New Roman"/>
                <a:ea typeface="Times New Roman"/>
                <a:cs typeface="Times New Roman"/>
              </a:rPr>
              <a:t>          </a:t>
            </a:r>
            <a:r>
              <a:rPr sz="1400" kern="0" spc="-10" dirty="0">
                <a:solidFill>
                  <a:srgbClr val="404040">
                    <a:alpha val="100000"/>
                  </a:srgbClr>
                </a:solidFill>
                <a:latin typeface="Times New Roman"/>
                <a:ea typeface="Times New Roman"/>
                <a:cs typeface="Times New Roman"/>
              </a:rPr>
              <a:t>2020</a:t>
            </a:r>
            <a:r>
              <a:rPr sz="1400" kern="0" spc="20" dirty="0">
                <a:solidFill>
                  <a:srgbClr val="404040">
                    <a:alpha val="100000"/>
                  </a:srgbClr>
                </a:solidFill>
                <a:latin typeface="Times New Roman"/>
                <a:ea typeface="Times New Roman"/>
                <a:cs typeface="Times New Roman"/>
              </a:rPr>
              <a:t>          </a:t>
            </a:r>
            <a:r>
              <a:rPr sz="1400" kern="0" spc="-10" dirty="0">
                <a:solidFill>
                  <a:srgbClr val="404040">
                    <a:alpha val="100000"/>
                  </a:srgbClr>
                </a:solidFill>
                <a:latin typeface="Times New Roman"/>
                <a:ea typeface="Times New Roman"/>
                <a:cs typeface="Times New Roman"/>
              </a:rPr>
              <a:t>2021</a:t>
            </a:r>
            <a:r>
              <a:rPr sz="1400" kern="0" spc="30" dirty="0">
                <a:solidFill>
                  <a:srgbClr val="404040">
                    <a:alpha val="100000"/>
                  </a:srgbClr>
                </a:solidFill>
                <a:latin typeface="Times New Roman"/>
                <a:ea typeface="Times New Roman"/>
                <a:cs typeface="Times New Roman"/>
              </a:rPr>
              <a:t>         </a:t>
            </a:r>
            <a:r>
              <a:rPr sz="1400" kern="0" spc="20" dirty="0">
                <a:solidFill>
                  <a:srgbClr val="404040">
                    <a:alpha val="100000"/>
                  </a:srgbClr>
                </a:solidFill>
                <a:latin typeface="Times New Roman"/>
                <a:ea typeface="Times New Roman"/>
                <a:cs typeface="Times New Roman"/>
              </a:rPr>
              <a:t> </a:t>
            </a:r>
            <a:r>
              <a:rPr sz="1400" kern="0" spc="-10" dirty="0">
                <a:solidFill>
                  <a:srgbClr val="404040">
                    <a:alpha val="100000"/>
                  </a:srgbClr>
                </a:solidFill>
                <a:latin typeface="Times New Roman"/>
                <a:ea typeface="Times New Roman"/>
                <a:cs typeface="Times New Roman"/>
              </a:rPr>
              <a:t>2022</a:t>
            </a:r>
            <a:endParaRPr sz="1400" dirty="0">
              <a:latin typeface="Times New Roman"/>
              <a:ea typeface="Times New Roman"/>
              <a:cs typeface="Times New Roman"/>
            </a:endParaRPr>
          </a:p>
          <a:p>
            <a:pPr marL="1923414" algn="l" rtl="0" eaLnBrk="0">
              <a:lnSpc>
                <a:spcPct val="87000"/>
              </a:lnSpc>
              <a:spcBef>
                <a:spcPts val="9"/>
              </a:spcBef>
              <a:tabLst/>
            </a:pPr>
            <a:r>
              <a:rPr sz="1400" b="1" kern="0" spc="-10" dirty="0">
                <a:solidFill>
                  <a:srgbClr val="404040">
                    <a:alpha val="100000"/>
                  </a:srgbClr>
                </a:solidFill>
                <a:latin typeface="Microsoft YaHei"/>
                <a:ea typeface="Microsoft YaHei"/>
                <a:cs typeface="Microsoft YaHei"/>
              </a:rPr>
              <a:t>事故数</a:t>
            </a:r>
            <a:r>
              <a:rPr sz="1400" b="1" kern="0" spc="50" dirty="0">
                <a:solidFill>
                  <a:srgbClr val="404040">
                    <a:alpha val="100000"/>
                  </a:srgbClr>
                </a:solidFill>
                <a:latin typeface="Microsoft YaHei"/>
                <a:ea typeface="Microsoft YaHei"/>
                <a:cs typeface="Microsoft YaHei"/>
              </a:rPr>
              <a:t>    </a:t>
            </a:r>
            <a:r>
              <a:rPr sz="1400" b="1" kern="0" spc="-10" dirty="0">
                <a:solidFill>
                  <a:srgbClr val="404040">
                    <a:alpha val="100000"/>
                  </a:srgbClr>
                </a:solidFill>
                <a:latin typeface="Microsoft YaHei"/>
                <a:ea typeface="Microsoft YaHei"/>
                <a:cs typeface="Microsoft YaHei"/>
              </a:rPr>
              <a:t>死亡失踪人数</a:t>
            </a:r>
            <a:endParaRPr sz="1400" dirty="0">
              <a:latin typeface="Microsoft YaHei"/>
              <a:ea typeface="Microsoft YaHei"/>
              <a:cs typeface="Microsoft YaHei"/>
            </a:endParaRPr>
          </a:p>
        </p:txBody>
      </p:sp>
      <p:sp>
        <p:nvSpPr>
          <p:cNvPr id="24" name="textbox 24"/>
          <p:cNvSpPr/>
          <p:nvPr/>
        </p:nvSpPr>
        <p:spPr>
          <a:xfrm>
            <a:off x="292338" y="4484355"/>
            <a:ext cx="10123805" cy="334645"/>
          </a:xfrm>
          <a:prstGeom prst="rect">
            <a:avLst/>
          </a:prstGeom>
          <a:noFill/>
          <a:ln w="0" cap="flat">
            <a:noFill/>
            <a:prstDash val="solid"/>
            <a:miter lim="0"/>
          </a:ln>
        </p:spPr>
        <p:txBody>
          <a:bodyPr vert="horz" wrap="square" lIns="0" tIns="0" rIns="0" bIns="0"/>
          <a:lstStyle/>
          <a:p>
            <a:pPr algn="l" rtl="0" eaLnBrk="0">
              <a:lnSpc>
                <a:spcPct val="73250"/>
              </a:lnSpc>
              <a:tabLst/>
            </a:pPr>
            <a:endParaRPr sz="100" dirty="0">
              <a:latin typeface="Arial"/>
              <a:ea typeface="Arial"/>
              <a:cs typeface="Arial"/>
            </a:endParaRPr>
          </a:p>
          <a:p>
            <a:pPr marL="12700" algn="l" rtl="0" eaLnBrk="0">
              <a:lnSpc>
                <a:spcPct val="97000"/>
              </a:lnSpc>
              <a:tabLst>
                <a:tab pos="210184" algn="l"/>
              </a:tabLst>
            </a:pPr>
            <a:r>
              <a:rPr sz="2100" b="1" kern="0" spc="0" dirty="0">
                <a:solidFill>
                  <a:srgbClr val="000000">
                    <a:alpha val="100000"/>
                  </a:srgbClr>
                </a:solidFill>
                <a:latin typeface="Microsoft YaHei"/>
                <a:ea typeface="Microsoft YaHei"/>
                <a:cs typeface="Microsoft YaHei"/>
              </a:rPr>
              <a:t>	</a:t>
            </a:r>
            <a:r>
              <a:rPr sz="2100" b="1" kern="0" spc="360" dirty="0">
                <a:solidFill>
                  <a:srgbClr val="000000">
                    <a:alpha val="100000"/>
                  </a:srgbClr>
                </a:solidFill>
                <a:latin typeface="Microsoft YaHei"/>
                <a:ea typeface="Microsoft YaHei"/>
                <a:cs typeface="Microsoft YaHei"/>
              </a:rPr>
              <a:t> </a:t>
            </a:r>
            <a:r>
              <a:rPr sz="2100" b="1" kern="0" spc="80" dirty="0">
                <a:solidFill>
                  <a:srgbClr val="000000">
                    <a:alpha val="100000"/>
                  </a:srgbClr>
                </a:solidFill>
                <a:latin typeface="Microsoft YaHei"/>
                <a:ea typeface="Microsoft YaHei"/>
                <a:cs typeface="Microsoft YaHei"/>
              </a:rPr>
              <a:t>大部分事故由</a:t>
            </a:r>
            <a:r>
              <a:rPr sz="2100" b="1" kern="0" spc="80" dirty="0">
                <a:solidFill>
                  <a:srgbClr val="C00000">
                    <a:alpha val="100000"/>
                  </a:srgbClr>
                </a:solidFill>
                <a:latin typeface="Microsoft YaHei"/>
                <a:ea typeface="Microsoft YaHei"/>
                <a:cs typeface="Microsoft YaHei"/>
              </a:rPr>
              <a:t>人为因素造成</a:t>
            </a:r>
            <a:r>
              <a:rPr sz="2100" b="1" kern="0" spc="-330" dirty="0">
                <a:solidFill>
                  <a:srgbClr val="C00000">
                    <a:alpha val="100000"/>
                  </a:srgbClr>
                </a:solidFill>
                <a:latin typeface="Microsoft YaHei"/>
                <a:ea typeface="Microsoft YaHei"/>
                <a:cs typeface="Microsoft YaHei"/>
              </a:rPr>
              <a:t> </a:t>
            </a:r>
            <a:r>
              <a:rPr sz="2100" b="1" kern="0" spc="80" dirty="0">
                <a:solidFill>
                  <a:srgbClr val="C00000">
                    <a:alpha val="100000"/>
                  </a:srgbClr>
                </a:solidFill>
                <a:latin typeface="Microsoft YaHei"/>
                <a:ea typeface="Microsoft YaHei"/>
                <a:cs typeface="Microsoft YaHei"/>
              </a:rPr>
              <a:t>，</a:t>
            </a:r>
            <a:r>
              <a:rPr sz="2100" b="1" kern="0" spc="-510" dirty="0">
                <a:solidFill>
                  <a:srgbClr val="C00000">
                    <a:alpha val="100000"/>
                  </a:srgbClr>
                </a:solidFill>
                <a:latin typeface="Microsoft YaHei"/>
                <a:ea typeface="Microsoft YaHei"/>
                <a:cs typeface="Microsoft YaHei"/>
              </a:rPr>
              <a:t> </a:t>
            </a:r>
            <a:r>
              <a:rPr sz="2100" b="1" kern="0" spc="80" dirty="0">
                <a:solidFill>
                  <a:srgbClr val="C00000">
                    <a:alpha val="100000"/>
                  </a:srgbClr>
                </a:solidFill>
                <a:latin typeface="Microsoft YaHei"/>
                <a:ea typeface="Microsoft YaHei"/>
                <a:cs typeface="Microsoft YaHei"/>
              </a:rPr>
              <a:t>智能船舶作为解</a:t>
            </a:r>
            <a:r>
              <a:rPr sz="2100" b="1" kern="0" spc="70" dirty="0">
                <a:solidFill>
                  <a:srgbClr val="C00000">
                    <a:alpha val="100000"/>
                  </a:srgbClr>
                </a:solidFill>
                <a:latin typeface="Microsoft YaHei"/>
                <a:ea typeface="Microsoft YaHei"/>
                <a:cs typeface="Microsoft YaHei"/>
              </a:rPr>
              <a:t>决航运安全的关键</a:t>
            </a:r>
            <a:r>
              <a:rPr sz="2100" b="1" kern="0" spc="-340" dirty="0">
                <a:solidFill>
                  <a:srgbClr val="C00000">
                    <a:alpha val="100000"/>
                  </a:srgbClr>
                </a:solidFill>
                <a:latin typeface="Microsoft YaHei"/>
                <a:ea typeface="Microsoft YaHei"/>
                <a:cs typeface="Microsoft YaHei"/>
              </a:rPr>
              <a:t> </a:t>
            </a:r>
            <a:r>
              <a:rPr sz="2100" b="1" kern="0" spc="70" dirty="0">
                <a:solidFill>
                  <a:srgbClr val="C00000">
                    <a:alpha val="100000"/>
                  </a:srgbClr>
                </a:solidFill>
                <a:latin typeface="Microsoft YaHei"/>
                <a:ea typeface="Microsoft YaHei"/>
                <a:cs typeface="Microsoft YaHei"/>
              </a:rPr>
              <a:t>，</a:t>
            </a:r>
            <a:r>
              <a:rPr sz="2100" b="1" kern="0" spc="-520" dirty="0">
                <a:solidFill>
                  <a:srgbClr val="C00000">
                    <a:alpha val="100000"/>
                  </a:srgbClr>
                </a:solidFill>
                <a:latin typeface="Microsoft YaHei"/>
                <a:ea typeface="Microsoft YaHei"/>
                <a:cs typeface="Microsoft YaHei"/>
              </a:rPr>
              <a:t> </a:t>
            </a:r>
            <a:r>
              <a:rPr sz="2100" b="1" kern="0" spc="70" dirty="0">
                <a:solidFill>
                  <a:srgbClr val="C00000">
                    <a:alpha val="100000"/>
                  </a:srgbClr>
                </a:solidFill>
                <a:latin typeface="Microsoft YaHei"/>
                <a:ea typeface="Microsoft YaHei"/>
                <a:cs typeface="Microsoft YaHei"/>
              </a:rPr>
              <a:t>转型迫在眉睫</a:t>
            </a:r>
            <a:endParaRPr sz="2100" dirty="0">
              <a:latin typeface="Microsoft YaHei"/>
              <a:ea typeface="Microsoft YaHei"/>
              <a:cs typeface="Microsoft YaHei"/>
            </a:endParaRPr>
          </a:p>
        </p:txBody>
      </p:sp>
      <p:pic>
        <p:nvPicPr>
          <p:cNvPr id="26" name="picture 26"/>
          <p:cNvPicPr>
            <a:picLocks noChangeAspect="1"/>
          </p:cNvPicPr>
          <p:nvPr/>
        </p:nvPicPr>
        <p:blipFill>
          <a:blip r:embed="rId7"/>
          <a:stretch>
            <a:fillRect/>
          </a:stretch>
        </p:blipFill>
        <p:spPr>
          <a:xfrm rot="21600000">
            <a:off x="305038" y="4497055"/>
            <a:ext cx="197923" cy="308871"/>
          </a:xfrm>
          <a:prstGeom prst="rect">
            <a:avLst/>
          </a:prstGeom>
        </p:spPr>
      </p:pic>
      <p:sp>
        <p:nvSpPr>
          <p:cNvPr id="28" name="textbox 28"/>
          <p:cNvSpPr/>
          <p:nvPr/>
        </p:nvSpPr>
        <p:spPr>
          <a:xfrm>
            <a:off x="613347" y="1816532"/>
            <a:ext cx="384809" cy="1419860"/>
          </a:xfrm>
          <a:prstGeom prst="rect">
            <a:avLst/>
          </a:prstGeom>
          <a:noFill/>
          <a:ln w="0" cap="flat">
            <a:noFill/>
            <a:prstDash val="solid"/>
            <a:miter lim="0"/>
          </a:ln>
        </p:spPr>
        <p:txBody>
          <a:bodyPr vert="horz" wrap="square" lIns="0" tIns="0" rIns="0" bIns="0"/>
          <a:lstStyle/>
          <a:p>
            <a:pPr algn="l" rtl="0" eaLnBrk="0">
              <a:lnSpc>
                <a:spcPct val="84140"/>
              </a:lnSpc>
              <a:tabLst/>
            </a:pPr>
            <a:endParaRPr sz="100" dirty="0">
              <a:latin typeface="Arial"/>
              <a:ea typeface="Arial"/>
              <a:cs typeface="Arial"/>
            </a:endParaRPr>
          </a:p>
          <a:p>
            <a:pPr marL="23495" algn="l" rtl="0" eaLnBrk="0">
              <a:lnSpc>
                <a:spcPct val="82000"/>
              </a:lnSpc>
              <a:tabLst/>
            </a:pPr>
            <a:r>
              <a:rPr sz="1400" b="1" kern="0" spc="-40" dirty="0">
                <a:solidFill>
                  <a:srgbClr val="000000">
                    <a:alpha val="100000"/>
                  </a:srgbClr>
                </a:solidFill>
                <a:latin typeface="DengXian"/>
                <a:ea typeface="DengXian"/>
                <a:cs typeface="DengXian"/>
              </a:rPr>
              <a:t>数量</a:t>
            </a:r>
            <a:endParaRPr sz="1400" dirty="0">
              <a:latin typeface="DengXian"/>
              <a:ea typeface="DengXian"/>
              <a:cs typeface="DengXian"/>
            </a:endParaRPr>
          </a:p>
          <a:p>
            <a:pPr marL="12700" algn="l" rtl="0" eaLnBrk="0">
              <a:lnSpc>
                <a:spcPct val="70000"/>
              </a:lnSpc>
              <a:spcBef>
                <a:spcPts val="628"/>
              </a:spcBef>
              <a:tabLst/>
            </a:pPr>
            <a:r>
              <a:rPr sz="1400" kern="0" spc="-20" dirty="0">
                <a:solidFill>
                  <a:srgbClr val="404040">
                    <a:alpha val="100000"/>
                  </a:srgbClr>
                </a:solidFill>
                <a:latin typeface="Times New Roman"/>
                <a:ea typeface="Times New Roman"/>
                <a:cs typeface="Times New Roman"/>
              </a:rPr>
              <a:t>250</a:t>
            </a:r>
            <a:endParaRPr sz="1400" dirty="0">
              <a:latin typeface="Times New Roman"/>
              <a:ea typeface="Times New Roman"/>
              <a:cs typeface="Times New Roman"/>
            </a:endParaRPr>
          </a:p>
          <a:p>
            <a:pPr marL="12700" algn="l" rtl="0" eaLnBrk="0">
              <a:lnSpc>
                <a:spcPct val="70000"/>
              </a:lnSpc>
              <a:spcBef>
                <a:spcPts val="1419"/>
              </a:spcBef>
              <a:tabLst/>
            </a:pPr>
            <a:r>
              <a:rPr sz="1400" kern="0" spc="-20" dirty="0">
                <a:solidFill>
                  <a:srgbClr val="404040">
                    <a:alpha val="100000"/>
                  </a:srgbClr>
                </a:solidFill>
                <a:latin typeface="Times New Roman"/>
                <a:ea typeface="Times New Roman"/>
                <a:cs typeface="Times New Roman"/>
              </a:rPr>
              <a:t>200</a:t>
            </a:r>
            <a:endParaRPr sz="1400" dirty="0">
              <a:latin typeface="Times New Roman"/>
              <a:ea typeface="Times New Roman"/>
              <a:cs typeface="Times New Roman"/>
            </a:endParaRPr>
          </a:p>
          <a:p>
            <a:pPr marL="29209" algn="l" rtl="0" eaLnBrk="0">
              <a:lnSpc>
                <a:spcPct val="70000"/>
              </a:lnSpc>
              <a:spcBef>
                <a:spcPts val="1424"/>
              </a:spcBef>
              <a:tabLst/>
            </a:pPr>
            <a:r>
              <a:rPr sz="1400" kern="0" spc="-60" dirty="0">
                <a:solidFill>
                  <a:srgbClr val="404040">
                    <a:alpha val="100000"/>
                  </a:srgbClr>
                </a:solidFill>
                <a:latin typeface="Times New Roman"/>
                <a:ea typeface="Times New Roman"/>
                <a:cs typeface="Times New Roman"/>
              </a:rPr>
              <a:t>150</a:t>
            </a:r>
            <a:endParaRPr sz="1400" dirty="0">
              <a:latin typeface="Times New Roman"/>
              <a:ea typeface="Times New Roman"/>
              <a:cs typeface="Times New Roman"/>
            </a:endParaRPr>
          </a:p>
          <a:p>
            <a:pPr algn="l" rtl="0" eaLnBrk="0">
              <a:lnSpc>
                <a:spcPct val="107000"/>
              </a:lnSpc>
              <a:tabLst/>
            </a:pPr>
            <a:endParaRPr sz="1100" dirty="0">
              <a:latin typeface="Arial"/>
              <a:ea typeface="Arial"/>
              <a:cs typeface="Arial"/>
            </a:endParaRPr>
          </a:p>
          <a:p>
            <a:pPr algn="l" rtl="0" eaLnBrk="0">
              <a:lnSpc>
                <a:spcPct val="9872"/>
              </a:lnSpc>
              <a:tabLst/>
            </a:pPr>
            <a:endParaRPr sz="100" dirty="0">
              <a:latin typeface="Arial"/>
              <a:ea typeface="Arial"/>
              <a:cs typeface="Arial"/>
            </a:endParaRPr>
          </a:p>
          <a:p>
            <a:pPr marL="29209" algn="l" rtl="0" eaLnBrk="0">
              <a:lnSpc>
                <a:spcPct val="70000"/>
              </a:lnSpc>
              <a:tabLst/>
            </a:pPr>
            <a:r>
              <a:rPr sz="1400" kern="0" spc="-60" dirty="0">
                <a:solidFill>
                  <a:srgbClr val="404040">
                    <a:alpha val="100000"/>
                  </a:srgbClr>
                </a:solidFill>
                <a:latin typeface="Times New Roman"/>
                <a:ea typeface="Times New Roman"/>
                <a:cs typeface="Times New Roman"/>
              </a:rPr>
              <a:t>100</a:t>
            </a:r>
            <a:endParaRPr sz="1400" dirty="0">
              <a:latin typeface="Times New Roman"/>
              <a:ea typeface="Times New Roman"/>
              <a:cs typeface="Times New Roman"/>
            </a:endParaRPr>
          </a:p>
        </p:txBody>
      </p:sp>
      <p:sp>
        <p:nvSpPr>
          <p:cNvPr id="30" name="textbox 30"/>
          <p:cNvSpPr/>
          <p:nvPr/>
        </p:nvSpPr>
        <p:spPr>
          <a:xfrm>
            <a:off x="1120519" y="2251795"/>
            <a:ext cx="271779" cy="174625"/>
          </a:xfrm>
          <a:prstGeom prst="rect">
            <a:avLst/>
          </a:prstGeom>
          <a:noFill/>
          <a:ln w="0" cap="flat">
            <a:noFill/>
            <a:prstDash val="solid"/>
            <a:miter lim="0"/>
          </a:ln>
        </p:spPr>
        <p:txBody>
          <a:bodyPr vert="horz" wrap="square" lIns="0" tIns="0" rIns="0" bIns="0"/>
          <a:lstStyle/>
          <a:p>
            <a:pPr algn="l" rtl="0" eaLnBrk="0">
              <a:lnSpc>
                <a:spcPct val="81518"/>
              </a:lnSpc>
              <a:tabLst/>
            </a:pPr>
            <a:endParaRPr sz="100" dirty="0">
              <a:latin typeface="Arial"/>
              <a:ea typeface="Arial"/>
              <a:cs typeface="Arial"/>
            </a:endParaRPr>
          </a:p>
          <a:p>
            <a:pPr marL="12700" algn="l" rtl="0" eaLnBrk="0">
              <a:lnSpc>
                <a:spcPct val="70000"/>
              </a:lnSpc>
              <a:tabLst/>
            </a:pPr>
            <a:r>
              <a:rPr sz="1400" kern="0" spc="-60" dirty="0">
                <a:solidFill>
                  <a:srgbClr val="404040">
                    <a:alpha val="100000"/>
                  </a:srgbClr>
                </a:solidFill>
                <a:latin typeface="Times New Roman"/>
                <a:ea typeface="Times New Roman"/>
                <a:cs typeface="Times New Roman"/>
              </a:rPr>
              <a:t>196</a:t>
            </a:r>
            <a:endParaRPr sz="1400" dirty="0">
              <a:latin typeface="Times New Roman"/>
              <a:ea typeface="Times New Roman"/>
              <a:cs typeface="Times New Roman"/>
            </a:endParaRPr>
          </a:p>
        </p:txBody>
      </p:sp>
      <p:sp>
        <p:nvSpPr>
          <p:cNvPr id="32" name="textbox 32"/>
          <p:cNvSpPr/>
          <p:nvPr/>
        </p:nvSpPr>
        <p:spPr>
          <a:xfrm>
            <a:off x="1464447" y="2291393"/>
            <a:ext cx="271779" cy="174625"/>
          </a:xfrm>
          <a:prstGeom prst="rect">
            <a:avLst/>
          </a:prstGeom>
          <a:noFill/>
          <a:ln w="0" cap="flat">
            <a:noFill/>
            <a:prstDash val="solid"/>
            <a:miter lim="0"/>
          </a:ln>
        </p:spPr>
        <p:txBody>
          <a:bodyPr vert="horz" wrap="square" lIns="0" tIns="0" rIns="0" bIns="0"/>
          <a:lstStyle/>
          <a:p>
            <a:pPr algn="l" rtl="0" eaLnBrk="0">
              <a:lnSpc>
                <a:spcPct val="81518"/>
              </a:lnSpc>
              <a:tabLst/>
            </a:pPr>
            <a:endParaRPr sz="100" dirty="0">
              <a:latin typeface="Arial"/>
              <a:ea typeface="Arial"/>
              <a:cs typeface="Arial"/>
            </a:endParaRPr>
          </a:p>
          <a:p>
            <a:pPr marL="12700" algn="l" rtl="0" eaLnBrk="0">
              <a:lnSpc>
                <a:spcPct val="70000"/>
              </a:lnSpc>
              <a:tabLst/>
            </a:pPr>
            <a:r>
              <a:rPr sz="1400" kern="0" spc="-60" dirty="0">
                <a:solidFill>
                  <a:srgbClr val="404040">
                    <a:alpha val="100000"/>
                  </a:srgbClr>
                </a:solidFill>
                <a:latin typeface="Times New Roman"/>
                <a:ea typeface="Times New Roman"/>
                <a:cs typeface="Times New Roman"/>
              </a:rPr>
              <a:t>190</a:t>
            </a:r>
            <a:endParaRPr sz="1400" dirty="0">
              <a:latin typeface="Times New Roman"/>
              <a:ea typeface="Times New Roman"/>
              <a:cs typeface="Times New Roman"/>
            </a:endParaRPr>
          </a:p>
        </p:txBody>
      </p:sp>
      <p:sp>
        <p:nvSpPr>
          <p:cNvPr id="34" name="textbox 34"/>
          <p:cNvSpPr/>
          <p:nvPr/>
        </p:nvSpPr>
        <p:spPr>
          <a:xfrm>
            <a:off x="5625986" y="2964569"/>
            <a:ext cx="193039" cy="174625"/>
          </a:xfrm>
          <a:prstGeom prst="rect">
            <a:avLst/>
          </a:prstGeom>
          <a:noFill/>
          <a:ln w="0" cap="flat">
            <a:noFill/>
            <a:prstDash val="solid"/>
            <a:miter lim="0"/>
          </a:ln>
        </p:spPr>
        <p:txBody>
          <a:bodyPr vert="horz" wrap="square" lIns="0" tIns="0" rIns="0" bIns="0"/>
          <a:lstStyle/>
          <a:p>
            <a:pPr algn="l" rtl="0" eaLnBrk="0">
              <a:lnSpc>
                <a:spcPct val="79175"/>
              </a:lnSpc>
              <a:tabLst/>
            </a:pPr>
            <a:endParaRPr sz="100" dirty="0">
              <a:latin typeface="Arial"/>
              <a:ea typeface="Arial"/>
              <a:cs typeface="Arial"/>
            </a:endParaRPr>
          </a:p>
          <a:p>
            <a:pPr marL="12700" algn="l" rtl="0" eaLnBrk="0">
              <a:lnSpc>
                <a:spcPct val="70000"/>
              </a:lnSpc>
              <a:tabLst/>
            </a:pPr>
            <a:r>
              <a:rPr sz="1400" kern="0" spc="-50" dirty="0">
                <a:solidFill>
                  <a:srgbClr val="404040">
                    <a:alpha val="100000"/>
                  </a:srgbClr>
                </a:solidFill>
                <a:latin typeface="Times New Roman"/>
                <a:ea typeface="Times New Roman"/>
                <a:cs typeface="Times New Roman"/>
              </a:rPr>
              <a:t>88</a:t>
            </a:r>
            <a:endParaRPr sz="1400" dirty="0">
              <a:latin typeface="Times New Roman"/>
              <a:ea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7371588" y="999744"/>
            <a:ext cx="4354068" cy="2118359"/>
            <a:chOff x="0" y="0"/>
            <a:chExt cx="4354068" cy="2118359"/>
          </a:xfrm>
        </p:grpSpPr>
        <p:pic>
          <p:nvPicPr>
            <p:cNvPr id="36" name="picture 36"/>
            <p:cNvPicPr>
              <a:picLocks noChangeAspect="1"/>
            </p:cNvPicPr>
            <p:nvPr/>
          </p:nvPicPr>
          <p:blipFill>
            <a:blip r:embed="rId2"/>
            <a:stretch>
              <a:fillRect/>
            </a:stretch>
          </p:blipFill>
          <p:spPr>
            <a:xfrm rot="21600000">
              <a:off x="0" y="0"/>
              <a:ext cx="4354068" cy="2118359"/>
            </a:xfrm>
            <a:prstGeom prst="rect">
              <a:avLst/>
            </a:prstGeom>
          </p:spPr>
        </p:pic>
        <p:sp>
          <p:nvSpPr>
            <p:cNvPr id="38" name="textbox 38"/>
            <p:cNvSpPr/>
            <p:nvPr/>
          </p:nvSpPr>
          <p:spPr>
            <a:xfrm>
              <a:off x="1662200" y="61924"/>
              <a:ext cx="1162050" cy="252729"/>
            </a:xfrm>
            <a:prstGeom prst="rect">
              <a:avLst/>
            </a:prstGeom>
            <a:noFill/>
            <a:ln w="0" cap="flat">
              <a:noFill/>
              <a:prstDash val="solid"/>
              <a:miter lim="0"/>
            </a:ln>
          </p:spPr>
          <p:txBody>
            <a:bodyPr vert="horz" wrap="square" lIns="0" tIns="0" rIns="0" bIns="0"/>
            <a:lstStyle/>
            <a:p>
              <a:pPr algn="l" rtl="0" eaLnBrk="0">
                <a:lnSpc>
                  <a:spcPct val="77981"/>
                </a:lnSpc>
                <a:tabLst/>
              </a:pPr>
              <a:endParaRPr sz="100" dirty="0">
                <a:latin typeface="Arial"/>
                <a:ea typeface="Arial"/>
                <a:cs typeface="Arial"/>
              </a:endParaRPr>
            </a:p>
            <a:p>
              <a:pPr marL="12700" algn="l" rtl="0" eaLnBrk="0">
                <a:lnSpc>
                  <a:spcPct val="88000"/>
                </a:lnSpc>
                <a:tabLst/>
              </a:pPr>
              <a:r>
                <a:rPr sz="1700" b="1" kern="0" spc="80" dirty="0">
                  <a:solidFill>
                    <a:srgbClr val="FFFFFF">
                      <a:alpha val="100000"/>
                    </a:srgbClr>
                  </a:solidFill>
                  <a:latin typeface="Microsoft YaHei"/>
                  <a:ea typeface="Microsoft YaHei"/>
                  <a:cs typeface="Microsoft YaHei"/>
                </a:rPr>
                <a:t>三峡新通道</a:t>
              </a:r>
              <a:endParaRPr sz="1700" dirty="0">
                <a:latin typeface="Microsoft YaHei"/>
                <a:ea typeface="Microsoft YaHei"/>
                <a:cs typeface="Microsoft YaHei"/>
              </a:endParaRPr>
            </a:p>
          </p:txBody>
        </p:sp>
      </p:grpSp>
      <p:grpSp>
        <p:nvGrpSpPr>
          <p:cNvPr id="4" name="group 4"/>
          <p:cNvGrpSpPr/>
          <p:nvPr/>
        </p:nvGrpSpPr>
        <p:grpSpPr>
          <a:xfrm rot="21600000">
            <a:off x="733107" y="3165347"/>
            <a:ext cx="2635885" cy="3280854"/>
            <a:chOff x="0" y="0"/>
            <a:chExt cx="2635885" cy="3280854"/>
          </a:xfrm>
        </p:grpSpPr>
        <p:pic>
          <p:nvPicPr>
            <p:cNvPr id="40" name="picture 40"/>
            <p:cNvPicPr>
              <a:picLocks noChangeAspect="1"/>
            </p:cNvPicPr>
            <p:nvPr/>
          </p:nvPicPr>
          <p:blipFill>
            <a:blip r:embed="rId3"/>
            <a:stretch>
              <a:fillRect/>
            </a:stretch>
          </p:blipFill>
          <p:spPr>
            <a:xfrm rot="21600000">
              <a:off x="0" y="0"/>
              <a:ext cx="2635885" cy="3280854"/>
            </a:xfrm>
            <a:prstGeom prst="rect">
              <a:avLst/>
            </a:prstGeom>
          </p:spPr>
        </p:pic>
        <p:sp>
          <p:nvSpPr>
            <p:cNvPr id="42" name="textbox 42"/>
            <p:cNvSpPr/>
            <p:nvPr/>
          </p:nvSpPr>
          <p:spPr>
            <a:xfrm>
              <a:off x="1469828" y="560276"/>
              <a:ext cx="969644" cy="2280285"/>
            </a:xfrm>
            <a:prstGeom prst="rect">
              <a:avLst/>
            </a:prstGeom>
            <a:noFill/>
            <a:ln w="0" cap="flat">
              <a:noFill/>
              <a:prstDash val="solid"/>
              <a:miter lim="0"/>
            </a:ln>
          </p:spPr>
          <p:txBody>
            <a:bodyPr vert="horz" wrap="square" lIns="0" tIns="0" rIns="0" bIns="0"/>
            <a:lstStyle/>
            <a:p>
              <a:pPr algn="l" rtl="0" eaLnBrk="0">
                <a:lnSpc>
                  <a:spcPct val="84586"/>
                </a:lnSpc>
                <a:tabLst/>
              </a:pPr>
              <a:endParaRPr sz="100" dirty="0">
                <a:latin typeface="Arial"/>
                <a:ea typeface="Arial"/>
                <a:cs typeface="Arial"/>
              </a:endParaRPr>
            </a:p>
            <a:p>
              <a:pPr marL="12700" algn="l" rtl="0" eaLnBrk="0">
                <a:lnSpc>
                  <a:spcPct val="87000"/>
                </a:lnSpc>
                <a:tabLst/>
              </a:pPr>
              <a:r>
                <a:rPr sz="1500" b="1" kern="0" spc="90" dirty="0">
                  <a:solidFill>
                    <a:srgbClr val="0000FF">
                      <a:alpha val="100000"/>
                    </a:srgbClr>
                  </a:solidFill>
                  <a:latin typeface="Microsoft YaHei"/>
                  <a:ea typeface="Microsoft YaHei"/>
                  <a:cs typeface="Microsoft YaHei"/>
                </a:rPr>
                <a:t>水文气象</a:t>
              </a:r>
              <a:endParaRPr sz="1500" dirty="0">
                <a:latin typeface="Microsoft YaHei"/>
                <a:ea typeface="Microsoft YaHei"/>
                <a:cs typeface="Microsoft YaHei"/>
              </a:endParaRPr>
            </a:p>
            <a:p>
              <a:pPr algn="l" rtl="0" eaLnBrk="0">
                <a:lnSpc>
                  <a:spcPct val="146000"/>
                </a:lnSpc>
                <a:tabLst/>
              </a:pPr>
              <a:endParaRPr sz="1000" dirty="0">
                <a:latin typeface="Arial"/>
                <a:ea typeface="Arial"/>
                <a:cs typeface="Arial"/>
              </a:endParaRPr>
            </a:p>
            <a:p>
              <a:pPr marL="126364" algn="l" rtl="0" eaLnBrk="0">
                <a:lnSpc>
                  <a:spcPct val="87000"/>
                </a:lnSpc>
                <a:spcBef>
                  <a:spcPts val="454"/>
                </a:spcBef>
                <a:tabLst/>
              </a:pPr>
              <a:r>
                <a:rPr sz="1500" b="1" kern="0" spc="60" dirty="0">
                  <a:solidFill>
                    <a:srgbClr val="0000FF">
                      <a:alpha val="100000"/>
                    </a:srgbClr>
                  </a:solidFill>
                  <a:latin typeface="Microsoft YaHei"/>
                  <a:ea typeface="Microsoft YaHei"/>
                  <a:cs typeface="Microsoft YaHei"/>
                </a:rPr>
                <a:t>障碍物</a:t>
              </a:r>
              <a:endParaRPr sz="1500" dirty="0">
                <a:latin typeface="Microsoft YaHei"/>
                <a:ea typeface="Microsoft YaHei"/>
                <a:cs typeface="Microsoft YaHei"/>
              </a:endParaRPr>
            </a:p>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r" rtl="0" eaLnBrk="0">
                <a:lnSpc>
                  <a:spcPct val="88000"/>
                </a:lnSpc>
                <a:spcBef>
                  <a:spcPts val="452"/>
                </a:spcBef>
                <a:tabLst/>
              </a:pPr>
              <a:r>
                <a:rPr sz="1500" b="1" kern="0" spc="90" dirty="0">
                  <a:solidFill>
                    <a:srgbClr val="0000FF">
                      <a:alpha val="100000"/>
                    </a:srgbClr>
                  </a:solidFill>
                  <a:latin typeface="Microsoft YaHei"/>
                  <a:ea typeface="Microsoft YaHei"/>
                  <a:cs typeface="Microsoft YaHei"/>
                </a:rPr>
                <a:t>数据融合</a:t>
              </a:r>
              <a:endParaRPr sz="1500" dirty="0">
                <a:latin typeface="Microsoft YaHei"/>
                <a:ea typeface="Microsoft YaHei"/>
                <a:cs typeface="Microsoft YaHei"/>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27000"/>
                </a:lnSpc>
                <a:tabLst/>
              </a:pPr>
              <a:endParaRPr sz="300" dirty="0">
                <a:latin typeface="Arial"/>
                <a:ea typeface="Arial"/>
                <a:cs typeface="Arial"/>
              </a:endParaRPr>
            </a:p>
            <a:p>
              <a:pPr algn="r" rtl="0" eaLnBrk="0">
                <a:lnSpc>
                  <a:spcPct val="88000"/>
                </a:lnSpc>
                <a:tabLst/>
              </a:pPr>
              <a:r>
                <a:rPr sz="1500" b="1" kern="0" spc="90" dirty="0">
                  <a:solidFill>
                    <a:srgbClr val="0000FF">
                      <a:alpha val="100000"/>
                    </a:srgbClr>
                  </a:solidFill>
                  <a:latin typeface="Microsoft YaHei"/>
                  <a:ea typeface="Microsoft YaHei"/>
                  <a:cs typeface="Microsoft YaHei"/>
                </a:rPr>
                <a:t>环境重构</a:t>
              </a:r>
              <a:endParaRPr sz="1500" dirty="0">
                <a:latin typeface="Microsoft YaHei"/>
                <a:ea typeface="Microsoft YaHei"/>
                <a:cs typeface="Microsoft YaHei"/>
              </a:endParaRPr>
            </a:p>
          </p:txBody>
        </p:sp>
        <p:sp>
          <p:nvSpPr>
            <p:cNvPr id="44" name="textbox 44"/>
            <p:cNvSpPr/>
            <p:nvPr/>
          </p:nvSpPr>
          <p:spPr>
            <a:xfrm>
              <a:off x="262260" y="553346"/>
              <a:ext cx="835660" cy="710565"/>
            </a:xfrm>
            <a:prstGeom prst="rect">
              <a:avLst/>
            </a:prstGeom>
            <a:noFill/>
            <a:ln w="0" cap="flat">
              <a:noFill/>
              <a:prstDash val="solid"/>
              <a:miter lim="0"/>
            </a:ln>
          </p:spPr>
          <p:txBody>
            <a:bodyPr vert="horz" wrap="square" lIns="0" tIns="0" rIns="0" bIns="0"/>
            <a:lstStyle/>
            <a:p>
              <a:pPr algn="l" rtl="0" eaLnBrk="0">
                <a:lnSpc>
                  <a:spcPct val="76683"/>
                </a:lnSpc>
                <a:tabLst/>
              </a:pPr>
              <a:endParaRPr sz="100" dirty="0">
                <a:latin typeface="Arial"/>
                <a:ea typeface="Arial"/>
                <a:cs typeface="Arial"/>
              </a:endParaRPr>
            </a:p>
            <a:p>
              <a:pPr marL="12700" algn="l" rtl="0" eaLnBrk="0">
                <a:lnSpc>
                  <a:spcPct val="88000"/>
                </a:lnSpc>
                <a:tabLst/>
              </a:pPr>
              <a:r>
                <a:rPr sz="1500" b="1" kern="0" spc="90" dirty="0">
                  <a:solidFill>
                    <a:srgbClr val="0000FF">
                      <a:alpha val="100000"/>
                    </a:srgbClr>
                  </a:solidFill>
                  <a:latin typeface="Microsoft YaHei"/>
                  <a:ea typeface="Microsoft YaHei"/>
                  <a:cs typeface="Microsoft YaHei"/>
                </a:rPr>
                <a:t>航行条件</a:t>
              </a:r>
              <a:endParaRPr sz="1500" dirty="0">
                <a:latin typeface="Microsoft YaHei"/>
                <a:ea typeface="Microsoft YaHei"/>
                <a:cs typeface="Microsoft YaHei"/>
              </a:endParaRPr>
            </a:p>
            <a:p>
              <a:pPr algn="l" rtl="0" eaLnBrk="0">
                <a:lnSpc>
                  <a:spcPct val="150000"/>
                </a:lnSpc>
                <a:tabLst/>
              </a:pPr>
              <a:endParaRPr sz="1000" dirty="0">
                <a:latin typeface="Arial"/>
                <a:ea typeface="Arial"/>
                <a:cs typeface="Arial"/>
              </a:endParaRPr>
            </a:p>
            <a:p>
              <a:pPr algn="l" rtl="0" eaLnBrk="0">
                <a:lnSpc>
                  <a:spcPct val="125000"/>
                </a:lnSpc>
                <a:tabLst/>
              </a:pPr>
              <a:endParaRPr sz="300" dirty="0">
                <a:latin typeface="Arial"/>
                <a:ea typeface="Arial"/>
                <a:cs typeface="Arial"/>
              </a:endParaRPr>
            </a:p>
            <a:p>
              <a:pPr marL="33655" algn="l" rtl="0" eaLnBrk="0">
                <a:lnSpc>
                  <a:spcPct val="87000"/>
                </a:lnSpc>
                <a:spcBef>
                  <a:spcPts val="3"/>
                </a:spcBef>
                <a:tabLst/>
              </a:pPr>
              <a:r>
                <a:rPr sz="1500" b="1" kern="0" spc="50" dirty="0">
                  <a:solidFill>
                    <a:srgbClr val="0000FF">
                      <a:alpha val="100000"/>
                    </a:srgbClr>
                  </a:solidFill>
                  <a:latin typeface="Microsoft YaHei"/>
                  <a:ea typeface="Microsoft YaHei"/>
                  <a:cs typeface="Microsoft YaHei"/>
                </a:rPr>
                <a:t>目标识别</a:t>
              </a:r>
              <a:endParaRPr sz="1500" dirty="0">
                <a:latin typeface="Microsoft YaHei"/>
                <a:ea typeface="Microsoft YaHei"/>
                <a:cs typeface="Microsoft YaHei"/>
              </a:endParaRPr>
            </a:p>
          </p:txBody>
        </p:sp>
        <p:sp>
          <p:nvSpPr>
            <p:cNvPr id="46" name="textbox 46"/>
            <p:cNvSpPr/>
            <p:nvPr/>
          </p:nvSpPr>
          <p:spPr>
            <a:xfrm>
              <a:off x="853033" y="62928"/>
              <a:ext cx="935355" cy="252095"/>
            </a:xfrm>
            <a:prstGeom prst="rect">
              <a:avLst/>
            </a:prstGeom>
            <a:noFill/>
            <a:ln w="0" cap="flat">
              <a:noFill/>
              <a:prstDash val="solid"/>
              <a:miter lim="0"/>
            </a:ln>
          </p:spPr>
          <p:txBody>
            <a:bodyPr vert="horz" wrap="square" lIns="0" tIns="0" rIns="0" bIns="0"/>
            <a:lstStyle/>
            <a:p>
              <a:pPr algn="l" rtl="0" eaLnBrk="0">
                <a:lnSpc>
                  <a:spcPct val="88647"/>
                </a:lnSpc>
                <a:tabLst/>
              </a:pPr>
              <a:endParaRPr sz="100" dirty="0">
                <a:latin typeface="Arial"/>
                <a:ea typeface="Arial"/>
                <a:cs typeface="Arial"/>
              </a:endParaRPr>
            </a:p>
            <a:p>
              <a:pPr marL="12700" algn="l" rtl="0" eaLnBrk="0">
                <a:lnSpc>
                  <a:spcPct val="87000"/>
                </a:lnSpc>
                <a:tabLst/>
              </a:pPr>
              <a:r>
                <a:rPr sz="1700" b="1" kern="0" spc="80" dirty="0">
                  <a:solidFill>
                    <a:srgbClr val="000000">
                      <a:alpha val="100000"/>
                    </a:srgbClr>
                  </a:solidFill>
                  <a:latin typeface="Microsoft YaHei"/>
                  <a:ea typeface="Microsoft YaHei"/>
                  <a:cs typeface="Microsoft YaHei"/>
                </a:rPr>
                <a:t>智能感知</a:t>
              </a:r>
              <a:endParaRPr sz="1700" dirty="0">
                <a:latin typeface="Microsoft YaHei"/>
                <a:ea typeface="Microsoft YaHei"/>
                <a:cs typeface="Microsoft YaHei"/>
              </a:endParaRPr>
            </a:p>
          </p:txBody>
        </p:sp>
      </p:grpSp>
      <p:grpSp>
        <p:nvGrpSpPr>
          <p:cNvPr id="6" name="group 6"/>
          <p:cNvGrpSpPr/>
          <p:nvPr/>
        </p:nvGrpSpPr>
        <p:grpSpPr>
          <a:xfrm rot="21600000">
            <a:off x="6328727" y="3165347"/>
            <a:ext cx="2635885" cy="3280854"/>
            <a:chOff x="0" y="0"/>
            <a:chExt cx="2635885" cy="3280854"/>
          </a:xfrm>
        </p:grpSpPr>
        <p:pic>
          <p:nvPicPr>
            <p:cNvPr id="48" name="picture 48"/>
            <p:cNvPicPr>
              <a:picLocks noChangeAspect="1"/>
            </p:cNvPicPr>
            <p:nvPr/>
          </p:nvPicPr>
          <p:blipFill>
            <a:blip r:embed="rId4"/>
            <a:stretch>
              <a:fillRect/>
            </a:stretch>
          </p:blipFill>
          <p:spPr>
            <a:xfrm rot="21600000">
              <a:off x="0" y="0"/>
              <a:ext cx="2635885" cy="3280854"/>
            </a:xfrm>
            <a:prstGeom prst="rect">
              <a:avLst/>
            </a:prstGeom>
          </p:spPr>
        </p:pic>
        <p:sp>
          <p:nvSpPr>
            <p:cNvPr id="50" name="textbox 50"/>
            <p:cNvSpPr/>
            <p:nvPr/>
          </p:nvSpPr>
          <p:spPr>
            <a:xfrm>
              <a:off x="352200" y="1355932"/>
              <a:ext cx="1995170" cy="1632585"/>
            </a:xfrm>
            <a:prstGeom prst="rect">
              <a:avLst/>
            </a:prstGeom>
            <a:noFill/>
            <a:ln w="0" cap="flat">
              <a:noFill/>
              <a:prstDash val="solid"/>
              <a:miter lim="0"/>
            </a:ln>
          </p:spPr>
          <p:txBody>
            <a:bodyPr vert="horz" wrap="square" lIns="0" tIns="0" rIns="0" bIns="0"/>
            <a:lstStyle/>
            <a:p>
              <a:pPr algn="l" rtl="0" eaLnBrk="0">
                <a:lnSpc>
                  <a:spcPct val="78999"/>
                </a:lnSpc>
                <a:tabLst/>
              </a:pPr>
              <a:endParaRPr sz="100" dirty="0">
                <a:latin typeface="Arial"/>
                <a:ea typeface="Arial"/>
                <a:cs typeface="Arial"/>
              </a:endParaRPr>
            </a:p>
            <a:p>
              <a:pPr marL="12700" algn="l" rtl="0" eaLnBrk="0">
                <a:lnSpc>
                  <a:spcPct val="88000"/>
                </a:lnSpc>
                <a:tabLst/>
              </a:pPr>
              <a:r>
                <a:rPr sz="1500" b="1" kern="0" spc="80" dirty="0">
                  <a:solidFill>
                    <a:srgbClr val="0000FF">
                      <a:alpha val="100000"/>
                    </a:srgbClr>
                  </a:solidFill>
                  <a:latin typeface="Microsoft YaHei"/>
                  <a:ea typeface="Microsoft YaHei"/>
                  <a:cs typeface="Microsoft YaHei"/>
                </a:rPr>
                <a:t>操纵预报、</a:t>
              </a:r>
              <a:r>
                <a:rPr sz="1500" b="1" kern="0" spc="-320" dirty="0">
                  <a:solidFill>
                    <a:srgbClr val="0000FF">
                      <a:alpha val="100000"/>
                    </a:srgbClr>
                  </a:solidFill>
                  <a:latin typeface="Microsoft YaHei"/>
                  <a:ea typeface="Microsoft YaHei"/>
                  <a:cs typeface="Microsoft YaHei"/>
                </a:rPr>
                <a:t> </a:t>
              </a:r>
              <a:r>
                <a:rPr sz="1500" b="1" kern="0" spc="80" dirty="0">
                  <a:solidFill>
                    <a:srgbClr val="0000FF">
                      <a:alpha val="100000"/>
                    </a:srgbClr>
                  </a:solidFill>
                  <a:latin typeface="Microsoft YaHei"/>
                  <a:ea typeface="Microsoft YaHei"/>
                  <a:cs typeface="Microsoft YaHei"/>
                </a:rPr>
                <a:t>控制模型</a:t>
              </a:r>
              <a:endParaRPr sz="15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r" rtl="0" eaLnBrk="0">
                <a:lnSpc>
                  <a:spcPct val="88000"/>
                </a:lnSpc>
                <a:spcBef>
                  <a:spcPts val="460"/>
                </a:spcBef>
                <a:tabLst/>
              </a:pPr>
              <a:r>
                <a:rPr sz="1500" b="1" kern="0" spc="90" dirty="0">
                  <a:solidFill>
                    <a:srgbClr val="0000FF">
                      <a:alpha val="100000"/>
                    </a:srgbClr>
                  </a:solidFill>
                  <a:latin typeface="Microsoft YaHei"/>
                  <a:ea typeface="Microsoft YaHei"/>
                  <a:cs typeface="Microsoft YaHei"/>
                </a:rPr>
                <a:t>航向控制</a:t>
              </a:r>
              <a:endParaRPr sz="1500" dirty="0">
                <a:latin typeface="Microsoft YaHei"/>
                <a:ea typeface="Microsoft YaHei"/>
                <a:cs typeface="Microsoft YaHei"/>
              </a:endParaRPr>
            </a:p>
            <a:p>
              <a:pPr algn="r" rtl="0" eaLnBrk="0">
                <a:lnSpc>
                  <a:spcPts val="4028"/>
                </a:lnSpc>
                <a:tabLst/>
              </a:pPr>
              <a:r>
                <a:rPr sz="1500" b="1" kern="0" spc="90" dirty="0">
                  <a:solidFill>
                    <a:srgbClr val="0000FF">
                      <a:alpha val="100000"/>
                    </a:srgbClr>
                  </a:solidFill>
                  <a:latin typeface="Microsoft YaHei"/>
                  <a:ea typeface="Microsoft YaHei"/>
                  <a:cs typeface="Microsoft YaHei"/>
                </a:rPr>
                <a:t>航速控制</a:t>
              </a:r>
              <a:endParaRPr sz="1500" dirty="0">
                <a:latin typeface="Microsoft YaHei"/>
                <a:ea typeface="Microsoft YaHei"/>
                <a:cs typeface="Microsoft YaHei"/>
              </a:endParaRPr>
            </a:p>
          </p:txBody>
        </p:sp>
        <p:sp>
          <p:nvSpPr>
            <p:cNvPr id="52" name="textbox 52"/>
            <p:cNvSpPr/>
            <p:nvPr/>
          </p:nvSpPr>
          <p:spPr>
            <a:xfrm>
              <a:off x="534263" y="62928"/>
              <a:ext cx="1392555" cy="252095"/>
            </a:xfrm>
            <a:prstGeom prst="rect">
              <a:avLst/>
            </a:prstGeom>
            <a:noFill/>
            <a:ln w="0" cap="flat">
              <a:noFill/>
              <a:prstDash val="solid"/>
              <a:miter lim="0"/>
            </a:ln>
          </p:spPr>
          <p:txBody>
            <a:bodyPr vert="horz" wrap="square" lIns="0" tIns="0" rIns="0" bIns="0"/>
            <a:lstStyle/>
            <a:p>
              <a:pPr algn="l" rtl="0" eaLnBrk="0">
                <a:lnSpc>
                  <a:spcPct val="88647"/>
                </a:lnSpc>
                <a:tabLst/>
              </a:pPr>
              <a:endParaRPr sz="100" dirty="0">
                <a:latin typeface="Arial"/>
                <a:ea typeface="Arial"/>
                <a:cs typeface="Arial"/>
              </a:endParaRPr>
            </a:p>
            <a:p>
              <a:pPr marL="12700" algn="l" rtl="0" eaLnBrk="0">
                <a:lnSpc>
                  <a:spcPct val="87000"/>
                </a:lnSpc>
                <a:tabLst/>
              </a:pPr>
              <a:r>
                <a:rPr sz="1700" b="1" kern="0" spc="90" dirty="0">
                  <a:solidFill>
                    <a:srgbClr val="000000">
                      <a:alpha val="100000"/>
                    </a:srgbClr>
                  </a:solidFill>
                  <a:latin typeface="Microsoft YaHei"/>
                  <a:ea typeface="Microsoft YaHei"/>
                  <a:cs typeface="Microsoft YaHei"/>
                </a:rPr>
                <a:t>智能运动控制</a:t>
              </a:r>
              <a:endParaRPr sz="1700" dirty="0">
                <a:latin typeface="Microsoft YaHei"/>
                <a:ea typeface="Microsoft YaHei"/>
                <a:cs typeface="Microsoft YaHei"/>
              </a:endParaRPr>
            </a:p>
          </p:txBody>
        </p:sp>
      </p:grpSp>
      <p:grpSp>
        <p:nvGrpSpPr>
          <p:cNvPr id="8" name="group 8"/>
          <p:cNvGrpSpPr/>
          <p:nvPr/>
        </p:nvGrpSpPr>
        <p:grpSpPr>
          <a:xfrm rot="21600000">
            <a:off x="3526472" y="3165347"/>
            <a:ext cx="2635884" cy="3280854"/>
            <a:chOff x="0" y="0"/>
            <a:chExt cx="2635884" cy="3280854"/>
          </a:xfrm>
        </p:grpSpPr>
        <p:pic>
          <p:nvPicPr>
            <p:cNvPr id="54" name="picture 54"/>
            <p:cNvPicPr>
              <a:picLocks noChangeAspect="1"/>
            </p:cNvPicPr>
            <p:nvPr/>
          </p:nvPicPr>
          <p:blipFill>
            <a:blip r:embed="rId5"/>
            <a:stretch>
              <a:fillRect/>
            </a:stretch>
          </p:blipFill>
          <p:spPr>
            <a:xfrm rot="21600000">
              <a:off x="0" y="0"/>
              <a:ext cx="2635884" cy="3280854"/>
            </a:xfrm>
            <a:prstGeom prst="rect">
              <a:avLst/>
            </a:prstGeom>
          </p:spPr>
        </p:pic>
        <p:sp>
          <p:nvSpPr>
            <p:cNvPr id="56" name="textbox 56"/>
            <p:cNvSpPr/>
            <p:nvPr/>
          </p:nvSpPr>
          <p:spPr>
            <a:xfrm>
              <a:off x="317625" y="1396167"/>
              <a:ext cx="2133600" cy="1561464"/>
            </a:xfrm>
            <a:prstGeom prst="rect">
              <a:avLst/>
            </a:prstGeom>
            <a:noFill/>
            <a:ln w="0" cap="flat">
              <a:noFill/>
              <a:prstDash val="solid"/>
              <a:miter lim="0"/>
            </a:ln>
          </p:spPr>
          <p:txBody>
            <a:bodyPr vert="horz" wrap="square" lIns="0" tIns="0" rIns="0" bIns="0"/>
            <a:lstStyle/>
            <a:p>
              <a:pPr algn="l" rtl="0" eaLnBrk="0">
                <a:lnSpc>
                  <a:spcPct val="80671"/>
                </a:lnSpc>
                <a:tabLst/>
              </a:pPr>
              <a:endParaRPr sz="100" dirty="0">
                <a:latin typeface="Arial"/>
                <a:ea typeface="Arial"/>
                <a:cs typeface="Arial"/>
              </a:endParaRPr>
            </a:p>
            <a:p>
              <a:pPr marL="12700" algn="l" rtl="0" eaLnBrk="0">
                <a:lnSpc>
                  <a:spcPct val="88000"/>
                </a:lnSpc>
                <a:tabLst/>
              </a:pPr>
              <a:r>
                <a:rPr sz="1500" b="1" kern="0" spc="90" dirty="0">
                  <a:solidFill>
                    <a:srgbClr val="0000FF">
                      <a:alpha val="100000"/>
                    </a:srgbClr>
                  </a:solidFill>
                  <a:latin typeface="Microsoft YaHei"/>
                  <a:ea typeface="Microsoft YaHei"/>
                  <a:cs typeface="Microsoft YaHei"/>
                </a:rPr>
                <a:t>多物理场耦合决策模型</a:t>
              </a:r>
              <a:endParaRPr sz="1500" dirty="0">
                <a:latin typeface="Microsoft YaHei"/>
                <a:ea typeface="Microsoft YaHei"/>
                <a:cs typeface="Microsoft YaHei"/>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r" rtl="0" eaLnBrk="0">
                <a:lnSpc>
                  <a:spcPct val="88000"/>
                </a:lnSpc>
                <a:spcBef>
                  <a:spcPts val="455"/>
                </a:spcBef>
                <a:tabLst/>
              </a:pPr>
              <a:r>
                <a:rPr sz="1500" b="1" kern="0" spc="90" dirty="0">
                  <a:solidFill>
                    <a:srgbClr val="0000FF">
                      <a:alpha val="100000"/>
                    </a:srgbClr>
                  </a:solidFill>
                  <a:latin typeface="Microsoft YaHei"/>
                  <a:ea typeface="Microsoft YaHei"/>
                  <a:cs typeface="Microsoft YaHei"/>
                </a:rPr>
                <a:t>避碰决策</a:t>
              </a:r>
              <a:endParaRPr sz="1500" dirty="0">
                <a:latin typeface="Microsoft YaHei"/>
                <a:ea typeface="Microsoft YaHei"/>
                <a:cs typeface="Microsoft YaHei"/>
              </a:endParaRPr>
            </a:p>
            <a:p>
              <a:pPr marL="1308100" algn="l" rtl="0" eaLnBrk="0">
                <a:lnSpc>
                  <a:spcPts val="4079"/>
                </a:lnSpc>
                <a:tabLst/>
              </a:pPr>
              <a:r>
                <a:rPr sz="1500" b="1" kern="0" spc="90" dirty="0">
                  <a:solidFill>
                    <a:srgbClr val="0000FF">
                      <a:alpha val="100000"/>
                    </a:srgbClr>
                  </a:solidFill>
                  <a:latin typeface="Microsoft YaHei"/>
                  <a:ea typeface="Microsoft YaHei"/>
                  <a:cs typeface="Microsoft YaHei"/>
                </a:rPr>
                <a:t>航线规划</a:t>
              </a:r>
              <a:endParaRPr sz="1500" dirty="0">
                <a:latin typeface="Microsoft YaHei"/>
                <a:ea typeface="Microsoft YaHei"/>
                <a:cs typeface="Microsoft YaHei"/>
              </a:endParaRPr>
            </a:p>
          </p:txBody>
        </p:sp>
        <p:sp>
          <p:nvSpPr>
            <p:cNvPr id="58" name="textbox 58"/>
            <p:cNvSpPr/>
            <p:nvPr/>
          </p:nvSpPr>
          <p:spPr>
            <a:xfrm>
              <a:off x="544512" y="62014"/>
              <a:ext cx="1395094" cy="254634"/>
            </a:xfrm>
            <a:prstGeom prst="rect">
              <a:avLst/>
            </a:prstGeom>
            <a:noFill/>
            <a:ln w="0" cap="flat">
              <a:noFill/>
              <a:prstDash val="solid"/>
              <a:miter lim="0"/>
            </a:ln>
          </p:spPr>
          <p:txBody>
            <a:bodyPr vert="horz" wrap="square" lIns="0" tIns="0" rIns="0" bIns="0"/>
            <a:lstStyle/>
            <a:p>
              <a:pPr algn="l" rtl="0" eaLnBrk="0">
                <a:lnSpc>
                  <a:spcPct val="87683"/>
                </a:lnSpc>
                <a:tabLst/>
              </a:pPr>
              <a:endParaRPr sz="100" dirty="0">
                <a:latin typeface="Arial"/>
                <a:ea typeface="Arial"/>
                <a:cs typeface="Arial"/>
              </a:endParaRPr>
            </a:p>
            <a:p>
              <a:pPr marL="12700" algn="l" rtl="0" eaLnBrk="0">
                <a:lnSpc>
                  <a:spcPct val="88000"/>
                </a:lnSpc>
                <a:tabLst/>
              </a:pPr>
              <a:r>
                <a:rPr sz="1700" b="1" kern="0" spc="90" dirty="0">
                  <a:solidFill>
                    <a:srgbClr val="000000">
                      <a:alpha val="100000"/>
                    </a:srgbClr>
                  </a:solidFill>
                  <a:latin typeface="Microsoft YaHei"/>
                  <a:ea typeface="Microsoft YaHei"/>
                  <a:cs typeface="Microsoft YaHei"/>
                </a:rPr>
                <a:t>航行自主决策</a:t>
              </a:r>
              <a:endParaRPr sz="1700" dirty="0">
                <a:latin typeface="Microsoft YaHei"/>
                <a:ea typeface="Microsoft YaHei"/>
                <a:cs typeface="Microsoft YaHei"/>
              </a:endParaRPr>
            </a:p>
          </p:txBody>
        </p:sp>
      </p:grpSp>
      <p:pic>
        <p:nvPicPr>
          <p:cNvPr id="60" name="picture 60"/>
          <p:cNvPicPr>
            <a:picLocks noChangeAspect="1"/>
          </p:cNvPicPr>
          <p:nvPr/>
        </p:nvPicPr>
        <p:blipFill>
          <a:blip r:embed="rId6"/>
          <a:stretch>
            <a:fillRect/>
          </a:stretch>
        </p:blipFill>
        <p:spPr>
          <a:xfrm rot="21600000">
            <a:off x="9104312" y="3306127"/>
            <a:ext cx="2635885" cy="3139440"/>
          </a:xfrm>
          <a:prstGeom prst="rect">
            <a:avLst/>
          </a:prstGeom>
        </p:spPr>
      </p:pic>
      <p:sp>
        <p:nvSpPr>
          <p:cNvPr id="62" name="textbox 62"/>
          <p:cNvSpPr/>
          <p:nvPr/>
        </p:nvSpPr>
        <p:spPr>
          <a:xfrm>
            <a:off x="746328" y="1356334"/>
            <a:ext cx="5695950" cy="1460500"/>
          </a:xfrm>
          <a:prstGeom prst="rect">
            <a:avLst/>
          </a:prstGeom>
          <a:noFill/>
          <a:ln w="0" cap="flat">
            <a:noFill/>
            <a:prstDash val="solid"/>
            <a:miter lim="0"/>
          </a:ln>
        </p:spPr>
        <p:txBody>
          <a:bodyPr vert="horz" wrap="square" lIns="0" tIns="0" rIns="0" bIns="0"/>
          <a:lstStyle/>
          <a:p>
            <a:pPr algn="l" rtl="0" eaLnBrk="0">
              <a:lnSpc>
                <a:spcPct val="91552"/>
              </a:lnSpc>
              <a:tabLst/>
            </a:pPr>
            <a:endParaRPr sz="100" dirty="0">
              <a:latin typeface="Arial"/>
              <a:ea typeface="Arial"/>
              <a:cs typeface="Arial"/>
            </a:endParaRPr>
          </a:p>
          <a:p>
            <a:pPr marL="12700" algn="l" rtl="0" eaLnBrk="0">
              <a:lnSpc>
                <a:spcPct val="96000"/>
              </a:lnSpc>
              <a:tabLst>
                <a:tab pos="228600" algn="l"/>
              </a:tabLst>
            </a:pPr>
            <a:r>
              <a:rPr sz="2300" b="1" kern="0" spc="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船舶航行信息智能感知技术</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船</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舶</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航</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行</a:t>
            </a:r>
            <a:r>
              <a:rPr sz="2300" b="1" kern="0" spc="-13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自</a:t>
            </a:r>
            <a:r>
              <a:rPr sz="2300" b="1" kern="0" spc="-34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主</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决</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策</a:t>
            </a:r>
            <a:r>
              <a:rPr sz="2300" b="1" kern="0" spc="-37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及</a:t>
            </a:r>
            <a:r>
              <a:rPr sz="2300" b="1" kern="0" spc="-34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智</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能</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控</a:t>
            </a:r>
            <a:r>
              <a:rPr sz="2300" b="1" kern="0" spc="-34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制</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技术</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船</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岸</a:t>
            </a:r>
            <a:r>
              <a:rPr sz="2300" b="1" kern="0" spc="-32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一</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体</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化</a:t>
            </a:r>
            <a:r>
              <a:rPr sz="2300" b="1" kern="0" spc="-2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网</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络</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通</a:t>
            </a:r>
            <a:r>
              <a:rPr sz="2300" b="1" kern="0" spc="-36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信</a:t>
            </a:r>
            <a:r>
              <a:rPr sz="2300" b="1" kern="0" spc="-350" dirty="0">
                <a:solidFill>
                  <a:srgbClr val="000000">
                    <a:alpha val="100000"/>
                  </a:srgbClr>
                </a:solidFill>
                <a:latin typeface="Microsoft YaHei"/>
                <a:ea typeface="Microsoft YaHei"/>
                <a:cs typeface="Microsoft YaHei"/>
              </a:rPr>
              <a:t> </a:t>
            </a:r>
            <a:r>
              <a:rPr sz="2300" b="1" kern="0" spc="50" dirty="0">
                <a:solidFill>
                  <a:srgbClr val="000000">
                    <a:alpha val="100000"/>
                  </a:srgbClr>
                </a:solidFill>
                <a:latin typeface="Microsoft YaHei"/>
                <a:ea typeface="Microsoft YaHei"/>
                <a:cs typeface="Microsoft YaHei"/>
              </a:rPr>
              <a:t>保</a:t>
            </a:r>
            <a:r>
              <a:rPr sz="2300" b="1" kern="0" spc="-260" dirty="0">
                <a:solidFill>
                  <a:srgbClr val="000000">
                    <a:alpha val="100000"/>
                  </a:srgbClr>
                </a:solidFill>
                <a:latin typeface="Microsoft YaHei"/>
                <a:ea typeface="Microsoft YaHei"/>
                <a:cs typeface="Microsoft YaHei"/>
              </a:rPr>
              <a:t> </a:t>
            </a:r>
            <a:r>
              <a:rPr sz="2300" b="1" kern="0" spc="40" dirty="0">
                <a:solidFill>
                  <a:srgbClr val="000000">
                    <a:alpha val="100000"/>
                  </a:srgbClr>
                </a:solidFill>
                <a:latin typeface="Microsoft YaHei"/>
                <a:ea typeface="Microsoft YaHei"/>
                <a:cs typeface="Microsoft YaHei"/>
              </a:rPr>
              <a:t>障</a:t>
            </a:r>
            <a:r>
              <a:rPr sz="2300" b="1" kern="0" spc="-350" dirty="0">
                <a:solidFill>
                  <a:srgbClr val="000000">
                    <a:alpha val="100000"/>
                  </a:srgbClr>
                </a:solidFill>
                <a:latin typeface="Microsoft YaHei"/>
                <a:ea typeface="Microsoft YaHei"/>
                <a:cs typeface="Microsoft YaHei"/>
              </a:rPr>
              <a:t> </a:t>
            </a:r>
            <a:r>
              <a:rPr sz="2300" b="1" kern="0" spc="40" dirty="0">
                <a:solidFill>
                  <a:srgbClr val="000000">
                    <a:alpha val="100000"/>
                  </a:srgbClr>
                </a:solidFill>
                <a:latin typeface="Microsoft YaHei"/>
                <a:ea typeface="Microsoft YaHei"/>
                <a:cs typeface="Microsoft YaHei"/>
              </a:rPr>
              <a:t>技</a:t>
            </a:r>
            <a:r>
              <a:rPr sz="2300" b="1" kern="0" spc="-350" dirty="0">
                <a:solidFill>
                  <a:srgbClr val="000000">
                    <a:alpha val="100000"/>
                  </a:srgbClr>
                </a:solidFill>
                <a:latin typeface="Microsoft YaHei"/>
                <a:ea typeface="Microsoft YaHei"/>
                <a:cs typeface="Microsoft YaHei"/>
              </a:rPr>
              <a:t> </a:t>
            </a:r>
            <a:r>
              <a:rPr sz="2300" b="1" kern="0" spc="40" dirty="0">
                <a:solidFill>
                  <a:srgbClr val="000000">
                    <a:alpha val="100000"/>
                  </a:srgbClr>
                </a:solidFill>
                <a:latin typeface="Microsoft YaHei"/>
                <a:ea typeface="Microsoft YaHei"/>
                <a:cs typeface="Microsoft YaHei"/>
              </a:rPr>
              <a:t>术</a:t>
            </a:r>
            <a:endParaRPr sz="2300" dirty="0">
              <a:latin typeface="Microsoft YaHei"/>
              <a:ea typeface="Microsoft YaHei"/>
              <a:cs typeface="Microsoft YaHei"/>
            </a:endParaRPr>
          </a:p>
        </p:txBody>
      </p:sp>
      <p:pic>
        <p:nvPicPr>
          <p:cNvPr id="64" name="picture 64"/>
          <p:cNvPicPr>
            <a:picLocks noChangeAspect="1"/>
          </p:cNvPicPr>
          <p:nvPr/>
        </p:nvPicPr>
        <p:blipFill>
          <a:blip r:embed="rId7"/>
          <a:stretch>
            <a:fillRect/>
          </a:stretch>
        </p:blipFill>
        <p:spPr>
          <a:xfrm rot="21600000">
            <a:off x="759028" y="2466314"/>
            <a:ext cx="216408" cy="337718"/>
          </a:xfrm>
          <a:prstGeom prst="rect">
            <a:avLst/>
          </a:prstGeom>
        </p:spPr>
      </p:pic>
      <p:pic>
        <p:nvPicPr>
          <p:cNvPr id="66" name="picture 66"/>
          <p:cNvPicPr>
            <a:picLocks noChangeAspect="1"/>
          </p:cNvPicPr>
          <p:nvPr/>
        </p:nvPicPr>
        <p:blipFill>
          <a:blip r:embed="rId8"/>
          <a:stretch>
            <a:fillRect/>
          </a:stretch>
        </p:blipFill>
        <p:spPr>
          <a:xfrm rot="21600000">
            <a:off x="759028" y="1917674"/>
            <a:ext cx="216408" cy="337718"/>
          </a:xfrm>
          <a:prstGeom prst="rect">
            <a:avLst/>
          </a:prstGeom>
        </p:spPr>
      </p:pic>
      <p:pic>
        <p:nvPicPr>
          <p:cNvPr id="68" name="picture 68"/>
          <p:cNvPicPr>
            <a:picLocks noChangeAspect="1"/>
          </p:cNvPicPr>
          <p:nvPr/>
        </p:nvPicPr>
        <p:blipFill>
          <a:blip r:embed="rId9"/>
          <a:stretch>
            <a:fillRect/>
          </a:stretch>
        </p:blipFill>
        <p:spPr>
          <a:xfrm rot="21600000">
            <a:off x="759028" y="1369034"/>
            <a:ext cx="216408" cy="337718"/>
          </a:xfrm>
          <a:prstGeom prst="rect">
            <a:avLst/>
          </a:prstGeom>
        </p:spPr>
      </p:pic>
      <p:sp>
        <p:nvSpPr>
          <p:cNvPr id="70" name="textbox 70"/>
          <p:cNvSpPr/>
          <p:nvPr/>
        </p:nvSpPr>
        <p:spPr>
          <a:xfrm>
            <a:off x="9880896" y="4580187"/>
            <a:ext cx="1633220" cy="1508125"/>
          </a:xfrm>
          <a:prstGeom prst="rect">
            <a:avLst/>
          </a:prstGeom>
          <a:noFill/>
          <a:ln w="0" cap="flat">
            <a:noFill/>
            <a:prstDash val="solid"/>
            <a:miter lim="0"/>
          </a:ln>
        </p:spPr>
        <p:txBody>
          <a:bodyPr vert="horz" wrap="square" lIns="0" tIns="0" rIns="0" bIns="0"/>
          <a:lstStyle/>
          <a:p>
            <a:pPr algn="l" rtl="0" eaLnBrk="0">
              <a:lnSpc>
                <a:spcPct val="84211"/>
              </a:lnSpc>
              <a:tabLst/>
            </a:pPr>
            <a:endParaRPr sz="100" dirty="0">
              <a:latin typeface="Arial"/>
              <a:ea typeface="Arial"/>
              <a:cs typeface="Arial"/>
            </a:endParaRPr>
          </a:p>
          <a:p>
            <a:pPr marL="12700" algn="l" rtl="0" eaLnBrk="0">
              <a:lnSpc>
                <a:spcPct val="88000"/>
              </a:lnSpc>
              <a:tabLst/>
            </a:pPr>
            <a:r>
              <a:rPr sz="1500" b="1" kern="0" spc="90" dirty="0">
                <a:solidFill>
                  <a:srgbClr val="0000FF">
                    <a:alpha val="100000"/>
                  </a:srgbClr>
                </a:solidFill>
                <a:latin typeface="Microsoft YaHei"/>
                <a:ea typeface="Microsoft YaHei"/>
                <a:cs typeface="Microsoft YaHei"/>
              </a:rPr>
              <a:t>船岸通信系统</a:t>
            </a:r>
            <a:endParaRPr sz="1500" dirty="0">
              <a:latin typeface="Microsoft YaHei"/>
              <a:ea typeface="Microsoft YaHei"/>
              <a:cs typeface="Microsoft YaHei"/>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r" rtl="0" eaLnBrk="0">
              <a:lnSpc>
                <a:spcPct val="87000"/>
              </a:lnSpc>
              <a:spcBef>
                <a:spcPts val="461"/>
              </a:spcBef>
              <a:tabLst/>
            </a:pPr>
            <a:r>
              <a:rPr sz="1500" b="1" kern="0" spc="70" dirty="0">
                <a:solidFill>
                  <a:srgbClr val="0000FF">
                    <a:alpha val="100000"/>
                  </a:srgbClr>
                </a:solidFill>
                <a:latin typeface="Microsoft YaHei"/>
                <a:ea typeface="Microsoft YaHei"/>
                <a:cs typeface="Microsoft YaHei"/>
              </a:rPr>
              <a:t>降低延迟</a:t>
            </a:r>
            <a:endParaRPr sz="1500" dirty="0">
              <a:latin typeface="Microsoft YaHei"/>
              <a:ea typeface="Microsoft YaHei"/>
              <a:cs typeface="Microsoft YaHei"/>
            </a:endParaRPr>
          </a:p>
          <a:p>
            <a:pPr marL="790575" algn="l" rtl="0" eaLnBrk="0">
              <a:lnSpc>
                <a:spcPts val="3812"/>
              </a:lnSpc>
              <a:tabLst/>
            </a:pPr>
            <a:r>
              <a:rPr sz="1500" b="1" kern="0" spc="90" dirty="0">
                <a:solidFill>
                  <a:srgbClr val="0000FF">
                    <a:alpha val="100000"/>
                  </a:srgbClr>
                </a:solidFill>
                <a:latin typeface="Microsoft YaHei"/>
                <a:ea typeface="Microsoft YaHei"/>
                <a:cs typeface="Microsoft YaHei"/>
              </a:rPr>
              <a:t>提高稳定</a:t>
            </a:r>
            <a:endParaRPr sz="1500" dirty="0">
              <a:latin typeface="Microsoft YaHei"/>
              <a:ea typeface="Microsoft YaHei"/>
              <a:cs typeface="Microsoft YaHei"/>
            </a:endParaRPr>
          </a:p>
        </p:txBody>
      </p:sp>
      <p:sp>
        <p:nvSpPr>
          <p:cNvPr id="72" name="textbox 72"/>
          <p:cNvSpPr/>
          <p:nvPr/>
        </p:nvSpPr>
        <p:spPr>
          <a:xfrm>
            <a:off x="4036250" y="420509"/>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sp>
        <p:nvSpPr>
          <p:cNvPr id="74" name="rect 74"/>
          <p:cNvSpPr/>
          <p:nvPr/>
        </p:nvSpPr>
        <p:spPr>
          <a:xfrm>
            <a:off x="9497567" y="3118104"/>
            <a:ext cx="1808988" cy="368807"/>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76" name="textbox 76"/>
          <p:cNvSpPr/>
          <p:nvPr/>
        </p:nvSpPr>
        <p:spPr>
          <a:xfrm>
            <a:off x="9715601" y="3180943"/>
            <a:ext cx="1384300" cy="252095"/>
          </a:xfrm>
          <a:prstGeom prst="rect">
            <a:avLst/>
          </a:prstGeom>
          <a:noFill/>
          <a:ln w="0" cap="flat">
            <a:noFill/>
            <a:prstDash val="solid"/>
            <a:miter lim="0"/>
          </a:ln>
        </p:spPr>
        <p:txBody>
          <a:bodyPr vert="horz" wrap="square" lIns="0" tIns="0" rIns="0" bIns="0"/>
          <a:lstStyle/>
          <a:p>
            <a:pPr algn="l" rtl="0" eaLnBrk="0">
              <a:lnSpc>
                <a:spcPct val="90148"/>
              </a:lnSpc>
              <a:tabLst/>
            </a:pPr>
            <a:endParaRPr sz="100" dirty="0">
              <a:latin typeface="Arial"/>
              <a:ea typeface="Arial"/>
              <a:cs typeface="Arial"/>
            </a:endParaRPr>
          </a:p>
          <a:p>
            <a:pPr marL="12700" algn="l" rtl="0" eaLnBrk="0">
              <a:lnSpc>
                <a:spcPct val="87000"/>
              </a:lnSpc>
              <a:tabLst/>
            </a:pPr>
            <a:r>
              <a:rPr sz="1700" b="1" kern="0" spc="80" dirty="0">
                <a:solidFill>
                  <a:srgbClr val="000000">
                    <a:alpha val="100000"/>
                  </a:srgbClr>
                </a:solidFill>
                <a:latin typeface="Microsoft YaHei"/>
                <a:ea typeface="Microsoft YaHei"/>
                <a:cs typeface="Microsoft YaHei"/>
              </a:rPr>
              <a:t>网络安全保障</a:t>
            </a:r>
            <a:endParaRPr sz="1700" dirty="0">
              <a:latin typeface="Microsoft YaHei"/>
              <a:ea typeface="Microsoft YaHei"/>
              <a:cs typeface="Microsoft YaHe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box 78"/>
          <p:cNvSpPr/>
          <p:nvPr/>
        </p:nvSpPr>
        <p:spPr>
          <a:xfrm>
            <a:off x="640867" y="321627"/>
            <a:ext cx="10537190" cy="157670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4437379"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a:p>
            <a:pPr marL="12700" indent="454659" algn="l" rtl="0" eaLnBrk="0">
              <a:lnSpc>
                <a:spcPct val="153000"/>
              </a:lnSpc>
              <a:spcBef>
                <a:spcPts val="95"/>
              </a:spcBef>
              <a:tabLst/>
            </a:pPr>
            <a:r>
              <a:rPr sz="2300" b="1" kern="0" spc="90" dirty="0">
                <a:solidFill>
                  <a:srgbClr val="000000">
                    <a:alpha val="100000"/>
                  </a:srgbClr>
                </a:solidFill>
                <a:latin typeface="Microsoft YaHei"/>
                <a:ea typeface="Microsoft YaHei"/>
                <a:cs typeface="Microsoft YaHei"/>
              </a:rPr>
              <a:t>研发智能驾驶集成系统、</a:t>
            </a:r>
            <a:r>
              <a:rPr sz="2300" b="1" kern="0" spc="-54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拖轮智能航行系统、</a:t>
            </a:r>
            <a:r>
              <a:rPr sz="2300" b="1" kern="0" spc="-54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多款船舶自主航行及协同控制</a:t>
            </a:r>
            <a:r>
              <a:rPr sz="2300" b="1" kern="0" spc="80" dirty="0">
                <a:solidFill>
                  <a:srgbClr val="000000">
                    <a:alpha val="100000"/>
                  </a:srgbClr>
                </a:solidFill>
                <a:latin typeface="Microsoft YaHei"/>
                <a:ea typeface="Microsoft YaHei"/>
                <a:cs typeface="Microsoft YaHei"/>
              </a:rPr>
              <a:t>等系列智能运动控制技术产品</a:t>
            </a:r>
            <a:r>
              <a:rPr sz="2300" b="1" kern="0" spc="-38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a:t>
            </a:r>
            <a:r>
              <a:rPr sz="2300" b="1" kern="0" spc="-58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并成功应</a:t>
            </a:r>
            <a:r>
              <a:rPr sz="2300" b="1" kern="0" spc="70" dirty="0">
                <a:solidFill>
                  <a:srgbClr val="000000">
                    <a:alpha val="100000"/>
                  </a:srgbClr>
                </a:solidFill>
                <a:latin typeface="Microsoft YaHei"/>
                <a:ea typeface="Microsoft YaHei"/>
                <a:cs typeface="Microsoft YaHei"/>
              </a:rPr>
              <a:t>用于多艘船舶。</a:t>
            </a:r>
            <a:endParaRPr sz="2300" dirty="0">
              <a:latin typeface="Microsoft YaHei"/>
              <a:ea typeface="Microsoft YaHei"/>
              <a:cs typeface="Microsoft YaHei"/>
            </a:endParaRPr>
          </a:p>
        </p:txBody>
      </p:sp>
      <p:pic>
        <p:nvPicPr>
          <p:cNvPr id="80" name="picture 80"/>
          <p:cNvPicPr>
            <a:picLocks noChangeAspect="1"/>
          </p:cNvPicPr>
          <p:nvPr/>
        </p:nvPicPr>
        <p:blipFill>
          <a:blip r:embed="rId2"/>
          <a:stretch>
            <a:fillRect/>
          </a:stretch>
        </p:blipFill>
        <p:spPr>
          <a:xfrm rot="21600000">
            <a:off x="4367783" y="4614671"/>
            <a:ext cx="3569207" cy="2170176"/>
          </a:xfrm>
          <a:prstGeom prst="rect">
            <a:avLst/>
          </a:prstGeom>
        </p:spPr>
      </p:pic>
      <p:pic>
        <p:nvPicPr>
          <p:cNvPr id="82" name="picture 82"/>
          <p:cNvPicPr>
            <a:picLocks noChangeAspect="1"/>
          </p:cNvPicPr>
          <p:nvPr/>
        </p:nvPicPr>
        <p:blipFill>
          <a:blip r:embed="rId3"/>
          <a:stretch>
            <a:fillRect/>
          </a:stretch>
        </p:blipFill>
        <p:spPr>
          <a:xfrm rot="21600000">
            <a:off x="621792" y="4616195"/>
            <a:ext cx="3544823" cy="2170176"/>
          </a:xfrm>
          <a:prstGeom prst="rect">
            <a:avLst/>
          </a:prstGeom>
        </p:spPr>
      </p:pic>
      <p:pic>
        <p:nvPicPr>
          <p:cNvPr id="84" name="picture 84"/>
          <p:cNvPicPr>
            <a:picLocks noChangeAspect="1"/>
          </p:cNvPicPr>
          <p:nvPr/>
        </p:nvPicPr>
        <p:blipFill>
          <a:blip r:embed="rId4"/>
          <a:stretch>
            <a:fillRect/>
          </a:stretch>
        </p:blipFill>
        <p:spPr>
          <a:xfrm rot="21600000">
            <a:off x="8145780" y="4614671"/>
            <a:ext cx="3497580" cy="2170176"/>
          </a:xfrm>
          <a:prstGeom prst="rect">
            <a:avLst/>
          </a:prstGeom>
        </p:spPr>
      </p:pic>
      <p:pic>
        <p:nvPicPr>
          <p:cNvPr id="86" name="picture 86"/>
          <p:cNvPicPr>
            <a:picLocks noChangeAspect="1"/>
          </p:cNvPicPr>
          <p:nvPr/>
        </p:nvPicPr>
        <p:blipFill>
          <a:blip r:embed="rId5"/>
          <a:stretch>
            <a:fillRect/>
          </a:stretch>
        </p:blipFill>
        <p:spPr>
          <a:xfrm rot="21600000">
            <a:off x="4367783" y="2642616"/>
            <a:ext cx="3569207" cy="1923287"/>
          </a:xfrm>
          <a:prstGeom prst="rect">
            <a:avLst/>
          </a:prstGeom>
        </p:spPr>
      </p:pic>
      <p:pic>
        <p:nvPicPr>
          <p:cNvPr id="88" name="picture 88"/>
          <p:cNvPicPr>
            <a:picLocks noChangeAspect="1"/>
          </p:cNvPicPr>
          <p:nvPr/>
        </p:nvPicPr>
        <p:blipFill>
          <a:blip r:embed="rId6"/>
          <a:stretch>
            <a:fillRect/>
          </a:stretch>
        </p:blipFill>
        <p:spPr>
          <a:xfrm rot="21600000">
            <a:off x="637031" y="2604516"/>
            <a:ext cx="3529583" cy="1923287"/>
          </a:xfrm>
          <a:prstGeom prst="rect">
            <a:avLst/>
          </a:prstGeom>
        </p:spPr>
      </p:pic>
      <p:pic>
        <p:nvPicPr>
          <p:cNvPr id="90" name="picture 90"/>
          <p:cNvPicPr>
            <a:picLocks noChangeAspect="1"/>
          </p:cNvPicPr>
          <p:nvPr/>
        </p:nvPicPr>
        <p:blipFill>
          <a:blip r:embed="rId7"/>
          <a:stretch>
            <a:fillRect/>
          </a:stretch>
        </p:blipFill>
        <p:spPr>
          <a:xfrm rot="21600000">
            <a:off x="8145780" y="2644139"/>
            <a:ext cx="3497580" cy="1921764"/>
          </a:xfrm>
          <a:prstGeom prst="rect">
            <a:avLst/>
          </a:prstGeom>
        </p:spPr>
      </p:pic>
      <p:sp>
        <p:nvSpPr>
          <p:cNvPr id="92" name="textbox 92"/>
          <p:cNvSpPr/>
          <p:nvPr/>
        </p:nvSpPr>
        <p:spPr>
          <a:xfrm>
            <a:off x="4367783" y="2026920"/>
            <a:ext cx="3584575" cy="466725"/>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07000"/>
              </a:lnSpc>
              <a:tabLst/>
            </a:pPr>
            <a:endParaRPr sz="500" dirty="0">
              <a:latin typeface="Arial"/>
              <a:ea typeface="Arial"/>
              <a:cs typeface="Arial"/>
            </a:endParaRPr>
          </a:p>
          <a:p>
            <a:pPr marL="577215" algn="l" rtl="0" eaLnBrk="0">
              <a:lnSpc>
                <a:spcPct val="88000"/>
              </a:lnSpc>
              <a:spcBef>
                <a:spcPts val="6"/>
              </a:spcBef>
              <a:tabLst/>
            </a:pPr>
            <a:r>
              <a:rPr sz="2300" kern="0" spc="90" dirty="0">
                <a:solidFill>
                  <a:srgbClr val="FFFFFF">
                    <a:alpha val="100000"/>
                  </a:srgbClr>
                </a:solidFill>
                <a:latin typeface="Microsoft YaHei"/>
                <a:ea typeface="Microsoft YaHei"/>
                <a:cs typeface="Microsoft YaHei"/>
              </a:rPr>
              <a:t>拖轮智能航行系统</a:t>
            </a:r>
            <a:endParaRPr sz="2300" dirty="0">
              <a:latin typeface="Microsoft YaHei"/>
              <a:ea typeface="Microsoft YaHei"/>
              <a:cs typeface="Microsoft YaHei"/>
            </a:endParaRPr>
          </a:p>
        </p:txBody>
      </p:sp>
      <p:sp>
        <p:nvSpPr>
          <p:cNvPr id="94" name="textbox 94"/>
          <p:cNvSpPr/>
          <p:nvPr/>
        </p:nvSpPr>
        <p:spPr>
          <a:xfrm>
            <a:off x="629412" y="2026920"/>
            <a:ext cx="3538854" cy="466725"/>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07000"/>
              </a:lnSpc>
              <a:tabLst/>
            </a:pPr>
            <a:endParaRPr sz="500" dirty="0">
              <a:latin typeface="Arial"/>
              <a:ea typeface="Arial"/>
              <a:cs typeface="Arial"/>
            </a:endParaRPr>
          </a:p>
          <a:p>
            <a:pPr marL="551815" algn="l" rtl="0" eaLnBrk="0">
              <a:lnSpc>
                <a:spcPct val="88000"/>
              </a:lnSpc>
              <a:spcBef>
                <a:spcPts val="6"/>
              </a:spcBef>
              <a:tabLst/>
            </a:pPr>
            <a:r>
              <a:rPr sz="2300" kern="0" spc="90" dirty="0">
                <a:solidFill>
                  <a:srgbClr val="FFFFFF">
                    <a:alpha val="100000"/>
                  </a:srgbClr>
                </a:solidFill>
                <a:latin typeface="Microsoft YaHei"/>
                <a:ea typeface="Microsoft YaHei"/>
                <a:cs typeface="Microsoft YaHei"/>
              </a:rPr>
              <a:t>智能驾驶集成系统</a:t>
            </a:r>
            <a:endParaRPr sz="2300" dirty="0">
              <a:latin typeface="Microsoft YaHei"/>
              <a:ea typeface="Microsoft YaHei"/>
              <a:cs typeface="Microsoft YaHei"/>
            </a:endParaRPr>
          </a:p>
        </p:txBody>
      </p:sp>
      <p:sp>
        <p:nvSpPr>
          <p:cNvPr id="96" name="textbox 96"/>
          <p:cNvSpPr/>
          <p:nvPr/>
        </p:nvSpPr>
        <p:spPr>
          <a:xfrm>
            <a:off x="8151876" y="2026920"/>
            <a:ext cx="3491865" cy="466725"/>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07000"/>
              </a:lnSpc>
              <a:tabLst/>
            </a:pPr>
            <a:endParaRPr sz="500" dirty="0">
              <a:latin typeface="Arial"/>
              <a:ea typeface="Arial"/>
              <a:cs typeface="Arial"/>
            </a:endParaRPr>
          </a:p>
          <a:p>
            <a:pPr marL="225425" algn="l" rtl="0" eaLnBrk="0">
              <a:lnSpc>
                <a:spcPct val="88000"/>
              </a:lnSpc>
              <a:spcBef>
                <a:spcPts val="1"/>
              </a:spcBef>
              <a:tabLst/>
            </a:pPr>
            <a:r>
              <a:rPr sz="2300" kern="0" spc="90" dirty="0">
                <a:solidFill>
                  <a:srgbClr val="FFFFFF">
                    <a:alpha val="100000"/>
                  </a:srgbClr>
                </a:solidFill>
                <a:latin typeface="Microsoft YaHei"/>
                <a:ea typeface="Microsoft YaHei"/>
                <a:cs typeface="Microsoft YaHei"/>
              </a:rPr>
              <a:t>船舶自主协同控制系统</a:t>
            </a:r>
            <a:endParaRPr sz="2300" dirty="0">
              <a:latin typeface="Microsoft YaHei"/>
              <a:ea typeface="Microsoft YaHei"/>
              <a:cs typeface="Microsoft YaHe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6019800" y="1685543"/>
            <a:ext cx="5791200" cy="4351020"/>
          </a:xfrm>
          <a:prstGeom prst="rect">
            <a:avLst/>
          </a:prstGeom>
        </p:spPr>
      </p:pic>
      <p:sp>
        <p:nvSpPr>
          <p:cNvPr id="4" name="textbox 4"/>
          <p:cNvSpPr/>
          <p:nvPr/>
        </p:nvSpPr>
        <p:spPr>
          <a:xfrm>
            <a:off x="536112" y="1844368"/>
            <a:ext cx="5282565" cy="4228465"/>
          </a:xfrm>
          <a:prstGeom prst="rect">
            <a:avLst/>
          </a:prstGeom>
          <a:noFill/>
          <a:ln w="0" cap="flat">
            <a:noFill/>
            <a:prstDash val="solid"/>
            <a:miter lim="0"/>
          </a:ln>
        </p:spPr>
        <p:txBody>
          <a:bodyPr vert="horz" wrap="square" lIns="0" tIns="0" rIns="0" bIns="0"/>
          <a:lstStyle/>
          <a:p>
            <a:pPr algn="l" rtl="0" eaLnBrk="0">
              <a:lnSpc>
                <a:spcPct val="79081"/>
              </a:lnSpc>
              <a:tabLst/>
            </a:pPr>
            <a:endParaRPr sz="100" dirty="0">
              <a:latin typeface="Arial"/>
              <a:ea typeface="Arial"/>
              <a:cs typeface="Arial"/>
            </a:endParaRPr>
          </a:p>
          <a:p>
            <a:pPr algn="r" rtl="0" eaLnBrk="0">
              <a:lnSpc>
                <a:spcPct val="86000"/>
              </a:lnSpc>
              <a:tabLst/>
            </a:pPr>
            <a:r>
              <a:rPr sz="2700" kern="0" spc="-70" dirty="0">
                <a:solidFill>
                  <a:srgbClr val="000000">
                    <a:alpha val="100000"/>
                  </a:srgbClr>
                </a:solidFill>
                <a:latin typeface="Microsoft YaHei"/>
                <a:ea typeface="Microsoft YaHei"/>
                <a:cs typeface="Microsoft YaHei"/>
              </a:rPr>
              <a:t>船闸的核心设备</a:t>
            </a:r>
            <a:r>
              <a:rPr sz="2700" kern="0" spc="-370" dirty="0">
                <a:solidFill>
                  <a:srgbClr val="000000">
                    <a:alpha val="100000"/>
                  </a:srgbClr>
                </a:solidFill>
                <a:latin typeface="Microsoft YaHei"/>
                <a:ea typeface="Microsoft YaHei"/>
                <a:cs typeface="Microsoft YaHei"/>
              </a:rPr>
              <a:t> </a:t>
            </a:r>
            <a:r>
              <a:rPr sz="2700" kern="0" spc="-70" dirty="0">
                <a:solidFill>
                  <a:srgbClr val="000000">
                    <a:alpha val="100000"/>
                  </a:srgbClr>
                </a:solidFill>
                <a:latin typeface="Microsoft YaHei"/>
                <a:ea typeface="Microsoft YaHei"/>
                <a:cs typeface="Microsoft YaHei"/>
              </a:rPr>
              <a:t>，</a:t>
            </a:r>
            <a:r>
              <a:rPr sz="2700" kern="0" spc="-700" dirty="0">
                <a:solidFill>
                  <a:srgbClr val="000000">
                    <a:alpha val="100000"/>
                  </a:srgbClr>
                </a:solidFill>
                <a:latin typeface="Microsoft YaHei"/>
                <a:ea typeface="Microsoft YaHei"/>
                <a:cs typeface="Microsoft YaHei"/>
              </a:rPr>
              <a:t> </a:t>
            </a:r>
            <a:r>
              <a:rPr sz="2700" kern="0" spc="-70" dirty="0">
                <a:solidFill>
                  <a:srgbClr val="000000">
                    <a:alpha val="100000"/>
                  </a:srgbClr>
                </a:solidFill>
                <a:latin typeface="Microsoft YaHei"/>
                <a:ea typeface="Microsoft YaHei"/>
                <a:cs typeface="Microsoft YaHei"/>
              </a:rPr>
              <a:t>如闸门启闭机、</a:t>
            </a:r>
            <a:endParaRPr sz="2700" dirty="0">
              <a:latin typeface="Microsoft YaHei"/>
              <a:ea typeface="Microsoft YaHei"/>
              <a:cs typeface="Microsoft YaHei"/>
            </a:endParaRPr>
          </a:p>
          <a:p>
            <a:pPr marL="13334" algn="l" rtl="0" eaLnBrk="0">
              <a:lnSpc>
                <a:spcPct val="157000"/>
              </a:lnSpc>
              <a:spcBef>
                <a:spcPts val="41"/>
              </a:spcBef>
              <a:tabLst/>
            </a:pPr>
            <a:r>
              <a:rPr sz="2700" kern="0" spc="70" dirty="0">
                <a:solidFill>
                  <a:srgbClr val="000000">
                    <a:alpha val="100000"/>
                  </a:srgbClr>
                </a:solidFill>
                <a:latin typeface="Microsoft YaHei"/>
                <a:ea typeface="Microsoft YaHei"/>
                <a:cs typeface="Microsoft YaHei"/>
              </a:rPr>
              <a:t>液压系统、</a:t>
            </a:r>
            <a:r>
              <a:rPr sz="2700" kern="0" spc="-610" dirty="0">
                <a:solidFill>
                  <a:srgbClr val="000000">
                    <a:alpha val="100000"/>
                  </a:srgbClr>
                </a:solidFill>
                <a:latin typeface="Microsoft YaHei"/>
                <a:ea typeface="Microsoft YaHei"/>
                <a:cs typeface="Microsoft YaHei"/>
              </a:rPr>
              <a:t> </a:t>
            </a:r>
            <a:r>
              <a:rPr sz="2700" kern="0" spc="70" dirty="0">
                <a:solidFill>
                  <a:srgbClr val="000000">
                    <a:alpha val="100000"/>
                  </a:srgbClr>
                </a:solidFill>
                <a:latin typeface="Microsoft YaHei"/>
                <a:ea typeface="Microsoft YaHei"/>
                <a:cs typeface="Microsoft YaHei"/>
              </a:rPr>
              <a:t>缆车导向系统、</a:t>
            </a:r>
            <a:r>
              <a:rPr sz="2700" kern="0" spc="-630" dirty="0">
                <a:solidFill>
                  <a:srgbClr val="000000">
                    <a:alpha val="100000"/>
                  </a:srgbClr>
                </a:solidFill>
                <a:latin typeface="Microsoft YaHei"/>
                <a:ea typeface="Microsoft YaHei"/>
                <a:cs typeface="Microsoft YaHei"/>
              </a:rPr>
              <a:t> </a:t>
            </a:r>
            <a:r>
              <a:rPr sz="2700" kern="0" spc="70" dirty="0">
                <a:solidFill>
                  <a:srgbClr val="000000">
                    <a:alpha val="100000"/>
                  </a:srgbClr>
                </a:solidFill>
                <a:latin typeface="Microsoft YaHei"/>
                <a:ea typeface="Microsoft YaHei"/>
                <a:cs typeface="Microsoft YaHei"/>
              </a:rPr>
              <a:t>止水</a:t>
            </a:r>
            <a:r>
              <a:rPr sz="2700" kern="0" spc="100" dirty="0">
                <a:solidFill>
                  <a:srgbClr val="000000">
                    <a:alpha val="100000"/>
                  </a:srgbClr>
                </a:solidFill>
                <a:latin typeface="Microsoft YaHei"/>
                <a:ea typeface="Microsoft YaHei"/>
                <a:cs typeface="Microsoft YaHei"/>
              </a:rPr>
              <a:t>装置等关键部件的运</a:t>
            </a:r>
            <a:r>
              <a:rPr sz="2700" kern="0" spc="90" dirty="0">
                <a:solidFill>
                  <a:srgbClr val="000000">
                    <a:alpha val="100000"/>
                  </a:srgbClr>
                </a:solidFill>
                <a:latin typeface="Microsoft YaHei"/>
                <a:ea typeface="Microsoft YaHei"/>
                <a:cs typeface="Microsoft YaHei"/>
              </a:rPr>
              <a:t>行状态（如</a:t>
            </a:r>
            <a:r>
              <a:rPr sz="2700" kern="0" spc="50" dirty="0">
                <a:solidFill>
                  <a:srgbClr val="000000">
                    <a:alpha val="100000"/>
                  </a:srgbClr>
                </a:solidFill>
                <a:latin typeface="Microsoft YaHei"/>
                <a:ea typeface="Microsoft YaHei"/>
                <a:cs typeface="Microsoft YaHei"/>
              </a:rPr>
              <a:t>振动、</a:t>
            </a:r>
            <a:r>
              <a:rPr sz="2700" kern="0" spc="-670" dirty="0">
                <a:solidFill>
                  <a:srgbClr val="000000">
                    <a:alpha val="100000"/>
                  </a:srgbClr>
                </a:solidFill>
                <a:latin typeface="Microsoft YaHei"/>
                <a:ea typeface="Microsoft YaHei"/>
                <a:cs typeface="Microsoft YaHei"/>
              </a:rPr>
              <a:t> </a:t>
            </a:r>
            <a:r>
              <a:rPr sz="2700" kern="0" spc="50" dirty="0">
                <a:solidFill>
                  <a:srgbClr val="000000">
                    <a:alpha val="100000"/>
                  </a:srgbClr>
                </a:solidFill>
                <a:latin typeface="Microsoft YaHei"/>
                <a:ea typeface="Microsoft YaHei"/>
                <a:cs typeface="Microsoft YaHei"/>
              </a:rPr>
              <a:t>液压、</a:t>
            </a:r>
            <a:r>
              <a:rPr sz="2700" kern="0" spc="-650" dirty="0">
                <a:solidFill>
                  <a:srgbClr val="000000">
                    <a:alpha val="100000"/>
                  </a:srgbClr>
                </a:solidFill>
                <a:latin typeface="Microsoft YaHei"/>
                <a:ea typeface="Microsoft YaHei"/>
                <a:cs typeface="Microsoft YaHei"/>
              </a:rPr>
              <a:t> </a:t>
            </a:r>
            <a:r>
              <a:rPr sz="2700" kern="0" spc="50" dirty="0">
                <a:solidFill>
                  <a:srgbClr val="000000">
                    <a:alpha val="100000"/>
                  </a:srgbClr>
                </a:solidFill>
                <a:latin typeface="Microsoft YaHei"/>
                <a:ea typeface="Microsoft YaHei"/>
                <a:cs typeface="Microsoft YaHei"/>
              </a:rPr>
              <a:t>温度、</a:t>
            </a:r>
            <a:r>
              <a:rPr sz="2700" kern="0" spc="-660" dirty="0">
                <a:solidFill>
                  <a:srgbClr val="000000">
                    <a:alpha val="100000"/>
                  </a:srgbClr>
                </a:solidFill>
                <a:latin typeface="Microsoft YaHei"/>
                <a:ea typeface="Microsoft YaHei"/>
                <a:cs typeface="Microsoft YaHei"/>
              </a:rPr>
              <a:t> </a:t>
            </a:r>
            <a:r>
              <a:rPr sz="2700" kern="0" spc="50" dirty="0">
                <a:solidFill>
                  <a:srgbClr val="000000">
                    <a:alpha val="100000"/>
                  </a:srgbClr>
                </a:solidFill>
                <a:latin typeface="Microsoft YaHei"/>
                <a:ea typeface="Microsoft YaHei"/>
                <a:cs typeface="Microsoft YaHei"/>
              </a:rPr>
              <a:t>位</a:t>
            </a:r>
            <a:r>
              <a:rPr sz="2700" kern="0" spc="40" dirty="0">
                <a:solidFill>
                  <a:srgbClr val="000000">
                    <a:alpha val="100000"/>
                  </a:srgbClr>
                </a:solidFill>
                <a:latin typeface="Microsoft YaHei"/>
                <a:ea typeface="Microsoft YaHei"/>
                <a:cs typeface="Microsoft YaHei"/>
              </a:rPr>
              <a:t>移等）</a:t>
            </a:r>
            <a:r>
              <a:rPr sz="2700" kern="0" spc="-540" dirty="0">
                <a:solidFill>
                  <a:srgbClr val="000000">
                    <a:alpha val="100000"/>
                  </a:srgbClr>
                </a:solidFill>
                <a:latin typeface="Microsoft YaHei"/>
                <a:ea typeface="Microsoft YaHei"/>
                <a:cs typeface="Microsoft YaHei"/>
              </a:rPr>
              <a:t> </a:t>
            </a:r>
            <a:r>
              <a:rPr sz="2700" kern="0" spc="40" dirty="0">
                <a:solidFill>
                  <a:srgbClr val="000000">
                    <a:alpha val="100000"/>
                  </a:srgbClr>
                </a:solidFill>
                <a:latin typeface="Microsoft YaHei"/>
                <a:ea typeface="Microsoft YaHei"/>
                <a:cs typeface="Microsoft YaHei"/>
              </a:rPr>
              <a:t>的</a:t>
            </a:r>
            <a:r>
              <a:rPr sz="2700" kern="0" spc="60" dirty="0">
                <a:solidFill>
                  <a:srgbClr val="000000">
                    <a:alpha val="100000"/>
                  </a:srgbClr>
                </a:solidFill>
                <a:latin typeface="Microsoft YaHei"/>
                <a:ea typeface="Microsoft YaHei"/>
                <a:cs typeface="Microsoft YaHei"/>
              </a:rPr>
              <a:t>在线监测与故障智能诊断</a:t>
            </a:r>
            <a:r>
              <a:rPr sz="2700" kern="0" spc="-380" dirty="0">
                <a:solidFill>
                  <a:srgbClr val="000000">
                    <a:alpha val="100000"/>
                  </a:srgbClr>
                </a:solidFill>
                <a:latin typeface="Microsoft YaHei"/>
                <a:ea typeface="Microsoft YaHei"/>
                <a:cs typeface="Microsoft YaHei"/>
              </a:rPr>
              <a:t> </a:t>
            </a:r>
            <a:r>
              <a:rPr sz="2700" kern="0" spc="50" dirty="0">
                <a:solidFill>
                  <a:srgbClr val="000000">
                    <a:alpha val="100000"/>
                  </a:srgbClr>
                </a:solidFill>
                <a:latin typeface="Microsoft YaHei"/>
                <a:ea typeface="Microsoft YaHei"/>
                <a:cs typeface="Microsoft YaHei"/>
              </a:rPr>
              <a:t>，</a:t>
            </a:r>
            <a:r>
              <a:rPr sz="2700" kern="0" spc="-690" dirty="0">
                <a:solidFill>
                  <a:srgbClr val="000000">
                    <a:alpha val="100000"/>
                  </a:srgbClr>
                </a:solidFill>
                <a:latin typeface="Microsoft YaHei"/>
                <a:ea typeface="Microsoft YaHei"/>
                <a:cs typeface="Microsoft YaHei"/>
              </a:rPr>
              <a:t> </a:t>
            </a:r>
            <a:r>
              <a:rPr sz="2700" kern="0" spc="50" dirty="0">
                <a:solidFill>
                  <a:srgbClr val="000000">
                    <a:alpha val="100000"/>
                  </a:srgbClr>
                </a:solidFill>
                <a:latin typeface="Microsoft YaHei"/>
                <a:ea typeface="Microsoft YaHei"/>
                <a:cs typeface="Microsoft YaHei"/>
              </a:rPr>
              <a:t>提高</a:t>
            </a:r>
            <a:r>
              <a:rPr sz="2700" kern="0" spc="40" dirty="0">
                <a:solidFill>
                  <a:srgbClr val="000000">
                    <a:alpha val="100000"/>
                  </a:srgbClr>
                </a:solidFill>
                <a:latin typeface="Microsoft YaHei"/>
                <a:ea typeface="Microsoft YaHei"/>
                <a:cs typeface="Microsoft YaHei"/>
              </a:rPr>
              <a:t>设备的可靠性</a:t>
            </a:r>
            <a:r>
              <a:rPr sz="2700" kern="0" spc="-370" dirty="0">
                <a:solidFill>
                  <a:srgbClr val="000000">
                    <a:alpha val="100000"/>
                  </a:srgbClr>
                </a:solidFill>
                <a:latin typeface="Microsoft YaHei"/>
                <a:ea typeface="Microsoft YaHei"/>
                <a:cs typeface="Microsoft YaHei"/>
              </a:rPr>
              <a:t> </a:t>
            </a:r>
            <a:r>
              <a:rPr sz="2700" kern="0" spc="40" dirty="0">
                <a:solidFill>
                  <a:srgbClr val="000000">
                    <a:alpha val="100000"/>
                  </a:srgbClr>
                </a:solidFill>
                <a:latin typeface="Microsoft YaHei"/>
                <a:ea typeface="Microsoft YaHei"/>
                <a:cs typeface="Microsoft YaHei"/>
              </a:rPr>
              <a:t>，</a:t>
            </a:r>
            <a:r>
              <a:rPr sz="2700" kern="0" spc="-550" dirty="0">
                <a:solidFill>
                  <a:srgbClr val="000000">
                    <a:alpha val="100000"/>
                  </a:srgbClr>
                </a:solidFill>
                <a:latin typeface="Microsoft YaHei"/>
                <a:ea typeface="Microsoft YaHei"/>
                <a:cs typeface="Microsoft YaHei"/>
              </a:rPr>
              <a:t> </a:t>
            </a:r>
            <a:r>
              <a:rPr sz="2700" kern="0" spc="40" dirty="0">
                <a:solidFill>
                  <a:srgbClr val="000000">
                    <a:alpha val="100000"/>
                  </a:srgbClr>
                </a:solidFill>
                <a:latin typeface="Microsoft YaHei"/>
                <a:ea typeface="Microsoft YaHei"/>
                <a:cs typeface="Microsoft YaHei"/>
              </a:rPr>
              <a:t>降低维护成本，</a:t>
            </a:r>
            <a:endParaRPr sz="2700" dirty="0">
              <a:latin typeface="Microsoft YaHei"/>
              <a:ea typeface="Microsoft YaHei"/>
              <a:cs typeface="Microsoft YaHei"/>
            </a:endParaRPr>
          </a:p>
          <a:p>
            <a:pPr algn="l" rtl="0" eaLnBrk="0">
              <a:lnSpc>
                <a:spcPct val="103000"/>
              </a:lnSpc>
              <a:tabLst/>
            </a:pPr>
            <a:endParaRPr sz="1600" dirty="0">
              <a:latin typeface="Arial"/>
              <a:ea typeface="Arial"/>
              <a:cs typeface="Arial"/>
            </a:endParaRPr>
          </a:p>
          <a:p>
            <a:pPr algn="l" rtl="0" eaLnBrk="0">
              <a:lnSpc>
                <a:spcPct val="9684"/>
              </a:lnSpc>
              <a:tabLst/>
            </a:pPr>
            <a:endParaRPr sz="100" dirty="0">
              <a:latin typeface="Arial"/>
              <a:ea typeface="Arial"/>
              <a:cs typeface="Arial"/>
            </a:endParaRPr>
          </a:p>
          <a:p>
            <a:pPr marL="12700" algn="l" rtl="0" eaLnBrk="0">
              <a:lnSpc>
                <a:spcPct val="88000"/>
              </a:lnSpc>
              <a:tabLst/>
            </a:pPr>
            <a:r>
              <a:rPr sz="2700" kern="0" spc="90" dirty="0">
                <a:solidFill>
                  <a:srgbClr val="000000">
                    <a:alpha val="100000"/>
                  </a:srgbClr>
                </a:solidFill>
                <a:latin typeface="Microsoft YaHei"/>
                <a:ea typeface="Microsoft YaHei"/>
                <a:cs typeface="Microsoft YaHei"/>
              </a:rPr>
              <a:t>从而保证设备的连续可靠运行</a:t>
            </a:r>
            <a:r>
              <a:rPr sz="2700" kern="0" spc="80" dirty="0">
                <a:solidFill>
                  <a:srgbClr val="000000">
                    <a:alpha val="100000"/>
                  </a:srgbClr>
                </a:solidFill>
                <a:latin typeface="Microsoft YaHei"/>
                <a:ea typeface="Microsoft YaHei"/>
                <a:cs typeface="Microsoft YaHei"/>
              </a:rPr>
              <a:t>。</a:t>
            </a:r>
            <a:endParaRPr sz="2700" dirty="0">
              <a:latin typeface="Microsoft YaHei"/>
              <a:ea typeface="Microsoft YaHei"/>
              <a:cs typeface="Microsoft YaHei"/>
            </a:endParaRPr>
          </a:p>
        </p:txBody>
      </p:sp>
      <p:sp>
        <p:nvSpPr>
          <p:cNvPr id="6" name="textbox 6"/>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90" dirty="0">
                <a:solidFill>
                  <a:srgbClr val="FFFFFF">
                    <a:alpha val="100000"/>
                  </a:srgbClr>
                </a:solidFill>
                <a:latin typeface="Microsoft YaHei"/>
                <a:ea typeface="Microsoft YaHei"/>
                <a:cs typeface="Microsoft YaHei"/>
              </a:rPr>
              <a:t>2.4 </a:t>
            </a:r>
            <a:r>
              <a:rPr sz="2700" b="1" kern="0" spc="90" dirty="0">
                <a:solidFill>
                  <a:srgbClr val="FFFFFF">
                    <a:alpha val="100000"/>
                  </a:srgbClr>
                </a:solidFill>
                <a:latin typeface="DengXian"/>
                <a:ea typeface="DengXian"/>
                <a:cs typeface="DengXian"/>
              </a:rPr>
              <a:t>基于工业互联</a:t>
            </a:r>
            <a:r>
              <a:rPr sz="2700" b="1" kern="0" spc="80" dirty="0">
                <a:solidFill>
                  <a:srgbClr val="FFFFFF">
                    <a:alpha val="100000"/>
                  </a:srgbClr>
                </a:solidFill>
                <a:latin typeface="DengXian"/>
                <a:ea typeface="DengXian"/>
                <a:cs typeface="DengXian"/>
              </a:rPr>
              <a:t>网的船闸机设备故障预警和诊断系统</a:t>
            </a:r>
            <a:endParaRPr sz="2700" dirty="0">
              <a:latin typeface="DengXian"/>
              <a:ea typeface="DengXian"/>
              <a:cs typeface="DengXian"/>
            </a:endParaRPr>
          </a:p>
        </p:txBody>
      </p:sp>
      <p:sp>
        <p:nvSpPr>
          <p:cNvPr id="8" name="textbox 8"/>
          <p:cNvSpPr/>
          <p:nvPr/>
        </p:nvSpPr>
        <p:spPr>
          <a:xfrm>
            <a:off x="4741900" y="711771"/>
            <a:ext cx="2761614" cy="49021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p:cNvPicPr>
          <p:nvPr/>
        </p:nvPicPr>
        <p:blipFill>
          <a:blip r:embed="rId2"/>
          <a:stretch>
            <a:fillRect/>
          </a:stretch>
        </p:blipFill>
        <p:spPr>
          <a:xfrm rot="21600000">
            <a:off x="466344" y="3080003"/>
            <a:ext cx="10421112" cy="2941320"/>
          </a:xfrm>
          <a:prstGeom prst="rect">
            <a:avLst/>
          </a:prstGeom>
        </p:spPr>
      </p:pic>
      <p:sp>
        <p:nvSpPr>
          <p:cNvPr id="12" name="textbox 12"/>
          <p:cNvSpPr/>
          <p:nvPr/>
        </p:nvSpPr>
        <p:spPr>
          <a:xfrm>
            <a:off x="667842" y="192697"/>
            <a:ext cx="7160894" cy="2862579"/>
          </a:xfrm>
          <a:prstGeom prst="rect">
            <a:avLst/>
          </a:prstGeom>
          <a:noFill/>
          <a:ln w="0" cap="flat">
            <a:noFill/>
            <a:prstDash val="solid"/>
            <a:miter lim="0"/>
          </a:ln>
        </p:spPr>
        <p:txBody>
          <a:bodyPr vert="horz" wrap="square" lIns="0" tIns="0" rIns="0" bIns="0"/>
          <a:lstStyle/>
          <a:p>
            <a:pPr algn="l" rtl="0" eaLnBrk="0">
              <a:lnSpc>
                <a:spcPct val="95393"/>
              </a:lnSpc>
              <a:tabLst/>
            </a:pPr>
            <a:endParaRPr sz="100" dirty="0">
              <a:latin typeface="Arial"/>
              <a:ea typeface="Arial"/>
              <a:cs typeface="Arial"/>
            </a:endParaRPr>
          </a:p>
          <a:p>
            <a:pPr algn="r"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a:p>
            <a:pPr algn="l" rtl="0" eaLnBrk="0">
              <a:lnSpc>
                <a:spcPct val="197000"/>
              </a:lnSpc>
              <a:tabLst/>
            </a:pPr>
            <a:endParaRPr sz="1000" dirty="0">
              <a:latin typeface="Arial"/>
              <a:ea typeface="Arial"/>
              <a:cs typeface="Arial"/>
            </a:endParaRPr>
          </a:p>
          <a:p>
            <a:pPr marL="12700" algn="l" rtl="0" eaLnBrk="0">
              <a:lnSpc>
                <a:spcPct val="96000"/>
              </a:lnSpc>
              <a:spcBef>
                <a:spcPts val="695"/>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稳定可靠的工业物联</a:t>
            </a:r>
            <a:r>
              <a:rPr sz="2300" b="1" kern="0" spc="90" dirty="0">
                <a:solidFill>
                  <a:srgbClr val="000000">
                    <a:alpha val="100000"/>
                  </a:srgbClr>
                </a:solidFill>
                <a:latin typeface="Microsoft YaHei"/>
                <a:ea typeface="Microsoft YaHei"/>
                <a:cs typeface="Microsoft YaHei"/>
              </a:rPr>
              <a:t>网数据采集平台</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智能精准的设备故障预警模型</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完善有效的故障诊断知识库</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可视可知的设备画像应用</a:t>
            </a:r>
            <a:endParaRPr sz="2300" dirty="0">
              <a:latin typeface="Microsoft YaHei"/>
              <a:ea typeface="Microsoft YaHei"/>
              <a:cs typeface="Microsoft YaHei"/>
            </a:endParaRPr>
          </a:p>
        </p:txBody>
      </p:sp>
      <p:pic>
        <p:nvPicPr>
          <p:cNvPr id="14" name="picture 14"/>
          <p:cNvPicPr>
            <a:picLocks noChangeAspect="1"/>
          </p:cNvPicPr>
          <p:nvPr/>
        </p:nvPicPr>
        <p:blipFill>
          <a:blip r:embed="rId3"/>
          <a:stretch>
            <a:fillRect/>
          </a:stretch>
        </p:blipFill>
        <p:spPr>
          <a:xfrm rot="21600000">
            <a:off x="680542" y="2704413"/>
            <a:ext cx="216408" cy="337718"/>
          </a:xfrm>
          <a:prstGeom prst="rect">
            <a:avLst/>
          </a:prstGeom>
        </p:spPr>
      </p:pic>
      <p:pic>
        <p:nvPicPr>
          <p:cNvPr id="16" name="picture 16"/>
          <p:cNvPicPr>
            <a:picLocks noChangeAspect="1"/>
          </p:cNvPicPr>
          <p:nvPr/>
        </p:nvPicPr>
        <p:blipFill>
          <a:blip r:embed="rId4"/>
          <a:stretch>
            <a:fillRect/>
          </a:stretch>
        </p:blipFill>
        <p:spPr>
          <a:xfrm rot="21600000">
            <a:off x="680542" y="2155773"/>
            <a:ext cx="216408" cy="337718"/>
          </a:xfrm>
          <a:prstGeom prst="rect">
            <a:avLst/>
          </a:prstGeom>
        </p:spPr>
      </p:pic>
      <p:pic>
        <p:nvPicPr>
          <p:cNvPr id="18" name="picture 18"/>
          <p:cNvPicPr>
            <a:picLocks noChangeAspect="1"/>
          </p:cNvPicPr>
          <p:nvPr/>
        </p:nvPicPr>
        <p:blipFill>
          <a:blip r:embed="rId5"/>
          <a:stretch>
            <a:fillRect/>
          </a:stretch>
        </p:blipFill>
        <p:spPr>
          <a:xfrm rot="21600000">
            <a:off x="680542" y="1607134"/>
            <a:ext cx="216408" cy="337718"/>
          </a:xfrm>
          <a:prstGeom prst="rect">
            <a:avLst/>
          </a:prstGeom>
        </p:spPr>
      </p:pic>
      <p:pic>
        <p:nvPicPr>
          <p:cNvPr id="20" name="picture 20"/>
          <p:cNvPicPr>
            <a:picLocks noChangeAspect="1"/>
          </p:cNvPicPr>
          <p:nvPr/>
        </p:nvPicPr>
        <p:blipFill>
          <a:blip r:embed="rId6"/>
          <a:stretch>
            <a:fillRect/>
          </a:stretch>
        </p:blipFill>
        <p:spPr>
          <a:xfrm rot="21600000">
            <a:off x="680542" y="1058494"/>
            <a:ext cx="216408" cy="337718"/>
          </a:xfrm>
          <a:prstGeom prst="rect">
            <a:avLst/>
          </a:prstGeom>
        </p:spPr>
      </p:pic>
      <p:sp>
        <p:nvSpPr>
          <p:cNvPr id="22" name="textbox 22"/>
          <p:cNvSpPr/>
          <p:nvPr/>
        </p:nvSpPr>
        <p:spPr>
          <a:xfrm>
            <a:off x="3616020" y="6262839"/>
            <a:ext cx="4580890" cy="253365"/>
          </a:xfrm>
          <a:prstGeom prst="rect">
            <a:avLst/>
          </a:prstGeom>
          <a:noFill/>
          <a:ln w="0" cap="flat">
            <a:noFill/>
            <a:prstDash val="solid"/>
            <a:miter lim="0"/>
          </a:ln>
        </p:spPr>
        <p:txBody>
          <a:bodyPr vert="horz" wrap="square" lIns="0" tIns="0" rIns="0" bIns="0"/>
          <a:lstStyle/>
          <a:p>
            <a:pPr algn="l" rtl="0" eaLnBrk="0">
              <a:lnSpc>
                <a:spcPct val="80749"/>
              </a:lnSpc>
              <a:tabLst/>
            </a:pPr>
            <a:endParaRPr sz="100" dirty="0">
              <a:latin typeface="Arial"/>
              <a:ea typeface="Arial"/>
              <a:cs typeface="Arial"/>
            </a:endParaRPr>
          </a:p>
          <a:p>
            <a:pPr marL="12700" algn="l" rtl="0" eaLnBrk="0">
              <a:lnSpc>
                <a:spcPct val="88000"/>
              </a:lnSpc>
              <a:tabLst/>
            </a:pPr>
            <a:r>
              <a:rPr sz="1700" kern="0" spc="90" dirty="0">
                <a:solidFill>
                  <a:srgbClr val="000000">
                    <a:alpha val="100000"/>
                  </a:srgbClr>
                </a:solidFill>
                <a:latin typeface="Microsoft YaHei"/>
                <a:ea typeface="Microsoft YaHei"/>
                <a:cs typeface="Microsoft YaHei"/>
              </a:rPr>
              <a:t>国产化专业的工业软件产品和工业互联网平台</a:t>
            </a:r>
            <a:endParaRPr sz="1700" dirty="0">
              <a:latin typeface="Microsoft YaHei"/>
              <a:ea typeface="Microsoft YaHei"/>
              <a:cs typeface="Microsoft YaHe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4"/>
          <p:cNvPicPr>
            <a:picLocks noChangeAspect="1"/>
          </p:cNvPicPr>
          <p:nvPr/>
        </p:nvPicPr>
        <p:blipFill>
          <a:blip r:embed="rId2"/>
          <a:stretch>
            <a:fillRect/>
          </a:stretch>
        </p:blipFill>
        <p:spPr>
          <a:xfrm rot="21600000">
            <a:off x="6214871" y="2580132"/>
            <a:ext cx="5236463" cy="3480815"/>
          </a:xfrm>
          <a:prstGeom prst="rect">
            <a:avLst/>
          </a:prstGeom>
        </p:spPr>
      </p:pic>
      <p:pic>
        <p:nvPicPr>
          <p:cNvPr id="26" name="picture 26"/>
          <p:cNvPicPr>
            <a:picLocks noChangeAspect="1"/>
          </p:cNvPicPr>
          <p:nvPr/>
        </p:nvPicPr>
        <p:blipFill>
          <a:blip r:embed="rId3"/>
          <a:stretch>
            <a:fillRect/>
          </a:stretch>
        </p:blipFill>
        <p:spPr>
          <a:xfrm rot="21600000">
            <a:off x="833627" y="2580132"/>
            <a:ext cx="5160263" cy="3480815"/>
          </a:xfrm>
          <a:prstGeom prst="rect">
            <a:avLst/>
          </a:prstGeom>
        </p:spPr>
      </p:pic>
      <p:sp>
        <p:nvSpPr>
          <p:cNvPr id="28" name="textbox 28"/>
          <p:cNvSpPr/>
          <p:nvPr/>
        </p:nvSpPr>
        <p:spPr>
          <a:xfrm>
            <a:off x="833627" y="970788"/>
            <a:ext cx="6487795" cy="646430"/>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14000"/>
              </a:lnSpc>
              <a:tabLst/>
            </a:pPr>
            <a:endParaRPr sz="500" dirty="0">
              <a:latin typeface="Arial"/>
              <a:ea typeface="Arial"/>
              <a:cs typeface="Arial"/>
            </a:endParaRPr>
          </a:p>
          <a:p>
            <a:pPr marL="96519" algn="l" rtl="0" eaLnBrk="0">
              <a:lnSpc>
                <a:spcPct val="88000"/>
              </a:lnSpc>
              <a:spcBef>
                <a:spcPts val="2"/>
              </a:spcBef>
              <a:tabLst/>
            </a:pPr>
            <a:r>
              <a:rPr sz="2700" kern="0" spc="90" dirty="0">
                <a:solidFill>
                  <a:srgbClr val="FFFFFF">
                    <a:alpha val="100000"/>
                  </a:srgbClr>
                </a:solidFill>
                <a:latin typeface="Microsoft YaHei"/>
                <a:ea typeface="Microsoft YaHei"/>
                <a:cs typeface="Microsoft YaHei"/>
              </a:rPr>
              <a:t>大型船闸、</a:t>
            </a:r>
            <a:r>
              <a:rPr sz="2700" kern="0" spc="-650" dirty="0">
                <a:solidFill>
                  <a:srgbClr val="FFFFFF">
                    <a:alpha val="100000"/>
                  </a:srgbClr>
                </a:solidFill>
                <a:latin typeface="Microsoft YaHei"/>
                <a:ea typeface="Microsoft YaHei"/>
                <a:cs typeface="Microsoft YaHei"/>
              </a:rPr>
              <a:t> </a:t>
            </a:r>
            <a:r>
              <a:rPr sz="2700" kern="0" spc="90" dirty="0">
                <a:solidFill>
                  <a:srgbClr val="FFFFFF">
                    <a:alpha val="100000"/>
                  </a:srgbClr>
                </a:solidFill>
                <a:latin typeface="Microsoft YaHei"/>
                <a:ea typeface="Microsoft YaHei"/>
                <a:cs typeface="Microsoft YaHei"/>
              </a:rPr>
              <a:t>水利工程的设备监</a:t>
            </a:r>
            <a:r>
              <a:rPr sz="2700" kern="0" spc="80" dirty="0">
                <a:solidFill>
                  <a:srgbClr val="FFFFFF">
                    <a:alpha val="100000"/>
                  </a:srgbClr>
                </a:solidFill>
                <a:latin typeface="Microsoft YaHei"/>
                <a:ea typeface="Microsoft YaHei"/>
                <a:cs typeface="Microsoft YaHei"/>
              </a:rPr>
              <a:t>测和维护</a:t>
            </a:r>
            <a:endParaRPr sz="2700" dirty="0">
              <a:latin typeface="Microsoft YaHei"/>
              <a:ea typeface="Microsoft YaHei"/>
              <a:cs typeface="Microsoft YaHei"/>
            </a:endParaRPr>
          </a:p>
        </p:txBody>
      </p:sp>
      <p:sp>
        <p:nvSpPr>
          <p:cNvPr id="30" name="textbox 30"/>
          <p:cNvSpPr/>
          <p:nvPr/>
        </p:nvSpPr>
        <p:spPr>
          <a:xfrm>
            <a:off x="887832" y="1870240"/>
            <a:ext cx="9598025" cy="389890"/>
          </a:xfrm>
          <a:prstGeom prst="rect">
            <a:avLst/>
          </a:prstGeom>
          <a:noFill/>
          <a:ln w="0" cap="flat">
            <a:noFill/>
            <a:prstDash val="solid"/>
            <a:miter lim="0"/>
          </a:ln>
        </p:spPr>
        <p:txBody>
          <a:bodyPr vert="horz" wrap="square" lIns="0" tIns="0" rIns="0" bIns="0"/>
          <a:lstStyle/>
          <a:p>
            <a:pPr algn="l" rtl="0" eaLnBrk="0">
              <a:lnSpc>
                <a:spcPct val="71807"/>
              </a:lnSpc>
              <a:tabLst/>
            </a:pPr>
            <a:endParaRPr sz="100" dirty="0">
              <a:latin typeface="Arial"/>
              <a:ea typeface="Arial"/>
              <a:cs typeface="Arial"/>
            </a:endParaRPr>
          </a:p>
          <a:p>
            <a:pPr marL="12700" algn="l" rtl="0" eaLnBrk="0">
              <a:lnSpc>
                <a:spcPct val="89000"/>
              </a:lnSpc>
              <a:tabLst/>
            </a:pPr>
            <a:r>
              <a:rPr sz="2700" kern="0" spc="90" dirty="0">
                <a:solidFill>
                  <a:srgbClr val="000000">
                    <a:alpha val="100000"/>
                  </a:srgbClr>
                </a:solidFill>
                <a:latin typeface="Microsoft YaHei"/>
                <a:ea typeface="Microsoft YaHei"/>
                <a:cs typeface="Microsoft YaHei"/>
              </a:rPr>
              <a:t>已应用于大渡河流域水电、</a:t>
            </a:r>
            <a:r>
              <a:rPr sz="2700" kern="0" spc="-680" dirty="0">
                <a:solidFill>
                  <a:srgbClr val="000000">
                    <a:alpha val="100000"/>
                  </a:srgbClr>
                </a:solidFill>
                <a:latin typeface="Microsoft YaHei"/>
                <a:ea typeface="Microsoft YaHei"/>
                <a:cs typeface="Microsoft YaHei"/>
              </a:rPr>
              <a:t> </a:t>
            </a:r>
            <a:r>
              <a:rPr sz="2700" kern="0" spc="90" dirty="0">
                <a:solidFill>
                  <a:srgbClr val="000000">
                    <a:alpha val="100000"/>
                  </a:srgbClr>
                </a:solidFill>
                <a:latin typeface="Microsoft YaHei"/>
                <a:ea typeface="Microsoft YaHei"/>
                <a:cs typeface="Microsoft YaHei"/>
              </a:rPr>
              <a:t>广西桂冠电</a:t>
            </a:r>
            <a:r>
              <a:rPr sz="2700" kern="0" spc="80" dirty="0">
                <a:solidFill>
                  <a:srgbClr val="000000">
                    <a:alpha val="100000"/>
                  </a:srgbClr>
                </a:solidFill>
                <a:latin typeface="Microsoft YaHei"/>
                <a:ea typeface="Microsoft YaHei"/>
                <a:cs typeface="Microsoft YaHei"/>
              </a:rPr>
              <a:t>力水电等水利水电工程</a:t>
            </a:r>
            <a:endParaRPr sz="2700" dirty="0">
              <a:latin typeface="Microsoft YaHei"/>
              <a:ea typeface="Microsoft YaHei"/>
              <a:cs typeface="Microsoft YaHei"/>
            </a:endParaRPr>
          </a:p>
        </p:txBody>
      </p:sp>
      <p:sp>
        <p:nvSpPr>
          <p:cNvPr id="32" name="textbox 32"/>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
        <p:nvSpPr>
          <p:cNvPr id="34" name="textbox 34"/>
          <p:cNvSpPr/>
          <p:nvPr/>
        </p:nvSpPr>
        <p:spPr>
          <a:xfrm>
            <a:off x="2806026" y="6276022"/>
            <a:ext cx="1165225" cy="252729"/>
          </a:xfrm>
          <a:prstGeom prst="rect">
            <a:avLst/>
          </a:prstGeom>
          <a:noFill/>
          <a:ln w="0" cap="flat">
            <a:noFill/>
            <a:prstDash val="solid"/>
            <a:miter lim="0"/>
          </a:ln>
        </p:spPr>
        <p:txBody>
          <a:bodyPr vert="horz" wrap="square" lIns="0" tIns="0" rIns="0" bIns="0"/>
          <a:lstStyle/>
          <a:p>
            <a:pPr algn="l" rtl="0" eaLnBrk="0">
              <a:lnSpc>
                <a:spcPct val="77298"/>
              </a:lnSpc>
              <a:tabLst/>
            </a:pPr>
            <a:endParaRPr sz="100" dirty="0">
              <a:latin typeface="Arial"/>
              <a:ea typeface="Arial"/>
              <a:cs typeface="Arial"/>
            </a:endParaRPr>
          </a:p>
          <a:p>
            <a:pPr marL="12700" algn="l" rtl="0" eaLnBrk="0">
              <a:lnSpc>
                <a:spcPct val="88000"/>
              </a:lnSpc>
              <a:tabLst/>
            </a:pPr>
            <a:r>
              <a:rPr sz="1700" kern="0" spc="90" dirty="0">
                <a:solidFill>
                  <a:srgbClr val="000000">
                    <a:alpha val="100000"/>
                  </a:srgbClr>
                </a:solidFill>
                <a:latin typeface="Microsoft YaHei"/>
                <a:ea typeface="Microsoft YaHei"/>
                <a:cs typeface="Microsoft YaHei"/>
              </a:rPr>
              <a:t>大渡河水电</a:t>
            </a:r>
            <a:endParaRPr sz="1700" dirty="0">
              <a:latin typeface="Microsoft YaHei"/>
              <a:ea typeface="Microsoft YaHei"/>
              <a:cs typeface="Microsoft YaHei"/>
            </a:endParaRPr>
          </a:p>
        </p:txBody>
      </p:sp>
      <p:sp>
        <p:nvSpPr>
          <p:cNvPr id="36" name="textbox 36"/>
          <p:cNvSpPr/>
          <p:nvPr/>
        </p:nvSpPr>
        <p:spPr>
          <a:xfrm>
            <a:off x="8335479" y="6182893"/>
            <a:ext cx="938530" cy="248920"/>
          </a:xfrm>
          <a:prstGeom prst="rect">
            <a:avLst/>
          </a:prstGeom>
          <a:noFill/>
          <a:ln w="0" cap="flat">
            <a:noFill/>
            <a:prstDash val="solid"/>
            <a:miter lim="0"/>
          </a:ln>
        </p:spPr>
        <p:txBody>
          <a:bodyPr vert="horz" wrap="square" lIns="0" tIns="0" rIns="0" bIns="0"/>
          <a:lstStyle/>
          <a:p>
            <a:pPr algn="l" rtl="0" eaLnBrk="0">
              <a:lnSpc>
                <a:spcPct val="86394"/>
              </a:lnSpc>
              <a:tabLst/>
            </a:pPr>
            <a:endParaRPr sz="100" dirty="0">
              <a:latin typeface="Arial"/>
              <a:ea typeface="Arial"/>
              <a:cs typeface="Arial"/>
            </a:endParaRPr>
          </a:p>
          <a:p>
            <a:pPr marL="12700" algn="l" rtl="0" eaLnBrk="0">
              <a:lnSpc>
                <a:spcPct val="86000"/>
              </a:lnSpc>
              <a:tabLst/>
            </a:pPr>
            <a:r>
              <a:rPr sz="1700" kern="0" spc="90" dirty="0">
                <a:solidFill>
                  <a:srgbClr val="000000">
                    <a:alpha val="100000"/>
                  </a:srgbClr>
                </a:solidFill>
                <a:latin typeface="Microsoft YaHei"/>
                <a:ea typeface="Microsoft YaHei"/>
                <a:cs typeface="Microsoft YaHei"/>
              </a:rPr>
              <a:t>桂冠水电</a:t>
            </a:r>
            <a:endParaRPr sz="1700" dirty="0">
              <a:latin typeface="Microsoft YaHei"/>
              <a:ea typeface="Microsoft YaHei"/>
              <a:cs typeface="Microsoft YaHe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6096000" y="1914068"/>
            <a:ext cx="5915761" cy="3439451"/>
          </a:xfrm>
          <a:prstGeom prst="rect">
            <a:avLst/>
          </a:prstGeom>
        </p:spPr>
      </p:pic>
      <p:sp>
        <p:nvSpPr>
          <p:cNvPr id="4" name="textbox 4"/>
          <p:cNvSpPr/>
          <p:nvPr/>
        </p:nvSpPr>
        <p:spPr>
          <a:xfrm>
            <a:off x="713450" y="2097063"/>
            <a:ext cx="3649979" cy="3355975"/>
          </a:xfrm>
          <a:prstGeom prst="rect">
            <a:avLst/>
          </a:prstGeom>
          <a:noFill/>
          <a:ln w="0" cap="flat">
            <a:noFill/>
            <a:prstDash val="solid"/>
            <a:miter lim="0"/>
          </a:ln>
        </p:spPr>
        <p:txBody>
          <a:bodyPr vert="horz" wrap="square" lIns="0" tIns="0" rIns="0" bIns="0"/>
          <a:lstStyle/>
          <a:p>
            <a:pPr algn="l" rtl="0" eaLnBrk="0">
              <a:lnSpc>
                <a:spcPct val="74802"/>
              </a:lnSpc>
              <a:tabLst/>
            </a:pPr>
            <a:endParaRPr sz="100" dirty="0">
              <a:latin typeface="Arial"/>
              <a:ea typeface="Arial"/>
              <a:cs typeface="Arial"/>
            </a:endParaRPr>
          </a:p>
          <a:p>
            <a:pPr marL="12700" algn="l" rtl="0" eaLnBrk="0">
              <a:lnSpc>
                <a:spcPct val="93000"/>
              </a:lnSpc>
              <a:tabLst/>
            </a:pPr>
            <a:r>
              <a:rPr sz="2000" kern="0" spc="70" dirty="0">
                <a:solidFill>
                  <a:srgbClr val="000000">
                    <a:alpha val="100000"/>
                  </a:srgbClr>
                </a:solidFill>
                <a:latin typeface="Wingdings"/>
                <a:ea typeface="Wingdings"/>
                <a:cs typeface="Wingdings"/>
              </a:rPr>
              <a:t>u</a:t>
            </a:r>
            <a:r>
              <a:rPr sz="2000" kern="0" spc="70" dirty="0">
                <a:solidFill>
                  <a:srgbClr val="000000">
                    <a:alpha val="100000"/>
                  </a:srgbClr>
                </a:solidFill>
                <a:latin typeface="Microsoft YaHei"/>
                <a:ea typeface="Microsoft YaHei"/>
                <a:cs typeface="Microsoft YaHei"/>
              </a:rPr>
              <a:t>风险情景分析</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60" dirty="0">
                <a:solidFill>
                  <a:srgbClr val="000000">
                    <a:alpha val="100000"/>
                  </a:srgbClr>
                </a:solidFill>
                <a:latin typeface="Wingdings"/>
                <a:ea typeface="Wingdings"/>
                <a:cs typeface="Wingdings"/>
              </a:rPr>
              <a:t>u</a:t>
            </a:r>
            <a:r>
              <a:rPr sz="2000" kern="0" spc="60" dirty="0">
                <a:solidFill>
                  <a:srgbClr val="000000">
                    <a:alpha val="100000"/>
                  </a:srgbClr>
                </a:solidFill>
                <a:latin typeface="Microsoft YaHei"/>
                <a:ea typeface="Microsoft YaHei"/>
                <a:cs typeface="Microsoft YaHei"/>
              </a:rPr>
              <a:t>施工期风险识别</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50" dirty="0">
                <a:solidFill>
                  <a:srgbClr val="000000">
                    <a:alpha val="100000"/>
                  </a:srgbClr>
                </a:solidFill>
                <a:latin typeface="Wingdings"/>
                <a:ea typeface="Wingdings"/>
                <a:cs typeface="Wingdings"/>
              </a:rPr>
              <a:t>u</a:t>
            </a:r>
            <a:r>
              <a:rPr sz="2000" kern="0" spc="-1110" dirty="0">
                <a:solidFill>
                  <a:srgbClr val="000000">
                    <a:alpha val="100000"/>
                  </a:srgbClr>
                </a:solidFill>
                <a:latin typeface="Wingdings"/>
                <a:ea typeface="Wingdings"/>
                <a:cs typeface="Wingdings"/>
              </a:rPr>
              <a:t> </a:t>
            </a:r>
            <a:r>
              <a:rPr sz="2000" kern="0" spc="-50" dirty="0">
                <a:solidFill>
                  <a:srgbClr val="000000">
                    <a:alpha val="100000"/>
                  </a:srgbClr>
                </a:solidFill>
                <a:latin typeface="Microsoft YaHei"/>
                <a:ea typeface="Microsoft YaHei"/>
                <a:cs typeface="Microsoft YaHei"/>
              </a:rPr>
              <a:t>断航风险分析</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40" dirty="0">
                <a:solidFill>
                  <a:srgbClr val="000000">
                    <a:alpha val="100000"/>
                  </a:srgbClr>
                </a:solidFill>
                <a:latin typeface="Wingdings"/>
                <a:ea typeface="Wingdings"/>
                <a:cs typeface="Wingdings"/>
              </a:rPr>
              <a:t>u</a:t>
            </a:r>
            <a:r>
              <a:rPr sz="2000" kern="0" spc="-1100" dirty="0">
                <a:solidFill>
                  <a:srgbClr val="000000">
                    <a:alpha val="100000"/>
                  </a:srgbClr>
                </a:solidFill>
                <a:latin typeface="Wingdings"/>
                <a:ea typeface="Wingdings"/>
                <a:cs typeface="Wingdings"/>
              </a:rPr>
              <a:t> </a:t>
            </a:r>
            <a:r>
              <a:rPr sz="2000" kern="0" spc="-40" dirty="0">
                <a:solidFill>
                  <a:srgbClr val="000000">
                    <a:alpha val="100000"/>
                  </a:srgbClr>
                </a:solidFill>
                <a:latin typeface="Microsoft YaHei"/>
                <a:ea typeface="Microsoft YaHei"/>
                <a:cs typeface="Microsoft YaHei"/>
              </a:rPr>
              <a:t>断航风险等级评估</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施工期断航过坝运输影响分</a:t>
            </a:r>
            <a:r>
              <a:rPr sz="2000" kern="0" spc="30" dirty="0">
                <a:solidFill>
                  <a:srgbClr val="000000">
                    <a:alpha val="100000"/>
                  </a:srgbClr>
                </a:solidFill>
                <a:latin typeface="Microsoft YaHei"/>
                <a:ea typeface="Microsoft YaHei"/>
                <a:cs typeface="Microsoft YaHei"/>
              </a:rPr>
              <a:t>析</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algn="l" rtl="0" eaLnBrk="0">
              <a:lnSpc>
                <a:spcPct val="100000"/>
              </a:lnSpc>
              <a:tabLst/>
            </a:pPr>
            <a:endParaRPr sz="500" dirty="0">
              <a:latin typeface="Arial"/>
              <a:ea typeface="Arial"/>
              <a:cs typeface="Arial"/>
            </a:endParaRPr>
          </a:p>
          <a:p>
            <a:pPr marL="12700" algn="l" rtl="0" eaLnBrk="0">
              <a:lnSpc>
                <a:spcPct val="93000"/>
              </a:lnSpc>
              <a:tabLst/>
            </a:pPr>
            <a:r>
              <a:rPr sz="2000" kern="0" spc="70" dirty="0">
                <a:solidFill>
                  <a:srgbClr val="000000">
                    <a:alpha val="100000"/>
                  </a:srgbClr>
                </a:solidFill>
                <a:latin typeface="Wingdings"/>
                <a:ea typeface="Wingdings"/>
                <a:cs typeface="Wingdings"/>
              </a:rPr>
              <a:t>u</a:t>
            </a:r>
            <a:r>
              <a:rPr sz="2000" kern="0" spc="70" dirty="0">
                <a:solidFill>
                  <a:srgbClr val="000000">
                    <a:alpha val="100000"/>
                  </a:srgbClr>
                </a:solidFill>
                <a:latin typeface="Microsoft YaHei"/>
                <a:ea typeface="Microsoft YaHei"/>
                <a:cs typeface="Microsoft YaHei"/>
              </a:rPr>
              <a:t>应对措施分析</a:t>
            </a:r>
            <a:endParaRPr sz="2000" dirty="0">
              <a:latin typeface="Microsoft YaHei"/>
              <a:ea typeface="Microsoft YaHei"/>
              <a:cs typeface="Microsoft YaHei"/>
            </a:endParaRPr>
          </a:p>
        </p:txBody>
      </p:sp>
      <p:sp>
        <p:nvSpPr>
          <p:cNvPr id="6" name="textbox 6"/>
          <p:cNvSpPr/>
          <p:nvPr/>
        </p:nvSpPr>
        <p:spPr>
          <a:xfrm>
            <a:off x="696937" y="711771"/>
            <a:ext cx="9776459" cy="1026794"/>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405765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algn="l" rtl="0" eaLnBrk="0">
              <a:lnSpc>
                <a:spcPct val="105000"/>
              </a:lnSpc>
              <a:tabLst/>
            </a:pPr>
            <a:endParaRPr sz="1400" dirty="0">
              <a:latin typeface="Arial"/>
              <a:ea typeface="Arial"/>
              <a:cs typeface="Arial"/>
            </a:endParaRPr>
          </a:p>
          <a:p>
            <a:pPr algn="l" rtl="0" eaLnBrk="0">
              <a:lnSpc>
                <a:spcPct val="6410"/>
              </a:lnSpc>
              <a:tabLst/>
            </a:pPr>
            <a:endParaRPr sz="100" dirty="0">
              <a:latin typeface="Arial"/>
              <a:ea typeface="Arial"/>
              <a:cs typeface="Arial"/>
            </a:endParaRPr>
          </a:p>
          <a:p>
            <a:pPr marL="12700" algn="l" rtl="0" eaLnBrk="0">
              <a:lnSpc>
                <a:spcPct val="89000"/>
              </a:lnSpc>
              <a:tabLst/>
            </a:pPr>
            <a:r>
              <a:rPr sz="2300" b="1" kern="0" spc="70" dirty="0">
                <a:solidFill>
                  <a:srgbClr val="000000">
                    <a:alpha val="100000"/>
                  </a:srgbClr>
                </a:solidFill>
                <a:latin typeface="Microsoft YaHei"/>
                <a:ea typeface="Microsoft YaHei"/>
                <a:cs typeface="Microsoft YaHei"/>
              </a:rPr>
              <a:t>大型水利枢纽长施工期通航安全风险评估                    </a:t>
            </a:r>
            <a:r>
              <a:rPr sz="2300" b="1" kern="0" spc="70" dirty="0">
                <a:solidFill>
                  <a:srgbClr val="FF0000">
                    <a:alpha val="100000"/>
                  </a:srgbClr>
                </a:solidFill>
                <a:latin typeface="Microsoft YaHei"/>
                <a:ea typeface="Microsoft YaHei"/>
                <a:cs typeface="Microsoft YaHei"/>
              </a:rPr>
              <a:t>改建三号船闸方</a:t>
            </a:r>
            <a:r>
              <a:rPr sz="2300" b="1" kern="0" spc="60" dirty="0">
                <a:solidFill>
                  <a:srgbClr val="FF0000">
                    <a:alpha val="100000"/>
                  </a:srgbClr>
                </a:solidFill>
                <a:latin typeface="Microsoft YaHei"/>
                <a:ea typeface="Microsoft YaHei"/>
                <a:cs typeface="Microsoft YaHei"/>
              </a:rPr>
              <a:t>案</a:t>
            </a:r>
            <a:endParaRPr sz="2300" dirty="0">
              <a:latin typeface="Microsoft YaHei"/>
              <a:ea typeface="Microsoft YaHei"/>
              <a:cs typeface="Microsoft YaHei"/>
            </a:endParaRPr>
          </a:p>
        </p:txBody>
      </p:sp>
      <p:sp>
        <p:nvSpPr>
          <p:cNvPr id="8" name="textbox 8"/>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21285" algn="l" rtl="0" eaLnBrk="0">
              <a:lnSpc>
                <a:spcPts val="3608"/>
              </a:lnSpc>
              <a:spcBef>
                <a:spcPts val="1"/>
              </a:spcBef>
              <a:tabLst/>
            </a:pPr>
            <a:r>
              <a:rPr sz="2700" kern="0" spc="70" dirty="0">
                <a:solidFill>
                  <a:srgbClr val="FFFFFF">
                    <a:alpha val="100000"/>
                  </a:srgbClr>
                </a:solidFill>
                <a:latin typeface="Microsoft YaHei"/>
                <a:ea typeface="Microsoft YaHei"/>
                <a:cs typeface="Microsoft YaHei"/>
              </a:rPr>
              <a:t>5.4 大型水利枢纽断航风险评估技术</a:t>
            </a:r>
            <a:endParaRPr sz="2700" dirty="0">
              <a:latin typeface="Microsoft YaHei"/>
              <a:ea typeface="Microsoft YaHei"/>
              <a:cs typeface="Microsoft YaHe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p:cNvPicPr>
          <p:nvPr/>
        </p:nvPicPr>
        <p:blipFill>
          <a:blip r:embed="rId2"/>
          <a:stretch>
            <a:fillRect/>
          </a:stretch>
        </p:blipFill>
        <p:spPr>
          <a:xfrm rot="21600000">
            <a:off x="5836411" y="1011301"/>
            <a:ext cx="6245719" cy="5345455"/>
          </a:xfrm>
          <a:prstGeom prst="rect">
            <a:avLst/>
          </a:prstGeom>
        </p:spPr>
      </p:pic>
      <p:pic>
        <p:nvPicPr>
          <p:cNvPr id="12" name="picture 12"/>
          <p:cNvPicPr>
            <a:picLocks noChangeAspect="1"/>
          </p:cNvPicPr>
          <p:nvPr/>
        </p:nvPicPr>
        <p:blipFill>
          <a:blip r:embed="rId3"/>
          <a:stretch>
            <a:fillRect/>
          </a:stretch>
        </p:blipFill>
        <p:spPr>
          <a:xfrm rot="21600000">
            <a:off x="480542" y="3206800"/>
            <a:ext cx="5339701" cy="3132594"/>
          </a:xfrm>
          <a:prstGeom prst="rect">
            <a:avLst/>
          </a:prstGeom>
        </p:spPr>
      </p:pic>
      <p:pic>
        <p:nvPicPr>
          <p:cNvPr id="14" name="picture 14"/>
          <p:cNvPicPr>
            <a:picLocks noChangeAspect="1"/>
          </p:cNvPicPr>
          <p:nvPr/>
        </p:nvPicPr>
        <p:blipFill>
          <a:blip r:embed="rId4"/>
          <a:stretch>
            <a:fillRect/>
          </a:stretch>
        </p:blipFill>
        <p:spPr>
          <a:xfrm rot="21600000">
            <a:off x="8453627" y="4468367"/>
            <a:ext cx="3243071" cy="1676400"/>
          </a:xfrm>
          <a:prstGeom prst="rect">
            <a:avLst/>
          </a:prstGeom>
        </p:spPr>
      </p:pic>
      <p:sp>
        <p:nvSpPr>
          <p:cNvPr id="16" name="textbox 16"/>
          <p:cNvSpPr/>
          <p:nvPr/>
        </p:nvSpPr>
        <p:spPr>
          <a:xfrm>
            <a:off x="678103" y="1296161"/>
            <a:ext cx="3676650" cy="1460500"/>
          </a:xfrm>
          <a:prstGeom prst="rect">
            <a:avLst/>
          </a:prstGeom>
          <a:noFill/>
          <a:ln w="0" cap="flat">
            <a:noFill/>
            <a:prstDash val="solid"/>
            <a:miter lim="0"/>
          </a:ln>
        </p:spPr>
        <p:txBody>
          <a:bodyPr vert="horz" wrap="square" lIns="0" tIns="0" rIns="0" bIns="0"/>
          <a:lstStyle/>
          <a:p>
            <a:pPr algn="l" rtl="0" eaLnBrk="0">
              <a:lnSpc>
                <a:spcPct val="91552"/>
              </a:lnSpc>
              <a:tabLst/>
            </a:pPr>
            <a:endParaRPr sz="100" dirty="0">
              <a:latin typeface="Arial"/>
              <a:ea typeface="Arial"/>
              <a:cs typeface="Arial"/>
            </a:endParaRPr>
          </a:p>
          <a:p>
            <a:pPr marL="12700" algn="l" rtl="0" eaLnBrk="0">
              <a:lnSpc>
                <a:spcPct val="96000"/>
              </a:lnSpc>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过坝运输影响分析方法</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通航安全评估方法</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社会稳定风险评估方法</a:t>
            </a:r>
            <a:endParaRPr sz="2300" dirty="0">
              <a:latin typeface="Microsoft YaHei"/>
              <a:ea typeface="Microsoft YaHei"/>
              <a:cs typeface="Microsoft YaHei"/>
            </a:endParaRPr>
          </a:p>
        </p:txBody>
      </p:sp>
      <p:pic>
        <p:nvPicPr>
          <p:cNvPr id="18" name="picture 18"/>
          <p:cNvPicPr>
            <a:picLocks noChangeAspect="1"/>
          </p:cNvPicPr>
          <p:nvPr/>
        </p:nvPicPr>
        <p:blipFill>
          <a:blip r:embed="rId5"/>
          <a:stretch>
            <a:fillRect/>
          </a:stretch>
        </p:blipFill>
        <p:spPr>
          <a:xfrm rot="21600000">
            <a:off x="690803" y="2406141"/>
            <a:ext cx="216408" cy="337718"/>
          </a:xfrm>
          <a:prstGeom prst="rect">
            <a:avLst/>
          </a:prstGeom>
        </p:spPr>
      </p:pic>
      <p:pic>
        <p:nvPicPr>
          <p:cNvPr id="20" name="picture 20"/>
          <p:cNvPicPr>
            <a:picLocks noChangeAspect="1"/>
          </p:cNvPicPr>
          <p:nvPr/>
        </p:nvPicPr>
        <p:blipFill>
          <a:blip r:embed="rId6"/>
          <a:stretch>
            <a:fillRect/>
          </a:stretch>
        </p:blipFill>
        <p:spPr>
          <a:xfrm rot="21600000">
            <a:off x="690803" y="1857502"/>
            <a:ext cx="216408" cy="337718"/>
          </a:xfrm>
          <a:prstGeom prst="rect">
            <a:avLst/>
          </a:prstGeom>
        </p:spPr>
      </p:pic>
      <p:pic>
        <p:nvPicPr>
          <p:cNvPr id="22" name="picture 22"/>
          <p:cNvPicPr>
            <a:picLocks noChangeAspect="1"/>
          </p:cNvPicPr>
          <p:nvPr/>
        </p:nvPicPr>
        <p:blipFill>
          <a:blip r:embed="rId7"/>
          <a:stretch>
            <a:fillRect/>
          </a:stretch>
        </p:blipFill>
        <p:spPr>
          <a:xfrm rot="21600000">
            <a:off x="690803" y="1308861"/>
            <a:ext cx="216408" cy="337718"/>
          </a:xfrm>
          <a:prstGeom prst="rect">
            <a:avLst/>
          </a:prstGeom>
        </p:spPr>
      </p:pic>
      <p:pic>
        <p:nvPicPr>
          <p:cNvPr id="24" name="picture 24"/>
          <p:cNvPicPr>
            <a:picLocks noChangeAspect="1"/>
          </p:cNvPicPr>
          <p:nvPr/>
        </p:nvPicPr>
        <p:blipFill>
          <a:blip r:embed="rId8"/>
          <a:stretch>
            <a:fillRect/>
          </a:stretch>
        </p:blipFill>
        <p:spPr>
          <a:xfrm rot="21600000">
            <a:off x="752856" y="3425952"/>
            <a:ext cx="4067555" cy="1005839"/>
          </a:xfrm>
          <a:prstGeom prst="rect">
            <a:avLst/>
          </a:prstGeom>
        </p:spPr>
      </p:pic>
      <p:pic>
        <p:nvPicPr>
          <p:cNvPr id="26" name="picture 26"/>
          <p:cNvPicPr>
            <a:picLocks noChangeAspect="1"/>
          </p:cNvPicPr>
          <p:nvPr/>
        </p:nvPicPr>
        <p:blipFill>
          <a:blip r:embed="rId9"/>
          <a:stretch>
            <a:fillRect/>
          </a:stretch>
        </p:blipFill>
        <p:spPr>
          <a:xfrm rot="21600000">
            <a:off x="6001511" y="2976372"/>
            <a:ext cx="3421379" cy="1174186"/>
          </a:xfrm>
          <a:prstGeom prst="rect">
            <a:avLst/>
          </a:prstGeom>
        </p:spPr>
      </p:pic>
      <p:pic>
        <p:nvPicPr>
          <p:cNvPr id="28" name="picture 28"/>
          <p:cNvPicPr>
            <a:picLocks noChangeAspect="1"/>
          </p:cNvPicPr>
          <p:nvPr/>
        </p:nvPicPr>
        <p:blipFill>
          <a:blip r:embed="rId10"/>
          <a:stretch>
            <a:fillRect/>
          </a:stretch>
        </p:blipFill>
        <p:spPr>
          <a:xfrm rot="21600000">
            <a:off x="6234683" y="4468367"/>
            <a:ext cx="2220468" cy="1682495"/>
          </a:xfrm>
          <a:prstGeom prst="rect">
            <a:avLst/>
          </a:prstGeom>
        </p:spPr>
      </p:pic>
      <p:pic>
        <p:nvPicPr>
          <p:cNvPr id="30" name="picture 30"/>
          <p:cNvPicPr>
            <a:picLocks noChangeAspect="1"/>
          </p:cNvPicPr>
          <p:nvPr/>
        </p:nvPicPr>
        <p:blipFill>
          <a:blip r:embed="rId11"/>
          <a:stretch>
            <a:fillRect/>
          </a:stretch>
        </p:blipFill>
        <p:spPr>
          <a:xfrm rot="21600000">
            <a:off x="6370320" y="1129284"/>
            <a:ext cx="2343912" cy="1478279"/>
          </a:xfrm>
          <a:prstGeom prst="rect">
            <a:avLst/>
          </a:prstGeom>
        </p:spPr>
      </p:pic>
      <p:pic>
        <p:nvPicPr>
          <p:cNvPr id="32" name="picture 32"/>
          <p:cNvPicPr>
            <a:picLocks noChangeAspect="1"/>
          </p:cNvPicPr>
          <p:nvPr/>
        </p:nvPicPr>
        <p:blipFill>
          <a:blip r:embed="rId12"/>
          <a:stretch>
            <a:fillRect/>
          </a:stretch>
        </p:blipFill>
        <p:spPr>
          <a:xfrm rot="21600000">
            <a:off x="9334500" y="1100328"/>
            <a:ext cx="2103119" cy="1328927"/>
          </a:xfrm>
          <a:prstGeom prst="rect">
            <a:avLst/>
          </a:prstGeom>
        </p:spPr>
      </p:pic>
      <p:pic>
        <p:nvPicPr>
          <p:cNvPr id="34" name="picture 34"/>
          <p:cNvPicPr>
            <a:picLocks noChangeAspect="1"/>
          </p:cNvPicPr>
          <p:nvPr/>
        </p:nvPicPr>
        <p:blipFill>
          <a:blip r:embed="rId13"/>
          <a:stretch>
            <a:fillRect/>
          </a:stretch>
        </p:blipFill>
        <p:spPr>
          <a:xfrm rot="21600000">
            <a:off x="9659111" y="2816352"/>
            <a:ext cx="2103120" cy="1194815"/>
          </a:xfrm>
          <a:prstGeom prst="rect">
            <a:avLst/>
          </a:prstGeom>
        </p:spPr>
      </p:pic>
      <p:sp>
        <p:nvSpPr>
          <p:cNvPr id="36" name="textbox 36"/>
          <p:cNvSpPr/>
          <p:nvPr/>
        </p:nvSpPr>
        <p:spPr>
          <a:xfrm>
            <a:off x="1957762" y="4583346"/>
            <a:ext cx="1624330" cy="210820"/>
          </a:xfrm>
          <a:prstGeom prst="rect">
            <a:avLst/>
          </a:prstGeom>
          <a:noFill/>
          <a:ln w="0" cap="flat">
            <a:noFill/>
            <a:prstDash val="solid"/>
            <a:miter lim="0"/>
          </a:ln>
        </p:spPr>
        <p:txBody>
          <a:bodyPr vert="horz" wrap="square" lIns="0" tIns="0" rIns="0" bIns="0"/>
          <a:lstStyle/>
          <a:p>
            <a:pPr algn="l" rtl="0" eaLnBrk="0">
              <a:lnSpc>
                <a:spcPct val="78083"/>
              </a:lnSpc>
              <a:tabLst/>
            </a:pPr>
            <a:endParaRPr sz="100" dirty="0">
              <a:latin typeface="Arial"/>
              <a:ea typeface="Arial"/>
              <a:cs typeface="Arial"/>
            </a:endParaRPr>
          </a:p>
          <a:p>
            <a:pPr marL="12700" algn="l" rtl="0" eaLnBrk="0">
              <a:lnSpc>
                <a:spcPct val="87000"/>
              </a:lnSpc>
              <a:tabLst/>
            </a:pPr>
            <a:r>
              <a:rPr sz="1400" b="1" kern="0" spc="-10" dirty="0">
                <a:solidFill>
                  <a:srgbClr val="000000">
                    <a:alpha val="100000"/>
                  </a:srgbClr>
                </a:solidFill>
                <a:latin typeface="Microsoft YaHei"/>
                <a:ea typeface="Microsoft YaHei"/>
                <a:cs typeface="Microsoft YaHei"/>
              </a:rPr>
              <a:t>产业链与供应链分析</a:t>
            </a:r>
            <a:endParaRPr sz="1400" dirty="0">
              <a:latin typeface="Microsoft YaHei"/>
              <a:ea typeface="Microsoft YaHei"/>
              <a:cs typeface="Microsoft YaHei"/>
            </a:endParaRPr>
          </a:p>
        </p:txBody>
      </p:sp>
      <p:pic>
        <p:nvPicPr>
          <p:cNvPr id="38" name="picture 38"/>
          <p:cNvPicPr>
            <a:picLocks noChangeAspect="1"/>
          </p:cNvPicPr>
          <p:nvPr/>
        </p:nvPicPr>
        <p:blipFill>
          <a:blip r:embed="rId14"/>
          <a:stretch>
            <a:fillRect/>
          </a:stretch>
        </p:blipFill>
        <p:spPr>
          <a:xfrm rot="21600000">
            <a:off x="3243072" y="4747259"/>
            <a:ext cx="2107692" cy="1136903"/>
          </a:xfrm>
          <a:prstGeom prst="rect">
            <a:avLst/>
          </a:prstGeom>
        </p:spPr>
      </p:pic>
      <p:pic>
        <p:nvPicPr>
          <p:cNvPr id="40" name="picture 40"/>
          <p:cNvPicPr>
            <a:picLocks noChangeAspect="1"/>
          </p:cNvPicPr>
          <p:nvPr/>
        </p:nvPicPr>
        <p:blipFill>
          <a:blip r:embed="rId15"/>
          <a:stretch>
            <a:fillRect/>
          </a:stretch>
        </p:blipFill>
        <p:spPr>
          <a:xfrm rot="21600000">
            <a:off x="691896" y="4791455"/>
            <a:ext cx="2183891" cy="1048511"/>
          </a:xfrm>
          <a:prstGeom prst="rect">
            <a:avLst/>
          </a:prstGeom>
        </p:spPr>
      </p:pic>
      <p:sp>
        <p:nvSpPr>
          <p:cNvPr id="42" name="textbox 42"/>
          <p:cNvSpPr/>
          <p:nvPr/>
        </p:nvSpPr>
        <p:spPr>
          <a:xfrm>
            <a:off x="4036250" y="420509"/>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sp>
        <p:nvSpPr>
          <p:cNvPr id="44" name="textbox 44"/>
          <p:cNvSpPr/>
          <p:nvPr/>
        </p:nvSpPr>
        <p:spPr>
          <a:xfrm>
            <a:off x="877562" y="5917416"/>
            <a:ext cx="4850129" cy="213359"/>
          </a:xfrm>
          <a:prstGeom prst="rect">
            <a:avLst/>
          </a:prstGeom>
          <a:noFill/>
          <a:ln w="0" cap="flat">
            <a:noFill/>
            <a:prstDash val="solid"/>
            <a:miter lim="0"/>
          </a:ln>
        </p:spPr>
        <p:txBody>
          <a:bodyPr vert="horz" wrap="square" lIns="0" tIns="0" rIns="0" bIns="0"/>
          <a:lstStyle/>
          <a:p>
            <a:pPr algn="l" rtl="0" eaLnBrk="0">
              <a:lnSpc>
                <a:spcPct val="82105"/>
              </a:lnSpc>
              <a:tabLst/>
            </a:pPr>
            <a:endParaRPr sz="100" dirty="0">
              <a:latin typeface="Arial"/>
              <a:ea typeface="Arial"/>
              <a:cs typeface="Arial"/>
            </a:endParaRPr>
          </a:p>
          <a:p>
            <a:pPr marL="12700" algn="l" rtl="0" eaLnBrk="0">
              <a:lnSpc>
                <a:spcPct val="88000"/>
              </a:lnSpc>
              <a:tabLst/>
            </a:pPr>
            <a:r>
              <a:rPr sz="1400" b="1" kern="0" spc="0" dirty="0">
                <a:solidFill>
                  <a:srgbClr val="000000">
                    <a:alpha val="100000"/>
                  </a:srgbClr>
                </a:solidFill>
                <a:latin typeface="Microsoft YaHei"/>
                <a:ea typeface="Microsoft YaHei"/>
                <a:cs typeface="Microsoft YaHei"/>
              </a:rPr>
              <a:t>葛洲坝枢纽客运量统计图</a:t>
            </a:r>
            <a:r>
              <a:rPr sz="1400" b="1" kern="0" spc="110" dirty="0">
                <a:solidFill>
                  <a:srgbClr val="000000">
                    <a:alpha val="100000"/>
                  </a:srgbClr>
                </a:solidFill>
                <a:latin typeface="Microsoft YaHei"/>
                <a:ea typeface="Microsoft YaHei"/>
                <a:cs typeface="Microsoft YaHei"/>
              </a:rPr>
              <a:t>   </a:t>
            </a:r>
            <a:r>
              <a:rPr sz="1400" b="1" kern="0" spc="0" dirty="0">
                <a:solidFill>
                  <a:srgbClr val="000000">
                    <a:alpha val="100000"/>
                  </a:srgbClr>
                </a:solidFill>
                <a:latin typeface="Microsoft YaHei"/>
                <a:ea typeface="Microsoft YaHei"/>
                <a:cs typeface="Microsoft YaHei"/>
              </a:rPr>
              <a:t>葛洲坝三座船闸货运量分担</a:t>
            </a:r>
            <a:r>
              <a:rPr sz="1400" b="1" kern="0" spc="-10" dirty="0">
                <a:solidFill>
                  <a:srgbClr val="000000">
                    <a:alpha val="100000"/>
                  </a:srgbClr>
                </a:solidFill>
                <a:latin typeface="Microsoft YaHei"/>
                <a:ea typeface="Microsoft YaHei"/>
                <a:cs typeface="Microsoft YaHei"/>
              </a:rPr>
              <a:t>柱状图</a:t>
            </a:r>
            <a:endParaRPr sz="1400" dirty="0">
              <a:latin typeface="Microsoft YaHei"/>
              <a:ea typeface="Microsoft YaHei"/>
              <a:cs typeface="Microsoft YaHei"/>
            </a:endParaRPr>
          </a:p>
        </p:txBody>
      </p:sp>
      <p:sp>
        <p:nvSpPr>
          <p:cNvPr id="46" name="textbox 46"/>
          <p:cNvSpPr/>
          <p:nvPr/>
        </p:nvSpPr>
        <p:spPr>
          <a:xfrm>
            <a:off x="9884050" y="4047686"/>
            <a:ext cx="1624330" cy="416559"/>
          </a:xfrm>
          <a:prstGeom prst="rect">
            <a:avLst/>
          </a:prstGeom>
          <a:noFill/>
          <a:ln w="0" cap="flat">
            <a:noFill/>
            <a:prstDash val="solid"/>
            <a:miter lim="0"/>
          </a:ln>
        </p:spPr>
        <p:txBody>
          <a:bodyPr vert="horz" wrap="square" lIns="0" tIns="0" rIns="0" bIns="0"/>
          <a:lstStyle/>
          <a:p>
            <a:pPr algn="l" rtl="0" eaLnBrk="0">
              <a:lnSpc>
                <a:spcPct val="42222"/>
              </a:lnSpc>
              <a:tabLst/>
            </a:pPr>
            <a:endParaRPr sz="100" dirty="0">
              <a:latin typeface="Arial"/>
              <a:ea typeface="Arial"/>
              <a:cs typeface="Arial"/>
            </a:endParaRPr>
          </a:p>
          <a:p>
            <a:pPr marL="13970" indent="-1270" algn="l" rtl="0" eaLnBrk="0">
              <a:lnSpc>
                <a:spcPct val="93000"/>
              </a:lnSpc>
              <a:tabLst/>
            </a:pPr>
            <a:r>
              <a:rPr sz="1400" b="1" kern="0" spc="-10" dirty="0">
                <a:solidFill>
                  <a:srgbClr val="000000">
                    <a:alpha val="100000"/>
                  </a:srgbClr>
                </a:solidFill>
                <a:latin typeface="Microsoft YaHei"/>
                <a:ea typeface="Microsoft YaHei"/>
                <a:cs typeface="Microsoft YaHei"/>
              </a:rPr>
              <a:t>社会稳定风险负面后</a:t>
            </a:r>
            <a:r>
              <a:rPr sz="1400" b="1" kern="0" spc="-10" dirty="0">
                <a:solidFill>
                  <a:srgbClr val="000000">
                    <a:alpha val="100000"/>
                  </a:srgbClr>
                </a:solidFill>
                <a:latin typeface="Microsoft YaHei"/>
                <a:ea typeface="Microsoft YaHei"/>
                <a:cs typeface="Microsoft YaHei"/>
              </a:rPr>
              <a:t>果及其定量值范围</a:t>
            </a:r>
            <a:endParaRPr sz="1400" dirty="0">
              <a:latin typeface="Microsoft YaHei"/>
              <a:ea typeface="Microsoft YaHei"/>
              <a:cs typeface="Microsoft YaHei"/>
            </a:endParaRPr>
          </a:p>
        </p:txBody>
      </p:sp>
      <p:sp>
        <p:nvSpPr>
          <p:cNvPr id="48" name="textbox 48"/>
          <p:cNvSpPr/>
          <p:nvPr/>
        </p:nvSpPr>
        <p:spPr>
          <a:xfrm>
            <a:off x="9047514" y="2523877"/>
            <a:ext cx="2868929" cy="211454"/>
          </a:xfrm>
          <a:prstGeom prst="rect">
            <a:avLst/>
          </a:prstGeom>
          <a:noFill/>
          <a:ln w="0" cap="flat">
            <a:noFill/>
            <a:prstDash val="solid"/>
            <a:miter lim="0"/>
          </a:ln>
        </p:spPr>
        <p:txBody>
          <a:bodyPr vert="horz" wrap="square" lIns="0" tIns="0" rIns="0" bIns="0"/>
          <a:lstStyle/>
          <a:p>
            <a:pPr algn="l" rtl="0" eaLnBrk="0">
              <a:lnSpc>
                <a:spcPct val="83971"/>
              </a:lnSpc>
              <a:tabLst/>
            </a:pPr>
            <a:endParaRPr sz="100" dirty="0">
              <a:latin typeface="Arial"/>
              <a:ea typeface="Arial"/>
              <a:cs typeface="Arial"/>
            </a:endParaRPr>
          </a:p>
          <a:p>
            <a:pPr marL="12700" algn="l" rtl="0" eaLnBrk="0">
              <a:lnSpc>
                <a:spcPct val="87000"/>
              </a:lnSpc>
              <a:tabLst/>
            </a:pPr>
            <a:r>
              <a:rPr sz="1400" b="1" kern="0" spc="0" dirty="0">
                <a:solidFill>
                  <a:srgbClr val="000000">
                    <a:alpha val="100000"/>
                  </a:srgbClr>
                </a:solidFill>
                <a:latin typeface="Microsoft YaHei"/>
                <a:ea typeface="Microsoft YaHei"/>
                <a:cs typeface="Microsoft YaHei"/>
              </a:rPr>
              <a:t>过闸危险货物运量、艘次及流</a:t>
            </a:r>
            <a:r>
              <a:rPr sz="1400" b="1" kern="0" spc="-10" dirty="0">
                <a:solidFill>
                  <a:srgbClr val="000000">
                    <a:alpha val="100000"/>
                  </a:srgbClr>
                </a:solidFill>
                <a:latin typeface="Microsoft YaHei"/>
                <a:ea typeface="Microsoft YaHei"/>
                <a:cs typeface="Microsoft YaHei"/>
              </a:rPr>
              <a:t>向统计</a:t>
            </a:r>
            <a:endParaRPr sz="1400" dirty="0">
              <a:latin typeface="Microsoft YaHei"/>
              <a:ea typeface="Microsoft YaHei"/>
              <a:cs typeface="Microsoft YaHei"/>
            </a:endParaRPr>
          </a:p>
        </p:txBody>
      </p:sp>
      <p:sp>
        <p:nvSpPr>
          <p:cNvPr id="50" name="textbox 50"/>
          <p:cNvSpPr/>
          <p:nvPr/>
        </p:nvSpPr>
        <p:spPr>
          <a:xfrm>
            <a:off x="6590393" y="4207145"/>
            <a:ext cx="2328545" cy="212725"/>
          </a:xfrm>
          <a:prstGeom prst="rect">
            <a:avLst/>
          </a:prstGeom>
          <a:noFill/>
          <a:ln w="0" cap="flat">
            <a:noFill/>
            <a:prstDash val="solid"/>
            <a:miter lim="0"/>
          </a:ln>
        </p:spPr>
        <p:txBody>
          <a:bodyPr vert="horz" wrap="square" lIns="0" tIns="0" rIns="0" bIns="0"/>
          <a:lstStyle/>
          <a:p>
            <a:pPr algn="l" rtl="0" eaLnBrk="0">
              <a:lnSpc>
                <a:spcPct val="80382"/>
              </a:lnSpc>
              <a:tabLst/>
            </a:pPr>
            <a:endParaRPr sz="100" dirty="0">
              <a:latin typeface="Arial"/>
              <a:ea typeface="Arial"/>
              <a:cs typeface="Arial"/>
            </a:endParaRPr>
          </a:p>
          <a:p>
            <a:pPr marL="12700" algn="l" rtl="0" eaLnBrk="0">
              <a:lnSpc>
                <a:spcPct val="88000"/>
              </a:lnSpc>
              <a:tabLst/>
            </a:pPr>
            <a:r>
              <a:rPr sz="1400" b="1" kern="0" spc="-10" dirty="0">
                <a:solidFill>
                  <a:srgbClr val="000000">
                    <a:alpha val="100000"/>
                  </a:srgbClr>
                </a:solidFill>
                <a:latin typeface="Microsoft YaHei"/>
                <a:ea typeface="Microsoft YaHei"/>
                <a:cs typeface="Microsoft YaHei"/>
              </a:rPr>
              <a:t>断航、通航风险等级划分标准</a:t>
            </a:r>
            <a:endParaRPr sz="1400" dirty="0">
              <a:latin typeface="Microsoft YaHei"/>
              <a:ea typeface="Microsoft YaHei"/>
              <a:cs typeface="Microsoft YaHei"/>
            </a:endParaRPr>
          </a:p>
        </p:txBody>
      </p:sp>
      <p:sp>
        <p:nvSpPr>
          <p:cNvPr id="52" name="textbox 52"/>
          <p:cNvSpPr/>
          <p:nvPr/>
        </p:nvSpPr>
        <p:spPr>
          <a:xfrm>
            <a:off x="6503637" y="2677597"/>
            <a:ext cx="2154554" cy="211454"/>
          </a:xfrm>
          <a:prstGeom prst="rect">
            <a:avLst/>
          </a:prstGeom>
          <a:noFill/>
          <a:ln w="0" cap="flat">
            <a:noFill/>
            <a:prstDash val="solid"/>
            <a:miter lim="0"/>
          </a:ln>
        </p:spPr>
        <p:txBody>
          <a:bodyPr vert="horz" wrap="square" lIns="0" tIns="0" rIns="0" bIns="0"/>
          <a:lstStyle/>
          <a:p>
            <a:pPr algn="l" rtl="0" eaLnBrk="0">
              <a:lnSpc>
                <a:spcPct val="82768"/>
              </a:lnSpc>
              <a:tabLst/>
            </a:pPr>
            <a:endParaRPr sz="100" dirty="0">
              <a:latin typeface="Arial"/>
              <a:ea typeface="Arial"/>
              <a:cs typeface="Arial"/>
            </a:endParaRPr>
          </a:p>
          <a:p>
            <a:pPr marL="12700" algn="l" rtl="0" eaLnBrk="0">
              <a:lnSpc>
                <a:spcPct val="87000"/>
              </a:lnSpc>
              <a:tabLst/>
            </a:pPr>
            <a:r>
              <a:rPr sz="1400" b="1" kern="0" spc="-10" dirty="0">
                <a:solidFill>
                  <a:srgbClr val="000000">
                    <a:alpha val="100000"/>
                  </a:srgbClr>
                </a:solidFill>
                <a:latin typeface="Microsoft YaHei"/>
                <a:ea typeface="Microsoft YaHei"/>
                <a:cs typeface="Microsoft YaHei"/>
              </a:rPr>
              <a:t>三峡枢纽各类货物运量分析</a:t>
            </a:r>
            <a:endParaRPr sz="1400" dirty="0">
              <a:latin typeface="Microsoft YaHei"/>
              <a:ea typeface="Microsoft YaHei"/>
              <a:cs typeface="Microsoft YaHei"/>
            </a:endParaRPr>
          </a:p>
        </p:txBody>
      </p:sp>
      <p:sp>
        <p:nvSpPr>
          <p:cNvPr id="54" name="textbox 54"/>
          <p:cNvSpPr/>
          <p:nvPr/>
        </p:nvSpPr>
        <p:spPr>
          <a:xfrm>
            <a:off x="8227279" y="6070059"/>
            <a:ext cx="1799589" cy="212090"/>
          </a:xfrm>
          <a:prstGeom prst="rect">
            <a:avLst/>
          </a:prstGeom>
          <a:noFill/>
          <a:ln w="0" cap="flat">
            <a:noFill/>
            <a:prstDash val="solid"/>
            <a:miter lim="0"/>
          </a:ln>
        </p:spPr>
        <p:txBody>
          <a:bodyPr vert="horz" wrap="square" lIns="0" tIns="0" rIns="0" bIns="0"/>
          <a:lstStyle/>
          <a:p>
            <a:pPr algn="l" rtl="0" eaLnBrk="0">
              <a:lnSpc>
                <a:spcPct val="88622"/>
              </a:lnSpc>
              <a:tabLst/>
            </a:pPr>
            <a:endParaRPr sz="100" dirty="0">
              <a:latin typeface="Arial"/>
              <a:ea typeface="Arial"/>
              <a:cs typeface="Arial"/>
            </a:endParaRPr>
          </a:p>
          <a:p>
            <a:pPr marL="12700" algn="l" rtl="0" eaLnBrk="0">
              <a:lnSpc>
                <a:spcPct val="87000"/>
              </a:lnSpc>
              <a:tabLst/>
            </a:pPr>
            <a:r>
              <a:rPr sz="1400" b="1" kern="0" spc="-10" dirty="0">
                <a:solidFill>
                  <a:srgbClr val="000000">
                    <a:alpha val="100000"/>
                  </a:srgbClr>
                </a:solidFill>
                <a:latin typeface="Microsoft YaHei"/>
                <a:ea typeface="Microsoft YaHei"/>
                <a:cs typeface="Microsoft YaHei"/>
              </a:rPr>
              <a:t>专家问卷调查结果统计</a:t>
            </a:r>
            <a:endParaRPr sz="1400" dirty="0">
              <a:latin typeface="Microsoft YaHei"/>
              <a:ea typeface="Microsoft YaHei"/>
              <a:cs typeface="Microsoft YaHe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6"/>
          <p:cNvPicPr>
            <a:picLocks noChangeAspect="1"/>
          </p:cNvPicPr>
          <p:nvPr/>
        </p:nvPicPr>
        <p:blipFill>
          <a:blip r:embed="rId2"/>
          <a:stretch>
            <a:fillRect/>
          </a:stretch>
        </p:blipFill>
        <p:spPr>
          <a:xfrm rot="21600000">
            <a:off x="7754111" y="1930908"/>
            <a:ext cx="3378707" cy="4696967"/>
          </a:xfrm>
          <a:prstGeom prst="rect">
            <a:avLst/>
          </a:prstGeom>
        </p:spPr>
      </p:pic>
      <p:pic>
        <p:nvPicPr>
          <p:cNvPr id="58" name="picture 58"/>
          <p:cNvPicPr>
            <a:picLocks noChangeAspect="1"/>
          </p:cNvPicPr>
          <p:nvPr/>
        </p:nvPicPr>
        <p:blipFill>
          <a:blip r:embed="rId3"/>
          <a:stretch>
            <a:fillRect/>
          </a:stretch>
        </p:blipFill>
        <p:spPr>
          <a:xfrm rot="21600000">
            <a:off x="940308" y="3529583"/>
            <a:ext cx="5274563" cy="2743200"/>
          </a:xfrm>
          <a:prstGeom prst="rect">
            <a:avLst/>
          </a:prstGeom>
        </p:spPr>
      </p:pic>
      <p:pic>
        <p:nvPicPr>
          <p:cNvPr id="60" name="picture 60"/>
          <p:cNvPicPr>
            <a:picLocks noChangeAspect="1"/>
          </p:cNvPicPr>
          <p:nvPr/>
        </p:nvPicPr>
        <p:blipFill>
          <a:blip r:embed="rId4"/>
          <a:stretch>
            <a:fillRect/>
          </a:stretch>
        </p:blipFill>
        <p:spPr>
          <a:xfrm rot="21600000">
            <a:off x="734466" y="1177925"/>
            <a:ext cx="5586183" cy="1663966"/>
          </a:xfrm>
          <a:prstGeom prst="rect">
            <a:avLst/>
          </a:prstGeom>
        </p:spPr>
      </p:pic>
      <p:sp>
        <p:nvSpPr>
          <p:cNvPr id="62" name="textbox 62"/>
          <p:cNvSpPr/>
          <p:nvPr/>
        </p:nvSpPr>
        <p:spPr>
          <a:xfrm>
            <a:off x="6969252" y="961644"/>
            <a:ext cx="4755515" cy="862964"/>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66000"/>
              </a:lnSpc>
              <a:tabLst/>
            </a:pPr>
            <a:endParaRPr sz="100" dirty="0">
              <a:latin typeface="Arial"/>
              <a:ea typeface="Arial"/>
              <a:cs typeface="Arial"/>
            </a:endParaRPr>
          </a:p>
          <a:p>
            <a:pPr marL="93344" indent="146685" algn="l" rtl="0" eaLnBrk="0">
              <a:lnSpc>
                <a:spcPct val="113000"/>
              </a:lnSpc>
              <a:tabLst/>
            </a:pPr>
            <a:r>
              <a:rPr sz="2300" kern="0" spc="20" dirty="0">
                <a:solidFill>
                  <a:srgbClr val="FFFFFF">
                    <a:alpha val="100000"/>
                  </a:srgbClr>
                </a:solidFill>
                <a:latin typeface="Microsoft YaHei"/>
                <a:ea typeface="Microsoft YaHei"/>
                <a:cs typeface="Microsoft YaHei"/>
              </a:rPr>
              <a:t>《三峡水运新通道断航和通航安全</a:t>
            </a:r>
            <a:r>
              <a:rPr sz="2300" kern="0" spc="100" dirty="0">
                <a:solidFill>
                  <a:srgbClr val="FFFFFF">
                    <a:alpha val="100000"/>
                  </a:srgbClr>
                </a:solidFill>
                <a:latin typeface="Microsoft YaHei"/>
                <a:ea typeface="Microsoft YaHei"/>
                <a:cs typeface="Microsoft YaHei"/>
              </a:rPr>
              <a:t>稳定风险及应对措施研究</a:t>
            </a:r>
            <a:r>
              <a:rPr sz="2300" kern="0" spc="90" dirty="0">
                <a:solidFill>
                  <a:srgbClr val="FFFFFF">
                    <a:alpha val="100000"/>
                  </a:srgbClr>
                </a:solidFill>
                <a:latin typeface="Microsoft YaHei"/>
                <a:ea typeface="Microsoft YaHei"/>
                <a:cs typeface="Microsoft YaHei"/>
              </a:rPr>
              <a:t>》报告</a:t>
            </a:r>
            <a:endParaRPr sz="2300" dirty="0">
              <a:latin typeface="Microsoft YaHei"/>
              <a:ea typeface="Microsoft YaHei"/>
              <a:cs typeface="Microsoft YaHei"/>
            </a:endParaRPr>
          </a:p>
        </p:txBody>
      </p:sp>
      <p:sp>
        <p:nvSpPr>
          <p:cNvPr id="64" name="textbox 64"/>
          <p:cNvSpPr/>
          <p:nvPr/>
        </p:nvSpPr>
        <p:spPr>
          <a:xfrm>
            <a:off x="1139761" y="2978530"/>
            <a:ext cx="5014595" cy="3206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2323"/>
              </a:lnSpc>
              <a:tabLst/>
            </a:pPr>
            <a:r>
              <a:rPr sz="1700" kern="0" spc="50" dirty="0">
                <a:solidFill>
                  <a:srgbClr val="000000">
                    <a:alpha val="100000"/>
                  </a:srgbClr>
                </a:solidFill>
                <a:latin typeface="Microsoft YaHei"/>
                <a:ea typeface="Microsoft YaHei"/>
                <a:cs typeface="Microsoft YaHei"/>
              </a:rPr>
              <a:t>施工期三江航道航线布置</a:t>
            </a:r>
            <a:r>
              <a:rPr sz="1700" kern="0" spc="40" dirty="0">
                <a:solidFill>
                  <a:srgbClr val="000000">
                    <a:alpha val="100000"/>
                  </a:srgbClr>
                </a:solidFill>
                <a:latin typeface="Microsoft YaHei"/>
                <a:ea typeface="Microsoft YaHei"/>
                <a:cs typeface="Microsoft YaHei"/>
              </a:rPr>
              <a:t>（下游引航道开挖Ⅰ期）</a:t>
            </a:r>
            <a:endParaRPr sz="1700" dirty="0">
              <a:latin typeface="Microsoft YaHei"/>
              <a:ea typeface="Microsoft YaHei"/>
              <a:cs typeface="Microsoft YaHei"/>
            </a:endParaRPr>
          </a:p>
        </p:txBody>
      </p:sp>
      <p:sp>
        <p:nvSpPr>
          <p:cNvPr id="66" name="textbox 66"/>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
        <p:nvSpPr>
          <p:cNvPr id="68" name="textbox 68"/>
          <p:cNvSpPr/>
          <p:nvPr/>
        </p:nvSpPr>
        <p:spPr>
          <a:xfrm>
            <a:off x="2233523" y="6416599"/>
            <a:ext cx="2496185" cy="3206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2323"/>
              </a:lnSpc>
              <a:tabLst/>
            </a:pPr>
            <a:r>
              <a:rPr sz="1700" kern="0" spc="-20" dirty="0">
                <a:solidFill>
                  <a:srgbClr val="000000">
                    <a:alpha val="100000"/>
                  </a:srgbClr>
                </a:solidFill>
                <a:latin typeface="Microsoft YaHei"/>
                <a:ea typeface="Microsoft YaHei"/>
                <a:cs typeface="Microsoft YaHei"/>
              </a:rPr>
              <a:t>长江溪桥（黄柏河大桥）</a:t>
            </a:r>
            <a:endParaRPr sz="1700" dirty="0">
              <a:latin typeface="Microsoft YaHei"/>
              <a:ea typeface="Microsoft YaHei"/>
              <a:cs typeface="Microsoft YaHe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550278" y="1496098"/>
            <a:ext cx="6425565" cy="3977004"/>
          </a:xfrm>
          <a:prstGeom prst="rect">
            <a:avLst/>
          </a:prstGeom>
          <a:noFill/>
          <a:ln w="0" cap="flat">
            <a:noFill/>
            <a:prstDash val="solid"/>
            <a:miter lim="0"/>
          </a:ln>
        </p:spPr>
        <p:txBody>
          <a:bodyPr vert="horz" wrap="square" lIns="0" tIns="0" rIns="0" bIns="0"/>
          <a:lstStyle/>
          <a:p>
            <a:pPr algn="l" rtl="0" eaLnBrk="0">
              <a:lnSpc>
                <a:spcPct val="74094"/>
              </a:lnSpc>
              <a:tabLst/>
            </a:pPr>
            <a:endParaRPr sz="100" dirty="0">
              <a:latin typeface="Arial"/>
              <a:ea typeface="Arial"/>
              <a:cs typeface="Arial"/>
            </a:endParaRPr>
          </a:p>
          <a:p>
            <a:pPr marL="12700" algn="l" rtl="0" eaLnBrk="0">
              <a:lnSpc>
                <a:spcPct val="88000"/>
              </a:lnSpc>
              <a:tabLst/>
            </a:pPr>
            <a:r>
              <a:rPr sz="2300" b="1" kern="0" spc="100" dirty="0">
                <a:solidFill>
                  <a:srgbClr val="000000">
                    <a:alpha val="100000"/>
                  </a:srgbClr>
                </a:solidFill>
                <a:latin typeface="Microsoft YaHei"/>
                <a:ea typeface="Microsoft YaHei"/>
                <a:cs typeface="Microsoft YaHei"/>
              </a:rPr>
              <a:t>风浅水岸壁船闸航道非线性船组水动力预报</a:t>
            </a:r>
            <a:r>
              <a:rPr sz="2300" b="1" kern="0" spc="90" dirty="0">
                <a:solidFill>
                  <a:srgbClr val="000000">
                    <a:alpha val="100000"/>
                  </a:srgbClr>
                </a:solidFill>
                <a:latin typeface="Microsoft YaHei"/>
                <a:ea typeface="Microsoft YaHei"/>
                <a:cs typeface="Microsoft YaHei"/>
              </a:rPr>
              <a:t>系统</a:t>
            </a:r>
            <a:endParaRPr sz="2300" dirty="0">
              <a:latin typeface="Microsoft YaHei"/>
              <a:ea typeface="Microsoft YaHei"/>
              <a:cs typeface="Microsoft YaHei"/>
            </a:endParaRPr>
          </a:p>
          <a:p>
            <a:pPr algn="l" rtl="0" eaLnBrk="0">
              <a:lnSpc>
                <a:spcPct val="155000"/>
              </a:lnSpc>
              <a:tabLst/>
            </a:pPr>
            <a:endParaRPr sz="1000" dirty="0">
              <a:latin typeface="Arial"/>
              <a:ea typeface="Arial"/>
              <a:cs typeface="Arial"/>
            </a:endParaRPr>
          </a:p>
          <a:p>
            <a:pPr marL="212725" algn="l" rtl="0" eaLnBrk="0">
              <a:lnSpc>
                <a:spcPct val="93000"/>
              </a:lnSpc>
              <a:spcBef>
                <a:spcPts val="603"/>
              </a:spcBef>
              <a:tabLst/>
            </a:pPr>
            <a:r>
              <a:rPr sz="2000" kern="0" spc="30" dirty="0">
                <a:solidFill>
                  <a:srgbClr val="000000">
                    <a:alpha val="100000"/>
                  </a:srgbClr>
                </a:solidFill>
                <a:latin typeface="Wingdings"/>
                <a:ea typeface="Wingdings"/>
                <a:cs typeface="Wingdings"/>
              </a:rPr>
              <a:t>u</a:t>
            </a:r>
            <a:r>
              <a:rPr sz="2000" kern="0" spc="30" dirty="0">
                <a:solidFill>
                  <a:srgbClr val="000000">
                    <a:alpha val="100000"/>
                  </a:srgbClr>
                </a:solidFill>
                <a:latin typeface="Microsoft YaHei"/>
                <a:ea typeface="Microsoft YaHei"/>
                <a:cs typeface="Microsoft YaHei"/>
              </a:rPr>
              <a:t>风、浅水岸壁船组流场预报与流速检测</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212725" algn="l" rtl="0" eaLnBrk="0">
              <a:lnSpc>
                <a:spcPct val="93000"/>
              </a:lnSpc>
              <a:spcBef>
                <a:spcPts val="600"/>
              </a:spcBef>
              <a:tabLst/>
            </a:pPr>
            <a:r>
              <a:rPr sz="2000" kern="0" spc="30" dirty="0">
                <a:solidFill>
                  <a:srgbClr val="000000">
                    <a:alpha val="100000"/>
                  </a:srgbClr>
                </a:solidFill>
                <a:latin typeface="Wingdings"/>
                <a:ea typeface="Wingdings"/>
                <a:cs typeface="Wingdings"/>
              </a:rPr>
              <a:t>u</a:t>
            </a:r>
            <a:r>
              <a:rPr sz="2000" kern="0" spc="30" dirty="0">
                <a:solidFill>
                  <a:srgbClr val="000000">
                    <a:alpha val="100000"/>
                  </a:srgbClr>
                </a:solidFill>
                <a:latin typeface="Microsoft YaHei"/>
                <a:ea typeface="Microsoft YaHei"/>
                <a:cs typeface="Microsoft YaHei"/>
              </a:rPr>
              <a:t>复杂船闸航道泥沙堆积环境</a:t>
            </a:r>
            <a:r>
              <a:rPr sz="2000" kern="0" spc="20" dirty="0">
                <a:solidFill>
                  <a:srgbClr val="000000">
                    <a:alpha val="100000"/>
                  </a:srgbClr>
                </a:solidFill>
                <a:latin typeface="Microsoft YaHei"/>
                <a:ea typeface="Microsoft YaHei"/>
                <a:cs typeface="Microsoft YaHei"/>
              </a:rPr>
              <a:t>下船舶水动力预估</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212725" algn="l" rtl="0" eaLnBrk="0">
              <a:lnSpc>
                <a:spcPct val="93000"/>
              </a:lnSpc>
              <a:spcBef>
                <a:spcPts val="600"/>
              </a:spcBef>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系缆力、船组运动响应预报</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212725" algn="l" rtl="0" eaLnBrk="0">
              <a:lnSpc>
                <a:spcPct val="93000"/>
              </a:lnSpc>
              <a:spcBef>
                <a:spcPts val="600"/>
              </a:spcBef>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船舶兴波对航道岸壁影响评</a:t>
            </a:r>
            <a:r>
              <a:rPr sz="2000" kern="0" spc="30" dirty="0">
                <a:solidFill>
                  <a:srgbClr val="000000">
                    <a:alpha val="100000"/>
                  </a:srgbClr>
                </a:solidFill>
                <a:latin typeface="Microsoft YaHei"/>
                <a:ea typeface="Microsoft YaHei"/>
                <a:cs typeface="Microsoft YaHei"/>
              </a:rPr>
              <a:t>估</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212725" algn="l" rtl="0" eaLnBrk="0">
              <a:lnSpc>
                <a:spcPct val="93000"/>
              </a:lnSpc>
              <a:spcBef>
                <a:spcPts val="600"/>
              </a:spcBef>
              <a:tabLst/>
            </a:pPr>
            <a:r>
              <a:rPr sz="2000" kern="0" spc="50" dirty="0">
                <a:solidFill>
                  <a:srgbClr val="000000">
                    <a:alpha val="100000"/>
                  </a:srgbClr>
                </a:solidFill>
                <a:latin typeface="Wingdings"/>
                <a:ea typeface="Wingdings"/>
                <a:cs typeface="Wingdings"/>
              </a:rPr>
              <a:t>u</a:t>
            </a:r>
            <a:r>
              <a:rPr sz="2000" kern="0" spc="50" dirty="0">
                <a:solidFill>
                  <a:srgbClr val="000000">
                    <a:alpha val="100000"/>
                  </a:srgbClr>
                </a:solidFill>
                <a:latin typeface="Microsoft YaHei"/>
                <a:ea typeface="Microsoft YaHei"/>
                <a:cs typeface="Microsoft YaHei"/>
              </a:rPr>
              <a:t>全尺度船组阻力预报</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algn="l" rtl="0" eaLnBrk="0">
              <a:lnSpc>
                <a:spcPct val="100000"/>
              </a:lnSpc>
              <a:tabLst/>
            </a:pPr>
            <a:endParaRPr sz="500" dirty="0">
              <a:latin typeface="Arial"/>
              <a:ea typeface="Arial"/>
              <a:cs typeface="Arial"/>
            </a:endParaRPr>
          </a:p>
          <a:p>
            <a:pPr marL="212725" algn="l" rtl="0" eaLnBrk="0">
              <a:lnSpc>
                <a:spcPct val="93000"/>
              </a:lnSpc>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复杂航道泥沙堆积流态预报</a:t>
            </a:r>
            <a:endParaRPr sz="2000" dirty="0">
              <a:latin typeface="Microsoft YaHei"/>
              <a:ea typeface="Microsoft YaHei"/>
              <a:cs typeface="Microsoft YaHei"/>
            </a:endParaRPr>
          </a:p>
        </p:txBody>
      </p:sp>
      <p:pic>
        <p:nvPicPr>
          <p:cNvPr id="4" name="picture 4"/>
          <p:cNvPicPr>
            <a:picLocks noChangeAspect="1"/>
          </p:cNvPicPr>
          <p:nvPr/>
        </p:nvPicPr>
        <p:blipFill>
          <a:blip r:embed="rId2"/>
          <a:stretch>
            <a:fillRect/>
          </a:stretch>
        </p:blipFill>
        <p:spPr>
          <a:xfrm rot="21600000">
            <a:off x="7174992" y="1353311"/>
            <a:ext cx="4466844" cy="2473451"/>
          </a:xfrm>
          <a:prstGeom prst="rect">
            <a:avLst/>
          </a:prstGeom>
        </p:spPr>
      </p:pic>
      <p:pic>
        <p:nvPicPr>
          <p:cNvPr id="6" name="picture 6"/>
          <p:cNvPicPr>
            <a:picLocks noChangeAspect="1"/>
          </p:cNvPicPr>
          <p:nvPr/>
        </p:nvPicPr>
        <p:blipFill>
          <a:blip r:embed="rId3"/>
          <a:stretch>
            <a:fillRect/>
          </a:stretch>
        </p:blipFill>
        <p:spPr>
          <a:xfrm rot="21600000">
            <a:off x="7174458" y="4328159"/>
            <a:ext cx="4466844" cy="2275332"/>
          </a:xfrm>
          <a:prstGeom prst="rect">
            <a:avLst/>
          </a:prstGeom>
        </p:spPr>
      </p:pic>
      <p:sp>
        <p:nvSpPr>
          <p:cNvPr id="8" name="textbox 8"/>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6204" algn="l" rtl="0" eaLnBrk="0">
              <a:lnSpc>
                <a:spcPts val="3608"/>
              </a:lnSpc>
              <a:spcBef>
                <a:spcPts val="1"/>
              </a:spcBef>
              <a:tabLst/>
            </a:pPr>
            <a:r>
              <a:rPr sz="2700" kern="0" spc="80" dirty="0">
                <a:solidFill>
                  <a:srgbClr val="FFFFFF">
                    <a:alpha val="100000"/>
                  </a:srgbClr>
                </a:solidFill>
                <a:latin typeface="Microsoft YaHei"/>
                <a:ea typeface="Microsoft YaHei"/>
                <a:cs typeface="Microsoft YaHei"/>
              </a:rPr>
              <a:t>3.1 风、</a:t>
            </a:r>
            <a:r>
              <a:rPr sz="2700" kern="0" spc="-690" dirty="0">
                <a:solidFill>
                  <a:srgbClr val="FFFFFF">
                    <a:alpha val="100000"/>
                  </a:srgbClr>
                </a:solidFill>
                <a:latin typeface="Microsoft YaHei"/>
                <a:ea typeface="Microsoft YaHei"/>
                <a:cs typeface="Microsoft YaHei"/>
              </a:rPr>
              <a:t> </a:t>
            </a:r>
            <a:r>
              <a:rPr sz="2700" kern="0" spc="80" dirty="0">
                <a:solidFill>
                  <a:srgbClr val="FFFFFF">
                    <a:alpha val="100000"/>
                  </a:srgbClr>
                </a:solidFill>
                <a:latin typeface="Microsoft YaHei"/>
                <a:ea typeface="Microsoft YaHei"/>
                <a:cs typeface="Microsoft YaHei"/>
              </a:rPr>
              <a:t>浅水、</a:t>
            </a:r>
            <a:r>
              <a:rPr sz="2700" kern="0" spc="-650" dirty="0">
                <a:solidFill>
                  <a:srgbClr val="FFFFFF">
                    <a:alpha val="100000"/>
                  </a:srgbClr>
                </a:solidFill>
                <a:latin typeface="Microsoft YaHei"/>
                <a:ea typeface="Microsoft YaHei"/>
                <a:cs typeface="Microsoft YaHei"/>
              </a:rPr>
              <a:t> </a:t>
            </a:r>
            <a:r>
              <a:rPr sz="2700" kern="0" spc="80" dirty="0">
                <a:solidFill>
                  <a:srgbClr val="FFFFFF">
                    <a:alpha val="100000"/>
                  </a:srgbClr>
                </a:solidFill>
                <a:latin typeface="Microsoft YaHei"/>
                <a:ea typeface="Microsoft YaHei"/>
                <a:cs typeface="Microsoft YaHei"/>
              </a:rPr>
              <a:t>岸壁以及船闸</a:t>
            </a:r>
            <a:r>
              <a:rPr sz="2700" kern="0" spc="70" dirty="0">
                <a:solidFill>
                  <a:srgbClr val="FFFFFF">
                    <a:alpha val="100000"/>
                  </a:srgbClr>
                </a:solidFill>
                <a:latin typeface="Microsoft YaHei"/>
                <a:ea typeface="Microsoft YaHei"/>
                <a:cs typeface="Microsoft YaHei"/>
              </a:rPr>
              <a:t>航道非线性船组水动力预报系统</a:t>
            </a:r>
            <a:endParaRPr sz="2700" dirty="0">
              <a:latin typeface="Microsoft YaHei"/>
              <a:ea typeface="Microsoft YaHei"/>
              <a:cs typeface="Microsoft YaHei"/>
            </a:endParaRPr>
          </a:p>
        </p:txBody>
      </p:sp>
      <p:sp>
        <p:nvSpPr>
          <p:cNvPr id="10" name="textbox 10"/>
          <p:cNvSpPr/>
          <p:nvPr/>
        </p:nvSpPr>
        <p:spPr>
          <a:xfrm>
            <a:off x="4741900" y="711771"/>
            <a:ext cx="2761614" cy="49021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p:txBody>
      </p:sp>
      <p:sp>
        <p:nvSpPr>
          <p:cNvPr id="12" name="textbox 12"/>
          <p:cNvSpPr/>
          <p:nvPr/>
        </p:nvSpPr>
        <p:spPr>
          <a:xfrm>
            <a:off x="8317745" y="3849907"/>
            <a:ext cx="2275839" cy="416559"/>
          </a:xfrm>
          <a:prstGeom prst="rect">
            <a:avLst/>
          </a:prstGeom>
          <a:noFill/>
          <a:ln w="0" cap="flat">
            <a:noFill/>
            <a:prstDash val="solid"/>
            <a:miter lim="0"/>
          </a:ln>
        </p:spPr>
        <p:txBody>
          <a:bodyPr vert="horz" wrap="square" lIns="0" tIns="0" rIns="0" bIns="0"/>
          <a:lstStyle/>
          <a:p>
            <a:pPr algn="l" rtl="0" eaLnBrk="0">
              <a:lnSpc>
                <a:spcPct val="43392"/>
              </a:lnSpc>
              <a:tabLst/>
            </a:pPr>
            <a:endParaRPr sz="100" dirty="0">
              <a:latin typeface="Arial"/>
              <a:ea typeface="Arial"/>
              <a:cs typeface="Arial"/>
            </a:endParaRPr>
          </a:p>
          <a:p>
            <a:pPr marL="160020" indent="-147954" algn="l" rtl="0" eaLnBrk="0">
              <a:lnSpc>
                <a:spcPct val="93000"/>
              </a:lnSpc>
              <a:tabLst/>
            </a:pPr>
            <a:r>
              <a:rPr sz="1400" b="1" kern="0" spc="0" dirty="0">
                <a:solidFill>
                  <a:srgbClr val="000000">
                    <a:alpha val="100000"/>
                  </a:srgbClr>
                </a:solidFill>
                <a:latin typeface="Microsoft YaHei"/>
                <a:ea typeface="Microsoft YaHei"/>
                <a:cs typeface="Microsoft YaHei"/>
              </a:rPr>
              <a:t>浅水效应</a:t>
            </a:r>
            <a:r>
              <a:rPr sz="1400" b="1" kern="0" spc="0" dirty="0">
                <a:solidFill>
                  <a:srgbClr val="000000">
                    <a:alpha val="100000"/>
                  </a:srgbClr>
                </a:solidFill>
                <a:latin typeface="Times New Roman"/>
                <a:ea typeface="Times New Roman"/>
                <a:cs typeface="Times New Roman"/>
              </a:rPr>
              <a:t>-</a:t>
            </a:r>
            <a:r>
              <a:rPr sz="1400" b="1" kern="0" spc="0" dirty="0">
                <a:solidFill>
                  <a:srgbClr val="000000">
                    <a:alpha val="100000"/>
                  </a:srgbClr>
                </a:solidFill>
                <a:latin typeface="Microsoft YaHei"/>
                <a:ea typeface="Microsoft YaHei"/>
                <a:cs typeface="Microsoft YaHei"/>
              </a:rPr>
              <a:t>岸壁效应</a:t>
            </a:r>
            <a:r>
              <a:rPr sz="1400" b="1" kern="0" spc="0" dirty="0">
                <a:solidFill>
                  <a:srgbClr val="000000">
                    <a:alpha val="100000"/>
                  </a:srgbClr>
                </a:solidFill>
                <a:latin typeface="Times New Roman"/>
                <a:ea typeface="Times New Roman"/>
                <a:cs typeface="Times New Roman"/>
              </a:rPr>
              <a:t>-</a:t>
            </a:r>
            <a:r>
              <a:rPr sz="1400" b="1" kern="0" spc="0" dirty="0">
                <a:solidFill>
                  <a:srgbClr val="000000">
                    <a:alpha val="100000"/>
                  </a:srgbClr>
                </a:solidFill>
                <a:latin typeface="Microsoft YaHei"/>
                <a:ea typeface="Microsoft YaHei"/>
                <a:cs typeface="Microsoft YaHei"/>
              </a:rPr>
              <a:t>船</a:t>
            </a:r>
            <a:r>
              <a:rPr sz="1400" b="1" kern="0" spc="-10" dirty="0">
                <a:solidFill>
                  <a:srgbClr val="000000">
                    <a:alpha val="100000"/>
                  </a:srgbClr>
                </a:solidFill>
                <a:latin typeface="Microsoft YaHei"/>
                <a:ea typeface="Microsoft YaHei"/>
                <a:cs typeface="Microsoft YaHei"/>
              </a:rPr>
              <a:t>间效应</a:t>
            </a:r>
            <a:r>
              <a:rPr sz="1400" b="1" kern="0" spc="-10" dirty="0">
                <a:solidFill>
                  <a:srgbClr val="000000">
                    <a:alpha val="100000"/>
                  </a:srgbClr>
                </a:solidFill>
                <a:latin typeface="Microsoft YaHei"/>
                <a:ea typeface="Microsoft YaHei"/>
                <a:cs typeface="Microsoft YaHei"/>
              </a:rPr>
              <a:t>运动响应预报与流场检测</a:t>
            </a:r>
            <a:endParaRPr sz="1400" dirty="0">
              <a:latin typeface="Microsoft YaHei"/>
              <a:ea typeface="Microsoft YaHei"/>
              <a:cs typeface="Microsoft YaHei"/>
            </a:endParaRPr>
          </a:p>
        </p:txBody>
      </p:sp>
      <p:sp>
        <p:nvSpPr>
          <p:cNvPr id="14" name="textbox 14"/>
          <p:cNvSpPr/>
          <p:nvPr/>
        </p:nvSpPr>
        <p:spPr>
          <a:xfrm>
            <a:off x="8299891" y="6605032"/>
            <a:ext cx="2513329" cy="212090"/>
          </a:xfrm>
          <a:prstGeom prst="rect">
            <a:avLst/>
          </a:prstGeom>
          <a:noFill/>
          <a:ln w="0" cap="flat">
            <a:noFill/>
            <a:prstDash val="solid"/>
            <a:miter lim="0"/>
          </a:ln>
        </p:spPr>
        <p:txBody>
          <a:bodyPr vert="horz" wrap="square" lIns="0" tIns="0" rIns="0" bIns="0"/>
          <a:lstStyle/>
          <a:p>
            <a:pPr algn="l" rtl="0" eaLnBrk="0">
              <a:lnSpc>
                <a:spcPct val="87388"/>
              </a:lnSpc>
              <a:tabLst/>
            </a:pPr>
            <a:endParaRPr sz="100" dirty="0">
              <a:latin typeface="Arial"/>
              <a:ea typeface="Arial"/>
              <a:cs typeface="Arial"/>
            </a:endParaRPr>
          </a:p>
          <a:p>
            <a:pPr marL="12700" algn="l" rtl="0" eaLnBrk="0">
              <a:lnSpc>
                <a:spcPct val="87000"/>
              </a:lnSpc>
              <a:tabLst/>
            </a:pPr>
            <a:r>
              <a:rPr sz="1400" b="1" kern="0" spc="0" dirty="0">
                <a:solidFill>
                  <a:srgbClr val="000000">
                    <a:alpha val="100000"/>
                  </a:srgbClr>
                </a:solidFill>
                <a:latin typeface="Microsoft YaHei"/>
                <a:ea typeface="Microsoft YaHei"/>
                <a:cs typeface="Microsoft YaHei"/>
              </a:rPr>
              <a:t>船组、岸壁、假底试验装</a:t>
            </a:r>
            <a:r>
              <a:rPr sz="1400" b="1" kern="0" spc="-10" dirty="0">
                <a:solidFill>
                  <a:srgbClr val="000000">
                    <a:alpha val="100000"/>
                  </a:srgbClr>
                </a:solidFill>
                <a:latin typeface="Microsoft YaHei"/>
                <a:ea typeface="Microsoft YaHei"/>
                <a:cs typeface="Microsoft YaHei"/>
              </a:rPr>
              <a:t>置架构</a:t>
            </a:r>
            <a:endParaRPr sz="1400" dirty="0">
              <a:latin typeface="Microsoft YaHei"/>
              <a:ea typeface="Microsoft YaHei"/>
              <a:cs typeface="Microsoft YaHe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2"/>
          <a:stretch>
            <a:fillRect/>
          </a:stretch>
        </p:blipFill>
        <p:spPr>
          <a:xfrm rot="21600000">
            <a:off x="1679447" y="3944543"/>
            <a:ext cx="4560854" cy="2095526"/>
          </a:xfrm>
          <a:prstGeom prst="rect">
            <a:avLst/>
          </a:prstGeom>
        </p:spPr>
      </p:pic>
      <p:sp>
        <p:nvSpPr>
          <p:cNvPr id="18" name="textbox 18"/>
          <p:cNvSpPr/>
          <p:nvPr/>
        </p:nvSpPr>
        <p:spPr>
          <a:xfrm>
            <a:off x="655726" y="420509"/>
            <a:ext cx="7658100" cy="3270884"/>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3392804"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a:p>
            <a:pPr marL="12700" algn="l" rtl="0" eaLnBrk="0">
              <a:lnSpc>
                <a:spcPct val="96000"/>
              </a:lnSpc>
              <a:spcBef>
                <a:spcPts val="183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40" dirty="0">
                <a:solidFill>
                  <a:srgbClr val="000000">
                    <a:alpha val="100000"/>
                  </a:srgbClr>
                </a:solidFill>
                <a:latin typeface="Microsoft YaHei"/>
                <a:ea typeface="Microsoft YaHei"/>
                <a:cs typeface="Microsoft YaHei"/>
              </a:rPr>
              <a:t> </a:t>
            </a:r>
            <a:r>
              <a:rPr sz="2300" b="1" kern="0" spc="120" dirty="0">
                <a:solidFill>
                  <a:srgbClr val="000000">
                    <a:alpha val="100000"/>
                  </a:srgbClr>
                </a:solidFill>
                <a:latin typeface="Microsoft YaHei"/>
                <a:ea typeface="Microsoft YaHei"/>
                <a:cs typeface="Microsoft YaHei"/>
              </a:rPr>
              <a:t>复杂航道泥沙堆积多相流</a:t>
            </a:r>
            <a:r>
              <a:rPr sz="2300" b="1" kern="0" spc="0" dirty="0">
                <a:solidFill>
                  <a:srgbClr val="000000">
                    <a:alpha val="100000"/>
                  </a:srgbClr>
                </a:solidFill>
                <a:latin typeface="Microsoft YaHei"/>
                <a:ea typeface="Microsoft YaHei"/>
                <a:cs typeface="Microsoft YaHei"/>
              </a:rPr>
              <a:t>CFD</a:t>
            </a:r>
            <a:r>
              <a:rPr sz="2300" b="1" kern="0" spc="120" dirty="0">
                <a:solidFill>
                  <a:srgbClr val="000000">
                    <a:alpha val="100000"/>
                  </a:srgbClr>
                </a:solidFill>
                <a:latin typeface="Microsoft YaHei"/>
                <a:ea typeface="Microsoft YaHei"/>
                <a:cs typeface="Microsoft YaHei"/>
              </a:rPr>
              <a:t>-</a:t>
            </a:r>
            <a:r>
              <a:rPr sz="2300" b="1" kern="0" spc="0" dirty="0">
                <a:solidFill>
                  <a:srgbClr val="000000">
                    <a:alpha val="100000"/>
                  </a:srgbClr>
                </a:solidFill>
                <a:latin typeface="Microsoft YaHei"/>
                <a:ea typeface="Microsoft YaHei"/>
                <a:cs typeface="Microsoft YaHei"/>
              </a:rPr>
              <a:t>DEM</a:t>
            </a:r>
            <a:r>
              <a:rPr sz="2300" b="1" kern="0" spc="120" dirty="0">
                <a:solidFill>
                  <a:srgbClr val="000000">
                    <a:alpha val="100000"/>
                  </a:srgbClr>
                </a:solidFill>
                <a:latin typeface="Microsoft YaHei"/>
                <a:ea typeface="Microsoft YaHei"/>
                <a:cs typeface="Microsoft YaHei"/>
              </a:rPr>
              <a:t>数学模型</a:t>
            </a:r>
            <a:endParaRPr sz="2300" dirty="0">
              <a:latin typeface="Microsoft YaHei"/>
              <a:ea typeface="Microsoft YaHei"/>
              <a:cs typeface="Microsoft YaHei"/>
            </a:endParaRPr>
          </a:p>
          <a:p>
            <a:pPr marL="333375" indent="-321309" algn="l" rtl="0" eaLnBrk="0">
              <a:lnSpc>
                <a:spcPct val="151000"/>
              </a:lnSpc>
              <a:spcBef>
                <a:spcPts val="364"/>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4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考虑浅水、</a:t>
            </a:r>
            <a:r>
              <a:rPr sz="2300" b="1" kern="0" spc="-56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岸壁、</a:t>
            </a:r>
            <a:r>
              <a:rPr sz="2300" b="1" kern="0" spc="-55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船间效应的船组水动</a:t>
            </a:r>
            <a:r>
              <a:rPr sz="2300" b="1" kern="0" spc="80" dirty="0">
                <a:solidFill>
                  <a:srgbClr val="000000">
                    <a:alpha val="100000"/>
                  </a:srgbClr>
                </a:solidFill>
                <a:latin typeface="Microsoft YaHei"/>
                <a:ea typeface="Microsoft YaHei"/>
                <a:cs typeface="Microsoft YaHei"/>
              </a:rPr>
              <a:t>力和下沉量试验</a:t>
            </a:r>
            <a:r>
              <a:rPr sz="2300" b="1" kern="0" spc="80" dirty="0">
                <a:solidFill>
                  <a:srgbClr val="000000">
                    <a:alpha val="100000"/>
                  </a:srgbClr>
                </a:solidFill>
                <a:latin typeface="Microsoft YaHei"/>
                <a:ea typeface="Microsoft YaHei"/>
                <a:cs typeface="Microsoft YaHei"/>
              </a:rPr>
              <a:t>测量技术</a:t>
            </a:r>
            <a:endParaRPr sz="2300" dirty="0">
              <a:latin typeface="Microsoft YaHei"/>
              <a:ea typeface="Microsoft YaHei"/>
              <a:cs typeface="Microsoft YaHei"/>
            </a:endParaRPr>
          </a:p>
          <a:p>
            <a:pPr marL="12700" algn="l" rtl="0" eaLnBrk="0">
              <a:lnSpc>
                <a:spcPct val="96000"/>
              </a:lnSpc>
              <a:spcBef>
                <a:spcPts val="161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3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复杂船闸航道限制域非线性船舶运动智能</a:t>
            </a:r>
            <a:r>
              <a:rPr sz="2300" b="1" kern="0" spc="90" dirty="0">
                <a:solidFill>
                  <a:srgbClr val="000000">
                    <a:alpha val="100000"/>
                  </a:srgbClr>
                </a:solidFill>
                <a:latin typeface="Microsoft YaHei"/>
                <a:ea typeface="Microsoft YaHei"/>
                <a:cs typeface="Microsoft YaHei"/>
              </a:rPr>
              <a:t>预报技术</a:t>
            </a:r>
            <a:endParaRPr sz="2300" dirty="0">
              <a:latin typeface="Microsoft YaHei"/>
              <a:ea typeface="Microsoft YaHei"/>
              <a:cs typeface="Microsoft YaHei"/>
            </a:endParaRPr>
          </a:p>
          <a:p>
            <a:pPr algn="l" rtl="0" eaLnBrk="0">
              <a:lnSpc>
                <a:spcPct val="106000"/>
              </a:lnSpc>
              <a:tabLst/>
            </a:pPr>
            <a:endParaRPr sz="1000" dirty="0">
              <a:latin typeface="Arial"/>
              <a:ea typeface="Arial"/>
              <a:cs typeface="Arial"/>
            </a:endParaRPr>
          </a:p>
          <a:p>
            <a:pPr marL="12700" algn="l" rtl="0" eaLnBrk="0">
              <a:lnSpc>
                <a:spcPts val="3165"/>
              </a:lnSpc>
              <a:spcBef>
                <a:spcPts val="5"/>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24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限制域系缆力、</a:t>
            </a:r>
            <a:r>
              <a:rPr sz="2300" b="1" kern="0" spc="-55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粘势流/</a:t>
            </a:r>
            <a:r>
              <a:rPr sz="2300" b="1" kern="0" spc="80" dirty="0">
                <a:solidFill>
                  <a:srgbClr val="000000">
                    <a:alpha val="100000"/>
                  </a:srgbClr>
                </a:solidFill>
                <a:latin typeface="Microsoft YaHei"/>
                <a:ea typeface="Microsoft YaHei"/>
                <a:cs typeface="Microsoft YaHei"/>
              </a:rPr>
              <a:t>二因次船模-实船阻力切换技术</a:t>
            </a:r>
            <a:endParaRPr sz="2300" dirty="0">
              <a:latin typeface="Microsoft YaHei"/>
              <a:ea typeface="Microsoft YaHei"/>
              <a:cs typeface="Microsoft YaHei"/>
            </a:endParaRPr>
          </a:p>
        </p:txBody>
      </p:sp>
      <p:pic>
        <p:nvPicPr>
          <p:cNvPr id="20" name="picture 20"/>
          <p:cNvPicPr>
            <a:picLocks noChangeAspect="1"/>
          </p:cNvPicPr>
          <p:nvPr/>
        </p:nvPicPr>
        <p:blipFill>
          <a:blip r:embed="rId3"/>
          <a:stretch>
            <a:fillRect/>
          </a:stretch>
        </p:blipFill>
        <p:spPr>
          <a:xfrm rot="21600000">
            <a:off x="668426" y="3324872"/>
            <a:ext cx="216408" cy="337718"/>
          </a:xfrm>
          <a:prstGeom prst="rect">
            <a:avLst/>
          </a:prstGeom>
        </p:spPr>
      </p:pic>
      <p:pic>
        <p:nvPicPr>
          <p:cNvPr id="22" name="picture 22"/>
          <p:cNvPicPr>
            <a:picLocks noChangeAspect="1"/>
          </p:cNvPicPr>
          <p:nvPr/>
        </p:nvPicPr>
        <p:blipFill>
          <a:blip r:embed="rId4"/>
          <a:stretch>
            <a:fillRect/>
          </a:stretch>
        </p:blipFill>
        <p:spPr>
          <a:xfrm rot="21600000">
            <a:off x="668426" y="2776232"/>
            <a:ext cx="216408" cy="337718"/>
          </a:xfrm>
          <a:prstGeom prst="rect">
            <a:avLst/>
          </a:prstGeom>
        </p:spPr>
      </p:pic>
      <p:pic>
        <p:nvPicPr>
          <p:cNvPr id="24" name="picture 24"/>
          <p:cNvPicPr>
            <a:picLocks noChangeAspect="1"/>
          </p:cNvPicPr>
          <p:nvPr/>
        </p:nvPicPr>
        <p:blipFill>
          <a:blip r:embed="rId5"/>
          <a:stretch>
            <a:fillRect/>
          </a:stretch>
        </p:blipFill>
        <p:spPr>
          <a:xfrm rot="21600000">
            <a:off x="668426" y="1678952"/>
            <a:ext cx="216408" cy="337718"/>
          </a:xfrm>
          <a:prstGeom prst="rect">
            <a:avLst/>
          </a:prstGeom>
        </p:spPr>
      </p:pic>
      <p:pic>
        <p:nvPicPr>
          <p:cNvPr id="26" name="picture 26"/>
          <p:cNvPicPr>
            <a:picLocks noChangeAspect="1"/>
          </p:cNvPicPr>
          <p:nvPr/>
        </p:nvPicPr>
        <p:blipFill>
          <a:blip r:embed="rId6"/>
          <a:stretch>
            <a:fillRect/>
          </a:stretch>
        </p:blipFill>
        <p:spPr>
          <a:xfrm rot="21600000">
            <a:off x="668426" y="1130312"/>
            <a:ext cx="216408" cy="337718"/>
          </a:xfrm>
          <a:prstGeom prst="rect">
            <a:avLst/>
          </a:prstGeom>
        </p:spPr>
      </p:pic>
      <p:grpSp>
        <p:nvGrpSpPr>
          <p:cNvPr id="2" name="group 2"/>
          <p:cNvGrpSpPr/>
          <p:nvPr/>
        </p:nvGrpSpPr>
        <p:grpSpPr>
          <a:xfrm rot="21600000">
            <a:off x="8351456" y="950493"/>
            <a:ext cx="3730674" cy="5406263"/>
            <a:chOff x="0" y="0"/>
            <a:chExt cx="3730674" cy="5406263"/>
          </a:xfrm>
        </p:grpSpPr>
        <p:pic>
          <p:nvPicPr>
            <p:cNvPr id="28" name="picture 28"/>
            <p:cNvPicPr>
              <a:picLocks noChangeAspect="1"/>
            </p:cNvPicPr>
            <p:nvPr/>
          </p:nvPicPr>
          <p:blipFill>
            <a:blip r:embed="rId7"/>
            <a:stretch>
              <a:fillRect/>
            </a:stretch>
          </p:blipFill>
          <p:spPr>
            <a:xfrm rot="21600000">
              <a:off x="0" y="0"/>
              <a:ext cx="3730674" cy="5406263"/>
            </a:xfrm>
            <a:prstGeom prst="rect">
              <a:avLst/>
            </a:prstGeom>
          </p:spPr>
        </p:pic>
        <p:sp>
          <p:nvSpPr>
            <p:cNvPr id="30" name="textbox 30"/>
            <p:cNvSpPr/>
            <p:nvPr/>
          </p:nvSpPr>
          <p:spPr>
            <a:xfrm>
              <a:off x="1240557" y="5056356"/>
              <a:ext cx="1802129" cy="212090"/>
            </a:xfrm>
            <a:prstGeom prst="rect">
              <a:avLst/>
            </a:prstGeom>
            <a:noFill/>
            <a:ln w="0" cap="flat">
              <a:noFill/>
              <a:prstDash val="solid"/>
              <a:miter lim="0"/>
            </a:ln>
          </p:spPr>
          <p:txBody>
            <a:bodyPr vert="horz" wrap="square" lIns="0" tIns="0" rIns="0" bIns="0"/>
            <a:lstStyle/>
            <a:p>
              <a:pPr algn="l" rtl="0" eaLnBrk="0">
                <a:lnSpc>
                  <a:spcPct val="88559"/>
                </a:lnSpc>
                <a:tabLst/>
              </a:pPr>
              <a:endParaRPr sz="100" dirty="0">
                <a:latin typeface="Arial"/>
                <a:ea typeface="Arial"/>
                <a:cs typeface="Arial"/>
              </a:endParaRPr>
            </a:p>
            <a:p>
              <a:pPr marL="12700" algn="l" rtl="0" eaLnBrk="0">
                <a:lnSpc>
                  <a:spcPct val="87000"/>
                </a:lnSpc>
                <a:tabLst/>
              </a:pPr>
              <a:r>
                <a:rPr sz="1400" b="1" kern="0" spc="-10" dirty="0">
                  <a:solidFill>
                    <a:srgbClr val="000000">
                      <a:alpha val="100000"/>
                    </a:srgbClr>
                  </a:solidFill>
                  <a:latin typeface="Microsoft YaHei"/>
                  <a:ea typeface="Microsoft YaHei"/>
                  <a:cs typeface="Microsoft YaHei"/>
                </a:rPr>
                <a:t>船舶运动智能预报架构</a:t>
              </a:r>
              <a:endParaRPr sz="1400" dirty="0">
                <a:latin typeface="Microsoft YaHei"/>
                <a:ea typeface="Microsoft YaHei"/>
                <a:cs typeface="Microsoft YaHei"/>
              </a:endParaRPr>
            </a:p>
          </p:txBody>
        </p:sp>
      </p:grpSp>
      <p:grpSp>
        <p:nvGrpSpPr>
          <p:cNvPr id="4" name="group 4"/>
          <p:cNvGrpSpPr/>
          <p:nvPr/>
        </p:nvGrpSpPr>
        <p:grpSpPr>
          <a:xfrm rot="21600000">
            <a:off x="988568" y="3764114"/>
            <a:ext cx="5954674" cy="2609215"/>
            <a:chOff x="0" y="0"/>
            <a:chExt cx="5954674" cy="2609215"/>
          </a:xfrm>
        </p:grpSpPr>
        <p:pic>
          <p:nvPicPr>
            <p:cNvPr id="32" name="picture 32"/>
            <p:cNvPicPr>
              <a:picLocks noChangeAspect="1"/>
            </p:cNvPicPr>
            <p:nvPr/>
          </p:nvPicPr>
          <p:blipFill>
            <a:blip r:embed="rId8"/>
            <a:stretch>
              <a:fillRect/>
            </a:stretch>
          </p:blipFill>
          <p:spPr>
            <a:xfrm rot="21600000">
              <a:off x="0" y="0"/>
              <a:ext cx="5954674" cy="2609215"/>
            </a:xfrm>
            <a:prstGeom prst="rect">
              <a:avLst/>
            </a:prstGeom>
          </p:spPr>
        </p:pic>
        <p:sp>
          <p:nvSpPr>
            <p:cNvPr id="34" name="textbox 34"/>
            <p:cNvSpPr/>
            <p:nvPr/>
          </p:nvSpPr>
          <p:spPr>
            <a:xfrm>
              <a:off x="-12700" y="-12700"/>
              <a:ext cx="5980429" cy="2644139"/>
            </a:xfrm>
            <a:prstGeom prst="rect">
              <a:avLst/>
            </a:prstGeom>
            <a:noFill/>
            <a:ln w="0" cap="flat">
              <a:noFill/>
              <a:prstDash val="solid"/>
              <a:miter lim="0"/>
            </a:ln>
          </p:spPr>
          <p:txBody>
            <a:bodyPr vert="horz" wrap="square" lIns="0" tIns="0" rIns="0" bIns="0"/>
            <a:lstStyle/>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6497"/>
                </a:lnSpc>
                <a:tabLst/>
              </a:pPr>
              <a:endParaRPr sz="100" dirty="0">
                <a:latin typeface="Arial"/>
                <a:ea typeface="Arial"/>
                <a:cs typeface="Arial"/>
              </a:endParaRPr>
            </a:p>
            <a:p>
              <a:pPr marL="2261870" algn="l" rtl="0" eaLnBrk="0">
                <a:lnSpc>
                  <a:spcPct val="88000"/>
                </a:lnSpc>
                <a:tabLst/>
              </a:pPr>
              <a:r>
                <a:rPr sz="1400" b="1" kern="0" spc="-10" dirty="0">
                  <a:solidFill>
                    <a:srgbClr val="000000">
                      <a:alpha val="100000"/>
                    </a:srgbClr>
                  </a:solidFill>
                  <a:latin typeface="Microsoft YaHei"/>
                  <a:ea typeface="Microsoft YaHei"/>
                  <a:cs typeface="Microsoft YaHei"/>
                </a:rPr>
                <a:t>分域双数学模型</a:t>
              </a:r>
              <a:endParaRPr sz="1400" dirty="0">
                <a:latin typeface="Microsoft YaHei"/>
                <a:ea typeface="Microsoft YaHei"/>
                <a:cs typeface="Microsoft YaHe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table 36"/>
          <p:cNvGraphicFramePr>
            <a:graphicFrameLocks noGrp="1"/>
          </p:cNvGraphicFramePr>
          <p:nvPr/>
        </p:nvGraphicFramePr>
        <p:xfrm>
          <a:off x="277812" y="4227512"/>
          <a:ext cx="11661140" cy="2630170"/>
        </p:xfrm>
        <a:graphic>
          <a:graphicData uri="http://schemas.openxmlformats.org/drawingml/2006/table">
            <a:tbl>
              <a:tblPr/>
              <a:tblGrid>
                <a:gridCol w="11372850"/>
                <a:gridCol w="288290"/>
              </a:tblGrid>
              <a:tr h="2630170">
                <a:tc>
                  <a:txBody>
                    <a:bodyPr/>
                    <a:lstStyle/>
                    <a:p>
                      <a:pPr algn="l" rtl="0" eaLnBrk="0">
                        <a:lnSpc>
                          <a:spcPct val="110000"/>
                        </a:lnSpc>
                        <a:tabLst/>
                      </a:pPr>
                      <a:endParaRPr sz="400" dirty="0">
                        <a:latin typeface="Arial"/>
                        <a:ea typeface="Arial"/>
                        <a:cs typeface="Arial"/>
                      </a:endParaRPr>
                    </a:p>
                    <a:p>
                      <a:pPr marL="6976109" algn="l" rtl="0" eaLnBrk="0">
                        <a:lnSpc>
                          <a:spcPct val="88000"/>
                        </a:lnSpc>
                        <a:spcBef>
                          <a:spcPts val="3"/>
                        </a:spcBef>
                        <a:tabLst/>
                      </a:pPr>
                      <a:r>
                        <a:rPr sz="1400" b="1" kern="0" spc="0" dirty="0">
                          <a:solidFill>
                            <a:srgbClr val="000000">
                              <a:alpha val="100000"/>
                            </a:srgbClr>
                          </a:solidFill>
                          <a:latin typeface="Microsoft YaHei"/>
                          <a:ea typeface="Microsoft YaHei"/>
                          <a:cs typeface="Microsoft YaHei"/>
                        </a:rPr>
                        <a:t>五船试验与双数学模型数值</a:t>
                      </a:r>
                      <a:r>
                        <a:rPr sz="1400" b="1" kern="0" spc="-10" dirty="0">
                          <a:solidFill>
                            <a:srgbClr val="000000">
                              <a:alpha val="100000"/>
                            </a:srgbClr>
                          </a:solidFill>
                          <a:latin typeface="Microsoft YaHei"/>
                          <a:ea typeface="Microsoft YaHei"/>
                          <a:cs typeface="Microsoft YaHei"/>
                        </a:rPr>
                        <a:t>结果对比</a:t>
                      </a:r>
                      <a:endParaRPr sz="1400" dirty="0">
                        <a:latin typeface="Microsoft YaHei"/>
                        <a:ea typeface="Microsoft YaHei"/>
                        <a:cs typeface="Microsoft YaHei"/>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19000"/>
                        </a:lnSpc>
                        <a:tabLst/>
                      </a:pPr>
                      <a:endParaRPr sz="300" dirty="0">
                        <a:latin typeface="Arial"/>
                        <a:ea typeface="Arial"/>
                        <a:cs typeface="Arial"/>
                      </a:endParaRPr>
                    </a:p>
                    <a:p>
                      <a:pPr marL="1372869" algn="l" rtl="0" eaLnBrk="0">
                        <a:lnSpc>
                          <a:spcPct val="87000"/>
                        </a:lnSpc>
                        <a:spcBef>
                          <a:spcPts val="2"/>
                        </a:spcBef>
                        <a:tabLst/>
                      </a:pPr>
                      <a:r>
                        <a:rPr sz="1400" b="1" kern="0" spc="-10" dirty="0">
                          <a:solidFill>
                            <a:srgbClr val="000000">
                              <a:alpha val="100000"/>
                            </a:srgbClr>
                          </a:solidFill>
                          <a:latin typeface="Microsoft YaHei"/>
                          <a:ea typeface="Microsoft YaHei"/>
                          <a:cs typeface="Microsoft YaHei"/>
                        </a:rPr>
                        <a:t>限制域多船舶试验平台</a:t>
                      </a:r>
                      <a:endParaRPr sz="1400" dirty="0">
                        <a:latin typeface="Microsoft YaHei"/>
                        <a:ea typeface="Microsoft YaHei"/>
                        <a:cs typeface="Microsoft YaHei"/>
                      </a:endParaRPr>
                    </a:p>
                  </a:txBody>
                  <a:tcPr marL="0" marR="0" marT="0" marB="0" vert="horz">
                    <a:lnL w="3175" cap="flat" cmpd="sng" algn="ctr">
                      <a:solidFill>
                        <a:srgbClr val="0070C0"/>
                      </a:solidFill>
                      <a:prstDash val="solid"/>
                      <a:round/>
                      <a:headEnd type="none" w="med" len="med"/>
                      <a:tailEnd type="none" w="med" len="med"/>
                    </a:lnL>
                    <a:lnR w="12700" cap="flat" cmpd="sng" algn="ctr">
                      <a:solidFill>
                        <a:srgbClr val="FFFFFF"/>
                      </a:solidFill>
                      <a:prstDash val="solid"/>
                      <a:round/>
                      <a:headEnd type="none" w="med" len="med"/>
                      <a:tailEnd type="none" w="med" len="med"/>
                    </a:lnR>
                    <a:lnT w="3175" cap="flat" cmpd="sng" algn="ctr">
                      <a:solidFill>
                        <a:srgbClr val="0070C0"/>
                      </a:solidFill>
                      <a:prstDash val="solid"/>
                      <a:round/>
                      <a:headEnd type="none" w="med" len="med"/>
                      <a:tailEnd type="none" w="med" len="med"/>
                    </a:lnT>
                    <a:lnB w="3175" cap="flat" cmpd="sng" algn="ctr">
                      <a:solidFill>
                        <a:srgbClr val="0070C0"/>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FFFFFF"/>
                      </a:solidFill>
                      <a:prstDash val="solid"/>
                      <a:round/>
                      <a:headEnd type="none" w="med" len="med"/>
                      <a:tailEnd type="none" w="med" len="med"/>
                    </a:lnL>
                    <a:lnR w="3175" cap="flat" cmpd="sng" algn="ctr">
                      <a:solidFill>
                        <a:srgbClr val="0070C0"/>
                      </a:solidFill>
                      <a:prstDash val="solid"/>
                      <a:round/>
                      <a:headEnd type="none" w="med" len="med"/>
                      <a:tailEnd type="none" w="med" len="med"/>
                    </a:lnR>
                    <a:lnT w="3175" cap="flat" cmpd="sng" algn="ctr">
                      <a:solidFill>
                        <a:srgbClr val="0070C0"/>
                      </a:solidFill>
                      <a:prstDash val="solid"/>
                      <a:round/>
                      <a:headEnd type="none" w="med" len="med"/>
                      <a:tailEnd type="none" w="med" len="med"/>
                    </a:lnT>
                    <a:lnB w="3175" cap="flat" cmpd="sng" algn="ctr">
                      <a:solidFill>
                        <a:srgbClr val="0070C0"/>
                      </a:solidFill>
                      <a:prstDash val="solid"/>
                      <a:round/>
                      <a:headEnd type="none" w="med" len="med"/>
                      <a:tailEnd type="none" w="med" len="med"/>
                    </a:lnB>
                  </a:tcPr>
                </a:tc>
              </a:tr>
            </a:tbl>
          </a:graphicData>
        </a:graphic>
      </p:graphicFrame>
      <p:pic>
        <p:nvPicPr>
          <p:cNvPr id="38" name="picture 38"/>
          <p:cNvPicPr>
            <a:picLocks noChangeAspect="1"/>
          </p:cNvPicPr>
          <p:nvPr/>
        </p:nvPicPr>
        <p:blipFill>
          <a:blip r:embed="rId2"/>
          <a:stretch>
            <a:fillRect/>
          </a:stretch>
        </p:blipFill>
        <p:spPr>
          <a:xfrm rot="21600000">
            <a:off x="6638544" y="1359407"/>
            <a:ext cx="4928616" cy="2699004"/>
          </a:xfrm>
          <a:prstGeom prst="rect">
            <a:avLst/>
          </a:prstGeom>
        </p:spPr>
      </p:pic>
      <p:graphicFrame>
        <p:nvGraphicFramePr>
          <p:cNvPr id="40" name="table 40"/>
          <p:cNvGraphicFramePr>
            <a:graphicFrameLocks noGrp="1"/>
          </p:cNvGraphicFramePr>
          <p:nvPr/>
        </p:nvGraphicFramePr>
        <p:xfrm>
          <a:off x="5820727" y="4515713"/>
          <a:ext cx="5830569" cy="2257425"/>
        </p:xfrm>
        <a:graphic>
          <a:graphicData uri="http://schemas.openxmlformats.org/drawingml/2006/table">
            <a:tbl>
              <a:tblPr/>
              <a:tblGrid>
                <a:gridCol w="1802764"/>
                <a:gridCol w="808355"/>
                <a:gridCol w="725804"/>
                <a:gridCol w="852170"/>
                <a:gridCol w="797559"/>
                <a:gridCol w="843915"/>
              </a:tblGrid>
              <a:tr h="795019">
                <a:tc>
                  <a:txBody>
                    <a:bodyPr/>
                    <a:lstStyle/>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marL="500380" algn="l" rtl="0" eaLnBrk="0">
                        <a:lnSpc>
                          <a:spcPct val="87000"/>
                        </a:lnSpc>
                        <a:spcBef>
                          <a:spcPts val="2"/>
                        </a:spcBef>
                        <a:tabLst/>
                      </a:pPr>
                      <a:r>
                        <a:rPr sz="1500" kern="0" spc="90" dirty="0">
                          <a:solidFill>
                            <a:srgbClr val="FFFFFF">
                              <a:alpha val="100000"/>
                            </a:srgbClr>
                          </a:solidFill>
                          <a:latin typeface="Microsoft YaHei"/>
                          <a:ea typeface="Microsoft YaHei"/>
                          <a:cs typeface="Microsoft YaHei"/>
                        </a:rPr>
                        <a:t>船模阻力</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algn="l" rtl="0" eaLnBrk="0">
                        <a:lnSpc>
                          <a:spcPct val="122000"/>
                        </a:lnSpc>
                        <a:tabLst/>
                      </a:pPr>
                      <a:endParaRPr sz="1000" dirty="0">
                        <a:latin typeface="Arial"/>
                        <a:ea typeface="Arial"/>
                        <a:cs typeface="Arial"/>
                      </a:endParaRPr>
                    </a:p>
                    <a:p>
                      <a:pPr marL="203200" algn="l" rtl="0" eaLnBrk="0">
                        <a:lnSpc>
                          <a:spcPct val="86000"/>
                        </a:lnSpc>
                        <a:spcBef>
                          <a:spcPts val="2"/>
                        </a:spcBef>
                        <a:tabLst/>
                      </a:pPr>
                      <a:r>
                        <a:rPr sz="1500" kern="0" spc="80" dirty="0">
                          <a:solidFill>
                            <a:srgbClr val="FFFFFF">
                              <a:alpha val="100000"/>
                            </a:srgbClr>
                          </a:solidFill>
                          <a:latin typeface="Microsoft YaHei"/>
                          <a:ea typeface="Microsoft YaHei"/>
                          <a:cs typeface="Microsoft YaHei"/>
                        </a:rPr>
                        <a:t>河牛</a:t>
                      </a:r>
                      <a:endParaRPr sz="1500" dirty="0">
                        <a:latin typeface="Microsoft YaHei"/>
                        <a:ea typeface="Microsoft YaHei"/>
                        <a:cs typeface="Microsoft YaHei"/>
                      </a:endParaRPr>
                    </a:p>
                    <a:p>
                      <a:pPr algn="l" rtl="0" eaLnBrk="0">
                        <a:lnSpc>
                          <a:spcPct val="110000"/>
                        </a:lnSpc>
                        <a:tabLst/>
                      </a:pPr>
                      <a:endParaRPr sz="400" dirty="0">
                        <a:latin typeface="Arial"/>
                        <a:ea typeface="Arial"/>
                        <a:cs typeface="Arial"/>
                      </a:endParaRPr>
                    </a:p>
                    <a:p>
                      <a:pPr marL="274954" algn="l" rtl="0" eaLnBrk="0">
                        <a:lnSpc>
                          <a:spcPct val="71000"/>
                        </a:lnSpc>
                        <a:spcBef>
                          <a:spcPts val="5"/>
                        </a:spcBef>
                        <a:tabLst/>
                      </a:pPr>
                      <a:r>
                        <a:rPr sz="1500" kern="0" spc="-20" dirty="0">
                          <a:solidFill>
                            <a:srgbClr val="FFFFFF">
                              <a:alpha val="100000"/>
                            </a:srgbClr>
                          </a:solidFill>
                          <a:latin typeface="Times New Roman"/>
                          <a:ea typeface="Times New Roman"/>
                          <a:cs typeface="Times New Roman"/>
                        </a:rPr>
                        <a:t>1/N</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algn="l" rtl="0" eaLnBrk="0">
                        <a:lnSpc>
                          <a:spcPct val="122000"/>
                        </a:lnSpc>
                        <a:tabLst/>
                      </a:pPr>
                      <a:endParaRPr sz="1000" dirty="0">
                        <a:latin typeface="Arial"/>
                        <a:ea typeface="Arial"/>
                        <a:cs typeface="Arial"/>
                      </a:endParaRPr>
                    </a:p>
                    <a:p>
                      <a:pPr marL="161925" algn="l" rtl="0" eaLnBrk="0">
                        <a:lnSpc>
                          <a:spcPct val="86000"/>
                        </a:lnSpc>
                        <a:spcBef>
                          <a:spcPts val="2"/>
                        </a:spcBef>
                        <a:tabLst/>
                      </a:pPr>
                      <a:r>
                        <a:rPr sz="1500" kern="0" spc="80" dirty="0">
                          <a:solidFill>
                            <a:srgbClr val="FFFFFF">
                              <a:alpha val="100000"/>
                            </a:srgbClr>
                          </a:solidFill>
                          <a:latin typeface="Microsoft YaHei"/>
                          <a:ea typeface="Microsoft YaHei"/>
                          <a:cs typeface="Microsoft YaHei"/>
                        </a:rPr>
                        <a:t>河牛</a:t>
                      </a:r>
                      <a:endParaRPr sz="1500" dirty="0">
                        <a:latin typeface="Microsoft YaHei"/>
                        <a:ea typeface="Microsoft YaHei"/>
                        <a:cs typeface="Microsoft YaHei"/>
                      </a:endParaRPr>
                    </a:p>
                    <a:p>
                      <a:pPr algn="l" rtl="0" eaLnBrk="0">
                        <a:lnSpc>
                          <a:spcPct val="110000"/>
                        </a:lnSpc>
                        <a:tabLst/>
                      </a:pPr>
                      <a:endParaRPr sz="400" dirty="0">
                        <a:latin typeface="Arial"/>
                        <a:ea typeface="Arial"/>
                        <a:cs typeface="Arial"/>
                      </a:endParaRPr>
                    </a:p>
                    <a:p>
                      <a:pPr marL="213995" algn="l" rtl="0" eaLnBrk="0">
                        <a:lnSpc>
                          <a:spcPct val="71000"/>
                        </a:lnSpc>
                        <a:spcBef>
                          <a:spcPts val="5"/>
                        </a:spcBef>
                        <a:tabLst/>
                      </a:pPr>
                      <a:r>
                        <a:rPr sz="1500" kern="0" spc="30" dirty="0">
                          <a:solidFill>
                            <a:srgbClr val="FFFFFF">
                              <a:alpha val="100000"/>
                            </a:srgbClr>
                          </a:solidFill>
                          <a:latin typeface="Times New Roman"/>
                          <a:ea typeface="Times New Roman"/>
                          <a:cs typeface="Times New Roman"/>
                        </a:rPr>
                        <a:t>2/N</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algn="l" rtl="0" eaLnBrk="0">
                        <a:lnSpc>
                          <a:spcPct val="122000"/>
                        </a:lnSpc>
                        <a:tabLst/>
                      </a:pPr>
                      <a:endParaRPr sz="1000" dirty="0">
                        <a:latin typeface="Arial"/>
                        <a:ea typeface="Arial"/>
                        <a:cs typeface="Arial"/>
                      </a:endParaRPr>
                    </a:p>
                    <a:p>
                      <a:pPr marL="225425" algn="l" rtl="0" eaLnBrk="0">
                        <a:lnSpc>
                          <a:spcPct val="86000"/>
                        </a:lnSpc>
                        <a:spcBef>
                          <a:spcPts val="2"/>
                        </a:spcBef>
                        <a:tabLst/>
                      </a:pPr>
                      <a:r>
                        <a:rPr sz="1500" kern="0" spc="80" dirty="0">
                          <a:solidFill>
                            <a:srgbClr val="FFFFFF">
                              <a:alpha val="100000"/>
                            </a:srgbClr>
                          </a:solidFill>
                          <a:latin typeface="Microsoft YaHei"/>
                          <a:ea typeface="Microsoft YaHei"/>
                          <a:cs typeface="Microsoft YaHei"/>
                        </a:rPr>
                        <a:t>河牛</a:t>
                      </a:r>
                      <a:endParaRPr sz="1500" dirty="0">
                        <a:latin typeface="Microsoft YaHei"/>
                        <a:ea typeface="Microsoft YaHei"/>
                        <a:cs typeface="Microsoft YaHei"/>
                      </a:endParaRPr>
                    </a:p>
                    <a:p>
                      <a:pPr algn="l" rtl="0" eaLnBrk="0">
                        <a:lnSpc>
                          <a:spcPct val="110000"/>
                        </a:lnSpc>
                        <a:tabLst/>
                      </a:pPr>
                      <a:endParaRPr sz="400" dirty="0">
                        <a:latin typeface="Arial"/>
                        <a:ea typeface="Arial"/>
                        <a:cs typeface="Arial"/>
                      </a:endParaRPr>
                    </a:p>
                    <a:p>
                      <a:pPr marL="281940" algn="l" rtl="0" eaLnBrk="0">
                        <a:lnSpc>
                          <a:spcPct val="71000"/>
                        </a:lnSpc>
                        <a:spcBef>
                          <a:spcPts val="5"/>
                        </a:spcBef>
                        <a:tabLst/>
                      </a:pPr>
                      <a:r>
                        <a:rPr sz="1500" kern="0" spc="20" dirty="0">
                          <a:solidFill>
                            <a:srgbClr val="FFFFFF">
                              <a:alpha val="100000"/>
                            </a:srgbClr>
                          </a:solidFill>
                          <a:latin typeface="Times New Roman"/>
                          <a:ea typeface="Times New Roman"/>
                          <a:cs typeface="Times New Roman"/>
                        </a:rPr>
                        <a:t>3/N</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algn="l" rtl="0" eaLnBrk="0">
                        <a:lnSpc>
                          <a:spcPct val="122000"/>
                        </a:lnSpc>
                        <a:tabLst/>
                      </a:pPr>
                      <a:endParaRPr sz="1000" dirty="0">
                        <a:latin typeface="Arial"/>
                        <a:ea typeface="Arial"/>
                        <a:cs typeface="Arial"/>
                      </a:endParaRPr>
                    </a:p>
                    <a:p>
                      <a:pPr marL="198120" algn="l" rtl="0" eaLnBrk="0">
                        <a:lnSpc>
                          <a:spcPct val="86000"/>
                        </a:lnSpc>
                        <a:spcBef>
                          <a:spcPts val="2"/>
                        </a:spcBef>
                        <a:tabLst/>
                      </a:pPr>
                      <a:r>
                        <a:rPr sz="1500" kern="0" spc="80" dirty="0">
                          <a:solidFill>
                            <a:srgbClr val="FFFFFF">
                              <a:alpha val="100000"/>
                            </a:srgbClr>
                          </a:solidFill>
                          <a:latin typeface="Microsoft YaHei"/>
                          <a:ea typeface="Microsoft YaHei"/>
                          <a:cs typeface="Microsoft YaHei"/>
                        </a:rPr>
                        <a:t>河牛</a:t>
                      </a:r>
                      <a:endParaRPr sz="1500" dirty="0">
                        <a:latin typeface="Microsoft YaHei"/>
                        <a:ea typeface="Microsoft YaHei"/>
                        <a:cs typeface="Microsoft YaHei"/>
                      </a:endParaRPr>
                    </a:p>
                    <a:p>
                      <a:pPr algn="l" rtl="0" eaLnBrk="0">
                        <a:lnSpc>
                          <a:spcPct val="110000"/>
                        </a:lnSpc>
                        <a:tabLst/>
                      </a:pPr>
                      <a:endParaRPr sz="400" dirty="0">
                        <a:latin typeface="Arial"/>
                        <a:ea typeface="Arial"/>
                        <a:cs typeface="Arial"/>
                      </a:endParaRPr>
                    </a:p>
                    <a:p>
                      <a:pPr marL="249554" algn="l" rtl="0" eaLnBrk="0">
                        <a:lnSpc>
                          <a:spcPct val="71000"/>
                        </a:lnSpc>
                        <a:spcBef>
                          <a:spcPts val="5"/>
                        </a:spcBef>
                        <a:tabLst/>
                      </a:pPr>
                      <a:r>
                        <a:rPr sz="1500" kern="0" spc="30" dirty="0">
                          <a:solidFill>
                            <a:srgbClr val="FFFFFF">
                              <a:alpha val="100000"/>
                            </a:srgbClr>
                          </a:solidFill>
                          <a:latin typeface="Times New Roman"/>
                          <a:ea typeface="Times New Roman"/>
                          <a:cs typeface="Times New Roman"/>
                        </a:rPr>
                        <a:t>4/N</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c>
                  <a:txBody>
                    <a:bodyPr/>
                    <a:lstStyle/>
                    <a:p>
                      <a:pPr algn="l" rtl="0" eaLnBrk="0">
                        <a:lnSpc>
                          <a:spcPct val="112000"/>
                        </a:lnSpc>
                        <a:tabLst/>
                      </a:pPr>
                      <a:endParaRPr sz="1000" dirty="0">
                        <a:latin typeface="Arial"/>
                        <a:ea typeface="Arial"/>
                        <a:cs typeface="Arial"/>
                      </a:endParaRPr>
                    </a:p>
                    <a:p>
                      <a:pPr marL="220345" indent="-101600" algn="l" rtl="0" eaLnBrk="0">
                        <a:lnSpc>
                          <a:spcPct val="104000"/>
                        </a:lnSpc>
                        <a:spcBef>
                          <a:spcPts val="3"/>
                        </a:spcBef>
                        <a:tabLst/>
                      </a:pPr>
                      <a:r>
                        <a:rPr sz="1500" kern="0" spc="80" dirty="0">
                          <a:solidFill>
                            <a:srgbClr val="FFFFFF">
                              <a:alpha val="100000"/>
                            </a:srgbClr>
                          </a:solidFill>
                          <a:latin typeface="Microsoft YaHei"/>
                          <a:ea typeface="Microsoft YaHei"/>
                          <a:cs typeface="Microsoft YaHei"/>
                        </a:rPr>
                        <a:t>智能工</a:t>
                      </a:r>
                      <a:r>
                        <a:rPr sz="1500" kern="0" spc="80" dirty="0">
                          <a:solidFill>
                            <a:srgbClr val="FFFFFF">
                              <a:alpha val="100000"/>
                            </a:srgbClr>
                          </a:solidFill>
                          <a:latin typeface="Microsoft YaHei"/>
                          <a:ea typeface="Microsoft YaHei"/>
                          <a:cs typeface="Microsoft YaHei"/>
                        </a:rPr>
                        <a:t>作船</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B9BD5"/>
                    </a:solidFill>
                  </a:tcPr>
                </a:tc>
              </a:tr>
              <a:tr h="396875">
                <a:tc>
                  <a:txBody>
                    <a:bodyPr/>
                    <a:lstStyle/>
                    <a:p>
                      <a:pPr algn="l" rtl="0" eaLnBrk="0">
                        <a:lnSpc>
                          <a:spcPct val="108000"/>
                        </a:lnSpc>
                        <a:tabLst/>
                      </a:pPr>
                      <a:endParaRPr sz="800" dirty="0">
                        <a:latin typeface="Arial"/>
                        <a:ea typeface="Arial"/>
                        <a:cs typeface="Arial"/>
                      </a:endParaRPr>
                    </a:p>
                    <a:p>
                      <a:pPr marL="716280" algn="l" rtl="0" eaLnBrk="0">
                        <a:lnSpc>
                          <a:spcPct val="68000"/>
                        </a:lnSpc>
                        <a:spcBef>
                          <a:spcPts val="4"/>
                        </a:spcBef>
                        <a:tabLst/>
                      </a:pPr>
                      <a:r>
                        <a:rPr sz="1500" kern="0" spc="40" dirty="0">
                          <a:solidFill>
                            <a:srgbClr val="000000">
                              <a:alpha val="100000"/>
                            </a:srgbClr>
                          </a:solidFill>
                          <a:latin typeface="Times New Roman"/>
                          <a:ea typeface="Times New Roman"/>
                          <a:cs typeface="Times New Roman"/>
                        </a:rPr>
                        <a:t>EFD</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05000"/>
                        </a:lnSpc>
                        <a:tabLst/>
                      </a:pPr>
                      <a:endParaRPr sz="800" dirty="0">
                        <a:latin typeface="Arial"/>
                        <a:ea typeface="Arial"/>
                        <a:cs typeface="Arial"/>
                      </a:endParaRPr>
                    </a:p>
                    <a:p>
                      <a:pPr algn="l" rtl="0" eaLnBrk="0">
                        <a:lnSpc>
                          <a:spcPct val="6752"/>
                        </a:lnSpc>
                        <a:tabLst/>
                      </a:pPr>
                      <a:endParaRPr sz="100" dirty="0">
                        <a:latin typeface="Arial"/>
                        <a:ea typeface="Arial"/>
                        <a:cs typeface="Arial"/>
                      </a:endParaRPr>
                    </a:p>
                    <a:p>
                      <a:pPr marL="249554" algn="l" rtl="0" eaLnBrk="0">
                        <a:lnSpc>
                          <a:spcPct val="70000"/>
                        </a:lnSpc>
                        <a:tabLst/>
                      </a:pPr>
                      <a:r>
                        <a:rPr sz="1500" kern="0" spc="-10" dirty="0">
                          <a:solidFill>
                            <a:srgbClr val="000000">
                              <a:alpha val="100000"/>
                            </a:srgbClr>
                          </a:solidFill>
                          <a:latin typeface="Times New Roman"/>
                          <a:ea typeface="Times New Roman"/>
                          <a:cs typeface="Times New Roman"/>
                        </a:rPr>
                        <a:t>1.37</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05000"/>
                        </a:lnSpc>
                        <a:tabLst/>
                      </a:pPr>
                      <a:endParaRPr sz="800" dirty="0">
                        <a:latin typeface="Arial"/>
                        <a:ea typeface="Arial"/>
                        <a:cs typeface="Arial"/>
                      </a:endParaRPr>
                    </a:p>
                    <a:p>
                      <a:pPr algn="l" rtl="0" eaLnBrk="0">
                        <a:lnSpc>
                          <a:spcPct val="6752"/>
                        </a:lnSpc>
                        <a:tabLst/>
                      </a:pPr>
                      <a:endParaRPr sz="100" dirty="0">
                        <a:latin typeface="Arial"/>
                        <a:ea typeface="Arial"/>
                        <a:cs typeface="Arial"/>
                      </a:endParaRPr>
                    </a:p>
                    <a:p>
                      <a:pPr marL="208279" algn="l" rtl="0" eaLnBrk="0">
                        <a:lnSpc>
                          <a:spcPct val="70000"/>
                        </a:lnSpc>
                        <a:tabLst/>
                      </a:pPr>
                      <a:r>
                        <a:rPr sz="1500" kern="0" spc="-10" dirty="0">
                          <a:solidFill>
                            <a:srgbClr val="000000">
                              <a:alpha val="100000"/>
                            </a:srgbClr>
                          </a:solidFill>
                          <a:latin typeface="Times New Roman"/>
                          <a:ea typeface="Times New Roman"/>
                          <a:cs typeface="Times New Roman"/>
                        </a:rPr>
                        <a:t>1.48</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05000"/>
                        </a:lnSpc>
                        <a:tabLst/>
                      </a:pPr>
                      <a:endParaRPr sz="800" dirty="0">
                        <a:latin typeface="Arial"/>
                        <a:ea typeface="Arial"/>
                        <a:cs typeface="Arial"/>
                      </a:endParaRPr>
                    </a:p>
                    <a:p>
                      <a:pPr algn="l" rtl="0" eaLnBrk="0">
                        <a:lnSpc>
                          <a:spcPct val="6752"/>
                        </a:lnSpc>
                        <a:tabLst/>
                      </a:pPr>
                      <a:endParaRPr sz="100" dirty="0">
                        <a:latin typeface="Arial"/>
                        <a:ea typeface="Arial"/>
                        <a:cs typeface="Arial"/>
                      </a:endParaRPr>
                    </a:p>
                    <a:p>
                      <a:pPr marL="271779" algn="l" rtl="0" eaLnBrk="0">
                        <a:lnSpc>
                          <a:spcPct val="70000"/>
                        </a:lnSpc>
                        <a:tabLst/>
                      </a:pPr>
                      <a:r>
                        <a:rPr sz="1500" kern="0" spc="-10" dirty="0">
                          <a:solidFill>
                            <a:srgbClr val="000000">
                              <a:alpha val="100000"/>
                            </a:srgbClr>
                          </a:solidFill>
                          <a:latin typeface="Times New Roman"/>
                          <a:ea typeface="Times New Roman"/>
                          <a:cs typeface="Times New Roman"/>
                        </a:rPr>
                        <a:t>1.44</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05000"/>
                        </a:lnSpc>
                        <a:tabLst/>
                      </a:pPr>
                      <a:endParaRPr sz="800" dirty="0">
                        <a:latin typeface="Arial"/>
                        <a:ea typeface="Arial"/>
                        <a:cs typeface="Arial"/>
                      </a:endParaRPr>
                    </a:p>
                    <a:p>
                      <a:pPr algn="l" rtl="0" eaLnBrk="0">
                        <a:lnSpc>
                          <a:spcPct val="6752"/>
                        </a:lnSpc>
                        <a:tabLst/>
                      </a:pPr>
                      <a:endParaRPr sz="100" dirty="0">
                        <a:latin typeface="Arial"/>
                        <a:ea typeface="Arial"/>
                        <a:cs typeface="Arial"/>
                      </a:endParaRPr>
                    </a:p>
                    <a:p>
                      <a:pPr marL="244475" algn="l" rtl="0" eaLnBrk="0">
                        <a:lnSpc>
                          <a:spcPct val="70000"/>
                        </a:lnSpc>
                        <a:tabLst/>
                      </a:pPr>
                      <a:r>
                        <a:rPr sz="1500" kern="0" spc="-10" dirty="0">
                          <a:solidFill>
                            <a:srgbClr val="000000">
                              <a:alpha val="100000"/>
                            </a:srgbClr>
                          </a:solidFill>
                          <a:latin typeface="Times New Roman"/>
                          <a:ea typeface="Times New Roman"/>
                          <a:cs typeface="Times New Roman"/>
                        </a:rPr>
                        <a:t>1.76</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05000"/>
                        </a:lnSpc>
                        <a:tabLst/>
                      </a:pPr>
                      <a:endParaRPr sz="800" dirty="0">
                        <a:latin typeface="Arial"/>
                        <a:ea typeface="Arial"/>
                        <a:cs typeface="Arial"/>
                      </a:endParaRPr>
                    </a:p>
                    <a:p>
                      <a:pPr algn="l" rtl="0" eaLnBrk="0">
                        <a:lnSpc>
                          <a:spcPct val="6752"/>
                        </a:lnSpc>
                        <a:tabLst/>
                      </a:pPr>
                      <a:endParaRPr sz="100" dirty="0">
                        <a:latin typeface="Arial"/>
                        <a:ea typeface="Arial"/>
                        <a:cs typeface="Arial"/>
                      </a:endParaRPr>
                    </a:p>
                    <a:p>
                      <a:pPr marL="250825" algn="l" rtl="0" eaLnBrk="0">
                        <a:lnSpc>
                          <a:spcPct val="70000"/>
                        </a:lnSpc>
                        <a:tabLst/>
                      </a:pPr>
                      <a:r>
                        <a:rPr sz="1500" kern="0" spc="20" dirty="0">
                          <a:solidFill>
                            <a:srgbClr val="000000">
                              <a:alpha val="100000"/>
                            </a:srgbClr>
                          </a:solidFill>
                          <a:latin typeface="Times New Roman"/>
                          <a:ea typeface="Times New Roman"/>
                          <a:cs typeface="Times New Roman"/>
                        </a:rPr>
                        <a:t>0.23</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r>
              <a:tr h="579119">
                <a:tc>
                  <a:txBody>
                    <a:bodyPr/>
                    <a:lstStyle/>
                    <a:p>
                      <a:pPr algn="l" rtl="0" eaLnBrk="0">
                        <a:lnSpc>
                          <a:spcPct val="115000"/>
                        </a:lnSpc>
                        <a:tabLst/>
                      </a:pPr>
                      <a:endParaRPr sz="200" dirty="0">
                        <a:latin typeface="Arial"/>
                        <a:ea typeface="Arial"/>
                        <a:cs typeface="Arial"/>
                      </a:endParaRPr>
                    </a:p>
                    <a:p>
                      <a:pPr marL="205740" algn="l" rtl="0" eaLnBrk="0">
                        <a:lnSpc>
                          <a:spcPts val="1989"/>
                        </a:lnSpc>
                        <a:spcBef>
                          <a:spcPts val="2"/>
                        </a:spcBef>
                        <a:tabLst/>
                      </a:pPr>
                      <a:r>
                        <a:rPr sz="1500" kern="0" spc="0" dirty="0">
                          <a:solidFill>
                            <a:srgbClr val="000000">
                              <a:alpha val="100000"/>
                            </a:srgbClr>
                          </a:solidFill>
                          <a:latin typeface="Times New Roman"/>
                          <a:ea typeface="Times New Roman"/>
                          <a:cs typeface="Times New Roman"/>
                        </a:rPr>
                        <a:t>CFD</a:t>
                      </a:r>
                      <a:r>
                        <a:rPr sz="1500" kern="0" spc="120" dirty="0">
                          <a:solidFill>
                            <a:srgbClr val="000000">
                              <a:alpha val="100000"/>
                            </a:srgbClr>
                          </a:solidFill>
                          <a:latin typeface="Microsoft YaHei"/>
                          <a:ea typeface="Microsoft YaHei"/>
                          <a:cs typeface="Microsoft YaHei"/>
                        </a:rPr>
                        <a:t>（双数学模</a:t>
                      </a:r>
                      <a:endParaRPr sz="1500" dirty="0">
                        <a:latin typeface="Microsoft YaHei"/>
                        <a:ea typeface="Microsoft YaHei"/>
                        <a:cs typeface="Microsoft YaHei"/>
                      </a:endParaRPr>
                    </a:p>
                    <a:p>
                      <a:pPr marL="704850" algn="l" rtl="0" eaLnBrk="0">
                        <a:lnSpc>
                          <a:spcPts val="1989"/>
                        </a:lnSpc>
                        <a:tabLst/>
                      </a:pPr>
                      <a:r>
                        <a:rPr sz="1500" kern="0" spc="20" dirty="0">
                          <a:solidFill>
                            <a:srgbClr val="000000">
                              <a:alpha val="100000"/>
                            </a:srgbClr>
                          </a:solidFill>
                          <a:latin typeface="Microsoft YaHei"/>
                          <a:ea typeface="Microsoft YaHei"/>
                          <a:cs typeface="Microsoft YaHei"/>
                        </a:rPr>
                        <a:t>型）</a:t>
                      </a:r>
                      <a:endParaRPr sz="1500" dirty="0">
                        <a:latin typeface="Microsoft YaHei"/>
                        <a:ea typeface="Microsoft YaHei"/>
                        <a:cs typeface="Microsoft YaHei"/>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eaLnBrk="0">
                        <a:lnSpc>
                          <a:spcPct val="144000"/>
                        </a:lnSpc>
                        <a:tabLst/>
                      </a:pPr>
                      <a:endParaRPr sz="1000" dirty="0">
                        <a:latin typeface="Arial"/>
                        <a:ea typeface="Arial"/>
                        <a:cs typeface="Arial"/>
                      </a:endParaRPr>
                    </a:p>
                    <a:p>
                      <a:pPr algn="l" rtl="0" eaLnBrk="0">
                        <a:lnSpc>
                          <a:spcPct val="6810"/>
                        </a:lnSpc>
                        <a:tabLst/>
                      </a:pPr>
                      <a:endParaRPr sz="100" dirty="0">
                        <a:latin typeface="Arial"/>
                        <a:ea typeface="Arial"/>
                        <a:cs typeface="Arial"/>
                      </a:endParaRPr>
                    </a:p>
                    <a:p>
                      <a:pPr marL="249554" algn="l" rtl="0" eaLnBrk="0">
                        <a:lnSpc>
                          <a:spcPct val="70000"/>
                        </a:lnSpc>
                        <a:tabLst/>
                      </a:pPr>
                      <a:r>
                        <a:rPr sz="1500" kern="0" spc="-10" dirty="0">
                          <a:solidFill>
                            <a:srgbClr val="000000">
                              <a:alpha val="100000"/>
                            </a:srgbClr>
                          </a:solidFill>
                          <a:latin typeface="Times New Roman"/>
                          <a:ea typeface="Times New Roman"/>
                          <a:cs typeface="Times New Roman"/>
                        </a:rPr>
                        <a:t>1.20</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eaLnBrk="0">
                        <a:lnSpc>
                          <a:spcPct val="144000"/>
                        </a:lnSpc>
                        <a:tabLst/>
                      </a:pPr>
                      <a:endParaRPr sz="1000" dirty="0">
                        <a:latin typeface="Arial"/>
                        <a:ea typeface="Arial"/>
                        <a:cs typeface="Arial"/>
                      </a:endParaRPr>
                    </a:p>
                    <a:p>
                      <a:pPr algn="l" rtl="0" eaLnBrk="0">
                        <a:lnSpc>
                          <a:spcPct val="6810"/>
                        </a:lnSpc>
                        <a:tabLst/>
                      </a:pPr>
                      <a:endParaRPr sz="100" dirty="0">
                        <a:latin typeface="Arial"/>
                        <a:ea typeface="Arial"/>
                        <a:cs typeface="Arial"/>
                      </a:endParaRPr>
                    </a:p>
                    <a:p>
                      <a:pPr marL="208279" algn="l" rtl="0" eaLnBrk="0">
                        <a:lnSpc>
                          <a:spcPct val="70000"/>
                        </a:lnSpc>
                        <a:tabLst/>
                      </a:pPr>
                      <a:r>
                        <a:rPr sz="1500" kern="0" spc="-10" dirty="0">
                          <a:solidFill>
                            <a:srgbClr val="000000">
                              <a:alpha val="100000"/>
                            </a:srgbClr>
                          </a:solidFill>
                          <a:latin typeface="Times New Roman"/>
                          <a:ea typeface="Times New Roman"/>
                          <a:cs typeface="Times New Roman"/>
                        </a:rPr>
                        <a:t>1.21</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eaLnBrk="0">
                        <a:lnSpc>
                          <a:spcPct val="144000"/>
                        </a:lnSpc>
                        <a:tabLst/>
                      </a:pPr>
                      <a:endParaRPr sz="1000" dirty="0">
                        <a:latin typeface="Arial"/>
                        <a:ea typeface="Arial"/>
                        <a:cs typeface="Arial"/>
                      </a:endParaRPr>
                    </a:p>
                    <a:p>
                      <a:pPr algn="l" rtl="0" eaLnBrk="0">
                        <a:lnSpc>
                          <a:spcPct val="6810"/>
                        </a:lnSpc>
                        <a:tabLst/>
                      </a:pPr>
                      <a:endParaRPr sz="100" dirty="0">
                        <a:latin typeface="Arial"/>
                        <a:ea typeface="Arial"/>
                        <a:cs typeface="Arial"/>
                      </a:endParaRPr>
                    </a:p>
                    <a:p>
                      <a:pPr marL="271779" algn="l" rtl="0" eaLnBrk="0">
                        <a:lnSpc>
                          <a:spcPct val="70000"/>
                        </a:lnSpc>
                        <a:tabLst/>
                      </a:pPr>
                      <a:r>
                        <a:rPr sz="1500" kern="0" spc="-10" dirty="0">
                          <a:solidFill>
                            <a:srgbClr val="000000">
                              <a:alpha val="100000"/>
                            </a:srgbClr>
                          </a:solidFill>
                          <a:latin typeface="Times New Roman"/>
                          <a:ea typeface="Times New Roman"/>
                          <a:cs typeface="Times New Roman"/>
                        </a:rPr>
                        <a:t>1.57</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eaLnBrk="0">
                        <a:lnSpc>
                          <a:spcPct val="144000"/>
                        </a:lnSpc>
                        <a:tabLst/>
                      </a:pPr>
                      <a:endParaRPr sz="1000" dirty="0">
                        <a:latin typeface="Arial"/>
                        <a:ea typeface="Arial"/>
                        <a:cs typeface="Arial"/>
                      </a:endParaRPr>
                    </a:p>
                    <a:p>
                      <a:pPr algn="l" rtl="0" eaLnBrk="0">
                        <a:lnSpc>
                          <a:spcPct val="6810"/>
                        </a:lnSpc>
                        <a:tabLst/>
                      </a:pPr>
                      <a:endParaRPr sz="100" dirty="0">
                        <a:latin typeface="Arial"/>
                        <a:ea typeface="Arial"/>
                        <a:cs typeface="Arial"/>
                      </a:endParaRPr>
                    </a:p>
                    <a:p>
                      <a:pPr marL="244475" algn="l" rtl="0" eaLnBrk="0">
                        <a:lnSpc>
                          <a:spcPct val="70000"/>
                        </a:lnSpc>
                        <a:tabLst/>
                      </a:pPr>
                      <a:r>
                        <a:rPr sz="1500" kern="0" spc="-10" dirty="0">
                          <a:solidFill>
                            <a:srgbClr val="000000">
                              <a:alpha val="100000"/>
                            </a:srgbClr>
                          </a:solidFill>
                          <a:latin typeface="Times New Roman"/>
                          <a:ea typeface="Times New Roman"/>
                          <a:cs typeface="Times New Roman"/>
                        </a:rPr>
                        <a:t>1.58</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eaLnBrk="0">
                        <a:lnSpc>
                          <a:spcPct val="144000"/>
                        </a:lnSpc>
                        <a:tabLst/>
                      </a:pPr>
                      <a:endParaRPr sz="1000" dirty="0">
                        <a:latin typeface="Arial"/>
                        <a:ea typeface="Arial"/>
                        <a:cs typeface="Arial"/>
                      </a:endParaRPr>
                    </a:p>
                    <a:p>
                      <a:pPr algn="l" rtl="0" eaLnBrk="0">
                        <a:lnSpc>
                          <a:spcPct val="6810"/>
                        </a:lnSpc>
                        <a:tabLst/>
                      </a:pPr>
                      <a:endParaRPr sz="100" dirty="0">
                        <a:latin typeface="Arial"/>
                        <a:ea typeface="Arial"/>
                        <a:cs typeface="Arial"/>
                      </a:endParaRPr>
                    </a:p>
                    <a:p>
                      <a:pPr marL="250825" algn="l" rtl="0" eaLnBrk="0">
                        <a:lnSpc>
                          <a:spcPct val="70000"/>
                        </a:lnSpc>
                        <a:tabLst/>
                      </a:pPr>
                      <a:r>
                        <a:rPr sz="1500" kern="0" spc="20" dirty="0">
                          <a:solidFill>
                            <a:srgbClr val="000000">
                              <a:alpha val="100000"/>
                            </a:srgbClr>
                          </a:solidFill>
                          <a:latin typeface="Times New Roman"/>
                          <a:ea typeface="Times New Roman"/>
                          <a:cs typeface="Times New Roman"/>
                        </a:rPr>
                        <a:t>0.20</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r>
              <a:tr h="486409">
                <a:tc>
                  <a:txBody>
                    <a:bodyPr/>
                    <a:lstStyle/>
                    <a:p>
                      <a:pPr algn="l" rtl="0" eaLnBrk="0">
                        <a:lnSpc>
                          <a:spcPct val="104000"/>
                        </a:lnSpc>
                        <a:tabLst/>
                      </a:pPr>
                      <a:endParaRPr sz="900" dirty="0">
                        <a:latin typeface="Arial"/>
                        <a:ea typeface="Arial"/>
                        <a:cs typeface="Arial"/>
                      </a:endParaRPr>
                    </a:p>
                    <a:p>
                      <a:pPr algn="l" rtl="0" eaLnBrk="0">
                        <a:lnSpc>
                          <a:spcPct val="7435"/>
                        </a:lnSpc>
                        <a:tabLst/>
                      </a:pPr>
                      <a:endParaRPr sz="100" dirty="0">
                        <a:latin typeface="Arial"/>
                        <a:ea typeface="Arial"/>
                        <a:cs typeface="Arial"/>
                      </a:endParaRPr>
                    </a:p>
                    <a:p>
                      <a:pPr marL="591184" algn="l" rtl="0" eaLnBrk="0">
                        <a:lnSpc>
                          <a:spcPct val="88000"/>
                        </a:lnSpc>
                        <a:tabLst/>
                      </a:pPr>
                      <a:r>
                        <a:rPr sz="1500" kern="0" spc="60" dirty="0">
                          <a:solidFill>
                            <a:srgbClr val="000000">
                              <a:alpha val="100000"/>
                            </a:srgbClr>
                          </a:solidFill>
                          <a:latin typeface="Microsoft YaHei"/>
                          <a:ea typeface="Microsoft YaHei"/>
                          <a:cs typeface="Microsoft YaHei"/>
                        </a:rPr>
                        <a:t>误差</a:t>
                      </a:r>
                      <a:r>
                        <a:rPr sz="1500" kern="0" spc="60" dirty="0">
                          <a:solidFill>
                            <a:srgbClr val="000000">
                              <a:alpha val="100000"/>
                            </a:srgbClr>
                          </a:solidFill>
                          <a:latin typeface="Times New Roman"/>
                          <a:ea typeface="Times New Roman"/>
                          <a:cs typeface="Times New Roman"/>
                        </a:rPr>
                        <a:t>/%</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12000"/>
                        </a:lnSpc>
                        <a:tabLst/>
                      </a:pPr>
                      <a:endParaRPr sz="1000" dirty="0">
                        <a:latin typeface="Arial"/>
                        <a:ea typeface="Arial"/>
                        <a:cs typeface="Arial"/>
                      </a:endParaRPr>
                    </a:p>
                    <a:p>
                      <a:pPr marL="198754" algn="l" rtl="0" eaLnBrk="0">
                        <a:lnSpc>
                          <a:spcPct val="70000"/>
                        </a:lnSpc>
                        <a:spcBef>
                          <a:spcPts val="2"/>
                        </a:spcBef>
                        <a:tabLst/>
                      </a:pPr>
                      <a:r>
                        <a:rPr sz="1500" kern="0" spc="0" dirty="0">
                          <a:solidFill>
                            <a:srgbClr val="000000">
                              <a:alpha val="100000"/>
                            </a:srgbClr>
                          </a:solidFill>
                          <a:latin typeface="Times New Roman"/>
                          <a:ea typeface="Times New Roman"/>
                          <a:cs typeface="Times New Roman"/>
                        </a:rPr>
                        <a:t>12.41</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12000"/>
                        </a:lnSpc>
                        <a:tabLst/>
                      </a:pPr>
                      <a:endParaRPr sz="1000" dirty="0">
                        <a:latin typeface="Arial"/>
                        <a:ea typeface="Arial"/>
                        <a:cs typeface="Arial"/>
                      </a:endParaRPr>
                    </a:p>
                    <a:p>
                      <a:pPr marL="157479" algn="l" rtl="0" eaLnBrk="0">
                        <a:lnSpc>
                          <a:spcPct val="70000"/>
                        </a:lnSpc>
                        <a:spcBef>
                          <a:spcPts val="2"/>
                        </a:spcBef>
                        <a:tabLst/>
                      </a:pPr>
                      <a:r>
                        <a:rPr sz="1500" kern="0" spc="0" dirty="0">
                          <a:solidFill>
                            <a:srgbClr val="000000">
                              <a:alpha val="100000"/>
                            </a:srgbClr>
                          </a:solidFill>
                          <a:latin typeface="Times New Roman"/>
                          <a:ea typeface="Times New Roman"/>
                          <a:cs typeface="Times New Roman"/>
                        </a:rPr>
                        <a:t>18.24</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12000"/>
                        </a:lnSpc>
                        <a:tabLst/>
                      </a:pPr>
                      <a:endParaRPr sz="1000" dirty="0">
                        <a:latin typeface="Arial"/>
                        <a:ea typeface="Arial"/>
                        <a:cs typeface="Arial"/>
                      </a:endParaRPr>
                    </a:p>
                    <a:p>
                      <a:pPr marL="222250" algn="l" rtl="0" eaLnBrk="0">
                        <a:lnSpc>
                          <a:spcPct val="70000"/>
                        </a:lnSpc>
                        <a:spcBef>
                          <a:spcPts val="2"/>
                        </a:spcBef>
                        <a:tabLst/>
                      </a:pPr>
                      <a:r>
                        <a:rPr sz="1500" kern="0" spc="20" dirty="0">
                          <a:solidFill>
                            <a:srgbClr val="000000">
                              <a:alpha val="100000"/>
                            </a:srgbClr>
                          </a:solidFill>
                          <a:latin typeface="Times New Roman"/>
                          <a:ea typeface="Times New Roman"/>
                          <a:cs typeface="Times New Roman"/>
                        </a:rPr>
                        <a:t>-9.03</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12000"/>
                        </a:lnSpc>
                        <a:tabLst/>
                      </a:pPr>
                      <a:endParaRPr sz="1000" dirty="0">
                        <a:latin typeface="Arial"/>
                        <a:ea typeface="Arial"/>
                        <a:cs typeface="Arial"/>
                      </a:endParaRPr>
                    </a:p>
                    <a:p>
                      <a:pPr marL="197485" algn="l" rtl="0" eaLnBrk="0">
                        <a:lnSpc>
                          <a:spcPct val="70000"/>
                        </a:lnSpc>
                        <a:spcBef>
                          <a:spcPts val="2"/>
                        </a:spcBef>
                        <a:tabLst/>
                      </a:pPr>
                      <a:r>
                        <a:rPr sz="1500" kern="0" spc="-10" dirty="0">
                          <a:solidFill>
                            <a:srgbClr val="000000">
                              <a:alpha val="100000"/>
                            </a:srgbClr>
                          </a:solidFill>
                          <a:latin typeface="Times New Roman"/>
                          <a:ea typeface="Times New Roman"/>
                          <a:cs typeface="Times New Roman"/>
                        </a:rPr>
                        <a:t>10.11</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eaLnBrk="0">
                        <a:lnSpc>
                          <a:spcPct val="112000"/>
                        </a:lnSpc>
                        <a:tabLst/>
                      </a:pPr>
                      <a:endParaRPr sz="1000" dirty="0">
                        <a:latin typeface="Arial"/>
                        <a:ea typeface="Arial"/>
                        <a:cs typeface="Arial"/>
                      </a:endParaRPr>
                    </a:p>
                    <a:p>
                      <a:pPr marL="216534" algn="l" rtl="0" eaLnBrk="0">
                        <a:lnSpc>
                          <a:spcPct val="70000"/>
                        </a:lnSpc>
                        <a:spcBef>
                          <a:spcPts val="2"/>
                        </a:spcBef>
                        <a:tabLst/>
                      </a:pPr>
                      <a:r>
                        <a:rPr sz="1500" kern="0" spc="0" dirty="0">
                          <a:solidFill>
                            <a:srgbClr val="000000">
                              <a:alpha val="100000"/>
                            </a:srgbClr>
                          </a:solidFill>
                          <a:latin typeface="Times New Roman"/>
                          <a:ea typeface="Times New Roman"/>
                          <a:cs typeface="Times New Roman"/>
                        </a:rPr>
                        <a:t>13.04</a:t>
                      </a:r>
                      <a:endParaRPr sz="1500" dirty="0">
                        <a:latin typeface="Times New Roman"/>
                        <a:ea typeface="Times New Roman"/>
                        <a:cs typeface="Times New Roman"/>
                      </a:endParaRPr>
                    </a:p>
                  </a:txBody>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r>
            </a:tbl>
          </a:graphicData>
        </a:graphic>
      </p:graphicFrame>
      <p:grpSp>
        <p:nvGrpSpPr>
          <p:cNvPr id="6" name="group 6"/>
          <p:cNvGrpSpPr/>
          <p:nvPr/>
        </p:nvGrpSpPr>
        <p:grpSpPr>
          <a:xfrm rot="21600000">
            <a:off x="900683" y="1389888"/>
            <a:ext cx="3259835" cy="2555747"/>
            <a:chOff x="0" y="0"/>
            <a:chExt cx="3259835" cy="2555747"/>
          </a:xfrm>
        </p:grpSpPr>
        <p:pic>
          <p:nvPicPr>
            <p:cNvPr id="42" name="picture 42"/>
            <p:cNvPicPr>
              <a:picLocks noChangeAspect="1"/>
            </p:cNvPicPr>
            <p:nvPr/>
          </p:nvPicPr>
          <p:blipFill>
            <a:blip r:embed="rId3"/>
            <a:stretch>
              <a:fillRect/>
            </a:stretch>
          </p:blipFill>
          <p:spPr>
            <a:xfrm rot="21600000">
              <a:off x="0" y="0"/>
              <a:ext cx="3259835" cy="2555747"/>
            </a:xfrm>
            <a:prstGeom prst="rect">
              <a:avLst/>
            </a:prstGeom>
          </p:spPr>
        </p:pic>
        <p:sp>
          <p:nvSpPr>
            <p:cNvPr id="44" name="textbox 44"/>
            <p:cNvSpPr/>
            <p:nvPr/>
          </p:nvSpPr>
          <p:spPr>
            <a:xfrm>
              <a:off x="1617865" y="828811"/>
              <a:ext cx="694690" cy="198120"/>
            </a:xfrm>
            <a:prstGeom prst="rect">
              <a:avLst/>
            </a:prstGeom>
            <a:noFill/>
            <a:ln w="0" cap="flat">
              <a:noFill/>
              <a:prstDash val="solid"/>
              <a:miter lim="0"/>
            </a:ln>
          </p:spPr>
          <p:txBody>
            <a:bodyPr vert="horz" wrap="square" lIns="0" tIns="0" rIns="0" bIns="0"/>
            <a:lstStyle/>
            <a:p>
              <a:pPr algn="l" rtl="0" eaLnBrk="0">
                <a:lnSpc>
                  <a:spcPct val="78644"/>
                </a:lnSpc>
                <a:tabLst/>
              </a:pPr>
              <a:endParaRPr sz="100" dirty="0">
                <a:latin typeface="Arial"/>
                <a:ea typeface="Arial"/>
                <a:cs typeface="Arial"/>
              </a:endParaRPr>
            </a:p>
            <a:p>
              <a:pPr marL="12700" algn="l" rtl="0" eaLnBrk="0">
                <a:lnSpc>
                  <a:spcPct val="81000"/>
                </a:lnSpc>
                <a:tabLst/>
              </a:pPr>
              <a:r>
                <a:rPr sz="1400" kern="0" spc="-10" dirty="0">
                  <a:solidFill>
                    <a:srgbClr val="000000">
                      <a:alpha val="100000"/>
                    </a:srgbClr>
                  </a:solidFill>
                  <a:latin typeface="Times New Roman"/>
                  <a:ea typeface="Times New Roman"/>
                  <a:cs typeface="Times New Roman"/>
                </a:rPr>
                <a:t>LES</a:t>
              </a:r>
              <a:r>
                <a:rPr sz="1400" kern="0" spc="-10" dirty="0">
                  <a:solidFill>
                    <a:srgbClr val="000000">
                      <a:alpha val="100000"/>
                    </a:srgbClr>
                  </a:solidFill>
                  <a:latin typeface="DengXian"/>
                  <a:ea typeface="DengXian"/>
                  <a:cs typeface="DengXian"/>
                </a:rPr>
                <a:t>结果</a:t>
              </a:r>
              <a:endParaRPr sz="1400" dirty="0">
                <a:latin typeface="DengXian"/>
                <a:ea typeface="DengXian"/>
                <a:cs typeface="DengXian"/>
              </a:endParaRPr>
            </a:p>
          </p:txBody>
        </p:sp>
      </p:grpSp>
      <p:pic>
        <p:nvPicPr>
          <p:cNvPr id="46" name="picture 46"/>
          <p:cNvPicPr>
            <a:picLocks noChangeAspect="1"/>
          </p:cNvPicPr>
          <p:nvPr/>
        </p:nvPicPr>
        <p:blipFill>
          <a:blip r:embed="rId4"/>
          <a:stretch>
            <a:fillRect/>
          </a:stretch>
        </p:blipFill>
        <p:spPr>
          <a:xfrm rot="21600000">
            <a:off x="839723" y="4899660"/>
            <a:ext cx="3589020" cy="1720595"/>
          </a:xfrm>
          <a:prstGeom prst="rect">
            <a:avLst/>
          </a:prstGeom>
        </p:spPr>
      </p:pic>
      <p:sp>
        <p:nvSpPr>
          <p:cNvPr id="48" name="rect 48"/>
          <p:cNvSpPr/>
          <p:nvPr/>
        </p:nvSpPr>
        <p:spPr>
          <a:xfrm>
            <a:off x="6013703" y="882396"/>
            <a:ext cx="6178296" cy="466344"/>
          </a:xfrm>
          <a:prstGeom prst="rect">
            <a:avLst/>
          </a:prstGeom>
          <a:solidFill>
            <a:srgbClr val="0070C0">
              <a:alpha val="100000"/>
            </a:srgbClr>
          </a:solidFill>
          <a:ln w="0" cap="flat">
            <a:noFill/>
            <a:prstDash val="solid"/>
            <a:miter lim="0"/>
          </a:ln>
        </p:spPr>
        <p:txBody>
          <a:bodyPr rtlCol="0"/>
          <a:lstStyle/>
          <a:p>
            <a:pPr algn="ctr"/>
            <a:endParaRPr lang="zh-CN" altLang="en-US"/>
          </a:p>
        </p:txBody>
      </p:sp>
      <p:sp>
        <p:nvSpPr>
          <p:cNvPr id="50" name="textbox 50"/>
          <p:cNvSpPr/>
          <p:nvPr/>
        </p:nvSpPr>
        <p:spPr>
          <a:xfrm>
            <a:off x="6070066" y="897089"/>
            <a:ext cx="6134734" cy="41910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098"/>
              </a:lnSpc>
              <a:tabLst/>
            </a:pPr>
            <a:r>
              <a:rPr sz="2300" kern="0" spc="80" dirty="0">
                <a:solidFill>
                  <a:srgbClr val="FFFFFF">
                    <a:alpha val="100000"/>
                  </a:srgbClr>
                </a:solidFill>
                <a:latin typeface="Microsoft YaHei"/>
                <a:ea typeface="Microsoft YaHei"/>
                <a:cs typeface="Microsoft YaHei"/>
              </a:rPr>
              <a:t>出版《船舶进出限制水域水动力与智能助航》</a:t>
            </a:r>
            <a:r>
              <a:rPr sz="2300" kern="0" spc="60" dirty="0">
                <a:solidFill>
                  <a:srgbClr val="FFFFFF">
                    <a:alpha val="100000"/>
                  </a:srgbClr>
                </a:solidFill>
                <a:latin typeface="Microsoft YaHei"/>
                <a:ea typeface="Microsoft YaHei"/>
                <a:cs typeface="Microsoft YaHei"/>
              </a:rPr>
              <a:t> </a:t>
            </a:r>
            <a:endParaRPr sz="2300" dirty="0">
              <a:latin typeface="Microsoft YaHei"/>
              <a:ea typeface="Microsoft YaHei"/>
              <a:cs typeface="Microsoft YaHei"/>
            </a:endParaRPr>
          </a:p>
        </p:txBody>
      </p:sp>
      <p:sp>
        <p:nvSpPr>
          <p:cNvPr id="52" name="textbox 52"/>
          <p:cNvSpPr/>
          <p:nvPr/>
        </p:nvSpPr>
        <p:spPr>
          <a:xfrm>
            <a:off x="688848" y="4363211"/>
            <a:ext cx="3889375" cy="466725"/>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10000"/>
              </a:lnSpc>
              <a:tabLst/>
            </a:pPr>
            <a:endParaRPr sz="500" dirty="0">
              <a:latin typeface="Arial"/>
              <a:ea typeface="Arial"/>
              <a:cs typeface="Arial"/>
            </a:endParaRPr>
          </a:p>
          <a:p>
            <a:pPr marL="134620" algn="l" rtl="0" eaLnBrk="0">
              <a:lnSpc>
                <a:spcPct val="87000"/>
              </a:lnSpc>
              <a:spcBef>
                <a:spcPts val="5"/>
              </a:spcBef>
              <a:tabLst/>
            </a:pPr>
            <a:r>
              <a:rPr sz="2300" kern="0" spc="80" dirty="0">
                <a:solidFill>
                  <a:srgbClr val="FFFFFF">
                    <a:alpha val="100000"/>
                  </a:srgbClr>
                </a:solidFill>
                <a:latin typeface="Microsoft YaHei"/>
                <a:ea typeface="Microsoft YaHei"/>
                <a:cs typeface="Microsoft YaHei"/>
              </a:rPr>
              <a:t>限制域多船舶试验测量技术</a:t>
            </a:r>
            <a:endParaRPr sz="2300" dirty="0">
              <a:latin typeface="Microsoft YaHei"/>
              <a:ea typeface="Microsoft YaHei"/>
              <a:cs typeface="Microsoft YaHei"/>
            </a:endParaRPr>
          </a:p>
        </p:txBody>
      </p:sp>
      <p:sp>
        <p:nvSpPr>
          <p:cNvPr id="54" name="textbox 54"/>
          <p:cNvSpPr/>
          <p:nvPr/>
        </p:nvSpPr>
        <p:spPr>
          <a:xfrm>
            <a:off x="973836" y="882396"/>
            <a:ext cx="3023870" cy="466725"/>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09000"/>
              </a:lnSpc>
              <a:tabLst/>
            </a:pPr>
            <a:endParaRPr sz="500" dirty="0">
              <a:latin typeface="Arial"/>
              <a:ea typeface="Arial"/>
              <a:cs typeface="Arial"/>
            </a:endParaRPr>
          </a:p>
          <a:p>
            <a:pPr marL="447675" algn="l" rtl="0" eaLnBrk="0">
              <a:lnSpc>
                <a:spcPct val="88000"/>
              </a:lnSpc>
              <a:spcBef>
                <a:spcPts val="4"/>
              </a:spcBef>
              <a:tabLst/>
            </a:pPr>
            <a:r>
              <a:rPr sz="2300" kern="0" spc="90" dirty="0">
                <a:solidFill>
                  <a:srgbClr val="FFFFFF">
                    <a:alpha val="100000"/>
                  </a:srgbClr>
                </a:solidFill>
                <a:latin typeface="Microsoft YaHei"/>
                <a:ea typeface="Microsoft YaHei"/>
                <a:cs typeface="Microsoft YaHei"/>
              </a:rPr>
              <a:t>双数学模型预报</a:t>
            </a:r>
            <a:endParaRPr sz="2300" dirty="0">
              <a:latin typeface="Microsoft YaHei"/>
              <a:ea typeface="Microsoft YaHei"/>
              <a:cs typeface="Microsoft YaHei"/>
            </a:endParaRPr>
          </a:p>
        </p:txBody>
      </p:sp>
      <p:sp>
        <p:nvSpPr>
          <p:cNvPr id="56" name="textbox 56"/>
          <p:cNvSpPr/>
          <p:nvPr/>
        </p:nvSpPr>
        <p:spPr>
          <a:xfrm>
            <a:off x="137497" y="3980028"/>
            <a:ext cx="5156200" cy="26098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1853"/>
              </a:lnSpc>
              <a:tabLst/>
            </a:pPr>
            <a:r>
              <a:rPr sz="1400" b="1" kern="0" spc="-30" dirty="0">
                <a:solidFill>
                  <a:srgbClr val="000000">
                    <a:alpha val="100000"/>
                  </a:srgbClr>
                </a:solidFill>
                <a:latin typeface="Microsoft YaHei"/>
                <a:ea typeface="Microsoft YaHei"/>
                <a:cs typeface="Microsoft YaHei"/>
              </a:rPr>
              <a:t>双数学模型在总体方面体现卓越性能（如高效、高精度</a:t>
            </a:r>
            <a:r>
              <a:rPr sz="1400" b="1" kern="0" spc="-40" dirty="0">
                <a:solidFill>
                  <a:srgbClr val="000000">
                    <a:alpha val="100000"/>
                  </a:srgbClr>
                </a:solidFill>
                <a:latin typeface="Microsoft YaHei"/>
                <a:ea typeface="Microsoft YaHei"/>
                <a:cs typeface="Microsoft YaHei"/>
              </a:rPr>
              <a:t>与高稳定）</a:t>
            </a:r>
            <a:endParaRPr sz="1400" dirty="0">
              <a:latin typeface="Microsoft YaHei"/>
              <a:ea typeface="Microsoft YaHei"/>
              <a:cs typeface="Microsoft YaHei"/>
            </a:endParaRPr>
          </a:p>
        </p:txBody>
      </p:sp>
      <p:sp>
        <p:nvSpPr>
          <p:cNvPr id="58" name="textbox 58"/>
          <p:cNvSpPr/>
          <p:nvPr/>
        </p:nvSpPr>
        <p:spPr>
          <a:xfrm>
            <a:off x="4946700" y="407136"/>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pic>
        <p:nvPicPr>
          <p:cNvPr id="60" name="picture 60"/>
          <p:cNvPicPr>
            <a:picLocks noChangeAspect="1"/>
          </p:cNvPicPr>
          <p:nvPr/>
        </p:nvPicPr>
        <p:blipFill>
          <a:blip r:embed="rId5"/>
          <a:stretch>
            <a:fillRect/>
          </a:stretch>
        </p:blipFill>
        <p:spPr>
          <a:xfrm rot="21600000">
            <a:off x="4743487" y="5591200"/>
            <a:ext cx="942429" cy="33842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624986" y="711771"/>
            <a:ext cx="10945494" cy="4454525"/>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4129404"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algn="l" rtl="0" eaLnBrk="0">
              <a:lnSpc>
                <a:spcPct val="114000"/>
              </a:lnSpc>
              <a:tabLst/>
            </a:pPr>
            <a:endParaRPr sz="1000" dirty="0">
              <a:latin typeface="Arial"/>
              <a:ea typeface="Arial"/>
              <a:cs typeface="Arial"/>
            </a:endParaRPr>
          </a:p>
          <a:p>
            <a:pPr marL="13970" algn="l" rtl="0" eaLnBrk="0">
              <a:lnSpc>
                <a:spcPct val="88000"/>
              </a:lnSpc>
              <a:spcBef>
                <a:spcPts val="691"/>
              </a:spcBef>
              <a:tabLst/>
            </a:pPr>
            <a:r>
              <a:rPr sz="2300" b="1" kern="0" spc="100" dirty="0">
                <a:solidFill>
                  <a:srgbClr val="000000">
                    <a:alpha val="100000"/>
                  </a:srgbClr>
                </a:solidFill>
                <a:latin typeface="Microsoft YaHei"/>
                <a:ea typeface="Microsoft YaHei"/>
                <a:cs typeface="Microsoft YaHei"/>
              </a:rPr>
              <a:t>港口管控一体化系统</a:t>
            </a:r>
            <a:r>
              <a:rPr sz="2300" b="1" kern="0" spc="90" dirty="0">
                <a:solidFill>
                  <a:srgbClr val="000000">
                    <a:alpha val="100000"/>
                  </a:srgbClr>
                </a:solidFill>
                <a:latin typeface="Microsoft YaHei"/>
                <a:ea typeface="Microsoft YaHei"/>
                <a:cs typeface="Microsoft YaHei"/>
              </a:rPr>
              <a:t>及关键技术</a:t>
            </a:r>
            <a:endParaRPr sz="2300" dirty="0">
              <a:latin typeface="Microsoft YaHei"/>
              <a:ea typeface="Microsoft YaHei"/>
              <a:cs typeface="Microsoft YaHei"/>
            </a:endParaRPr>
          </a:p>
          <a:p>
            <a:pPr algn="l" rtl="0" eaLnBrk="0">
              <a:lnSpc>
                <a:spcPct val="192000"/>
              </a:lnSpc>
              <a:tabLst/>
            </a:pPr>
            <a:endParaRPr sz="1000" dirty="0">
              <a:latin typeface="Arial"/>
              <a:ea typeface="Arial"/>
              <a:cs typeface="Arial"/>
            </a:endParaRPr>
          </a:p>
          <a:p>
            <a:pPr marL="15240" algn="l" rtl="0" eaLnBrk="0">
              <a:lnSpc>
                <a:spcPct val="84000"/>
              </a:lnSpc>
              <a:spcBef>
                <a:spcPts val="611"/>
              </a:spcBef>
              <a:tabLst/>
            </a:pPr>
            <a:r>
              <a:rPr sz="2000" b="1" kern="0" spc="-10" dirty="0">
                <a:solidFill>
                  <a:srgbClr val="404040">
                    <a:alpha val="100000"/>
                  </a:srgbClr>
                </a:solidFill>
                <a:latin typeface="Microsoft YaHei"/>
                <a:ea typeface="Microsoft YaHei"/>
                <a:cs typeface="Microsoft YaHei"/>
              </a:rPr>
              <a:t>智慧港口</a:t>
            </a:r>
            <a:r>
              <a:rPr sz="2000" kern="0" spc="-10" dirty="0">
                <a:solidFill>
                  <a:srgbClr val="404040">
                    <a:alpha val="100000"/>
                  </a:srgbClr>
                </a:solidFill>
                <a:latin typeface="Microsoft YaHei"/>
                <a:ea typeface="Microsoft YaHei"/>
                <a:cs typeface="Microsoft YaHei"/>
              </a:rPr>
              <a:t>是以信息物理系统为框架</a:t>
            </a:r>
            <a:r>
              <a:rPr sz="2000" kern="0" spc="-29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，通过高新技</a:t>
            </a:r>
            <a:r>
              <a:rPr sz="2000" kern="0" spc="-20" dirty="0">
                <a:solidFill>
                  <a:srgbClr val="404040">
                    <a:alpha val="100000"/>
                  </a:srgbClr>
                </a:solidFill>
                <a:latin typeface="Microsoft YaHei"/>
                <a:ea typeface="Microsoft YaHei"/>
                <a:cs typeface="Microsoft YaHei"/>
              </a:rPr>
              <a:t>术的创新应用</a:t>
            </a:r>
            <a:r>
              <a:rPr sz="2000" kern="0" spc="-300" dirty="0">
                <a:solidFill>
                  <a:srgbClr val="404040">
                    <a:alpha val="100000"/>
                  </a:srgbClr>
                </a:solidFill>
                <a:latin typeface="Microsoft YaHei"/>
                <a:ea typeface="Microsoft YaHei"/>
                <a:cs typeface="Microsoft YaHei"/>
              </a:rPr>
              <a:t> </a:t>
            </a:r>
            <a:r>
              <a:rPr sz="2000" kern="0" spc="-20" dirty="0">
                <a:solidFill>
                  <a:srgbClr val="404040">
                    <a:alpha val="100000"/>
                  </a:srgbClr>
                </a:solidFill>
                <a:latin typeface="Microsoft YaHei"/>
                <a:ea typeface="Microsoft YaHei"/>
                <a:cs typeface="Microsoft YaHei"/>
              </a:rPr>
              <a:t>，使物流供给方和需求方沟通融入集</a:t>
            </a:r>
            <a:endParaRPr sz="2000" dirty="0">
              <a:latin typeface="Microsoft YaHei"/>
              <a:ea typeface="Microsoft YaHei"/>
              <a:cs typeface="Microsoft YaHei"/>
            </a:endParaRPr>
          </a:p>
          <a:p>
            <a:pPr marL="13970" indent="-1270" algn="l" rtl="0" eaLnBrk="0">
              <a:lnSpc>
                <a:spcPct val="152000"/>
              </a:lnSpc>
              <a:spcBef>
                <a:spcPts val="55"/>
              </a:spcBef>
              <a:tabLst/>
            </a:pPr>
            <a:r>
              <a:rPr sz="2000" kern="0" spc="0" dirty="0">
                <a:solidFill>
                  <a:srgbClr val="404040">
                    <a:alpha val="100000"/>
                  </a:srgbClr>
                </a:solidFill>
                <a:latin typeface="Microsoft YaHei"/>
                <a:ea typeface="Microsoft YaHei"/>
                <a:cs typeface="Microsoft YaHei"/>
              </a:rPr>
              <a:t>疏运一体化系统；极大提升港口及其相关物流园区对信息的综合处理能力和对相关资源的优</a:t>
            </a:r>
            <a:r>
              <a:rPr sz="2000" kern="0" spc="-10" dirty="0">
                <a:solidFill>
                  <a:srgbClr val="404040">
                    <a:alpha val="100000"/>
                  </a:srgbClr>
                </a:solidFill>
                <a:latin typeface="Microsoft YaHei"/>
                <a:ea typeface="Microsoft YaHei"/>
                <a:cs typeface="Microsoft YaHei"/>
              </a:rPr>
              <a:t>化配置</a:t>
            </a:r>
            <a:r>
              <a:rPr sz="2000" kern="0" spc="-10" dirty="0">
                <a:solidFill>
                  <a:srgbClr val="404040">
                    <a:alpha val="100000"/>
                  </a:srgbClr>
                </a:solidFill>
                <a:latin typeface="Microsoft YaHei"/>
                <a:ea typeface="Microsoft YaHei"/>
                <a:cs typeface="Microsoft YaHei"/>
              </a:rPr>
              <a:t>能力；智能监管、智能服务、</a:t>
            </a:r>
            <a:r>
              <a:rPr sz="2000" kern="0" spc="-36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自动装卸成为其主要呈现形式</a:t>
            </a:r>
            <a:r>
              <a:rPr sz="2000" kern="0" spc="-29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，并</a:t>
            </a:r>
            <a:r>
              <a:rPr sz="2000" kern="0" spc="-20" dirty="0">
                <a:solidFill>
                  <a:srgbClr val="404040">
                    <a:alpha val="100000"/>
                  </a:srgbClr>
                </a:solidFill>
                <a:latin typeface="Microsoft YaHei"/>
                <a:ea typeface="Microsoft YaHei"/>
                <a:cs typeface="Microsoft YaHei"/>
              </a:rPr>
              <a:t>能为现代物流业提供高安全、高效</a:t>
            </a:r>
            <a:r>
              <a:rPr sz="2000" kern="0" spc="0" dirty="0">
                <a:solidFill>
                  <a:srgbClr val="404040">
                    <a:alpha val="100000"/>
                  </a:srgbClr>
                </a:solidFill>
                <a:latin typeface="Microsoft YaHei"/>
                <a:ea typeface="Microsoft YaHei"/>
                <a:cs typeface="Microsoft YaHei"/>
              </a:rPr>
              <a:t>率和高品质服务的一类</a:t>
            </a:r>
            <a:r>
              <a:rPr sz="2000" kern="0" spc="-10" dirty="0">
                <a:solidFill>
                  <a:srgbClr val="404040">
                    <a:alpha val="100000"/>
                  </a:srgbClr>
                </a:solidFill>
                <a:latin typeface="Microsoft YaHei"/>
                <a:ea typeface="Microsoft YaHei"/>
                <a:cs typeface="Microsoft YaHei"/>
              </a:rPr>
              <a:t>新型港口。</a:t>
            </a:r>
            <a:endParaRPr sz="2000" dirty="0">
              <a:latin typeface="Microsoft YaHei"/>
              <a:ea typeface="Microsoft YaHei"/>
              <a:cs typeface="Microsoft YaHei"/>
            </a:endParaRPr>
          </a:p>
          <a:p>
            <a:pPr marL="12700" indent="-635" algn="l" rtl="0" eaLnBrk="0">
              <a:lnSpc>
                <a:spcPct val="148000"/>
              </a:lnSpc>
              <a:spcBef>
                <a:spcPts val="145"/>
              </a:spcBef>
              <a:tabLst/>
            </a:pPr>
            <a:r>
              <a:rPr sz="2000" kern="0" spc="0" dirty="0">
                <a:solidFill>
                  <a:srgbClr val="404040">
                    <a:alpha val="100000"/>
                  </a:srgbClr>
                </a:solidFill>
                <a:latin typeface="Microsoft YaHei"/>
                <a:ea typeface="Microsoft YaHei"/>
                <a:cs typeface="Microsoft YaHei"/>
              </a:rPr>
              <a:t>智慧港口的要义在于</a:t>
            </a:r>
            <a:r>
              <a:rPr sz="2000" kern="0" spc="0" dirty="0">
                <a:solidFill>
                  <a:srgbClr val="FF0000">
                    <a:alpha val="100000"/>
                  </a:srgbClr>
                </a:solidFill>
                <a:latin typeface="Microsoft YaHei"/>
                <a:ea typeface="Microsoft YaHei"/>
                <a:cs typeface="Microsoft YaHei"/>
              </a:rPr>
              <a:t>全面感知、智能</a:t>
            </a:r>
            <a:r>
              <a:rPr sz="2000" kern="0" spc="-10" dirty="0">
                <a:solidFill>
                  <a:srgbClr val="FF0000">
                    <a:alpha val="100000"/>
                  </a:srgbClr>
                </a:solidFill>
                <a:latin typeface="Microsoft YaHei"/>
                <a:ea typeface="Microsoft YaHei"/>
                <a:cs typeface="Microsoft YaHei"/>
              </a:rPr>
              <a:t>决策、</a:t>
            </a:r>
            <a:r>
              <a:rPr sz="2000" kern="0" spc="-360" dirty="0">
                <a:solidFill>
                  <a:srgbClr val="FF0000">
                    <a:alpha val="100000"/>
                  </a:srgbClr>
                </a:solidFill>
                <a:latin typeface="Microsoft YaHei"/>
                <a:ea typeface="Microsoft YaHei"/>
                <a:cs typeface="Microsoft YaHei"/>
              </a:rPr>
              <a:t> </a:t>
            </a:r>
            <a:r>
              <a:rPr sz="2000" kern="0" spc="-10" dirty="0">
                <a:solidFill>
                  <a:srgbClr val="FF0000">
                    <a:alpha val="100000"/>
                  </a:srgbClr>
                </a:solidFill>
                <a:latin typeface="Microsoft YaHei"/>
                <a:ea typeface="Microsoft YaHei"/>
                <a:cs typeface="Microsoft YaHei"/>
              </a:rPr>
              <a:t>自助自动、全程参与、持续创新</a:t>
            </a:r>
            <a:r>
              <a:rPr sz="2000" kern="0" spc="-10" dirty="0">
                <a:solidFill>
                  <a:srgbClr val="404040">
                    <a:alpha val="100000"/>
                  </a:srgbClr>
                </a:solidFill>
                <a:latin typeface="Microsoft YaHei"/>
                <a:ea typeface="Microsoft YaHei"/>
                <a:cs typeface="Microsoft YaHei"/>
              </a:rPr>
              <a:t>。港口物流各环节信息</a:t>
            </a:r>
            <a:r>
              <a:rPr sz="2000" kern="0" spc="-10" dirty="0">
                <a:solidFill>
                  <a:srgbClr val="404040">
                    <a:alpha val="100000"/>
                  </a:srgbClr>
                </a:solidFill>
                <a:latin typeface="Microsoft YaHei"/>
                <a:ea typeface="Microsoft YaHei"/>
                <a:cs typeface="Microsoft YaHei"/>
              </a:rPr>
              <a:t>实现智能感知、实时采集、数据共享</a:t>
            </a:r>
            <a:r>
              <a:rPr sz="2000" kern="0" spc="-300" dirty="0">
                <a:solidFill>
                  <a:srgbClr val="404040">
                    <a:alpha val="100000"/>
                  </a:srgbClr>
                </a:solidFill>
                <a:latin typeface="Microsoft YaHei"/>
                <a:ea typeface="Microsoft YaHei"/>
                <a:cs typeface="Microsoft YaHei"/>
              </a:rPr>
              <a:t> </a:t>
            </a:r>
            <a:r>
              <a:rPr sz="2000" kern="0" spc="-10" dirty="0">
                <a:solidFill>
                  <a:srgbClr val="404040">
                    <a:alpha val="100000"/>
                  </a:srgbClr>
                </a:solidFill>
                <a:latin typeface="Microsoft YaHei"/>
                <a:ea typeface="Microsoft YaHei"/>
                <a:cs typeface="Microsoft YaHei"/>
              </a:rPr>
              <a:t>，可为港口及众</a:t>
            </a:r>
            <a:r>
              <a:rPr sz="2000" kern="0" spc="-20" dirty="0">
                <a:solidFill>
                  <a:srgbClr val="404040">
                    <a:alpha val="100000"/>
                  </a:srgbClr>
                </a:solidFill>
                <a:latin typeface="Microsoft YaHei"/>
                <a:ea typeface="Microsoft YaHei"/>
                <a:cs typeface="Microsoft YaHei"/>
              </a:rPr>
              <a:t>多港口上下游企业提供信息服务</a:t>
            </a:r>
            <a:r>
              <a:rPr sz="2000" kern="0" spc="-290" dirty="0">
                <a:solidFill>
                  <a:srgbClr val="404040">
                    <a:alpha val="100000"/>
                  </a:srgbClr>
                </a:solidFill>
                <a:latin typeface="Microsoft YaHei"/>
                <a:ea typeface="Microsoft YaHei"/>
                <a:cs typeface="Microsoft YaHei"/>
              </a:rPr>
              <a:t> </a:t>
            </a:r>
            <a:r>
              <a:rPr sz="2000" kern="0" spc="-20" dirty="0">
                <a:solidFill>
                  <a:srgbClr val="404040">
                    <a:alpha val="100000"/>
                  </a:srgbClr>
                </a:solidFill>
                <a:latin typeface="Microsoft YaHei"/>
                <a:ea typeface="Microsoft YaHei"/>
                <a:cs typeface="Microsoft YaHei"/>
              </a:rPr>
              <a:t>，提升港口物</a:t>
            </a:r>
            <a:r>
              <a:rPr sz="2000" kern="0" spc="0" dirty="0">
                <a:solidFill>
                  <a:srgbClr val="404040">
                    <a:alpha val="100000"/>
                  </a:srgbClr>
                </a:solidFill>
                <a:latin typeface="Microsoft YaHei"/>
                <a:ea typeface="Microsoft YaHei"/>
                <a:cs typeface="Microsoft YaHei"/>
              </a:rPr>
              <a:t>流信息透明度和港口物</a:t>
            </a:r>
            <a:r>
              <a:rPr sz="2000" kern="0" spc="-10" dirty="0">
                <a:solidFill>
                  <a:srgbClr val="404040">
                    <a:alpha val="100000"/>
                  </a:srgbClr>
                </a:solidFill>
                <a:latin typeface="Microsoft YaHei"/>
                <a:ea typeface="Microsoft YaHei"/>
                <a:cs typeface="Microsoft YaHei"/>
              </a:rPr>
              <a:t>流效率</a:t>
            </a:r>
            <a:r>
              <a:rPr sz="2000" kern="0" spc="-10" dirty="0">
                <a:solidFill>
                  <a:srgbClr val="000000">
                    <a:alpha val="100000"/>
                  </a:srgbClr>
                </a:solidFill>
                <a:latin typeface="DengXian"/>
                <a:ea typeface="DengXian"/>
                <a:cs typeface="DengXian"/>
              </a:rPr>
              <a:t>。</a:t>
            </a:r>
            <a:endParaRPr sz="2000" dirty="0">
              <a:latin typeface="DengXian"/>
              <a:ea typeface="DengXian"/>
              <a:cs typeface="DengXian"/>
            </a:endParaRPr>
          </a:p>
        </p:txBody>
      </p:sp>
      <p:sp>
        <p:nvSpPr>
          <p:cNvPr id="4" name="textbox 4"/>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80" dirty="0">
                <a:solidFill>
                  <a:srgbClr val="FFFFFF">
                    <a:alpha val="100000"/>
                  </a:srgbClr>
                </a:solidFill>
                <a:latin typeface="Microsoft YaHei"/>
                <a:ea typeface="Microsoft YaHei"/>
                <a:cs typeface="Microsoft YaHei"/>
              </a:rPr>
              <a:t>2.13 港口管控一</a:t>
            </a:r>
            <a:r>
              <a:rPr sz="2700" kern="0" spc="70" dirty="0">
                <a:solidFill>
                  <a:srgbClr val="FFFFFF">
                    <a:alpha val="100000"/>
                  </a:srgbClr>
                </a:solidFill>
                <a:latin typeface="Microsoft YaHei"/>
                <a:ea typeface="Microsoft YaHei"/>
                <a:cs typeface="Microsoft YaHei"/>
              </a:rPr>
              <a:t>体化系统及关键技术</a:t>
            </a:r>
            <a:endParaRPr sz="2700" dirty="0">
              <a:latin typeface="Microsoft YaHei"/>
              <a:ea typeface="Microsoft YaHei"/>
              <a:cs typeface="Microsoft YaHe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p:nvPr/>
        </p:nvSpPr>
        <p:spPr>
          <a:xfrm>
            <a:off x="655726" y="420509"/>
            <a:ext cx="10472419" cy="4951729"/>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3392804"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marL="12700" algn="l" rtl="0" eaLnBrk="0">
              <a:lnSpc>
                <a:spcPct val="96000"/>
              </a:lnSpc>
              <a:spcBef>
                <a:spcPts val="697"/>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港口生产业务管理系</a:t>
            </a:r>
            <a:r>
              <a:rPr sz="2300" b="1" kern="0" spc="90" dirty="0">
                <a:solidFill>
                  <a:srgbClr val="000000">
                    <a:alpha val="100000"/>
                  </a:srgbClr>
                </a:solidFill>
                <a:latin typeface="Microsoft YaHei"/>
                <a:ea typeface="Microsoft YaHei"/>
                <a:cs typeface="Microsoft YaHei"/>
              </a:rPr>
              <a:t>统：</a:t>
            </a:r>
            <a:r>
              <a:rPr sz="2300" b="1" kern="0" spc="-55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涵盖港口生产业务管理全过程的软件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智能理货系统：</a:t>
            </a:r>
            <a:r>
              <a:rPr sz="2300" b="1" kern="0" spc="-51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减少港口现场理货人员的配套软件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无人地磅与无人闸口系统：</a:t>
            </a:r>
            <a:r>
              <a:rPr sz="2300" b="1"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港口作业车辆进出闸口、</a:t>
            </a:r>
            <a:r>
              <a:rPr sz="2300"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过磅无人</a:t>
            </a:r>
            <a:r>
              <a:rPr sz="2300" kern="0" spc="80" dirty="0">
                <a:solidFill>
                  <a:srgbClr val="000000">
                    <a:alpha val="100000"/>
                  </a:srgbClr>
                </a:solidFill>
                <a:latin typeface="Microsoft YaHei"/>
                <a:ea typeface="Microsoft YaHei"/>
                <a:cs typeface="Microsoft YaHei"/>
              </a:rPr>
              <a:t>化软件</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商务办单与车辆预约系统：</a:t>
            </a:r>
            <a:r>
              <a:rPr sz="2300" b="1" kern="0" spc="-55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客户自助办单</a:t>
            </a:r>
            <a:r>
              <a:rPr sz="2300" kern="0" spc="80" dirty="0">
                <a:solidFill>
                  <a:srgbClr val="000000">
                    <a:alpha val="100000"/>
                  </a:srgbClr>
                </a:solidFill>
                <a:latin typeface="Microsoft YaHei"/>
                <a:ea typeface="Microsoft YaHei"/>
                <a:cs typeface="Microsoft YaHei"/>
              </a:rPr>
              <a:t>、</a:t>
            </a:r>
            <a:r>
              <a:rPr sz="2300" kern="0" spc="-540" dirty="0">
                <a:solidFill>
                  <a:srgbClr val="000000">
                    <a:alpha val="100000"/>
                  </a:srgbClr>
                </a:solidFill>
                <a:latin typeface="Microsoft YaHei"/>
                <a:ea typeface="Microsoft YaHei"/>
                <a:cs typeface="Microsoft YaHei"/>
              </a:rPr>
              <a:t> </a:t>
            </a:r>
            <a:r>
              <a:rPr sz="2300" kern="0" spc="80" dirty="0">
                <a:solidFill>
                  <a:srgbClr val="000000">
                    <a:alpha val="100000"/>
                  </a:srgbClr>
                </a:solidFill>
                <a:latin typeface="Microsoft YaHei"/>
                <a:ea typeface="Microsoft YaHei"/>
                <a:cs typeface="Microsoft YaHei"/>
              </a:rPr>
              <a:t>预约到港作业车辆</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皮带机料流监测系统：</a:t>
            </a:r>
            <a:r>
              <a:rPr sz="2300" b="1" kern="0" spc="-54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基于激光雷达监测皮带机料流</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铁路道口与机车智能监控系统：</a:t>
            </a:r>
            <a:r>
              <a:rPr sz="2300" b="1" kern="0" spc="-520" dirty="0">
                <a:solidFill>
                  <a:srgbClr val="000000">
                    <a:alpha val="100000"/>
                  </a:srgbClr>
                </a:solidFill>
                <a:latin typeface="Microsoft YaHei"/>
                <a:ea typeface="Microsoft YaHei"/>
                <a:cs typeface="Microsoft YaHei"/>
              </a:rPr>
              <a:t> </a:t>
            </a:r>
            <a:r>
              <a:rPr sz="2300" kern="0" spc="90" dirty="0">
                <a:solidFill>
                  <a:srgbClr val="000000">
                    <a:alpha val="100000"/>
                  </a:srgbClr>
                </a:solidFill>
                <a:latin typeface="Microsoft YaHei"/>
                <a:ea typeface="Microsoft YaHei"/>
                <a:cs typeface="Microsoft YaHei"/>
              </a:rPr>
              <a:t>实现港区铁路道口无人化</a:t>
            </a:r>
            <a:endParaRPr sz="23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01000"/>
              </a:lnSpc>
              <a:tabLst/>
            </a:pPr>
            <a:endParaRPr sz="500" dirty="0">
              <a:latin typeface="Arial"/>
              <a:ea typeface="Arial"/>
              <a:cs typeface="Arial"/>
            </a:endParaRPr>
          </a:p>
          <a:p>
            <a:pPr marL="72389" indent="-21590" algn="l" rtl="0" eaLnBrk="0">
              <a:lnSpc>
                <a:spcPct val="93000"/>
              </a:lnSpc>
              <a:spcBef>
                <a:spcPts val="5"/>
              </a:spcBef>
              <a:tabLst/>
            </a:pPr>
            <a:r>
              <a:rPr sz="2000" kern="0" spc="0" dirty="0">
                <a:solidFill>
                  <a:srgbClr val="404040">
                    <a:alpha val="100000"/>
                  </a:srgbClr>
                </a:solidFill>
                <a:latin typeface="Microsoft YaHei"/>
                <a:ea typeface="Microsoft YaHei"/>
                <a:cs typeface="Microsoft YaHei"/>
              </a:rPr>
              <a:t>上述软件均为团队自主研发，</a:t>
            </a:r>
            <a:r>
              <a:rPr sz="2000" kern="0" spc="-440" dirty="0">
                <a:solidFill>
                  <a:srgbClr val="404040">
                    <a:alpha val="100000"/>
                  </a:srgbClr>
                </a:solidFill>
                <a:latin typeface="Microsoft YaHei"/>
                <a:ea typeface="Microsoft YaHei"/>
                <a:cs typeface="Microsoft YaHei"/>
              </a:rPr>
              <a:t> </a:t>
            </a:r>
            <a:r>
              <a:rPr sz="2000" kern="0" spc="0" dirty="0">
                <a:solidFill>
                  <a:srgbClr val="404040">
                    <a:alpha val="100000"/>
                  </a:srgbClr>
                </a:solidFill>
                <a:latin typeface="Microsoft YaHei"/>
                <a:ea typeface="Microsoft YaHei"/>
                <a:cs typeface="Microsoft YaHei"/>
              </a:rPr>
              <a:t>已经在果园港</a:t>
            </a:r>
            <a:r>
              <a:rPr sz="2000" kern="0" spc="-10" dirty="0">
                <a:solidFill>
                  <a:srgbClr val="404040">
                    <a:alpha val="100000"/>
                  </a:srgbClr>
                </a:solidFill>
                <a:latin typeface="Microsoft YaHei"/>
                <a:ea typeface="Microsoft YaHei"/>
                <a:cs typeface="Microsoft YaHei"/>
              </a:rPr>
              <a:t>、珞璜港、江津港、万州港、湛江港、高栏港等港</a:t>
            </a:r>
            <a:r>
              <a:rPr sz="2000" kern="0" spc="-50" dirty="0">
                <a:solidFill>
                  <a:srgbClr val="404040">
                    <a:alpha val="100000"/>
                  </a:srgbClr>
                </a:solidFill>
                <a:latin typeface="Microsoft YaHei"/>
                <a:ea typeface="Microsoft YaHei"/>
                <a:cs typeface="Microsoft YaHei"/>
              </a:rPr>
              <a:t>口推广使用</a:t>
            </a:r>
            <a:endParaRPr sz="2000" dirty="0">
              <a:latin typeface="Microsoft YaHei"/>
              <a:ea typeface="Microsoft YaHei"/>
              <a:cs typeface="Microsoft YaHei"/>
            </a:endParaRPr>
          </a:p>
        </p:txBody>
      </p:sp>
      <p:pic>
        <p:nvPicPr>
          <p:cNvPr id="8" name="picture 8"/>
          <p:cNvPicPr>
            <a:picLocks noChangeAspect="1"/>
          </p:cNvPicPr>
          <p:nvPr/>
        </p:nvPicPr>
        <p:blipFill>
          <a:blip r:embed="rId2"/>
          <a:stretch>
            <a:fillRect/>
          </a:stretch>
        </p:blipFill>
        <p:spPr>
          <a:xfrm rot="21600000">
            <a:off x="668426" y="4038815"/>
            <a:ext cx="216408" cy="337718"/>
          </a:xfrm>
          <a:prstGeom prst="rect">
            <a:avLst/>
          </a:prstGeom>
        </p:spPr>
      </p:pic>
      <p:pic>
        <p:nvPicPr>
          <p:cNvPr id="10" name="picture 10"/>
          <p:cNvPicPr>
            <a:picLocks noChangeAspect="1"/>
          </p:cNvPicPr>
          <p:nvPr/>
        </p:nvPicPr>
        <p:blipFill>
          <a:blip r:embed="rId3"/>
          <a:stretch>
            <a:fillRect/>
          </a:stretch>
        </p:blipFill>
        <p:spPr>
          <a:xfrm rot="21600000">
            <a:off x="668426" y="3490175"/>
            <a:ext cx="216408" cy="337718"/>
          </a:xfrm>
          <a:prstGeom prst="rect">
            <a:avLst/>
          </a:prstGeom>
        </p:spPr>
      </p:pic>
      <p:pic>
        <p:nvPicPr>
          <p:cNvPr id="12" name="picture 12"/>
          <p:cNvPicPr>
            <a:picLocks noChangeAspect="1"/>
          </p:cNvPicPr>
          <p:nvPr/>
        </p:nvPicPr>
        <p:blipFill>
          <a:blip r:embed="rId4"/>
          <a:stretch>
            <a:fillRect/>
          </a:stretch>
        </p:blipFill>
        <p:spPr>
          <a:xfrm rot="21600000">
            <a:off x="668426" y="2941535"/>
            <a:ext cx="216408" cy="337718"/>
          </a:xfrm>
          <a:prstGeom prst="rect">
            <a:avLst/>
          </a:prstGeom>
        </p:spPr>
      </p:pic>
      <p:pic>
        <p:nvPicPr>
          <p:cNvPr id="14" name="picture 14"/>
          <p:cNvPicPr>
            <a:picLocks noChangeAspect="1"/>
          </p:cNvPicPr>
          <p:nvPr/>
        </p:nvPicPr>
        <p:blipFill>
          <a:blip r:embed="rId5"/>
          <a:stretch>
            <a:fillRect/>
          </a:stretch>
        </p:blipFill>
        <p:spPr>
          <a:xfrm rot="21600000">
            <a:off x="668426" y="2392895"/>
            <a:ext cx="216408" cy="337718"/>
          </a:xfrm>
          <a:prstGeom prst="rect">
            <a:avLst/>
          </a:prstGeom>
        </p:spPr>
      </p:pic>
      <p:pic>
        <p:nvPicPr>
          <p:cNvPr id="16" name="picture 16"/>
          <p:cNvPicPr>
            <a:picLocks noChangeAspect="1"/>
          </p:cNvPicPr>
          <p:nvPr/>
        </p:nvPicPr>
        <p:blipFill>
          <a:blip r:embed="rId6"/>
          <a:stretch>
            <a:fillRect/>
          </a:stretch>
        </p:blipFill>
        <p:spPr>
          <a:xfrm rot="21600000">
            <a:off x="668426" y="1844255"/>
            <a:ext cx="216408" cy="337718"/>
          </a:xfrm>
          <a:prstGeom prst="rect">
            <a:avLst/>
          </a:prstGeom>
        </p:spPr>
      </p:pic>
      <p:pic>
        <p:nvPicPr>
          <p:cNvPr id="18" name="picture 18"/>
          <p:cNvPicPr>
            <a:picLocks noChangeAspect="1"/>
          </p:cNvPicPr>
          <p:nvPr/>
        </p:nvPicPr>
        <p:blipFill>
          <a:blip r:embed="rId7"/>
          <a:stretch>
            <a:fillRect/>
          </a:stretch>
        </p:blipFill>
        <p:spPr>
          <a:xfrm rot="21600000">
            <a:off x="668426" y="1295615"/>
            <a:ext cx="216408" cy="33771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0"/>
          <p:cNvPicPr>
            <a:picLocks noChangeAspect="1"/>
          </p:cNvPicPr>
          <p:nvPr/>
        </p:nvPicPr>
        <p:blipFill>
          <a:blip r:embed="rId2"/>
          <a:stretch>
            <a:fillRect/>
          </a:stretch>
        </p:blipFill>
        <p:spPr>
          <a:xfrm rot="21600000">
            <a:off x="563880" y="877823"/>
            <a:ext cx="10850880" cy="5971032"/>
          </a:xfrm>
          <a:prstGeom prst="rect">
            <a:avLst/>
          </a:prstGeom>
        </p:spPr>
      </p:pic>
      <p:sp>
        <p:nvSpPr>
          <p:cNvPr id="22" name="textbox 22"/>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4"/>
          <p:cNvPicPr>
            <a:picLocks noChangeAspect="1"/>
          </p:cNvPicPr>
          <p:nvPr/>
        </p:nvPicPr>
        <p:blipFill>
          <a:blip r:embed="rId2"/>
          <a:stretch>
            <a:fillRect/>
          </a:stretch>
        </p:blipFill>
        <p:spPr>
          <a:xfrm rot="21600000">
            <a:off x="1725167" y="775715"/>
            <a:ext cx="8837676" cy="5710428"/>
          </a:xfrm>
          <a:prstGeom prst="rect">
            <a:avLst/>
          </a:prstGeom>
        </p:spPr>
      </p:pic>
      <p:sp>
        <p:nvSpPr>
          <p:cNvPr id="26" name="textbox 26"/>
          <p:cNvSpPr/>
          <p:nvPr/>
        </p:nvSpPr>
        <p:spPr>
          <a:xfrm>
            <a:off x="5065991" y="153377"/>
            <a:ext cx="2305050" cy="492125"/>
          </a:xfrm>
          <a:prstGeom prst="rect">
            <a:avLst/>
          </a:prstGeom>
          <a:noFill/>
          <a:ln w="0" cap="flat">
            <a:noFill/>
            <a:prstDash val="solid"/>
            <a:miter lim="0"/>
          </a:ln>
        </p:spPr>
        <p:txBody>
          <a:bodyPr vert="horz" wrap="square" lIns="0" tIns="0" rIns="0" bIns="0"/>
          <a:lstStyle/>
          <a:p>
            <a:pPr algn="l" rtl="0" eaLnBrk="0">
              <a:lnSpc>
                <a:spcPct val="98238"/>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1004316" y="1283207"/>
            <a:ext cx="4969763" cy="2144267"/>
          </a:xfrm>
          <a:prstGeom prst="rect">
            <a:avLst/>
          </a:prstGeom>
        </p:spPr>
      </p:pic>
      <p:sp>
        <p:nvSpPr>
          <p:cNvPr id="4" name="textbox 4"/>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90" dirty="0">
                <a:solidFill>
                  <a:srgbClr val="FFFFFF">
                    <a:alpha val="100000"/>
                  </a:srgbClr>
                </a:solidFill>
                <a:latin typeface="Microsoft YaHei"/>
                <a:ea typeface="Microsoft YaHei"/>
                <a:cs typeface="Microsoft YaHei"/>
              </a:rPr>
              <a:t>2.11 基于数据-机理混</a:t>
            </a:r>
            <a:r>
              <a:rPr sz="2700" kern="0" spc="80" dirty="0">
                <a:solidFill>
                  <a:srgbClr val="FFFFFF">
                    <a:alpha val="100000"/>
                  </a:srgbClr>
                </a:solidFill>
                <a:latin typeface="Microsoft YaHei"/>
                <a:ea typeface="Microsoft YaHei"/>
                <a:cs typeface="Microsoft YaHei"/>
              </a:rPr>
              <a:t>合驱动的绞吸式挖泥船智能疏浚决策支持系统</a:t>
            </a:r>
            <a:endParaRPr sz="2700" dirty="0">
              <a:latin typeface="Microsoft YaHei"/>
              <a:ea typeface="Microsoft YaHei"/>
              <a:cs typeface="Microsoft YaHei"/>
            </a:endParaRPr>
          </a:p>
        </p:txBody>
      </p:sp>
      <p:pic>
        <p:nvPicPr>
          <p:cNvPr id="6" name="picture 6"/>
          <p:cNvPicPr>
            <a:picLocks noChangeAspect="1"/>
          </p:cNvPicPr>
          <p:nvPr/>
        </p:nvPicPr>
        <p:blipFill>
          <a:blip r:embed="rId3"/>
          <a:stretch>
            <a:fillRect/>
          </a:stretch>
        </p:blipFill>
        <p:spPr>
          <a:xfrm rot="21600000">
            <a:off x="7684769" y="1432559"/>
            <a:ext cx="3220211" cy="2281428"/>
          </a:xfrm>
          <a:prstGeom prst="rect">
            <a:avLst/>
          </a:prstGeom>
        </p:spPr>
      </p:pic>
      <p:pic>
        <p:nvPicPr>
          <p:cNvPr id="8" name="picture 8"/>
          <p:cNvPicPr>
            <a:picLocks noChangeAspect="1"/>
          </p:cNvPicPr>
          <p:nvPr/>
        </p:nvPicPr>
        <p:blipFill>
          <a:blip r:embed="rId4"/>
          <a:stretch>
            <a:fillRect/>
          </a:stretch>
        </p:blipFill>
        <p:spPr>
          <a:xfrm rot="21600000">
            <a:off x="161035" y="2334406"/>
            <a:ext cx="2508757" cy="2631819"/>
          </a:xfrm>
          <a:prstGeom prst="rect">
            <a:avLst/>
          </a:prstGeom>
        </p:spPr>
      </p:pic>
      <p:sp>
        <p:nvSpPr>
          <p:cNvPr id="10" name="textbox 10"/>
          <p:cNvSpPr/>
          <p:nvPr/>
        </p:nvSpPr>
        <p:spPr>
          <a:xfrm>
            <a:off x="897381" y="3663886"/>
            <a:ext cx="5187950" cy="1360169"/>
          </a:xfrm>
          <a:prstGeom prst="rect">
            <a:avLst/>
          </a:prstGeom>
          <a:noFill/>
          <a:ln w="0" cap="flat">
            <a:noFill/>
            <a:prstDash val="solid"/>
            <a:miter lim="0"/>
          </a:ln>
        </p:spPr>
        <p:txBody>
          <a:bodyPr vert="horz" wrap="square" lIns="0" tIns="0" rIns="0" bIns="0"/>
          <a:lstStyle/>
          <a:p>
            <a:pPr algn="l" rtl="0" eaLnBrk="0">
              <a:lnSpc>
                <a:spcPct val="39302"/>
              </a:lnSpc>
              <a:tabLst/>
            </a:pPr>
            <a:endParaRPr sz="100" dirty="0">
              <a:latin typeface="Arial"/>
              <a:ea typeface="Arial"/>
              <a:cs typeface="Arial"/>
            </a:endParaRPr>
          </a:p>
          <a:p>
            <a:pPr marL="12700" indent="454025" algn="l" rtl="0" eaLnBrk="0">
              <a:lnSpc>
                <a:spcPct val="102000"/>
              </a:lnSpc>
              <a:tabLst/>
            </a:pPr>
            <a:r>
              <a:rPr sz="1700" b="1" kern="0" spc="60" dirty="0">
                <a:solidFill>
                  <a:srgbClr val="262626">
                    <a:alpha val="100000"/>
                  </a:srgbClr>
                </a:solidFill>
                <a:latin typeface="DengXian"/>
                <a:ea typeface="DengXian"/>
                <a:cs typeface="DengXian"/>
              </a:rPr>
              <a:t>“推进装备技术升级</a:t>
            </a:r>
            <a:r>
              <a:rPr sz="1700" b="1" kern="0" spc="-23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。推广新能源</a:t>
            </a:r>
            <a:r>
              <a:rPr sz="1700" b="1" kern="0" spc="-26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a:t>
            </a:r>
            <a:r>
              <a:rPr sz="1700" b="1" kern="0" spc="-35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清洁能源</a:t>
            </a:r>
            <a:r>
              <a:rPr sz="1700" b="1" kern="0" spc="-27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a:t>
            </a:r>
            <a:r>
              <a:rPr sz="1700" b="1" kern="0" spc="60" dirty="0">
                <a:solidFill>
                  <a:srgbClr val="262626">
                    <a:alpha val="100000"/>
                  </a:srgbClr>
                </a:solidFill>
                <a:latin typeface="DengXian"/>
                <a:ea typeface="DengXian"/>
                <a:cs typeface="DengXian"/>
              </a:rPr>
              <a:t>智能化</a:t>
            </a:r>
            <a:r>
              <a:rPr sz="1700" b="1" kern="0" spc="-27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a:t>
            </a:r>
            <a:r>
              <a:rPr sz="1700" b="1" kern="0" spc="-33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数字化</a:t>
            </a:r>
            <a:r>
              <a:rPr sz="1700" b="1" kern="0" spc="-26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a:t>
            </a:r>
            <a:r>
              <a:rPr sz="1700" b="1" kern="0" spc="-35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轻量化</a:t>
            </a:r>
            <a:r>
              <a:rPr sz="1700" b="1" kern="0" spc="-270" dirty="0">
                <a:solidFill>
                  <a:srgbClr val="262626">
                    <a:alpha val="100000"/>
                  </a:srgbClr>
                </a:solidFill>
                <a:latin typeface="DengXian"/>
                <a:ea typeface="DengXian"/>
                <a:cs typeface="DengXian"/>
              </a:rPr>
              <a:t> </a:t>
            </a:r>
            <a:r>
              <a:rPr sz="1700" b="1" kern="0" spc="60" dirty="0">
                <a:solidFill>
                  <a:srgbClr val="262626">
                    <a:alpha val="100000"/>
                  </a:srgbClr>
                </a:solidFill>
                <a:latin typeface="DengXian"/>
                <a:ea typeface="DengXian"/>
                <a:cs typeface="DengXian"/>
              </a:rPr>
              <a:t>、环保型交通装备及</a:t>
            </a:r>
            <a:r>
              <a:rPr sz="1700" b="1" kern="0" spc="50" dirty="0">
                <a:solidFill>
                  <a:srgbClr val="262626">
                    <a:alpha val="100000"/>
                  </a:srgbClr>
                </a:solidFill>
                <a:latin typeface="DengXian"/>
                <a:ea typeface="DengXian"/>
                <a:cs typeface="DengXian"/>
              </a:rPr>
              <a:t>成套</a:t>
            </a:r>
            <a:r>
              <a:rPr sz="1700" b="1" kern="0" spc="70" dirty="0">
                <a:solidFill>
                  <a:srgbClr val="262626">
                    <a:alpha val="100000"/>
                  </a:srgbClr>
                </a:solidFill>
                <a:latin typeface="DengXian"/>
                <a:ea typeface="DengXian"/>
                <a:cs typeface="DengXian"/>
              </a:rPr>
              <a:t>技术装备</a:t>
            </a:r>
            <a:r>
              <a:rPr sz="1700" b="1" kern="0" spc="-200" dirty="0">
                <a:solidFill>
                  <a:srgbClr val="262626">
                    <a:alpha val="100000"/>
                  </a:srgbClr>
                </a:solidFill>
                <a:latin typeface="DengXian"/>
                <a:ea typeface="DengXian"/>
                <a:cs typeface="DengXian"/>
              </a:rPr>
              <a:t> </a:t>
            </a:r>
            <a:r>
              <a:rPr sz="1700" b="1" kern="0" spc="70" dirty="0">
                <a:solidFill>
                  <a:srgbClr val="262626">
                    <a:alpha val="100000"/>
                  </a:srgbClr>
                </a:solidFill>
                <a:latin typeface="DengXian"/>
                <a:ea typeface="DengXian"/>
                <a:cs typeface="DengXian"/>
              </a:rPr>
              <a:t>。</a:t>
            </a:r>
            <a:r>
              <a:rPr sz="1700" b="1" kern="0" spc="-300" dirty="0">
                <a:solidFill>
                  <a:srgbClr val="262626">
                    <a:alpha val="100000"/>
                  </a:srgbClr>
                </a:solidFill>
                <a:latin typeface="DengXian"/>
                <a:ea typeface="DengXian"/>
                <a:cs typeface="DengXian"/>
              </a:rPr>
              <a:t> </a:t>
            </a:r>
            <a:r>
              <a:rPr sz="1700" b="1" kern="0" spc="70" dirty="0">
                <a:solidFill>
                  <a:srgbClr val="262626">
                    <a:alpha val="100000"/>
                  </a:srgbClr>
                </a:solidFill>
                <a:latin typeface="DengXian"/>
                <a:ea typeface="DengXian"/>
                <a:cs typeface="DengXian"/>
              </a:rPr>
              <a:t>”</a:t>
            </a:r>
            <a:endParaRPr sz="1700" dirty="0">
              <a:latin typeface="DengXian"/>
              <a:ea typeface="DengXian"/>
              <a:cs typeface="DengXian"/>
            </a:endParaRPr>
          </a:p>
          <a:p>
            <a:pPr algn="l" rtl="0" eaLnBrk="0">
              <a:lnSpc>
                <a:spcPct val="135000"/>
              </a:lnSpc>
              <a:tabLst/>
            </a:pPr>
            <a:endParaRPr sz="1000" dirty="0">
              <a:latin typeface="Arial"/>
              <a:ea typeface="Arial"/>
              <a:cs typeface="Arial"/>
            </a:endParaRPr>
          </a:p>
          <a:p>
            <a:pPr algn="l" rtl="0" eaLnBrk="0">
              <a:lnSpc>
                <a:spcPct val="106000"/>
              </a:lnSpc>
              <a:tabLst/>
            </a:pPr>
            <a:endParaRPr sz="400" dirty="0">
              <a:latin typeface="Arial"/>
              <a:ea typeface="Arial"/>
              <a:cs typeface="Arial"/>
            </a:endParaRPr>
          </a:p>
          <a:p>
            <a:pPr marL="2431414" algn="l" rtl="0" eaLnBrk="0">
              <a:lnSpc>
                <a:spcPts val="2188"/>
              </a:lnSpc>
              <a:spcBef>
                <a:spcPts val="2"/>
              </a:spcBef>
              <a:tabLst/>
            </a:pPr>
            <a:r>
              <a:rPr sz="1700" b="1" kern="0" spc="90" dirty="0">
                <a:solidFill>
                  <a:srgbClr val="262626">
                    <a:alpha val="100000"/>
                  </a:srgbClr>
                </a:solidFill>
                <a:latin typeface="DengXian"/>
                <a:ea typeface="DengXian"/>
                <a:cs typeface="DengXian"/>
              </a:rPr>
              <a:t>——《交通强国建设纲要》</a:t>
            </a:r>
            <a:endParaRPr sz="1700" dirty="0">
              <a:latin typeface="DengXian"/>
              <a:ea typeface="DengXian"/>
              <a:cs typeface="DengXian"/>
            </a:endParaRPr>
          </a:p>
        </p:txBody>
      </p:sp>
      <p:sp>
        <p:nvSpPr>
          <p:cNvPr id="12" name="textbox 12"/>
          <p:cNvSpPr/>
          <p:nvPr/>
        </p:nvSpPr>
        <p:spPr>
          <a:xfrm>
            <a:off x="374787" y="5306998"/>
            <a:ext cx="5419725" cy="1234439"/>
          </a:xfrm>
          <a:prstGeom prst="rect">
            <a:avLst/>
          </a:prstGeom>
          <a:noFill/>
          <a:ln w="0" cap="flat">
            <a:noFill/>
            <a:prstDash val="solid"/>
            <a:miter lim="0"/>
          </a:ln>
        </p:spPr>
        <p:txBody>
          <a:bodyPr vert="horz" wrap="square" lIns="0" tIns="0" rIns="0" bIns="0"/>
          <a:lstStyle/>
          <a:p>
            <a:pPr algn="l" rtl="0" eaLnBrk="0">
              <a:lnSpc>
                <a:spcPct val="72303"/>
              </a:lnSpc>
              <a:tabLst/>
            </a:pPr>
            <a:endParaRPr sz="100" dirty="0">
              <a:latin typeface="Arial"/>
              <a:ea typeface="Arial"/>
              <a:cs typeface="Arial"/>
            </a:endParaRPr>
          </a:p>
          <a:p>
            <a:pPr marL="12700" algn="l" rtl="0" eaLnBrk="0">
              <a:lnSpc>
                <a:spcPct val="96000"/>
              </a:lnSpc>
              <a:tabLst/>
            </a:pPr>
            <a:r>
              <a:rPr sz="2700" kern="0" spc="10" dirty="0">
                <a:solidFill>
                  <a:srgbClr val="C00000">
                    <a:alpha val="100000"/>
                  </a:srgbClr>
                </a:solidFill>
                <a:latin typeface="Wingdings"/>
                <a:ea typeface="Wingdings"/>
                <a:cs typeface="Wingdings"/>
              </a:rPr>
              <a:t>l</a:t>
            </a:r>
            <a:r>
              <a:rPr sz="2700" kern="0" spc="-1290" dirty="0">
                <a:solidFill>
                  <a:srgbClr val="C00000">
                    <a:alpha val="100000"/>
                  </a:srgbClr>
                </a:solidFill>
                <a:latin typeface="Wingdings"/>
                <a:ea typeface="Wingdings"/>
                <a:cs typeface="Wingdings"/>
              </a:rPr>
              <a:t> </a:t>
            </a:r>
            <a:r>
              <a:rPr sz="2700" b="1" kern="0" spc="10" dirty="0">
                <a:solidFill>
                  <a:srgbClr val="C00000">
                    <a:alpha val="100000"/>
                  </a:srgbClr>
                </a:solidFill>
                <a:latin typeface="Microsoft YaHei"/>
                <a:ea typeface="Microsoft YaHei"/>
                <a:cs typeface="Microsoft YaHei"/>
              </a:rPr>
              <a:t>交通强国</a:t>
            </a:r>
            <a:r>
              <a:rPr sz="2000" b="1" kern="0" spc="10" dirty="0">
                <a:solidFill>
                  <a:srgbClr val="262626">
                    <a:alpha val="100000"/>
                  </a:srgbClr>
                </a:solidFill>
                <a:latin typeface="Microsoft YaHei"/>
                <a:ea typeface="Microsoft YaHei"/>
                <a:cs typeface="Microsoft YaHei"/>
              </a:rPr>
              <a:t>重大国家战略需求</a:t>
            </a:r>
            <a:endParaRPr sz="2000" dirty="0">
              <a:latin typeface="Microsoft YaHei"/>
              <a:ea typeface="Microsoft YaHei"/>
              <a:cs typeface="Microsoft YaHei"/>
            </a:endParaRPr>
          </a:p>
          <a:p>
            <a:pPr marL="12700" algn="l" rtl="0" eaLnBrk="0">
              <a:lnSpc>
                <a:spcPct val="96000"/>
              </a:lnSpc>
              <a:spcBef>
                <a:spcPts val="350"/>
              </a:spcBef>
              <a:tabLst/>
            </a:pPr>
            <a:r>
              <a:rPr sz="2700" kern="0" spc="40" dirty="0">
                <a:solidFill>
                  <a:srgbClr val="C00000">
                    <a:alpha val="100000"/>
                  </a:srgbClr>
                </a:solidFill>
                <a:latin typeface="Wingdings"/>
                <a:ea typeface="Wingdings"/>
                <a:cs typeface="Wingdings"/>
              </a:rPr>
              <a:t>l</a:t>
            </a:r>
            <a:r>
              <a:rPr sz="2700" kern="0" spc="-1940" dirty="0">
                <a:solidFill>
                  <a:srgbClr val="C00000">
                    <a:alpha val="100000"/>
                  </a:srgbClr>
                </a:solidFill>
                <a:latin typeface="Wingdings"/>
                <a:ea typeface="Wingdings"/>
                <a:cs typeface="Wingdings"/>
              </a:rPr>
              <a:t> </a:t>
            </a:r>
            <a:r>
              <a:rPr sz="2700" b="1" kern="0" spc="40" dirty="0">
                <a:solidFill>
                  <a:srgbClr val="C00000">
                    <a:alpha val="100000"/>
                  </a:srgbClr>
                </a:solidFill>
                <a:latin typeface="Microsoft YaHei"/>
                <a:ea typeface="Microsoft YaHei"/>
                <a:cs typeface="Microsoft YaHei"/>
              </a:rPr>
              <a:t>“推进装备技术升级”</a:t>
            </a:r>
            <a:r>
              <a:rPr sz="2000" b="1" kern="0" spc="40" dirty="0">
                <a:solidFill>
                  <a:srgbClr val="262626">
                    <a:alpha val="100000"/>
                  </a:srgbClr>
                </a:solidFill>
                <a:latin typeface="Microsoft YaHei"/>
                <a:ea typeface="Microsoft YaHei"/>
                <a:cs typeface="Microsoft YaHei"/>
              </a:rPr>
              <a:t>是发展国家战</a:t>
            </a:r>
            <a:endParaRPr sz="2000" dirty="0">
              <a:latin typeface="Microsoft YaHei"/>
              <a:ea typeface="Microsoft YaHei"/>
              <a:cs typeface="Microsoft YaHei"/>
            </a:endParaRPr>
          </a:p>
          <a:p>
            <a:pPr algn="l" rtl="0" eaLnBrk="0">
              <a:lnSpc>
                <a:spcPct val="103000"/>
              </a:lnSpc>
              <a:tabLst/>
            </a:pPr>
            <a:endParaRPr sz="700" dirty="0">
              <a:latin typeface="Arial"/>
              <a:ea typeface="Arial"/>
              <a:cs typeface="Arial"/>
            </a:endParaRPr>
          </a:p>
          <a:p>
            <a:pPr marL="338454" algn="l" rtl="0" eaLnBrk="0">
              <a:lnSpc>
                <a:spcPct val="87000"/>
              </a:lnSpc>
              <a:spcBef>
                <a:spcPts val="6"/>
              </a:spcBef>
              <a:tabLst/>
            </a:pPr>
            <a:r>
              <a:rPr sz="2000" b="1" kern="0" spc="-20" dirty="0">
                <a:solidFill>
                  <a:srgbClr val="262626">
                    <a:alpha val="100000"/>
                  </a:srgbClr>
                </a:solidFill>
                <a:latin typeface="Microsoft YaHei"/>
                <a:ea typeface="Microsoft YaHei"/>
                <a:cs typeface="Microsoft YaHei"/>
              </a:rPr>
              <a:t>略的重要组成内容</a:t>
            </a:r>
            <a:endParaRPr sz="2000" dirty="0">
              <a:latin typeface="Microsoft YaHei"/>
              <a:ea typeface="Microsoft YaHei"/>
              <a:cs typeface="Microsoft YaHei"/>
            </a:endParaRPr>
          </a:p>
        </p:txBody>
      </p:sp>
      <p:sp>
        <p:nvSpPr>
          <p:cNvPr id="14" name="textbox 14"/>
          <p:cNvSpPr/>
          <p:nvPr/>
        </p:nvSpPr>
        <p:spPr>
          <a:xfrm>
            <a:off x="9288691" y="3742524"/>
            <a:ext cx="2349500" cy="1670685"/>
          </a:xfrm>
          <a:prstGeom prst="rect">
            <a:avLst/>
          </a:prstGeom>
          <a:noFill/>
          <a:ln w="0" cap="flat">
            <a:noFill/>
            <a:prstDash val="solid"/>
            <a:miter lim="0"/>
          </a:ln>
        </p:spPr>
        <p:txBody>
          <a:bodyPr vert="horz" wrap="square" lIns="0" tIns="0" rIns="0" bIns="0"/>
          <a:lstStyle/>
          <a:p>
            <a:pPr algn="l" rtl="0" eaLnBrk="0">
              <a:lnSpc>
                <a:spcPct val="79499"/>
              </a:lnSpc>
              <a:tabLst/>
            </a:pPr>
            <a:endParaRPr sz="100" dirty="0">
              <a:latin typeface="Arial"/>
              <a:ea typeface="Arial"/>
              <a:cs typeface="Arial"/>
            </a:endParaRPr>
          </a:p>
          <a:p>
            <a:pPr marL="12700" algn="l" rtl="0" eaLnBrk="0">
              <a:lnSpc>
                <a:spcPct val="98000"/>
              </a:lnSpc>
              <a:tabLst/>
            </a:pPr>
            <a:r>
              <a:rPr sz="1700" kern="0" spc="50" dirty="0">
                <a:solidFill>
                  <a:srgbClr val="C00000">
                    <a:alpha val="100000"/>
                  </a:srgbClr>
                </a:solidFill>
                <a:latin typeface="Wingdings"/>
                <a:ea typeface="Wingdings"/>
                <a:cs typeface="Wingdings"/>
              </a:rPr>
              <a:t>n</a:t>
            </a:r>
            <a:r>
              <a:rPr sz="1700" kern="0" spc="-610" dirty="0">
                <a:solidFill>
                  <a:srgbClr val="C00000">
                    <a:alpha val="100000"/>
                  </a:srgbClr>
                </a:solidFill>
                <a:latin typeface="Wingdings"/>
                <a:ea typeface="Wingdings"/>
                <a:cs typeface="Wingdings"/>
              </a:rPr>
              <a:t> </a:t>
            </a:r>
            <a:r>
              <a:rPr sz="1700" b="1" kern="0" spc="50" dirty="0">
                <a:solidFill>
                  <a:srgbClr val="C00000">
                    <a:alpha val="100000"/>
                  </a:srgbClr>
                </a:solidFill>
                <a:latin typeface="DengXian"/>
                <a:ea typeface="DengXian"/>
                <a:cs typeface="DengXian"/>
              </a:rPr>
              <a:t>土质坚硬，</a:t>
            </a:r>
            <a:r>
              <a:rPr sz="1700" b="1" kern="0" spc="-350" dirty="0">
                <a:solidFill>
                  <a:srgbClr val="C00000">
                    <a:alpha val="100000"/>
                  </a:srgbClr>
                </a:solidFill>
                <a:latin typeface="DengXian"/>
                <a:ea typeface="DengXian"/>
                <a:cs typeface="DengXian"/>
              </a:rPr>
              <a:t> </a:t>
            </a:r>
            <a:r>
              <a:rPr sz="1700" b="1" kern="0" spc="50" dirty="0">
                <a:solidFill>
                  <a:srgbClr val="C00000">
                    <a:alpha val="100000"/>
                  </a:srgbClr>
                </a:solidFill>
                <a:latin typeface="DengXian"/>
                <a:ea typeface="DengXian"/>
                <a:cs typeface="DengXian"/>
              </a:rPr>
              <a:t>挖掘困难</a:t>
            </a:r>
            <a:endParaRPr sz="1700" dirty="0">
              <a:latin typeface="DengXian"/>
              <a:ea typeface="DengXian"/>
              <a:cs typeface="DengXian"/>
            </a:endParaRPr>
          </a:p>
          <a:p>
            <a:pPr marL="12700" algn="l" rtl="0" eaLnBrk="0">
              <a:lnSpc>
                <a:spcPct val="98000"/>
              </a:lnSpc>
              <a:spcBef>
                <a:spcPts val="654"/>
              </a:spcBef>
              <a:tabLst/>
            </a:pPr>
            <a:r>
              <a:rPr sz="1700" kern="0" spc="60" dirty="0">
                <a:solidFill>
                  <a:srgbClr val="C00000">
                    <a:alpha val="100000"/>
                  </a:srgbClr>
                </a:solidFill>
                <a:latin typeface="Wingdings"/>
                <a:ea typeface="Wingdings"/>
                <a:cs typeface="Wingdings"/>
              </a:rPr>
              <a:t>n</a:t>
            </a:r>
            <a:r>
              <a:rPr sz="1700" kern="0" spc="-720" dirty="0">
                <a:solidFill>
                  <a:srgbClr val="C00000">
                    <a:alpha val="100000"/>
                  </a:srgbClr>
                </a:solidFill>
                <a:latin typeface="Wingdings"/>
                <a:ea typeface="Wingdings"/>
                <a:cs typeface="Wingdings"/>
              </a:rPr>
              <a:t> </a:t>
            </a:r>
            <a:r>
              <a:rPr sz="1700" b="1" kern="0" spc="60" dirty="0">
                <a:solidFill>
                  <a:srgbClr val="C00000">
                    <a:alpha val="100000"/>
                  </a:srgbClr>
                </a:solidFill>
                <a:latin typeface="DengXian"/>
                <a:ea typeface="DengXian"/>
                <a:cs typeface="DengXian"/>
              </a:rPr>
              <a:t>挖掘控制困难</a:t>
            </a:r>
            <a:endParaRPr sz="1700" dirty="0">
              <a:latin typeface="DengXian"/>
              <a:ea typeface="DengXian"/>
              <a:cs typeface="DengXian"/>
            </a:endParaRPr>
          </a:p>
          <a:p>
            <a:pPr marL="12700" algn="l" rtl="0" eaLnBrk="0">
              <a:lnSpc>
                <a:spcPct val="98000"/>
              </a:lnSpc>
              <a:spcBef>
                <a:spcPts val="654"/>
              </a:spcBef>
              <a:tabLst/>
            </a:pPr>
            <a:r>
              <a:rPr sz="1700" kern="0" spc="40" dirty="0">
                <a:solidFill>
                  <a:srgbClr val="C00000">
                    <a:alpha val="100000"/>
                  </a:srgbClr>
                </a:solidFill>
                <a:latin typeface="Wingdings"/>
                <a:ea typeface="Wingdings"/>
                <a:cs typeface="Wingdings"/>
              </a:rPr>
              <a:t>n</a:t>
            </a:r>
            <a:r>
              <a:rPr sz="1700" kern="0" spc="-640" dirty="0">
                <a:solidFill>
                  <a:srgbClr val="C00000">
                    <a:alpha val="100000"/>
                  </a:srgbClr>
                </a:solidFill>
                <a:latin typeface="Wingdings"/>
                <a:ea typeface="Wingdings"/>
                <a:cs typeface="Wingdings"/>
              </a:rPr>
              <a:t> </a:t>
            </a:r>
            <a:r>
              <a:rPr sz="1700" b="1" kern="0" spc="40" dirty="0">
                <a:solidFill>
                  <a:srgbClr val="C00000">
                    <a:alpha val="100000"/>
                  </a:srgbClr>
                </a:solidFill>
                <a:latin typeface="DengXian"/>
                <a:ea typeface="DengXian"/>
                <a:cs typeface="DengXian"/>
              </a:rPr>
              <a:t>生产效率低</a:t>
            </a:r>
            <a:endParaRPr sz="1700" dirty="0">
              <a:latin typeface="DengXian"/>
              <a:ea typeface="DengXian"/>
              <a:cs typeface="DengXian"/>
            </a:endParaRPr>
          </a:p>
          <a:p>
            <a:pPr marL="12700" algn="l" rtl="0" eaLnBrk="0">
              <a:lnSpc>
                <a:spcPct val="98000"/>
              </a:lnSpc>
              <a:spcBef>
                <a:spcPts val="654"/>
              </a:spcBef>
              <a:tabLst/>
            </a:pPr>
            <a:r>
              <a:rPr sz="1700" kern="0" spc="50" dirty="0">
                <a:solidFill>
                  <a:srgbClr val="C00000">
                    <a:alpha val="100000"/>
                  </a:srgbClr>
                </a:solidFill>
                <a:latin typeface="Wingdings"/>
                <a:ea typeface="Wingdings"/>
                <a:cs typeface="Wingdings"/>
              </a:rPr>
              <a:t>n</a:t>
            </a:r>
            <a:r>
              <a:rPr sz="1700" kern="0" spc="-700" dirty="0">
                <a:solidFill>
                  <a:srgbClr val="C00000">
                    <a:alpha val="100000"/>
                  </a:srgbClr>
                </a:solidFill>
                <a:latin typeface="Wingdings"/>
                <a:ea typeface="Wingdings"/>
                <a:cs typeface="Wingdings"/>
              </a:rPr>
              <a:t> </a:t>
            </a:r>
            <a:r>
              <a:rPr sz="1700" b="1" kern="0" spc="50" dirty="0">
                <a:solidFill>
                  <a:srgbClr val="C00000">
                    <a:alpha val="100000"/>
                  </a:srgbClr>
                </a:solidFill>
                <a:latin typeface="DengXian"/>
                <a:ea typeface="DengXian"/>
                <a:cs typeface="DengXian"/>
              </a:rPr>
              <a:t>设备损耗大</a:t>
            </a:r>
            <a:endParaRPr sz="1700" dirty="0">
              <a:latin typeface="DengXian"/>
              <a:ea typeface="DengXian"/>
              <a:cs typeface="DengXian"/>
            </a:endParaRPr>
          </a:p>
          <a:p>
            <a:pPr algn="l" rtl="0" eaLnBrk="0">
              <a:lnSpc>
                <a:spcPct val="104000"/>
              </a:lnSpc>
              <a:tabLst/>
            </a:pPr>
            <a:endParaRPr sz="800" dirty="0">
              <a:latin typeface="Arial"/>
              <a:ea typeface="Arial"/>
              <a:cs typeface="Arial"/>
            </a:endParaRPr>
          </a:p>
          <a:p>
            <a:pPr marL="28575" algn="l" rtl="0" eaLnBrk="0">
              <a:lnSpc>
                <a:spcPct val="98000"/>
              </a:lnSpc>
              <a:spcBef>
                <a:spcPts val="4"/>
              </a:spcBef>
              <a:tabLst/>
            </a:pPr>
            <a:r>
              <a:rPr sz="1700" kern="0" spc="70" dirty="0">
                <a:solidFill>
                  <a:srgbClr val="C00000">
                    <a:alpha val="100000"/>
                  </a:srgbClr>
                </a:solidFill>
                <a:latin typeface="Wingdings"/>
                <a:ea typeface="Wingdings"/>
                <a:cs typeface="Wingdings"/>
              </a:rPr>
              <a:t>n</a:t>
            </a:r>
            <a:r>
              <a:rPr sz="1700" kern="0" spc="-730" dirty="0">
                <a:solidFill>
                  <a:srgbClr val="C00000">
                    <a:alpha val="100000"/>
                  </a:srgbClr>
                </a:solidFill>
                <a:latin typeface="Wingdings"/>
                <a:ea typeface="Wingdings"/>
                <a:cs typeface="Wingdings"/>
              </a:rPr>
              <a:t> </a:t>
            </a:r>
            <a:r>
              <a:rPr sz="1700" b="1" kern="0" spc="70" dirty="0">
                <a:solidFill>
                  <a:srgbClr val="C00000">
                    <a:alpha val="100000"/>
                  </a:srgbClr>
                </a:solidFill>
                <a:latin typeface="DengXian"/>
                <a:ea typeface="DengXian"/>
                <a:cs typeface="DengXian"/>
              </a:rPr>
              <a:t>对生态环境有影响</a:t>
            </a:r>
            <a:endParaRPr sz="1700" dirty="0">
              <a:latin typeface="DengXian"/>
              <a:ea typeface="DengXian"/>
              <a:cs typeface="DengXian"/>
            </a:endParaRPr>
          </a:p>
        </p:txBody>
      </p:sp>
      <p:grpSp>
        <p:nvGrpSpPr>
          <p:cNvPr id="2" name="group 2"/>
          <p:cNvGrpSpPr/>
          <p:nvPr/>
        </p:nvGrpSpPr>
        <p:grpSpPr>
          <a:xfrm rot="21600000">
            <a:off x="7042251" y="3966654"/>
            <a:ext cx="1591526" cy="1327835"/>
            <a:chOff x="0" y="0"/>
            <a:chExt cx="1591526" cy="1327835"/>
          </a:xfrm>
        </p:grpSpPr>
        <p:sp>
          <p:nvSpPr>
            <p:cNvPr id="16" name="path 16"/>
            <p:cNvSpPr/>
            <p:nvPr/>
          </p:nvSpPr>
          <p:spPr>
            <a:xfrm>
              <a:off x="0" y="0"/>
              <a:ext cx="1591526" cy="1327835"/>
            </a:xfrm>
            <a:custGeom>
              <a:avLst/>
              <a:gdLst/>
              <a:ahLst/>
              <a:cxnLst/>
              <a:rect l="0" t="0" r="0" b="0"/>
              <a:pathLst>
                <a:path w="2506" h="2091">
                  <a:moveTo>
                    <a:pt x="0" y="228"/>
                  </a:moveTo>
                  <a:moveTo>
                    <a:pt x="0" y="228"/>
                  </a:moveTo>
                  <a:cubicBezTo>
                    <a:pt x="0" y="102"/>
                    <a:pt x="102" y="0"/>
                    <a:pt x="228" y="0"/>
                  </a:cubicBezTo>
                  <a:lnTo>
                    <a:pt x="2277" y="0"/>
                  </a:lnTo>
                  <a:cubicBezTo>
                    <a:pt x="2404" y="0"/>
                    <a:pt x="2506" y="102"/>
                    <a:pt x="2505" y="228"/>
                  </a:cubicBezTo>
                  <a:lnTo>
                    <a:pt x="2505" y="1862"/>
                  </a:lnTo>
                  <a:cubicBezTo>
                    <a:pt x="2506" y="1988"/>
                    <a:pt x="2404" y="2091"/>
                    <a:pt x="2277" y="2090"/>
                  </a:cubicBezTo>
                  <a:lnTo>
                    <a:pt x="228" y="2090"/>
                  </a:lnTo>
                  <a:cubicBezTo>
                    <a:pt x="102" y="2091"/>
                    <a:pt x="0" y="1988"/>
                    <a:pt x="0" y="1862"/>
                  </a:cubicBezTo>
                  <a:lnTo>
                    <a:pt x="0" y="228"/>
                  </a:lnTo>
                </a:path>
              </a:pathLst>
            </a:custGeom>
            <a:solidFill>
              <a:srgbClr val="C00000">
                <a:alpha val="100000"/>
              </a:srgbClr>
            </a:solidFill>
            <a:ln w="0" cap="flat">
              <a:noFill/>
              <a:prstDash val="solid"/>
              <a:miter lim="0"/>
            </a:ln>
          </p:spPr>
          <p:txBody>
            <a:bodyPr rtlCol="0"/>
            <a:lstStyle/>
            <a:p>
              <a:pPr algn="ctr"/>
              <a:endParaRPr lang="zh-CN" altLang="en-US"/>
            </a:p>
          </p:txBody>
        </p:sp>
        <p:sp>
          <p:nvSpPr>
            <p:cNvPr id="18" name="textbox 18"/>
            <p:cNvSpPr/>
            <p:nvPr/>
          </p:nvSpPr>
          <p:spPr>
            <a:xfrm>
              <a:off x="277500" y="359295"/>
              <a:ext cx="1039494" cy="671194"/>
            </a:xfrm>
            <a:prstGeom prst="rect">
              <a:avLst/>
            </a:prstGeom>
            <a:noFill/>
            <a:ln w="0" cap="flat">
              <a:noFill/>
              <a:prstDash val="solid"/>
              <a:miter lim="0"/>
            </a:ln>
          </p:spPr>
          <p:txBody>
            <a:bodyPr vert="horz" wrap="square" lIns="0" tIns="0" rIns="0" bIns="0"/>
            <a:lstStyle/>
            <a:p>
              <a:pPr algn="l" rtl="0" eaLnBrk="0">
                <a:lnSpc>
                  <a:spcPct val="81070"/>
                </a:lnSpc>
                <a:tabLst/>
              </a:pPr>
              <a:endParaRPr sz="100" dirty="0">
                <a:latin typeface="Arial"/>
                <a:ea typeface="Arial"/>
                <a:cs typeface="Arial"/>
              </a:endParaRPr>
            </a:p>
            <a:p>
              <a:pPr marL="23495" algn="l" rtl="0" eaLnBrk="0">
                <a:lnSpc>
                  <a:spcPct val="83000"/>
                </a:lnSpc>
                <a:tabLst/>
              </a:pPr>
              <a:r>
                <a:rPr sz="2000" b="1" kern="0" spc="-30" dirty="0">
                  <a:solidFill>
                    <a:srgbClr val="FFFFFF">
                      <a:alpha val="100000"/>
                    </a:srgbClr>
                  </a:solidFill>
                  <a:latin typeface="DengXian"/>
                  <a:ea typeface="DengXian"/>
                  <a:cs typeface="DengXian"/>
                </a:rPr>
                <a:t>三峡库区</a:t>
              </a:r>
              <a:endParaRPr sz="2000" dirty="0">
                <a:latin typeface="DengXian"/>
                <a:ea typeface="DengXian"/>
                <a:cs typeface="DengXian"/>
              </a:endParaRPr>
            </a:p>
            <a:p>
              <a:pPr algn="l" rtl="0" eaLnBrk="0">
                <a:lnSpc>
                  <a:spcPct val="101000"/>
                </a:lnSpc>
                <a:tabLst/>
              </a:pPr>
              <a:endParaRPr sz="900" dirty="0">
                <a:latin typeface="Arial"/>
                <a:ea typeface="Arial"/>
                <a:cs typeface="Arial"/>
              </a:endParaRPr>
            </a:p>
            <a:p>
              <a:pPr algn="l" rtl="0" eaLnBrk="0">
                <a:lnSpc>
                  <a:spcPct val="7465"/>
                </a:lnSpc>
                <a:tabLst/>
              </a:pPr>
              <a:endParaRPr sz="100" dirty="0">
                <a:latin typeface="Arial"/>
                <a:ea typeface="Arial"/>
                <a:cs typeface="Arial"/>
              </a:endParaRPr>
            </a:p>
            <a:p>
              <a:pPr marL="12700" algn="l" rtl="0" eaLnBrk="0">
                <a:lnSpc>
                  <a:spcPct val="83000"/>
                </a:lnSpc>
                <a:tabLst/>
              </a:pPr>
              <a:r>
                <a:rPr sz="2000" b="1" kern="0" spc="-10" dirty="0">
                  <a:solidFill>
                    <a:srgbClr val="FFFFFF">
                      <a:alpha val="100000"/>
                    </a:srgbClr>
                  </a:solidFill>
                  <a:latin typeface="DengXian"/>
                  <a:ea typeface="DengXian"/>
                  <a:cs typeface="DengXian"/>
                </a:rPr>
                <a:t>疏浚作业</a:t>
              </a:r>
              <a:endParaRPr sz="2000" dirty="0">
                <a:latin typeface="DengXian"/>
                <a:ea typeface="DengXian"/>
                <a:cs typeface="DengXian"/>
              </a:endParaRPr>
            </a:p>
          </p:txBody>
        </p:sp>
      </p:grpSp>
      <p:sp>
        <p:nvSpPr>
          <p:cNvPr id="20" name="textbox 20"/>
          <p:cNvSpPr/>
          <p:nvPr/>
        </p:nvSpPr>
        <p:spPr>
          <a:xfrm>
            <a:off x="4741900" y="711771"/>
            <a:ext cx="2761614" cy="49021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p:txBody>
      </p:sp>
      <p:sp>
        <p:nvSpPr>
          <p:cNvPr id="22" name="textbox 22"/>
          <p:cNvSpPr/>
          <p:nvPr/>
        </p:nvSpPr>
        <p:spPr>
          <a:xfrm>
            <a:off x="7530948" y="5879261"/>
            <a:ext cx="3364865" cy="322579"/>
          </a:xfrm>
          <a:prstGeom prst="rect">
            <a:avLst/>
          </a:prstGeom>
          <a:noFill/>
          <a:ln w="0" cap="flat">
            <a:noFill/>
            <a:prstDash val="solid"/>
            <a:miter lim="0"/>
          </a:ln>
        </p:spPr>
        <p:txBody>
          <a:bodyPr vert="horz" wrap="square" lIns="0" tIns="0" rIns="0" bIns="0"/>
          <a:lstStyle/>
          <a:p>
            <a:pPr algn="l" rtl="0" eaLnBrk="0">
              <a:lnSpc>
                <a:spcPct val="78525"/>
              </a:lnSpc>
              <a:tabLst/>
            </a:pPr>
            <a:endParaRPr sz="100" dirty="0">
              <a:latin typeface="Arial"/>
              <a:ea typeface="Arial"/>
              <a:cs typeface="Arial"/>
            </a:endParaRPr>
          </a:p>
          <a:p>
            <a:pPr marL="12700" algn="l" rtl="0" eaLnBrk="0">
              <a:lnSpc>
                <a:spcPct val="85000"/>
              </a:lnSpc>
              <a:tabLst/>
            </a:pPr>
            <a:r>
              <a:rPr sz="2300" b="1" kern="0" spc="90" dirty="0">
                <a:solidFill>
                  <a:srgbClr val="C00000">
                    <a:alpha val="100000"/>
                  </a:srgbClr>
                </a:solidFill>
                <a:latin typeface="DengXian"/>
                <a:ea typeface="DengXian"/>
                <a:cs typeface="DengXian"/>
              </a:rPr>
              <a:t>新型绿色疏浚装备与技</a:t>
            </a:r>
            <a:r>
              <a:rPr sz="2300" b="1" kern="0" spc="80" dirty="0">
                <a:solidFill>
                  <a:srgbClr val="C00000">
                    <a:alpha val="100000"/>
                  </a:srgbClr>
                </a:solidFill>
                <a:latin typeface="DengXian"/>
                <a:ea typeface="DengXian"/>
                <a:cs typeface="DengXian"/>
              </a:rPr>
              <a:t>术</a:t>
            </a:r>
            <a:endParaRPr sz="2300" dirty="0">
              <a:latin typeface="DengXian"/>
              <a:ea typeface="DengXian"/>
              <a:cs typeface="DengXian"/>
            </a:endParaRPr>
          </a:p>
        </p:txBody>
      </p:sp>
      <p:sp>
        <p:nvSpPr>
          <p:cNvPr id="24" name="path 24"/>
          <p:cNvSpPr/>
          <p:nvPr/>
        </p:nvSpPr>
        <p:spPr>
          <a:xfrm>
            <a:off x="7740396" y="5586983"/>
            <a:ext cx="2901695" cy="210311"/>
          </a:xfrm>
          <a:custGeom>
            <a:avLst/>
            <a:gdLst/>
            <a:ahLst/>
            <a:cxnLst/>
            <a:rect l="0" t="0" r="0" b="0"/>
            <a:pathLst>
              <a:path w="4569" h="331">
                <a:moveTo>
                  <a:pt x="0" y="0"/>
                </a:moveTo>
                <a:lnTo>
                  <a:pt x="2284" y="331"/>
                </a:lnTo>
                <a:lnTo>
                  <a:pt x="4569" y="0"/>
                </a:lnTo>
                <a:lnTo>
                  <a:pt x="0" y="0"/>
                </a:lnTo>
              </a:path>
            </a:pathLst>
          </a:custGeom>
          <a:solidFill>
            <a:srgbClr val="A6A6A6">
              <a:alpha val="100000"/>
            </a:srgbClr>
          </a:solidFill>
          <a:ln w="0" cap="flat">
            <a:noFill/>
            <a:prstDash val="solid"/>
            <a:miter lim="0"/>
          </a:ln>
        </p:spPr>
        <p:txBody>
          <a:bodyPr rtlCol="0"/>
          <a:lstStyle/>
          <a:p>
            <a:pPr algn="ctr"/>
            <a:endParaRPr lang="zh-CN" altLang="en-US"/>
          </a:p>
        </p:txBody>
      </p:sp>
      <p:pic>
        <p:nvPicPr>
          <p:cNvPr id="26" name="picture 26"/>
          <p:cNvPicPr>
            <a:picLocks noChangeAspect="1"/>
          </p:cNvPicPr>
          <p:nvPr/>
        </p:nvPicPr>
        <p:blipFill>
          <a:blip r:embed="rId5"/>
          <a:stretch>
            <a:fillRect/>
          </a:stretch>
        </p:blipFill>
        <p:spPr>
          <a:xfrm rot="21600000">
            <a:off x="11570207" y="6236208"/>
            <a:ext cx="406907" cy="4069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8"/>
          <p:cNvSpPr/>
          <p:nvPr/>
        </p:nvSpPr>
        <p:spPr>
          <a:xfrm>
            <a:off x="655726" y="1117612"/>
            <a:ext cx="7590790" cy="2270760"/>
          </a:xfrm>
          <a:prstGeom prst="rect">
            <a:avLst/>
          </a:prstGeom>
          <a:noFill/>
          <a:ln w="0" cap="flat">
            <a:noFill/>
            <a:prstDash val="solid"/>
            <a:miter lim="0"/>
          </a:ln>
        </p:spPr>
        <p:txBody>
          <a:bodyPr vert="horz" wrap="square" lIns="0" tIns="0" rIns="0" bIns="0"/>
          <a:lstStyle/>
          <a:p>
            <a:pPr algn="l" rtl="0" eaLnBrk="0">
              <a:lnSpc>
                <a:spcPct val="91552"/>
              </a:lnSpc>
              <a:tabLst/>
            </a:pPr>
            <a:endParaRPr sz="100" dirty="0">
              <a:latin typeface="Arial"/>
              <a:ea typeface="Arial"/>
              <a:cs typeface="Arial"/>
            </a:endParaRPr>
          </a:p>
          <a:p>
            <a:pPr marL="12700" algn="l" rtl="0" eaLnBrk="0">
              <a:lnSpc>
                <a:spcPct val="96000"/>
              </a:lnSpc>
              <a:tabLst>
                <a:tab pos="228600" algn="l"/>
              </a:tabLst>
            </a:pPr>
            <a:r>
              <a:rPr sz="2300" b="1" kern="0" spc="0" dirty="0">
                <a:solidFill>
                  <a:srgbClr val="000000">
                    <a:alpha val="100000"/>
                  </a:srgbClr>
                </a:solidFill>
                <a:latin typeface="Microsoft YaHei"/>
                <a:ea typeface="Microsoft YaHei"/>
                <a:cs typeface="Microsoft YaHei"/>
              </a:rPr>
              <a:t>	</a:t>
            </a:r>
            <a:r>
              <a:rPr sz="2300" b="1" kern="0" spc="7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硬质岩土挖掘物理模型与数值</a:t>
            </a:r>
            <a:r>
              <a:rPr sz="2300" b="1" kern="0" spc="90" dirty="0">
                <a:solidFill>
                  <a:srgbClr val="000000">
                    <a:alpha val="100000"/>
                  </a:srgbClr>
                </a:solidFill>
                <a:latin typeface="Microsoft YaHei"/>
                <a:ea typeface="Microsoft YaHei"/>
                <a:cs typeface="Microsoft YaHei"/>
              </a:rPr>
              <a:t>方法</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硬质岩土挖掘装备设计</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环保疏浚作业技术</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智能疏浚决策支持系统</a:t>
            </a:r>
            <a:endParaRPr sz="2300" dirty="0">
              <a:latin typeface="Microsoft YaHei"/>
              <a:ea typeface="Microsoft YaHei"/>
              <a:cs typeface="Microsoft YaHei"/>
            </a:endParaRPr>
          </a:p>
          <a:p>
            <a:pPr algn="l" rtl="0" eaLnBrk="0">
              <a:lnSpc>
                <a:spcPct val="131000"/>
              </a:lnSpc>
              <a:tabLst/>
            </a:pPr>
            <a:endParaRPr sz="300" dirty="0">
              <a:latin typeface="Arial"/>
              <a:ea typeface="Arial"/>
              <a:cs typeface="Arial"/>
            </a:endParaRPr>
          </a:p>
          <a:p>
            <a:pPr algn="r" rtl="0" eaLnBrk="0">
              <a:lnSpc>
                <a:spcPct val="88000"/>
              </a:lnSpc>
              <a:spcBef>
                <a:spcPts val="3"/>
              </a:spcBef>
              <a:tabLst/>
            </a:pPr>
            <a:r>
              <a:rPr sz="1500" b="1" kern="0" spc="0" dirty="0">
                <a:solidFill>
                  <a:srgbClr val="262626">
                    <a:alpha val="100000"/>
                  </a:srgbClr>
                </a:solidFill>
                <a:latin typeface="Microsoft YaHei"/>
                <a:ea typeface="Microsoft YaHei"/>
                <a:cs typeface="Microsoft YaHei"/>
              </a:rPr>
              <a:t>SPH</a:t>
            </a:r>
            <a:r>
              <a:rPr sz="1500" b="1" kern="0" spc="100" dirty="0">
                <a:solidFill>
                  <a:srgbClr val="262626">
                    <a:alpha val="100000"/>
                  </a:srgbClr>
                </a:solidFill>
                <a:latin typeface="Microsoft YaHei"/>
                <a:ea typeface="Microsoft YaHei"/>
                <a:cs typeface="Microsoft YaHei"/>
              </a:rPr>
              <a:t> 法切削黏土</a:t>
            </a:r>
            <a:r>
              <a:rPr sz="1500" b="1" kern="0" spc="290" dirty="0">
                <a:solidFill>
                  <a:srgbClr val="262626">
                    <a:alpha val="100000"/>
                  </a:srgbClr>
                </a:solidFill>
                <a:latin typeface="Microsoft YaHei"/>
                <a:ea typeface="Microsoft YaHei"/>
                <a:cs typeface="Microsoft YaHei"/>
              </a:rPr>
              <a:t> </a:t>
            </a:r>
            <a:r>
              <a:rPr sz="1500" b="1" kern="0" spc="100" dirty="0">
                <a:solidFill>
                  <a:srgbClr val="262626">
                    <a:alpha val="100000"/>
                  </a:srgbClr>
                </a:solidFill>
                <a:latin typeface="Microsoft YaHei"/>
                <a:ea typeface="Microsoft YaHei"/>
                <a:cs typeface="Microsoft YaHei"/>
              </a:rPr>
              <a:t>离散单元法切削岩石</a:t>
            </a:r>
            <a:endParaRPr sz="1500" dirty="0">
              <a:latin typeface="Microsoft YaHei"/>
              <a:ea typeface="Microsoft YaHei"/>
              <a:cs typeface="Microsoft YaHei"/>
            </a:endParaRPr>
          </a:p>
        </p:txBody>
      </p:sp>
      <p:pic>
        <p:nvPicPr>
          <p:cNvPr id="30" name="picture 30"/>
          <p:cNvPicPr>
            <a:picLocks noChangeAspect="1"/>
          </p:cNvPicPr>
          <p:nvPr/>
        </p:nvPicPr>
        <p:blipFill>
          <a:blip r:embed="rId2"/>
          <a:stretch>
            <a:fillRect/>
          </a:stretch>
        </p:blipFill>
        <p:spPr>
          <a:xfrm rot="21600000">
            <a:off x="668426" y="2776232"/>
            <a:ext cx="216408" cy="337718"/>
          </a:xfrm>
          <a:prstGeom prst="rect">
            <a:avLst/>
          </a:prstGeom>
        </p:spPr>
      </p:pic>
      <p:pic>
        <p:nvPicPr>
          <p:cNvPr id="32" name="picture 32"/>
          <p:cNvPicPr>
            <a:picLocks noChangeAspect="1"/>
          </p:cNvPicPr>
          <p:nvPr/>
        </p:nvPicPr>
        <p:blipFill>
          <a:blip r:embed="rId3"/>
          <a:stretch>
            <a:fillRect/>
          </a:stretch>
        </p:blipFill>
        <p:spPr>
          <a:xfrm rot="21600000">
            <a:off x="668426" y="2227592"/>
            <a:ext cx="216408" cy="337718"/>
          </a:xfrm>
          <a:prstGeom prst="rect">
            <a:avLst/>
          </a:prstGeom>
        </p:spPr>
      </p:pic>
      <p:pic>
        <p:nvPicPr>
          <p:cNvPr id="34" name="picture 34"/>
          <p:cNvPicPr>
            <a:picLocks noChangeAspect="1"/>
          </p:cNvPicPr>
          <p:nvPr/>
        </p:nvPicPr>
        <p:blipFill>
          <a:blip r:embed="rId4"/>
          <a:stretch>
            <a:fillRect/>
          </a:stretch>
        </p:blipFill>
        <p:spPr>
          <a:xfrm rot="21600000">
            <a:off x="668426" y="1678952"/>
            <a:ext cx="216408" cy="337718"/>
          </a:xfrm>
          <a:prstGeom prst="rect">
            <a:avLst/>
          </a:prstGeom>
        </p:spPr>
      </p:pic>
      <p:pic>
        <p:nvPicPr>
          <p:cNvPr id="36" name="picture 36"/>
          <p:cNvPicPr>
            <a:picLocks noChangeAspect="1"/>
          </p:cNvPicPr>
          <p:nvPr/>
        </p:nvPicPr>
        <p:blipFill>
          <a:blip r:embed="rId5"/>
          <a:stretch>
            <a:fillRect/>
          </a:stretch>
        </p:blipFill>
        <p:spPr>
          <a:xfrm rot="21600000">
            <a:off x="668426" y="1130312"/>
            <a:ext cx="216408" cy="337718"/>
          </a:xfrm>
          <a:prstGeom prst="rect">
            <a:avLst/>
          </a:prstGeom>
        </p:spPr>
      </p:pic>
      <p:pic>
        <p:nvPicPr>
          <p:cNvPr id="38" name="picture 38"/>
          <p:cNvPicPr>
            <a:picLocks noChangeAspect="1"/>
          </p:cNvPicPr>
          <p:nvPr/>
        </p:nvPicPr>
        <p:blipFill>
          <a:blip r:embed="rId6"/>
          <a:stretch>
            <a:fillRect/>
          </a:stretch>
        </p:blipFill>
        <p:spPr>
          <a:xfrm rot="21600000">
            <a:off x="816863" y="3255264"/>
            <a:ext cx="3683508" cy="2506979"/>
          </a:xfrm>
          <a:prstGeom prst="rect">
            <a:avLst/>
          </a:prstGeom>
        </p:spPr>
      </p:pic>
      <p:pic>
        <p:nvPicPr>
          <p:cNvPr id="40" name="picture 40"/>
          <p:cNvPicPr>
            <a:picLocks noChangeAspect="1"/>
          </p:cNvPicPr>
          <p:nvPr/>
        </p:nvPicPr>
        <p:blipFill>
          <a:blip r:embed="rId7"/>
          <a:stretch>
            <a:fillRect/>
          </a:stretch>
        </p:blipFill>
        <p:spPr>
          <a:xfrm rot="21600000">
            <a:off x="8351519" y="1050035"/>
            <a:ext cx="3361943" cy="2465832"/>
          </a:xfrm>
          <a:prstGeom prst="rect">
            <a:avLst/>
          </a:prstGeom>
        </p:spPr>
      </p:pic>
      <p:pic>
        <p:nvPicPr>
          <p:cNvPr id="42" name="picture 42"/>
          <p:cNvPicPr>
            <a:picLocks noChangeAspect="1"/>
          </p:cNvPicPr>
          <p:nvPr/>
        </p:nvPicPr>
        <p:blipFill>
          <a:blip r:embed="rId8"/>
          <a:stretch>
            <a:fillRect/>
          </a:stretch>
        </p:blipFill>
        <p:spPr>
          <a:xfrm rot="21600000">
            <a:off x="8471916" y="3913631"/>
            <a:ext cx="3238500" cy="1680972"/>
          </a:xfrm>
          <a:prstGeom prst="rect">
            <a:avLst/>
          </a:prstGeom>
        </p:spPr>
      </p:pic>
      <p:pic>
        <p:nvPicPr>
          <p:cNvPr id="44" name="picture 44"/>
          <p:cNvPicPr>
            <a:picLocks noChangeAspect="1"/>
          </p:cNvPicPr>
          <p:nvPr/>
        </p:nvPicPr>
        <p:blipFill>
          <a:blip r:embed="rId9"/>
          <a:stretch>
            <a:fillRect/>
          </a:stretch>
        </p:blipFill>
        <p:spPr>
          <a:xfrm rot="21600000">
            <a:off x="5074920" y="3924300"/>
            <a:ext cx="3067812" cy="1725167"/>
          </a:xfrm>
          <a:prstGeom prst="rect">
            <a:avLst/>
          </a:prstGeom>
        </p:spPr>
      </p:pic>
      <p:pic>
        <p:nvPicPr>
          <p:cNvPr id="46" name="picture 46"/>
          <p:cNvPicPr>
            <a:picLocks noChangeAspect="1"/>
          </p:cNvPicPr>
          <p:nvPr/>
        </p:nvPicPr>
        <p:blipFill>
          <a:blip r:embed="rId10"/>
          <a:stretch>
            <a:fillRect/>
          </a:stretch>
        </p:blipFill>
        <p:spPr>
          <a:xfrm rot="21600000">
            <a:off x="4690871" y="1633728"/>
            <a:ext cx="1903476" cy="1333500"/>
          </a:xfrm>
          <a:prstGeom prst="rect">
            <a:avLst/>
          </a:prstGeom>
        </p:spPr>
      </p:pic>
      <p:sp>
        <p:nvSpPr>
          <p:cNvPr id="48" name="textbox 48"/>
          <p:cNvSpPr/>
          <p:nvPr/>
        </p:nvSpPr>
        <p:spPr>
          <a:xfrm>
            <a:off x="4036250" y="420509"/>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pic>
        <p:nvPicPr>
          <p:cNvPr id="50" name="picture 50"/>
          <p:cNvPicPr>
            <a:picLocks noChangeAspect="1"/>
          </p:cNvPicPr>
          <p:nvPr/>
        </p:nvPicPr>
        <p:blipFill>
          <a:blip r:embed="rId11"/>
          <a:stretch>
            <a:fillRect/>
          </a:stretch>
        </p:blipFill>
        <p:spPr>
          <a:xfrm rot="21600000">
            <a:off x="6906767" y="1610867"/>
            <a:ext cx="1132331" cy="1333500"/>
          </a:xfrm>
          <a:prstGeom prst="rect">
            <a:avLst/>
          </a:prstGeom>
        </p:spPr>
      </p:pic>
      <p:sp>
        <p:nvSpPr>
          <p:cNvPr id="52" name="textbox 52"/>
          <p:cNvSpPr/>
          <p:nvPr/>
        </p:nvSpPr>
        <p:spPr>
          <a:xfrm>
            <a:off x="1554434" y="5995843"/>
            <a:ext cx="2054860" cy="226695"/>
          </a:xfrm>
          <a:prstGeom prst="rect">
            <a:avLst/>
          </a:prstGeom>
          <a:noFill/>
          <a:ln w="0" cap="flat">
            <a:noFill/>
            <a:prstDash val="solid"/>
            <a:miter lim="0"/>
          </a:ln>
        </p:spPr>
        <p:txBody>
          <a:bodyPr vert="horz" wrap="square" lIns="0" tIns="0" rIns="0" bIns="0"/>
          <a:lstStyle/>
          <a:p>
            <a:pPr algn="l" rtl="0" eaLnBrk="0">
              <a:lnSpc>
                <a:spcPct val="84211"/>
              </a:lnSpc>
              <a:tabLst/>
            </a:pPr>
            <a:endParaRPr sz="100" dirty="0">
              <a:latin typeface="Arial"/>
              <a:ea typeface="Arial"/>
              <a:cs typeface="Arial"/>
            </a:endParaRPr>
          </a:p>
          <a:p>
            <a:pPr marL="12700" algn="l" rtl="0" eaLnBrk="0">
              <a:lnSpc>
                <a:spcPct val="88000"/>
              </a:lnSpc>
              <a:tabLst/>
            </a:pPr>
            <a:r>
              <a:rPr sz="1500" b="1" kern="0" spc="90" dirty="0">
                <a:solidFill>
                  <a:srgbClr val="262626">
                    <a:alpha val="100000"/>
                  </a:srgbClr>
                </a:solidFill>
                <a:latin typeface="Microsoft YaHei"/>
                <a:ea typeface="Microsoft YaHei"/>
                <a:cs typeface="Microsoft YaHei"/>
              </a:rPr>
              <a:t>模块化环保绞吸船设计</a:t>
            </a:r>
            <a:endParaRPr sz="1500" dirty="0">
              <a:latin typeface="Microsoft YaHei"/>
              <a:ea typeface="Microsoft YaHei"/>
              <a:cs typeface="Microsoft YaHei"/>
            </a:endParaRPr>
          </a:p>
        </p:txBody>
      </p:sp>
      <p:sp>
        <p:nvSpPr>
          <p:cNvPr id="54" name="textbox 54"/>
          <p:cNvSpPr/>
          <p:nvPr/>
        </p:nvSpPr>
        <p:spPr>
          <a:xfrm>
            <a:off x="9110488" y="3604112"/>
            <a:ext cx="1851025" cy="226059"/>
          </a:xfrm>
          <a:prstGeom prst="rect">
            <a:avLst/>
          </a:prstGeom>
          <a:noFill/>
          <a:ln w="0" cap="flat">
            <a:noFill/>
            <a:prstDash val="solid"/>
            <a:miter lim="0"/>
          </a:ln>
        </p:spPr>
        <p:txBody>
          <a:bodyPr vert="horz" wrap="square" lIns="0" tIns="0" rIns="0" bIns="0"/>
          <a:lstStyle/>
          <a:p>
            <a:pPr algn="l" rtl="0" eaLnBrk="0">
              <a:lnSpc>
                <a:spcPct val="79341"/>
              </a:lnSpc>
              <a:tabLst/>
            </a:pPr>
            <a:endParaRPr sz="100" dirty="0">
              <a:latin typeface="Arial"/>
              <a:ea typeface="Arial"/>
              <a:cs typeface="Arial"/>
            </a:endParaRPr>
          </a:p>
          <a:p>
            <a:pPr marL="12700" algn="l" rtl="0" eaLnBrk="0">
              <a:lnSpc>
                <a:spcPct val="88000"/>
              </a:lnSpc>
              <a:tabLst/>
            </a:pPr>
            <a:r>
              <a:rPr sz="1500" b="1" kern="0" spc="90" dirty="0">
                <a:solidFill>
                  <a:srgbClr val="262626">
                    <a:alpha val="100000"/>
                  </a:srgbClr>
                </a:solidFill>
                <a:latin typeface="Microsoft YaHei"/>
                <a:ea typeface="Microsoft YaHei"/>
                <a:cs typeface="Microsoft YaHei"/>
              </a:rPr>
              <a:t>挖掘装备试制与实验</a:t>
            </a:r>
            <a:endParaRPr sz="1500" dirty="0">
              <a:latin typeface="Microsoft YaHei"/>
              <a:ea typeface="Microsoft YaHei"/>
              <a:cs typeface="Microsoft YaHei"/>
            </a:endParaRPr>
          </a:p>
        </p:txBody>
      </p:sp>
      <p:sp>
        <p:nvSpPr>
          <p:cNvPr id="56" name="textbox 56"/>
          <p:cNvSpPr/>
          <p:nvPr/>
        </p:nvSpPr>
        <p:spPr>
          <a:xfrm>
            <a:off x="5778944" y="5901213"/>
            <a:ext cx="1646554" cy="227329"/>
          </a:xfrm>
          <a:prstGeom prst="rect">
            <a:avLst/>
          </a:prstGeom>
          <a:noFill/>
          <a:ln w="0" cap="flat">
            <a:noFill/>
            <a:prstDash val="solid"/>
            <a:miter lim="0"/>
          </a:ln>
        </p:spPr>
        <p:txBody>
          <a:bodyPr vert="horz" wrap="square" lIns="0" tIns="0" rIns="0" bIns="0"/>
          <a:lstStyle/>
          <a:p>
            <a:pPr algn="l" rtl="0" eaLnBrk="0">
              <a:lnSpc>
                <a:spcPct val="85103"/>
              </a:lnSpc>
              <a:tabLst/>
            </a:pPr>
            <a:endParaRPr sz="100" dirty="0">
              <a:latin typeface="Arial"/>
              <a:ea typeface="Arial"/>
              <a:cs typeface="Arial"/>
            </a:endParaRPr>
          </a:p>
          <a:p>
            <a:pPr marL="12700" algn="l" rtl="0" eaLnBrk="0">
              <a:lnSpc>
                <a:spcPct val="88000"/>
              </a:lnSpc>
              <a:tabLst/>
            </a:pPr>
            <a:r>
              <a:rPr sz="1500" b="1" kern="0" spc="90" dirty="0">
                <a:solidFill>
                  <a:srgbClr val="262626">
                    <a:alpha val="100000"/>
                  </a:srgbClr>
                </a:solidFill>
                <a:latin typeface="Microsoft YaHei"/>
                <a:ea typeface="Microsoft YaHei"/>
                <a:cs typeface="Microsoft YaHei"/>
              </a:rPr>
              <a:t>智能决策支持系统</a:t>
            </a:r>
            <a:endParaRPr sz="1500" dirty="0">
              <a:latin typeface="Microsoft YaHei"/>
              <a:ea typeface="Microsoft YaHei"/>
              <a:cs typeface="Microsoft YaHei"/>
            </a:endParaRPr>
          </a:p>
        </p:txBody>
      </p:sp>
      <p:sp>
        <p:nvSpPr>
          <p:cNvPr id="58" name="textbox 58"/>
          <p:cNvSpPr/>
          <p:nvPr/>
        </p:nvSpPr>
        <p:spPr>
          <a:xfrm>
            <a:off x="9247299" y="5822764"/>
            <a:ext cx="1239519" cy="226059"/>
          </a:xfrm>
          <a:prstGeom prst="rect">
            <a:avLst/>
          </a:prstGeom>
          <a:noFill/>
          <a:ln w="0" cap="flat">
            <a:noFill/>
            <a:prstDash val="solid"/>
            <a:miter lim="0"/>
          </a:ln>
        </p:spPr>
        <p:txBody>
          <a:bodyPr vert="horz" wrap="square" lIns="0" tIns="0" rIns="0" bIns="0"/>
          <a:lstStyle/>
          <a:p>
            <a:pPr algn="l" rtl="0" eaLnBrk="0">
              <a:lnSpc>
                <a:spcPct val="79895"/>
              </a:lnSpc>
              <a:tabLst/>
            </a:pPr>
            <a:endParaRPr sz="100" dirty="0">
              <a:latin typeface="Arial"/>
              <a:ea typeface="Arial"/>
              <a:cs typeface="Arial"/>
            </a:endParaRPr>
          </a:p>
          <a:p>
            <a:pPr marL="12700" algn="l" rtl="0" eaLnBrk="0">
              <a:lnSpc>
                <a:spcPct val="88000"/>
              </a:lnSpc>
              <a:tabLst/>
            </a:pPr>
            <a:r>
              <a:rPr sz="1500" b="1" kern="0" spc="90" dirty="0">
                <a:solidFill>
                  <a:srgbClr val="262626">
                    <a:alpha val="100000"/>
                  </a:srgbClr>
                </a:solidFill>
                <a:latin typeface="Microsoft YaHei"/>
                <a:ea typeface="Microsoft YaHei"/>
                <a:cs typeface="Microsoft YaHei"/>
              </a:rPr>
              <a:t>工况智能寻优</a:t>
            </a:r>
            <a:endParaRPr sz="1500" dirty="0">
              <a:latin typeface="Microsoft YaHei"/>
              <a:ea typeface="Microsoft YaHei"/>
              <a:cs typeface="Microsoft YaHe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rot="21600000">
            <a:off x="4979034" y="1069428"/>
            <a:ext cx="6954837" cy="5158816"/>
            <a:chOff x="0" y="0"/>
            <a:chExt cx="6954837" cy="5158816"/>
          </a:xfrm>
        </p:grpSpPr>
        <p:sp>
          <p:nvSpPr>
            <p:cNvPr id="60" name="rect 60"/>
            <p:cNvSpPr/>
            <p:nvPr/>
          </p:nvSpPr>
          <p:spPr>
            <a:xfrm>
              <a:off x="0" y="0"/>
              <a:ext cx="6954837" cy="5158816"/>
            </a:xfrm>
            <a:prstGeom prst="rect">
              <a:avLst/>
            </a:prstGeom>
            <a:solidFill>
              <a:srgbClr val="E2F0D9">
                <a:alpha val="100000"/>
              </a:srgbClr>
            </a:solidFill>
            <a:ln w="0" cap="flat">
              <a:noFill/>
              <a:prstDash val="solid"/>
              <a:miter lim="0"/>
            </a:ln>
          </p:spPr>
          <p:txBody>
            <a:bodyPr rtlCol="0"/>
            <a:lstStyle/>
            <a:p>
              <a:pPr algn="ctr"/>
              <a:endParaRPr lang="zh-CN" altLang="en-US"/>
            </a:p>
          </p:txBody>
        </p:sp>
        <p:sp>
          <p:nvSpPr>
            <p:cNvPr id="62" name="textbox 62"/>
            <p:cNvSpPr/>
            <p:nvPr/>
          </p:nvSpPr>
          <p:spPr>
            <a:xfrm>
              <a:off x="156200" y="149928"/>
              <a:ext cx="6323329" cy="4895215"/>
            </a:xfrm>
            <a:prstGeom prst="rect">
              <a:avLst/>
            </a:prstGeom>
            <a:noFill/>
            <a:ln w="0" cap="flat">
              <a:noFill/>
              <a:prstDash val="solid"/>
              <a:miter lim="0"/>
            </a:ln>
          </p:spPr>
          <p:txBody>
            <a:bodyPr vert="horz" wrap="square" lIns="0" tIns="0" rIns="0" bIns="0"/>
            <a:lstStyle/>
            <a:p>
              <a:pPr algn="l" rtl="0" eaLnBrk="0">
                <a:lnSpc>
                  <a:spcPct val="108000"/>
                </a:lnSpc>
                <a:tabLst/>
              </a:pPr>
              <a:endParaRPr sz="600" dirty="0">
                <a:latin typeface="Arial"/>
                <a:ea typeface="Arial"/>
                <a:cs typeface="Arial"/>
              </a:endParaRPr>
            </a:p>
            <a:p>
              <a:pPr marL="278765" algn="l" rtl="0" eaLnBrk="0">
                <a:lnSpc>
                  <a:spcPct val="85000"/>
                </a:lnSpc>
                <a:spcBef>
                  <a:spcPts val="7"/>
                </a:spcBef>
                <a:tabLst>
                  <a:tab pos="445134" algn="l"/>
                </a:tabLst>
              </a:pPr>
              <a:r>
                <a:rPr sz="1700" b="1" kern="0" spc="0" dirty="0">
                  <a:solidFill>
                    <a:srgbClr val="404040">
                      <a:alpha val="100000"/>
                    </a:srgbClr>
                  </a:solidFill>
                  <a:latin typeface="DengXian"/>
                  <a:ea typeface="DengXian"/>
                  <a:cs typeface="DengXian"/>
                </a:rPr>
                <a:t>	</a:t>
              </a:r>
              <a:r>
                <a:rPr sz="1700" b="1" kern="0" spc="90" dirty="0">
                  <a:solidFill>
                    <a:srgbClr val="404040">
                      <a:alpha val="100000"/>
                    </a:srgbClr>
                  </a:solidFill>
                  <a:latin typeface="DengXian"/>
                  <a:ea typeface="DengXian"/>
                  <a:cs typeface="DengXian"/>
                </a:rPr>
                <a:t>研究成果推广</a:t>
              </a:r>
              <a:endParaRPr sz="1700" dirty="0">
                <a:latin typeface="DengXian"/>
                <a:ea typeface="DengXian"/>
                <a:cs typeface="DengXian"/>
              </a:endParaRPr>
            </a:p>
            <a:p>
              <a:pPr algn="l" rtl="0" eaLnBrk="0">
                <a:lnSpc>
                  <a:spcPct val="127000"/>
                </a:lnSpc>
                <a:tabLst/>
              </a:pPr>
              <a:endParaRPr sz="1000" dirty="0">
                <a:latin typeface="Arial"/>
                <a:ea typeface="Arial"/>
                <a:cs typeface="Arial"/>
              </a:endParaRPr>
            </a:p>
            <a:p>
              <a:pPr algn="l" rtl="0" eaLnBrk="0">
                <a:lnSpc>
                  <a:spcPct val="128000"/>
                </a:lnSpc>
                <a:tabLst/>
              </a:pPr>
              <a:endParaRPr sz="1000" dirty="0">
                <a:latin typeface="Arial"/>
                <a:ea typeface="Arial"/>
                <a:cs typeface="Arial"/>
              </a:endParaRPr>
            </a:p>
            <a:p>
              <a:pPr marL="1854200" algn="l" rtl="0" eaLnBrk="0">
                <a:lnSpc>
                  <a:spcPct val="98000"/>
                </a:lnSpc>
                <a:spcBef>
                  <a:spcPts val="458"/>
                </a:spcBef>
                <a:tabLst/>
              </a:pPr>
              <a:r>
                <a:rPr sz="1500" kern="0" spc="80" dirty="0">
                  <a:solidFill>
                    <a:srgbClr val="262626">
                      <a:alpha val="100000"/>
                    </a:srgbClr>
                  </a:solidFill>
                  <a:latin typeface="Wingdings"/>
                  <a:ea typeface="Wingdings"/>
                  <a:cs typeface="Wingdings"/>
                </a:rPr>
                <a:t>l</a:t>
              </a:r>
              <a:r>
                <a:rPr sz="1500" kern="0" spc="-380" dirty="0">
                  <a:solidFill>
                    <a:srgbClr val="262626">
                      <a:alpha val="100000"/>
                    </a:srgbClr>
                  </a:solidFill>
                  <a:latin typeface="Wingdings"/>
                  <a:ea typeface="Wingdings"/>
                  <a:cs typeface="Wingdings"/>
                </a:rPr>
                <a:t> </a:t>
              </a:r>
              <a:r>
                <a:rPr sz="1500" kern="0" spc="80" dirty="0">
                  <a:solidFill>
                    <a:srgbClr val="262626">
                      <a:alpha val="100000"/>
                    </a:srgbClr>
                  </a:solidFill>
                  <a:latin typeface="Microsoft YaHei"/>
                  <a:ea typeface="Microsoft YaHei"/>
                  <a:cs typeface="Microsoft YaHei"/>
                </a:rPr>
                <a:t>长江宜昌航道工程局、</a:t>
              </a:r>
              <a:r>
                <a:rPr sz="1500" kern="0" spc="-300" dirty="0">
                  <a:solidFill>
                    <a:srgbClr val="262626">
                      <a:alpha val="100000"/>
                    </a:srgbClr>
                  </a:solidFill>
                  <a:latin typeface="Microsoft YaHei"/>
                  <a:ea typeface="Microsoft YaHei"/>
                  <a:cs typeface="Microsoft YaHei"/>
                </a:rPr>
                <a:t> </a:t>
              </a:r>
              <a:r>
                <a:rPr sz="1500" kern="0" spc="80" dirty="0">
                  <a:solidFill>
                    <a:srgbClr val="262626">
                      <a:alpha val="100000"/>
                    </a:srgbClr>
                  </a:solidFill>
                  <a:latin typeface="Microsoft YaHei"/>
                  <a:ea typeface="Microsoft YaHei"/>
                  <a:cs typeface="Microsoft YaHei"/>
                </a:rPr>
                <a:t>长江武汉航道工程局</a:t>
              </a:r>
              <a:endParaRPr sz="1500" dirty="0">
                <a:latin typeface="Microsoft YaHei"/>
                <a:ea typeface="Microsoft YaHei"/>
                <a:cs typeface="Microsoft YaHei"/>
              </a:endParaRPr>
            </a:p>
            <a:p>
              <a:pPr marL="1854200" algn="l" rtl="0" eaLnBrk="0">
                <a:lnSpc>
                  <a:spcPct val="98000"/>
                </a:lnSpc>
                <a:spcBef>
                  <a:spcPts val="1116"/>
                </a:spcBef>
                <a:tabLst/>
              </a:pPr>
              <a:r>
                <a:rPr sz="1500" kern="0" spc="80" dirty="0">
                  <a:solidFill>
                    <a:srgbClr val="262626">
                      <a:alpha val="100000"/>
                    </a:srgbClr>
                  </a:solidFill>
                  <a:latin typeface="Wingdings"/>
                  <a:ea typeface="Wingdings"/>
                  <a:cs typeface="Wingdings"/>
                </a:rPr>
                <a:t>l</a:t>
              </a:r>
              <a:r>
                <a:rPr sz="1500" kern="0" spc="-290" dirty="0">
                  <a:solidFill>
                    <a:srgbClr val="262626">
                      <a:alpha val="100000"/>
                    </a:srgbClr>
                  </a:solidFill>
                  <a:latin typeface="Wingdings"/>
                  <a:ea typeface="Wingdings"/>
                  <a:cs typeface="Wingdings"/>
                </a:rPr>
                <a:t> </a:t>
              </a:r>
              <a:r>
                <a:rPr sz="1500" kern="0" spc="80" dirty="0">
                  <a:solidFill>
                    <a:srgbClr val="262626">
                      <a:alpha val="100000"/>
                    </a:srgbClr>
                  </a:solidFill>
                  <a:latin typeface="Microsoft YaHei"/>
                  <a:ea typeface="Microsoft YaHei"/>
                  <a:cs typeface="Microsoft YaHei"/>
                </a:rPr>
                <a:t>中交疏浚技术装备国家工程研究中心</a:t>
              </a:r>
              <a:endParaRPr sz="1500" dirty="0">
                <a:latin typeface="Microsoft YaHei"/>
                <a:ea typeface="Microsoft YaHei"/>
                <a:cs typeface="Microsoft YaHei"/>
              </a:endParaRPr>
            </a:p>
            <a:p>
              <a:pPr marL="1854200" algn="l" rtl="0" eaLnBrk="0">
                <a:lnSpc>
                  <a:spcPct val="98000"/>
                </a:lnSpc>
                <a:spcBef>
                  <a:spcPts val="1116"/>
                </a:spcBef>
                <a:tabLst/>
              </a:pPr>
              <a:r>
                <a:rPr sz="1500" kern="0" spc="70" dirty="0">
                  <a:solidFill>
                    <a:srgbClr val="262626">
                      <a:alpha val="100000"/>
                    </a:srgbClr>
                  </a:solidFill>
                  <a:latin typeface="Wingdings"/>
                  <a:ea typeface="Wingdings"/>
                  <a:cs typeface="Wingdings"/>
                </a:rPr>
                <a:t>l</a:t>
              </a:r>
              <a:r>
                <a:rPr sz="1500" kern="0" spc="-240" dirty="0">
                  <a:solidFill>
                    <a:srgbClr val="262626">
                      <a:alpha val="100000"/>
                    </a:srgbClr>
                  </a:solidFill>
                  <a:latin typeface="Wingdings"/>
                  <a:ea typeface="Wingdings"/>
                  <a:cs typeface="Wingdings"/>
                </a:rPr>
                <a:t> </a:t>
              </a:r>
              <a:r>
                <a:rPr sz="1500" kern="0" spc="70" dirty="0">
                  <a:solidFill>
                    <a:srgbClr val="262626">
                      <a:alpha val="100000"/>
                    </a:srgbClr>
                  </a:solidFill>
                  <a:latin typeface="Microsoft YaHei"/>
                  <a:ea typeface="Microsoft YaHei"/>
                  <a:cs typeface="Microsoft YaHei"/>
                </a:rPr>
                <a:t>中交水利水电建设有限公司</a:t>
              </a:r>
              <a:endParaRPr sz="1500" dirty="0">
                <a:latin typeface="Microsoft YaHei"/>
                <a:ea typeface="Microsoft YaHei"/>
                <a:cs typeface="Microsoft YaHei"/>
              </a:endParaRPr>
            </a:p>
            <a:p>
              <a:pPr marL="1854200" algn="l" rtl="0" eaLnBrk="0">
                <a:lnSpc>
                  <a:spcPts val="2059"/>
                </a:lnSpc>
                <a:spcBef>
                  <a:spcPts val="893"/>
                </a:spcBef>
                <a:tabLst/>
              </a:pPr>
              <a:r>
                <a:rPr sz="1500" kern="0" spc="90" dirty="0">
                  <a:solidFill>
                    <a:srgbClr val="262626">
                      <a:alpha val="100000"/>
                    </a:srgbClr>
                  </a:solidFill>
                  <a:latin typeface="Wingdings"/>
                  <a:ea typeface="Wingdings"/>
                  <a:cs typeface="Wingdings"/>
                </a:rPr>
                <a:t>l</a:t>
              </a:r>
              <a:r>
                <a:rPr sz="1500" kern="0" spc="-400" dirty="0">
                  <a:solidFill>
                    <a:srgbClr val="262626">
                      <a:alpha val="100000"/>
                    </a:srgbClr>
                  </a:solidFill>
                  <a:latin typeface="Wingdings"/>
                  <a:ea typeface="Wingdings"/>
                  <a:cs typeface="Wingdings"/>
                </a:rPr>
                <a:t> </a:t>
              </a:r>
              <a:r>
                <a:rPr sz="1500" kern="0" spc="90" dirty="0">
                  <a:solidFill>
                    <a:srgbClr val="262626">
                      <a:alpha val="100000"/>
                    </a:srgbClr>
                  </a:solidFill>
                  <a:latin typeface="Microsoft YaHei"/>
                  <a:ea typeface="Microsoft YaHei"/>
                  <a:cs typeface="Microsoft YaHei"/>
                </a:rPr>
                <a:t>上海交通大学等15家</a:t>
              </a:r>
              <a:r>
                <a:rPr sz="1500" kern="0" spc="80" dirty="0">
                  <a:solidFill>
                    <a:srgbClr val="262626">
                      <a:alpha val="100000"/>
                    </a:srgbClr>
                  </a:solidFill>
                  <a:latin typeface="Microsoft YaHei"/>
                  <a:ea typeface="Microsoft YaHei"/>
                  <a:cs typeface="Microsoft YaHei"/>
                </a:rPr>
                <a:t>企事业单位和高等院校</a:t>
              </a:r>
              <a:endParaRPr sz="1500" dirty="0">
                <a:latin typeface="Microsoft YaHei"/>
                <a:ea typeface="Microsoft YaHei"/>
                <a:cs typeface="Microsoft YaHei"/>
              </a:endParaRPr>
            </a:p>
            <a:p>
              <a:pPr marL="3298825" algn="l" rtl="0" eaLnBrk="0">
                <a:lnSpc>
                  <a:spcPts val="2103"/>
                </a:lnSpc>
                <a:spcBef>
                  <a:spcPts val="1355"/>
                </a:spcBef>
                <a:tabLst/>
              </a:pPr>
              <a:r>
                <a:rPr sz="1500" b="1" kern="0" spc="50" dirty="0">
                  <a:solidFill>
                    <a:srgbClr val="C00000">
                      <a:alpha val="100000"/>
                    </a:srgbClr>
                  </a:solidFill>
                  <a:latin typeface="Microsoft YaHei"/>
                  <a:ea typeface="Microsoft YaHei"/>
                  <a:cs typeface="Microsoft YaHei"/>
                </a:rPr>
                <a:t>27.78亿元</a:t>
              </a:r>
              <a:endParaRPr sz="1500" dirty="0">
                <a:latin typeface="Microsoft YaHei"/>
                <a:ea typeface="Microsoft YaHei"/>
                <a:cs typeface="Microsoft YaHei"/>
              </a:endParaRPr>
            </a:p>
            <a:p>
              <a:pPr marL="3298825" algn="l" rtl="0" eaLnBrk="0">
                <a:lnSpc>
                  <a:spcPts val="2103"/>
                </a:lnSpc>
                <a:spcBef>
                  <a:spcPts val="776"/>
                </a:spcBef>
                <a:tabLst/>
              </a:pPr>
              <a:r>
                <a:rPr sz="1500" b="1" kern="0" spc="50" dirty="0">
                  <a:solidFill>
                    <a:srgbClr val="C00000">
                      <a:alpha val="100000"/>
                    </a:srgbClr>
                  </a:solidFill>
                  <a:latin typeface="Microsoft YaHei"/>
                  <a:ea typeface="Microsoft YaHei"/>
                  <a:cs typeface="Microsoft YaHei"/>
                </a:rPr>
                <a:t>2.16亿元</a:t>
              </a:r>
              <a:endParaRPr sz="1500" dirty="0">
                <a:latin typeface="Microsoft YaHei"/>
                <a:ea typeface="Microsoft YaHei"/>
                <a:cs typeface="Microsoft YaHei"/>
              </a:endParaRPr>
            </a:p>
            <a:p>
              <a:pPr marL="3291204" algn="l" rtl="0" eaLnBrk="0">
                <a:lnSpc>
                  <a:spcPts val="2103"/>
                </a:lnSpc>
                <a:spcBef>
                  <a:spcPts val="776"/>
                </a:spcBef>
                <a:tabLst/>
              </a:pPr>
              <a:r>
                <a:rPr sz="1500" b="1" kern="0" spc="60" dirty="0">
                  <a:solidFill>
                    <a:srgbClr val="C00000">
                      <a:alpha val="100000"/>
                    </a:srgbClr>
                  </a:solidFill>
                  <a:latin typeface="Microsoft YaHei"/>
                  <a:ea typeface="Microsoft YaHei"/>
                  <a:cs typeface="Microsoft YaHei"/>
                </a:rPr>
                <a:t>4630万元</a:t>
              </a:r>
              <a:endParaRPr sz="1500" dirty="0">
                <a:latin typeface="Microsoft YaHei"/>
                <a:ea typeface="Microsoft YaHei"/>
                <a:cs typeface="Microsoft YaHei"/>
              </a:endParaRPr>
            </a:p>
            <a:p>
              <a:pPr algn="l" rtl="0" eaLnBrk="0">
                <a:lnSpc>
                  <a:spcPct val="130000"/>
                </a:lnSpc>
                <a:tabLst/>
              </a:pPr>
              <a:endParaRPr sz="1000" dirty="0">
                <a:latin typeface="Arial"/>
                <a:ea typeface="Arial"/>
                <a:cs typeface="Arial"/>
              </a:endParaRPr>
            </a:p>
            <a:p>
              <a:pPr marL="3673475" algn="l" rtl="0" eaLnBrk="0">
                <a:lnSpc>
                  <a:spcPts val="2103"/>
                </a:lnSpc>
                <a:spcBef>
                  <a:spcPts val="452"/>
                </a:spcBef>
                <a:tabLst/>
              </a:pPr>
              <a:r>
                <a:rPr sz="1500" b="1" kern="0" spc="80" dirty="0">
                  <a:solidFill>
                    <a:srgbClr val="C00000">
                      <a:alpha val="100000"/>
                    </a:srgbClr>
                  </a:solidFill>
                  <a:latin typeface="Microsoft YaHei"/>
                  <a:ea typeface="Microsoft YaHei"/>
                  <a:cs typeface="Microsoft YaHei"/>
                </a:rPr>
                <a:t>高水平论文74篇</a:t>
              </a:r>
              <a:endParaRPr sz="1500" dirty="0">
                <a:latin typeface="Microsoft YaHei"/>
                <a:ea typeface="Microsoft YaHei"/>
                <a:cs typeface="Microsoft YaHei"/>
              </a:endParaRPr>
            </a:p>
            <a:p>
              <a:pPr marL="3670300" algn="l" rtl="0" eaLnBrk="0">
                <a:lnSpc>
                  <a:spcPct val="88000"/>
                </a:lnSpc>
                <a:spcBef>
                  <a:spcPts val="1109"/>
                </a:spcBef>
                <a:tabLst/>
              </a:pPr>
              <a:r>
                <a:rPr sz="1500" b="1" kern="0" spc="90" dirty="0">
                  <a:solidFill>
                    <a:srgbClr val="C00000">
                      <a:alpha val="100000"/>
                    </a:srgbClr>
                  </a:solidFill>
                  <a:latin typeface="Microsoft YaHei"/>
                  <a:ea typeface="Microsoft YaHei"/>
                  <a:cs typeface="Microsoft YaHei"/>
                </a:rPr>
                <a:t>研究成果行业项目应用</a:t>
              </a:r>
              <a:endParaRPr sz="1500" dirty="0">
                <a:latin typeface="Microsoft YaHei"/>
                <a:ea typeface="Microsoft YaHei"/>
                <a:cs typeface="Microsoft YaHei"/>
              </a:endParaRPr>
            </a:p>
            <a:p>
              <a:pPr marL="3671570" indent="2540" algn="l" rtl="0" eaLnBrk="0">
                <a:lnSpc>
                  <a:spcPct val="157000"/>
                </a:lnSpc>
                <a:spcBef>
                  <a:spcPts val="251"/>
                </a:spcBef>
                <a:tabLst/>
              </a:pPr>
              <a:r>
                <a:rPr sz="1500" b="1" kern="0" spc="90" dirty="0">
                  <a:solidFill>
                    <a:srgbClr val="C00000">
                      <a:alpha val="100000"/>
                    </a:srgbClr>
                  </a:solidFill>
                  <a:latin typeface="Microsoft YaHei"/>
                  <a:ea typeface="Microsoft YaHei"/>
                  <a:cs typeface="Microsoft YaHei"/>
                </a:rPr>
                <a:t>长江航道绞吸挖泥船作业实践</a:t>
              </a:r>
              <a:r>
                <a:rPr sz="1500" b="1" kern="0" spc="100" dirty="0">
                  <a:solidFill>
                    <a:srgbClr val="C00000">
                      <a:alpha val="100000"/>
                    </a:srgbClr>
                  </a:solidFill>
                  <a:latin typeface="Microsoft YaHei"/>
                  <a:ea typeface="Microsoft YaHei"/>
                  <a:cs typeface="Microsoft YaHei"/>
                </a:rPr>
                <a:t>培养疏浚领域的创新</a:t>
              </a:r>
              <a:r>
                <a:rPr sz="1500" b="1" kern="0" spc="90" dirty="0">
                  <a:solidFill>
                    <a:srgbClr val="C00000">
                      <a:alpha val="100000"/>
                    </a:srgbClr>
                  </a:solidFill>
                  <a:latin typeface="Microsoft YaHei"/>
                  <a:ea typeface="Microsoft YaHei"/>
                  <a:cs typeface="Microsoft YaHei"/>
                </a:rPr>
                <a:t>人才团队</a:t>
              </a:r>
              <a:endParaRPr sz="1500" dirty="0">
                <a:latin typeface="Microsoft YaHei"/>
                <a:ea typeface="Microsoft YaHei"/>
                <a:cs typeface="Microsoft YaHei"/>
              </a:endParaRPr>
            </a:p>
          </p:txBody>
        </p:sp>
        <p:pic>
          <p:nvPicPr>
            <p:cNvPr id="64" name="picture 64"/>
            <p:cNvPicPr>
              <a:picLocks noChangeAspect="1"/>
            </p:cNvPicPr>
            <p:nvPr/>
          </p:nvPicPr>
          <p:blipFill>
            <a:blip r:embed="rId2"/>
            <a:stretch>
              <a:fillRect/>
            </a:stretch>
          </p:blipFill>
          <p:spPr>
            <a:xfrm rot="21600000">
              <a:off x="168900" y="162628"/>
              <a:ext cx="266104" cy="494375"/>
            </a:xfrm>
            <a:prstGeom prst="rect">
              <a:avLst/>
            </a:prstGeom>
          </p:spPr>
        </p:pic>
        <p:pic>
          <p:nvPicPr>
            <p:cNvPr id="66" name="picture 66"/>
            <p:cNvPicPr>
              <a:picLocks noChangeAspect="1"/>
            </p:cNvPicPr>
            <p:nvPr/>
          </p:nvPicPr>
          <p:blipFill>
            <a:blip r:embed="rId3"/>
            <a:stretch>
              <a:fillRect/>
            </a:stretch>
          </p:blipFill>
          <p:spPr>
            <a:xfrm rot="21600000">
              <a:off x="160546" y="790248"/>
              <a:ext cx="1555599" cy="458043"/>
            </a:xfrm>
            <a:prstGeom prst="rect">
              <a:avLst/>
            </a:prstGeom>
          </p:spPr>
        </p:pic>
        <p:pic>
          <p:nvPicPr>
            <p:cNvPr id="68" name="picture 68"/>
            <p:cNvPicPr>
              <a:picLocks noChangeAspect="1"/>
            </p:cNvPicPr>
            <p:nvPr/>
          </p:nvPicPr>
          <p:blipFill>
            <a:blip r:embed="rId4"/>
            <a:stretch>
              <a:fillRect/>
            </a:stretch>
          </p:blipFill>
          <p:spPr>
            <a:xfrm rot="21600000">
              <a:off x="181779" y="2427430"/>
              <a:ext cx="1555016" cy="458043"/>
            </a:xfrm>
            <a:prstGeom prst="rect">
              <a:avLst/>
            </a:prstGeom>
          </p:spPr>
        </p:pic>
        <p:pic>
          <p:nvPicPr>
            <p:cNvPr id="70" name="picture 70"/>
            <p:cNvPicPr>
              <a:picLocks noChangeAspect="1"/>
            </p:cNvPicPr>
            <p:nvPr/>
          </p:nvPicPr>
          <p:blipFill>
            <a:blip r:embed="rId5"/>
            <a:stretch>
              <a:fillRect/>
            </a:stretch>
          </p:blipFill>
          <p:spPr>
            <a:xfrm rot="21600000">
              <a:off x="170159" y="3726081"/>
              <a:ext cx="1555016" cy="458043"/>
            </a:xfrm>
            <a:prstGeom prst="rect">
              <a:avLst/>
            </a:prstGeom>
          </p:spPr>
        </p:pic>
        <p:pic>
          <p:nvPicPr>
            <p:cNvPr id="72" name="picture 72"/>
            <p:cNvPicPr>
              <a:picLocks noChangeAspect="1"/>
            </p:cNvPicPr>
            <p:nvPr/>
          </p:nvPicPr>
          <p:blipFill>
            <a:blip r:embed="rId6"/>
            <a:stretch>
              <a:fillRect/>
            </a:stretch>
          </p:blipFill>
          <p:spPr>
            <a:xfrm rot="21600000">
              <a:off x="175595" y="673019"/>
              <a:ext cx="6283364" cy="94352"/>
            </a:xfrm>
            <a:prstGeom prst="rect">
              <a:avLst/>
            </a:prstGeom>
          </p:spPr>
        </p:pic>
      </p:grpSp>
      <p:pic>
        <p:nvPicPr>
          <p:cNvPr id="74" name="picture 74"/>
          <p:cNvPicPr>
            <a:picLocks noChangeAspect="1"/>
          </p:cNvPicPr>
          <p:nvPr/>
        </p:nvPicPr>
        <p:blipFill>
          <a:blip r:embed="rId7"/>
          <a:stretch>
            <a:fillRect/>
          </a:stretch>
        </p:blipFill>
        <p:spPr>
          <a:xfrm rot="21600000">
            <a:off x="242594" y="838293"/>
            <a:ext cx="4480935" cy="5867331"/>
          </a:xfrm>
          <a:prstGeom prst="rect">
            <a:avLst/>
          </a:prstGeom>
        </p:spPr>
      </p:pic>
      <p:sp>
        <p:nvSpPr>
          <p:cNvPr id="76" name="textbox 76"/>
          <p:cNvSpPr/>
          <p:nvPr/>
        </p:nvSpPr>
        <p:spPr>
          <a:xfrm>
            <a:off x="6965738" y="4770954"/>
            <a:ext cx="1647825" cy="1343660"/>
          </a:xfrm>
          <a:prstGeom prst="rect">
            <a:avLst/>
          </a:prstGeom>
          <a:noFill/>
          <a:ln w="0" cap="flat">
            <a:noFill/>
            <a:prstDash val="solid"/>
            <a:miter lim="0"/>
          </a:ln>
        </p:spPr>
        <p:txBody>
          <a:bodyPr vert="horz" wrap="square" lIns="0" tIns="0" rIns="0" bIns="0"/>
          <a:lstStyle/>
          <a:p>
            <a:pPr algn="l" rtl="0" eaLnBrk="0">
              <a:lnSpc>
                <a:spcPct val="81335"/>
              </a:lnSpc>
              <a:tabLst/>
            </a:pPr>
            <a:endParaRPr sz="100" dirty="0">
              <a:latin typeface="Arial"/>
              <a:ea typeface="Arial"/>
              <a:cs typeface="Arial"/>
            </a:endParaRPr>
          </a:p>
          <a:p>
            <a:pPr marL="12700" algn="l" rtl="0" eaLnBrk="0">
              <a:lnSpc>
                <a:spcPct val="88000"/>
              </a:lnSpc>
              <a:tabLst/>
            </a:pPr>
            <a:r>
              <a:rPr sz="1500" b="1" kern="0" spc="90" dirty="0">
                <a:solidFill>
                  <a:srgbClr val="000000">
                    <a:alpha val="100000"/>
                  </a:srgbClr>
                </a:solidFill>
                <a:latin typeface="Microsoft YaHei"/>
                <a:ea typeface="Microsoft YaHei"/>
                <a:cs typeface="Microsoft YaHei"/>
              </a:rPr>
              <a:t>科学研究</a:t>
            </a:r>
            <a:endParaRPr sz="1500" dirty="0">
              <a:latin typeface="Microsoft YaHei"/>
              <a:ea typeface="Microsoft YaHei"/>
              <a:cs typeface="Microsoft YaHei"/>
            </a:endParaRPr>
          </a:p>
          <a:p>
            <a:pPr marL="12700" algn="l" rtl="0" eaLnBrk="0">
              <a:lnSpc>
                <a:spcPct val="88000"/>
              </a:lnSpc>
              <a:spcBef>
                <a:spcPts val="1301"/>
              </a:spcBef>
              <a:tabLst/>
            </a:pPr>
            <a:r>
              <a:rPr sz="1500" b="1" kern="0" spc="90" dirty="0">
                <a:solidFill>
                  <a:srgbClr val="000000">
                    <a:alpha val="100000"/>
                  </a:srgbClr>
                </a:solidFill>
                <a:latin typeface="Microsoft YaHei"/>
                <a:ea typeface="Microsoft YaHei"/>
                <a:cs typeface="Microsoft YaHei"/>
              </a:rPr>
              <a:t>行业技术交流</a:t>
            </a:r>
            <a:endParaRPr sz="1500" dirty="0">
              <a:latin typeface="Microsoft YaHei"/>
              <a:ea typeface="Microsoft YaHei"/>
              <a:cs typeface="Microsoft YaHei"/>
            </a:endParaRPr>
          </a:p>
          <a:p>
            <a:pPr marL="12700" algn="l" rtl="0" eaLnBrk="0">
              <a:lnSpc>
                <a:spcPct val="157000"/>
              </a:lnSpc>
              <a:spcBef>
                <a:spcPts val="259"/>
              </a:spcBef>
              <a:tabLst/>
            </a:pPr>
            <a:r>
              <a:rPr sz="1500" b="1" kern="0" spc="90" dirty="0">
                <a:solidFill>
                  <a:srgbClr val="000000">
                    <a:alpha val="100000"/>
                  </a:srgbClr>
                </a:solidFill>
                <a:latin typeface="Microsoft YaHei"/>
                <a:ea typeface="Microsoft YaHei"/>
                <a:cs typeface="Microsoft YaHei"/>
              </a:rPr>
              <a:t>保障航道安全畅通</a:t>
            </a:r>
            <a:r>
              <a:rPr sz="1500" b="1" kern="0" spc="90" dirty="0">
                <a:solidFill>
                  <a:srgbClr val="000000">
                    <a:alpha val="100000"/>
                  </a:srgbClr>
                </a:solidFill>
                <a:latin typeface="Microsoft YaHei"/>
                <a:ea typeface="Microsoft YaHei"/>
                <a:cs typeface="Microsoft YaHei"/>
              </a:rPr>
              <a:t>人才培养社会效益</a:t>
            </a:r>
            <a:endParaRPr sz="1500" dirty="0">
              <a:latin typeface="Microsoft YaHei"/>
              <a:ea typeface="Microsoft YaHei"/>
              <a:cs typeface="Microsoft YaHei"/>
            </a:endParaRPr>
          </a:p>
        </p:txBody>
      </p:sp>
      <p:sp>
        <p:nvSpPr>
          <p:cNvPr id="78" name="textbox 78"/>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
        <p:nvSpPr>
          <p:cNvPr id="80" name="textbox 80"/>
          <p:cNvSpPr/>
          <p:nvPr/>
        </p:nvSpPr>
        <p:spPr>
          <a:xfrm>
            <a:off x="6975333" y="3518209"/>
            <a:ext cx="837564" cy="958214"/>
          </a:xfrm>
          <a:prstGeom prst="rect">
            <a:avLst/>
          </a:prstGeom>
          <a:noFill/>
          <a:ln w="0" cap="flat">
            <a:noFill/>
            <a:prstDash val="solid"/>
            <a:miter lim="0"/>
          </a:ln>
        </p:spPr>
        <p:txBody>
          <a:bodyPr vert="horz" wrap="square" lIns="0" tIns="0" rIns="0" bIns="0"/>
          <a:lstStyle/>
          <a:p>
            <a:pPr algn="l" rtl="0" eaLnBrk="0">
              <a:lnSpc>
                <a:spcPct val="81332"/>
              </a:lnSpc>
              <a:tabLst/>
            </a:pPr>
            <a:endParaRPr sz="100" dirty="0">
              <a:latin typeface="Arial"/>
              <a:ea typeface="Arial"/>
              <a:cs typeface="Arial"/>
            </a:endParaRPr>
          </a:p>
          <a:p>
            <a:pPr marL="12700" algn="l" rtl="0" eaLnBrk="0">
              <a:lnSpc>
                <a:spcPct val="88000"/>
              </a:lnSpc>
              <a:tabLst/>
            </a:pPr>
            <a:r>
              <a:rPr sz="1500" b="1" kern="0" spc="90" dirty="0">
                <a:solidFill>
                  <a:srgbClr val="000000">
                    <a:alpha val="100000"/>
                  </a:srgbClr>
                </a:solidFill>
                <a:latin typeface="Microsoft YaHei"/>
                <a:ea typeface="Microsoft YaHei"/>
                <a:cs typeface="Microsoft YaHei"/>
              </a:rPr>
              <a:t>新增收入</a:t>
            </a:r>
            <a:endParaRPr sz="1500" dirty="0">
              <a:latin typeface="Microsoft YaHei"/>
              <a:ea typeface="Microsoft YaHei"/>
              <a:cs typeface="Microsoft YaHei"/>
            </a:endParaRPr>
          </a:p>
          <a:p>
            <a:pPr marL="12700" algn="l" rtl="0" eaLnBrk="0">
              <a:lnSpc>
                <a:spcPct val="88000"/>
              </a:lnSpc>
              <a:spcBef>
                <a:spcPts val="1290"/>
              </a:spcBef>
              <a:tabLst/>
            </a:pPr>
            <a:r>
              <a:rPr sz="1500" b="1" kern="0" spc="90" dirty="0">
                <a:solidFill>
                  <a:srgbClr val="000000">
                    <a:alpha val="100000"/>
                  </a:srgbClr>
                </a:solidFill>
                <a:latin typeface="Microsoft YaHei"/>
                <a:ea typeface="Microsoft YaHei"/>
                <a:cs typeface="Microsoft YaHei"/>
              </a:rPr>
              <a:t>新增利润</a:t>
            </a:r>
            <a:endParaRPr sz="15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marL="15875" algn="l" rtl="0" eaLnBrk="0">
              <a:lnSpc>
                <a:spcPct val="88000"/>
              </a:lnSpc>
              <a:spcBef>
                <a:spcPts val="6"/>
              </a:spcBef>
              <a:tabLst/>
            </a:pPr>
            <a:r>
              <a:rPr sz="1500" b="1" kern="0" spc="80" dirty="0">
                <a:solidFill>
                  <a:srgbClr val="000000">
                    <a:alpha val="100000"/>
                  </a:srgbClr>
                </a:solidFill>
                <a:latin typeface="Microsoft YaHei"/>
                <a:ea typeface="Microsoft YaHei"/>
                <a:cs typeface="Microsoft YaHei"/>
              </a:rPr>
              <a:t>节支总额</a:t>
            </a:r>
            <a:endParaRPr sz="1500" dirty="0">
              <a:latin typeface="Microsoft YaHei"/>
              <a:ea typeface="Microsoft YaHei"/>
              <a:cs typeface="Microsoft YaHei"/>
            </a:endParaRPr>
          </a:p>
        </p:txBody>
      </p:sp>
      <p:sp>
        <p:nvSpPr>
          <p:cNvPr id="82" name="textbox 82"/>
          <p:cNvSpPr/>
          <p:nvPr/>
        </p:nvSpPr>
        <p:spPr>
          <a:xfrm>
            <a:off x="9665117" y="3810454"/>
            <a:ext cx="1853564" cy="2870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059"/>
              </a:lnSpc>
              <a:tabLst/>
            </a:pPr>
            <a:r>
              <a:rPr sz="1600" i="1" kern="0" spc="-10" dirty="0">
                <a:solidFill>
                  <a:srgbClr val="000000">
                    <a:alpha val="100000"/>
                  </a:srgbClr>
                </a:solidFill>
                <a:latin typeface="Microsoft YaHei"/>
                <a:ea typeface="Microsoft YaHei"/>
                <a:cs typeface="Microsoft YaHei"/>
              </a:rPr>
              <a:t>(自2015年以来累计)</a:t>
            </a:r>
            <a:endParaRPr sz="1600" dirty="0">
              <a:latin typeface="Microsoft YaHei"/>
              <a:ea typeface="Microsoft YaHei"/>
              <a:cs typeface="Microsoft YaHei"/>
            </a:endParaRPr>
          </a:p>
        </p:txBody>
      </p:sp>
      <p:sp>
        <p:nvSpPr>
          <p:cNvPr id="84" name="textbox 84"/>
          <p:cNvSpPr/>
          <p:nvPr/>
        </p:nvSpPr>
        <p:spPr>
          <a:xfrm>
            <a:off x="5477713" y="4864658"/>
            <a:ext cx="939800" cy="247650"/>
          </a:xfrm>
          <a:prstGeom prst="rect">
            <a:avLst/>
          </a:prstGeom>
          <a:noFill/>
          <a:ln w="0" cap="flat">
            <a:noFill/>
            <a:prstDash val="solid"/>
            <a:miter lim="0"/>
          </a:ln>
        </p:spPr>
        <p:txBody>
          <a:bodyPr vert="horz" wrap="square" lIns="0" tIns="0" rIns="0" bIns="0"/>
          <a:lstStyle/>
          <a:p>
            <a:pPr algn="l" rtl="0" eaLnBrk="0">
              <a:lnSpc>
                <a:spcPct val="79480"/>
              </a:lnSpc>
              <a:tabLst/>
            </a:pPr>
            <a:endParaRPr sz="100" dirty="0">
              <a:latin typeface="Arial"/>
              <a:ea typeface="Arial"/>
              <a:cs typeface="Arial"/>
            </a:endParaRPr>
          </a:p>
          <a:p>
            <a:pPr marL="12700" algn="l" rtl="0" eaLnBrk="0">
              <a:lnSpc>
                <a:spcPct val="86000"/>
              </a:lnSpc>
              <a:tabLst/>
            </a:pPr>
            <a:r>
              <a:rPr sz="1700" b="1" kern="0" spc="90" dirty="0">
                <a:solidFill>
                  <a:srgbClr val="FFFFFF">
                    <a:alpha val="100000"/>
                  </a:srgbClr>
                </a:solidFill>
                <a:latin typeface="DengXian"/>
                <a:ea typeface="DengXian"/>
                <a:cs typeface="DengXian"/>
              </a:rPr>
              <a:t>社会效益</a:t>
            </a:r>
            <a:endParaRPr sz="1700" dirty="0">
              <a:latin typeface="DengXian"/>
              <a:ea typeface="DengXian"/>
              <a:cs typeface="DengXian"/>
            </a:endParaRPr>
          </a:p>
        </p:txBody>
      </p:sp>
      <p:sp>
        <p:nvSpPr>
          <p:cNvPr id="86" name="textbox 86"/>
          <p:cNvSpPr/>
          <p:nvPr/>
        </p:nvSpPr>
        <p:spPr>
          <a:xfrm>
            <a:off x="5493448" y="3566020"/>
            <a:ext cx="935989" cy="247650"/>
          </a:xfrm>
          <a:prstGeom prst="rect">
            <a:avLst/>
          </a:prstGeom>
          <a:noFill/>
          <a:ln w="0" cap="flat">
            <a:noFill/>
            <a:prstDash val="solid"/>
            <a:miter lim="0"/>
          </a:ln>
        </p:spPr>
        <p:txBody>
          <a:bodyPr vert="horz" wrap="square" lIns="0" tIns="0" rIns="0" bIns="0"/>
          <a:lstStyle/>
          <a:p>
            <a:pPr algn="l" rtl="0" eaLnBrk="0">
              <a:lnSpc>
                <a:spcPct val="76478"/>
              </a:lnSpc>
              <a:tabLst/>
            </a:pPr>
            <a:endParaRPr sz="100" dirty="0">
              <a:latin typeface="Arial"/>
              <a:ea typeface="Arial"/>
              <a:cs typeface="Arial"/>
            </a:endParaRPr>
          </a:p>
          <a:p>
            <a:pPr marL="12700" algn="l" rtl="0" eaLnBrk="0">
              <a:lnSpc>
                <a:spcPct val="86000"/>
              </a:lnSpc>
              <a:tabLst/>
            </a:pPr>
            <a:r>
              <a:rPr sz="1700" b="1" kern="0" spc="80" dirty="0">
                <a:solidFill>
                  <a:srgbClr val="FFFFFF">
                    <a:alpha val="100000"/>
                  </a:srgbClr>
                </a:solidFill>
                <a:latin typeface="DengXian"/>
                <a:ea typeface="DengXian"/>
                <a:cs typeface="DengXian"/>
              </a:rPr>
              <a:t>经济效益</a:t>
            </a:r>
            <a:endParaRPr sz="1700" dirty="0">
              <a:latin typeface="DengXian"/>
              <a:ea typeface="DengXian"/>
              <a:cs typeface="DengXian"/>
            </a:endParaRPr>
          </a:p>
        </p:txBody>
      </p:sp>
      <p:sp>
        <p:nvSpPr>
          <p:cNvPr id="88" name="textbox 88"/>
          <p:cNvSpPr/>
          <p:nvPr/>
        </p:nvSpPr>
        <p:spPr>
          <a:xfrm>
            <a:off x="5473407" y="1929295"/>
            <a:ext cx="934719" cy="247015"/>
          </a:xfrm>
          <a:prstGeom prst="rect">
            <a:avLst/>
          </a:prstGeom>
          <a:noFill/>
          <a:ln w="0" cap="flat">
            <a:noFill/>
            <a:prstDash val="solid"/>
            <a:miter lim="0"/>
          </a:ln>
        </p:spPr>
        <p:txBody>
          <a:bodyPr vert="horz" wrap="square" lIns="0" tIns="0" rIns="0" bIns="0"/>
          <a:lstStyle/>
          <a:p>
            <a:pPr algn="l" rtl="0" eaLnBrk="0">
              <a:lnSpc>
                <a:spcPct val="74978"/>
              </a:lnSpc>
              <a:tabLst/>
            </a:pPr>
            <a:endParaRPr sz="100" dirty="0">
              <a:latin typeface="Arial"/>
              <a:ea typeface="Arial"/>
              <a:cs typeface="Arial"/>
            </a:endParaRPr>
          </a:p>
          <a:p>
            <a:pPr marL="12700" algn="l" rtl="0" eaLnBrk="0">
              <a:lnSpc>
                <a:spcPct val="86000"/>
              </a:lnSpc>
              <a:tabLst/>
            </a:pPr>
            <a:r>
              <a:rPr sz="1700" b="1" kern="0" spc="80" dirty="0">
                <a:solidFill>
                  <a:srgbClr val="FFFFFF">
                    <a:alpha val="100000"/>
                  </a:srgbClr>
                </a:solidFill>
                <a:latin typeface="DengXian"/>
                <a:ea typeface="DengXian"/>
                <a:cs typeface="DengXian"/>
              </a:rPr>
              <a:t>应用单位</a:t>
            </a:r>
            <a:endParaRPr sz="1700" dirty="0">
              <a:latin typeface="DengXian"/>
              <a:ea typeface="DengXian"/>
              <a:cs typeface="DengXian"/>
            </a:endParaRPr>
          </a:p>
        </p:txBody>
      </p:sp>
      <p:pic>
        <p:nvPicPr>
          <p:cNvPr id="90" name="picture 90"/>
          <p:cNvPicPr>
            <a:picLocks noChangeAspect="1"/>
          </p:cNvPicPr>
          <p:nvPr/>
        </p:nvPicPr>
        <p:blipFill>
          <a:blip r:embed="rId8"/>
          <a:stretch>
            <a:fillRect/>
          </a:stretch>
        </p:blipFill>
        <p:spPr>
          <a:xfrm rot="21600000">
            <a:off x="11570207" y="6236208"/>
            <a:ext cx="406907" cy="40690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6522719" y="1356360"/>
            <a:ext cx="5327904" cy="5248655"/>
          </a:xfrm>
          <a:prstGeom prst="rect">
            <a:avLst/>
          </a:prstGeom>
        </p:spPr>
      </p:pic>
      <p:sp>
        <p:nvSpPr>
          <p:cNvPr id="4" name="textbox 4"/>
          <p:cNvSpPr/>
          <p:nvPr/>
        </p:nvSpPr>
        <p:spPr>
          <a:xfrm>
            <a:off x="191005" y="1210995"/>
            <a:ext cx="5868034" cy="2961639"/>
          </a:xfrm>
          <a:prstGeom prst="rect">
            <a:avLst/>
          </a:prstGeom>
          <a:noFill/>
          <a:ln w="0" cap="flat">
            <a:noFill/>
            <a:prstDash val="solid"/>
            <a:miter lim="0"/>
          </a:ln>
        </p:spPr>
        <p:txBody>
          <a:bodyPr vert="horz" wrap="square" lIns="0" tIns="0" rIns="0" bIns="0"/>
          <a:lstStyle/>
          <a:p>
            <a:pPr algn="l" rtl="0" eaLnBrk="0">
              <a:lnSpc>
                <a:spcPct val="81308"/>
              </a:lnSpc>
              <a:tabLst/>
            </a:pPr>
            <a:endParaRPr sz="100" dirty="0">
              <a:latin typeface="Arial"/>
              <a:ea typeface="Arial"/>
              <a:cs typeface="Arial"/>
            </a:endParaRPr>
          </a:p>
          <a:p>
            <a:pPr marL="450215" algn="l" rtl="0" eaLnBrk="0">
              <a:lnSpc>
                <a:spcPct val="88000"/>
              </a:lnSpc>
              <a:tabLst/>
            </a:pPr>
            <a:r>
              <a:rPr sz="2300" b="1" kern="0" spc="110" dirty="0">
                <a:solidFill>
                  <a:srgbClr val="000000">
                    <a:alpha val="100000"/>
                  </a:srgbClr>
                </a:solidFill>
                <a:latin typeface="Microsoft YaHei"/>
                <a:ea typeface="Microsoft YaHei"/>
                <a:cs typeface="Microsoft YaHei"/>
              </a:rPr>
              <a:t>智慧新通道</a:t>
            </a:r>
            <a:r>
              <a:rPr sz="2300" b="1" kern="0" spc="0" dirty="0">
                <a:solidFill>
                  <a:srgbClr val="000000">
                    <a:alpha val="100000"/>
                  </a:srgbClr>
                </a:solidFill>
                <a:latin typeface="Microsoft YaHei"/>
                <a:ea typeface="Microsoft YaHei"/>
                <a:cs typeface="Microsoft YaHei"/>
              </a:rPr>
              <a:t>PNT</a:t>
            </a:r>
            <a:r>
              <a:rPr sz="2300" b="1" kern="0" spc="110" dirty="0">
                <a:solidFill>
                  <a:srgbClr val="000000">
                    <a:alpha val="100000"/>
                  </a:srgbClr>
                </a:solidFill>
                <a:latin typeface="Microsoft YaHei"/>
                <a:ea typeface="Microsoft YaHei"/>
                <a:cs typeface="Microsoft YaHei"/>
              </a:rPr>
              <a:t>组网方案</a:t>
            </a:r>
            <a:endParaRPr sz="2300" dirty="0">
              <a:latin typeface="Microsoft YaHei"/>
              <a:ea typeface="Microsoft YaHei"/>
              <a:cs typeface="Microsoft YaHei"/>
            </a:endParaRPr>
          </a:p>
          <a:p>
            <a:pPr algn="l" rtl="0" eaLnBrk="0">
              <a:lnSpc>
                <a:spcPct val="109000"/>
              </a:lnSpc>
              <a:tabLst/>
            </a:pPr>
            <a:endParaRPr sz="1000" dirty="0">
              <a:latin typeface="Arial"/>
              <a:ea typeface="Arial"/>
              <a:cs typeface="Arial"/>
            </a:endParaRPr>
          </a:p>
          <a:p>
            <a:pPr marL="283845" indent="-271145" algn="l" rtl="0" eaLnBrk="0">
              <a:lnSpc>
                <a:spcPct val="99000"/>
              </a:lnSpc>
              <a:spcBef>
                <a:spcPts val="460"/>
              </a:spcBef>
              <a:tabLst/>
            </a:pPr>
            <a:r>
              <a:rPr sz="1500" kern="0" spc="80" dirty="0">
                <a:solidFill>
                  <a:srgbClr val="000000">
                    <a:alpha val="100000"/>
                  </a:srgbClr>
                </a:solidFill>
                <a:latin typeface="Wingdings"/>
                <a:ea typeface="Wingdings"/>
                <a:cs typeface="Wingdings"/>
              </a:rPr>
              <a:t>u</a:t>
            </a:r>
            <a:r>
              <a:rPr sz="1500" kern="0" spc="-800" dirty="0">
                <a:solidFill>
                  <a:srgbClr val="000000">
                    <a:alpha val="100000"/>
                  </a:srgbClr>
                </a:solidFill>
                <a:latin typeface="Wingdings"/>
                <a:ea typeface="Wingdings"/>
                <a:cs typeface="Wingdings"/>
              </a:rPr>
              <a:t> </a:t>
            </a:r>
            <a:r>
              <a:rPr sz="1500" kern="0" spc="80" dirty="0">
                <a:solidFill>
                  <a:srgbClr val="000000">
                    <a:alpha val="100000"/>
                  </a:srgbClr>
                </a:solidFill>
                <a:latin typeface="Microsoft YaHei"/>
                <a:ea typeface="Microsoft YaHei"/>
                <a:cs typeface="Microsoft YaHei"/>
              </a:rPr>
              <a:t>安全保障-实时监控和定位工作人员位置</a:t>
            </a:r>
            <a:r>
              <a:rPr sz="1500" kern="0" spc="-21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a:t>
            </a:r>
            <a:r>
              <a:rPr sz="1500" kern="0" spc="-31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紧急情况</a:t>
            </a:r>
            <a:r>
              <a:rPr sz="1500" kern="0" spc="70" dirty="0">
                <a:solidFill>
                  <a:srgbClr val="000000">
                    <a:alpha val="100000"/>
                  </a:srgbClr>
                </a:solidFill>
                <a:latin typeface="Microsoft YaHei"/>
                <a:ea typeface="Microsoft YaHei"/>
                <a:cs typeface="Microsoft YaHei"/>
              </a:rPr>
              <a:t>下能迅速找</a:t>
            </a:r>
            <a:r>
              <a:rPr sz="1500" kern="0" spc="90" dirty="0">
                <a:solidFill>
                  <a:srgbClr val="000000">
                    <a:alpha val="100000"/>
                  </a:srgbClr>
                </a:solidFill>
                <a:latin typeface="Microsoft YaHei"/>
                <a:ea typeface="Microsoft YaHei"/>
                <a:cs typeface="Microsoft YaHei"/>
              </a:rPr>
              <a:t>到并救援</a:t>
            </a:r>
            <a:endParaRPr sz="1500" dirty="0">
              <a:latin typeface="Microsoft YaHei"/>
              <a:ea typeface="Microsoft YaHei"/>
              <a:cs typeface="Microsoft YaHei"/>
            </a:endParaRPr>
          </a:p>
          <a:p>
            <a:pPr marL="12700" algn="l" rtl="0" eaLnBrk="0">
              <a:lnSpc>
                <a:spcPct val="98000"/>
              </a:lnSpc>
              <a:spcBef>
                <a:spcPts val="273"/>
              </a:spcBef>
              <a:tabLst/>
            </a:pPr>
            <a:r>
              <a:rPr sz="1500" kern="0" spc="80" dirty="0">
                <a:solidFill>
                  <a:srgbClr val="000000">
                    <a:alpha val="100000"/>
                  </a:srgbClr>
                </a:solidFill>
                <a:latin typeface="Wingdings"/>
                <a:ea typeface="Wingdings"/>
                <a:cs typeface="Wingdings"/>
              </a:rPr>
              <a:t>u</a:t>
            </a:r>
            <a:r>
              <a:rPr sz="1500" kern="0" spc="-790" dirty="0">
                <a:solidFill>
                  <a:srgbClr val="000000">
                    <a:alpha val="100000"/>
                  </a:srgbClr>
                </a:solidFill>
                <a:latin typeface="Wingdings"/>
                <a:ea typeface="Wingdings"/>
                <a:cs typeface="Wingdings"/>
              </a:rPr>
              <a:t> </a:t>
            </a:r>
            <a:r>
              <a:rPr sz="1500" kern="0" spc="80" dirty="0">
                <a:solidFill>
                  <a:srgbClr val="000000">
                    <a:alpha val="100000"/>
                  </a:srgbClr>
                </a:solidFill>
                <a:latin typeface="Microsoft YaHei"/>
                <a:ea typeface="Microsoft YaHei"/>
                <a:cs typeface="Microsoft YaHei"/>
              </a:rPr>
              <a:t>高效管理-通过定位系统优化人员调度</a:t>
            </a:r>
            <a:r>
              <a:rPr sz="1500" kern="0" spc="-21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，提高工作效率</a:t>
            </a:r>
            <a:endParaRPr sz="1500" dirty="0">
              <a:latin typeface="Microsoft YaHei"/>
              <a:ea typeface="Microsoft YaHei"/>
              <a:cs typeface="Microsoft YaHei"/>
            </a:endParaRPr>
          </a:p>
          <a:p>
            <a:pPr marL="283845" indent="-271145" algn="l" rtl="0" eaLnBrk="0">
              <a:lnSpc>
                <a:spcPct val="99000"/>
              </a:lnSpc>
              <a:spcBef>
                <a:spcPts val="155"/>
              </a:spcBef>
              <a:tabLst/>
            </a:pPr>
            <a:r>
              <a:rPr sz="1500" kern="0" spc="80" dirty="0">
                <a:solidFill>
                  <a:srgbClr val="000000">
                    <a:alpha val="100000"/>
                  </a:srgbClr>
                </a:solidFill>
                <a:latin typeface="Wingdings"/>
                <a:ea typeface="Wingdings"/>
                <a:cs typeface="Wingdings"/>
              </a:rPr>
              <a:t>u</a:t>
            </a:r>
            <a:r>
              <a:rPr sz="1500" kern="0" spc="-800" dirty="0">
                <a:solidFill>
                  <a:srgbClr val="000000">
                    <a:alpha val="100000"/>
                  </a:srgbClr>
                </a:solidFill>
                <a:latin typeface="Wingdings"/>
                <a:ea typeface="Wingdings"/>
                <a:cs typeface="Wingdings"/>
              </a:rPr>
              <a:t> </a:t>
            </a:r>
            <a:r>
              <a:rPr sz="1500" kern="0" spc="80" dirty="0">
                <a:solidFill>
                  <a:srgbClr val="000000">
                    <a:alpha val="100000"/>
                  </a:srgbClr>
                </a:solidFill>
                <a:latin typeface="Microsoft YaHei"/>
                <a:ea typeface="Microsoft YaHei"/>
                <a:cs typeface="Microsoft YaHei"/>
              </a:rPr>
              <a:t>历史轨迹-记录工作人员的历史轨迹</a:t>
            </a:r>
            <a:r>
              <a:rPr sz="1500" kern="0" spc="-21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a:t>
            </a:r>
            <a:r>
              <a:rPr sz="1500" kern="0" spc="-30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以便事后分</a:t>
            </a:r>
            <a:r>
              <a:rPr sz="1500" kern="0" spc="70" dirty="0">
                <a:solidFill>
                  <a:srgbClr val="000000">
                    <a:alpha val="100000"/>
                  </a:srgbClr>
                </a:solidFill>
                <a:latin typeface="Microsoft YaHei"/>
                <a:ea typeface="Microsoft YaHei"/>
                <a:cs typeface="Microsoft YaHei"/>
              </a:rPr>
              <a:t>析和优化工作</a:t>
            </a:r>
            <a:r>
              <a:rPr sz="1500" kern="0" spc="80" dirty="0">
                <a:solidFill>
                  <a:srgbClr val="000000">
                    <a:alpha val="100000"/>
                  </a:srgbClr>
                </a:solidFill>
                <a:latin typeface="Microsoft YaHei"/>
                <a:ea typeface="Microsoft YaHei"/>
                <a:cs typeface="Microsoft YaHei"/>
              </a:rPr>
              <a:t>流程</a:t>
            </a:r>
            <a:endParaRPr sz="1500" dirty="0">
              <a:latin typeface="Microsoft YaHei"/>
              <a:ea typeface="Microsoft YaHei"/>
              <a:cs typeface="Microsoft YaHei"/>
            </a:endParaRPr>
          </a:p>
          <a:p>
            <a:pPr marL="12700" algn="l" rtl="0" eaLnBrk="0">
              <a:lnSpc>
                <a:spcPct val="98000"/>
              </a:lnSpc>
              <a:spcBef>
                <a:spcPts val="277"/>
              </a:spcBef>
              <a:tabLst/>
            </a:pPr>
            <a:r>
              <a:rPr sz="1500" kern="0" spc="70" dirty="0">
                <a:solidFill>
                  <a:srgbClr val="000000">
                    <a:alpha val="100000"/>
                  </a:srgbClr>
                </a:solidFill>
                <a:latin typeface="Wingdings"/>
                <a:ea typeface="Wingdings"/>
                <a:cs typeface="Wingdings"/>
              </a:rPr>
              <a:t>u</a:t>
            </a:r>
            <a:r>
              <a:rPr sz="1500" kern="0" spc="-800" dirty="0">
                <a:solidFill>
                  <a:srgbClr val="000000">
                    <a:alpha val="100000"/>
                  </a:srgbClr>
                </a:solidFill>
                <a:latin typeface="Wingdings"/>
                <a:ea typeface="Wingdings"/>
                <a:cs typeface="Wingdings"/>
              </a:rPr>
              <a:t> </a:t>
            </a:r>
            <a:r>
              <a:rPr sz="1500" kern="0" spc="70" dirty="0">
                <a:solidFill>
                  <a:srgbClr val="000000">
                    <a:alpha val="100000"/>
                  </a:srgbClr>
                </a:solidFill>
                <a:latin typeface="Microsoft YaHei"/>
                <a:ea typeface="Microsoft YaHei"/>
                <a:cs typeface="Microsoft YaHei"/>
              </a:rPr>
              <a:t>资产管理-实时监控设备位置</a:t>
            </a:r>
            <a:r>
              <a:rPr sz="1500" kern="0" spc="-20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a:t>
            </a:r>
            <a:r>
              <a:rPr sz="1500" kern="0" spc="-28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防止丢失和被</a:t>
            </a:r>
            <a:r>
              <a:rPr sz="1500" kern="0" spc="60" dirty="0">
                <a:solidFill>
                  <a:srgbClr val="000000">
                    <a:alpha val="100000"/>
                  </a:srgbClr>
                </a:solidFill>
                <a:latin typeface="Microsoft YaHei"/>
                <a:ea typeface="Microsoft YaHei"/>
                <a:cs typeface="Microsoft YaHei"/>
              </a:rPr>
              <a:t>盗</a:t>
            </a:r>
            <a:endParaRPr sz="1500" dirty="0">
              <a:latin typeface="Microsoft YaHei"/>
              <a:ea typeface="Microsoft YaHei"/>
              <a:cs typeface="Microsoft YaHei"/>
            </a:endParaRPr>
          </a:p>
          <a:p>
            <a:pPr marL="283845" indent="-271145" algn="l" rtl="0" eaLnBrk="0">
              <a:lnSpc>
                <a:spcPct val="99000"/>
              </a:lnSpc>
              <a:spcBef>
                <a:spcPts val="149"/>
              </a:spcBef>
              <a:tabLst/>
            </a:pPr>
            <a:r>
              <a:rPr sz="1500" kern="0" spc="90" dirty="0">
                <a:solidFill>
                  <a:srgbClr val="000000">
                    <a:alpha val="100000"/>
                  </a:srgbClr>
                </a:solidFill>
                <a:latin typeface="Wingdings"/>
                <a:ea typeface="Wingdings"/>
                <a:cs typeface="Wingdings"/>
              </a:rPr>
              <a:t>u</a:t>
            </a:r>
            <a:r>
              <a:rPr sz="1500" kern="0" spc="-800" dirty="0">
                <a:solidFill>
                  <a:srgbClr val="000000">
                    <a:alpha val="100000"/>
                  </a:srgbClr>
                </a:solidFill>
                <a:latin typeface="Wingdings"/>
                <a:ea typeface="Wingdings"/>
                <a:cs typeface="Wingdings"/>
              </a:rPr>
              <a:t> </a:t>
            </a:r>
            <a:r>
              <a:rPr sz="1500" kern="0" spc="90" dirty="0">
                <a:solidFill>
                  <a:srgbClr val="000000">
                    <a:alpha val="100000"/>
                  </a:srgbClr>
                </a:solidFill>
                <a:latin typeface="Microsoft YaHei"/>
                <a:ea typeface="Microsoft YaHei"/>
                <a:cs typeface="Microsoft YaHei"/>
              </a:rPr>
              <a:t>授时管理-为管廊内各种通</a:t>
            </a:r>
            <a:r>
              <a:rPr sz="1500" kern="0" spc="80" dirty="0">
                <a:solidFill>
                  <a:srgbClr val="000000">
                    <a:alpha val="100000"/>
                  </a:srgbClr>
                </a:solidFill>
                <a:latin typeface="Microsoft YaHei"/>
                <a:ea typeface="Microsoft YaHei"/>
                <a:cs typeface="Microsoft YaHei"/>
              </a:rPr>
              <a:t>信设备、</a:t>
            </a:r>
            <a:r>
              <a:rPr sz="1500" kern="0" spc="-250" dirty="0">
                <a:solidFill>
                  <a:srgbClr val="000000">
                    <a:alpha val="100000"/>
                  </a:srgbClr>
                </a:solidFill>
                <a:latin typeface="Microsoft YaHei"/>
                <a:ea typeface="Microsoft YaHei"/>
                <a:cs typeface="Microsoft YaHei"/>
              </a:rPr>
              <a:t> </a:t>
            </a:r>
            <a:r>
              <a:rPr sz="1500" kern="0" spc="80" dirty="0">
                <a:solidFill>
                  <a:srgbClr val="000000">
                    <a:alpha val="100000"/>
                  </a:srgbClr>
                </a:solidFill>
                <a:latin typeface="Microsoft YaHei"/>
                <a:ea typeface="Microsoft YaHei"/>
                <a:cs typeface="Microsoft YaHei"/>
              </a:rPr>
              <a:t>电力设备等提供高精度时间</a:t>
            </a:r>
            <a:r>
              <a:rPr sz="1500" kern="0" spc="80" dirty="0">
                <a:solidFill>
                  <a:srgbClr val="000000">
                    <a:alpha val="100000"/>
                  </a:srgbClr>
                </a:solidFill>
                <a:latin typeface="Microsoft YaHei"/>
                <a:ea typeface="Microsoft YaHei"/>
                <a:cs typeface="Microsoft YaHei"/>
              </a:rPr>
              <a:t>基准</a:t>
            </a:r>
            <a:endParaRPr sz="1500" dirty="0">
              <a:latin typeface="Microsoft YaHei"/>
              <a:ea typeface="Microsoft YaHei"/>
              <a:cs typeface="Microsoft YaHei"/>
            </a:endParaRPr>
          </a:p>
          <a:p>
            <a:pPr marL="292100" indent="-280034" algn="l" rtl="0" eaLnBrk="0">
              <a:lnSpc>
                <a:spcPct val="99000"/>
              </a:lnSpc>
              <a:spcBef>
                <a:spcPts val="288"/>
              </a:spcBef>
              <a:tabLst/>
            </a:pPr>
            <a:r>
              <a:rPr sz="1500" kern="0" spc="80" dirty="0">
                <a:solidFill>
                  <a:srgbClr val="000000">
                    <a:alpha val="100000"/>
                  </a:srgbClr>
                </a:solidFill>
                <a:latin typeface="Wingdings"/>
                <a:ea typeface="Wingdings"/>
                <a:cs typeface="Wingdings"/>
              </a:rPr>
              <a:t>u</a:t>
            </a:r>
            <a:r>
              <a:rPr sz="1500" kern="0" spc="-630" dirty="0">
                <a:solidFill>
                  <a:srgbClr val="000000">
                    <a:alpha val="100000"/>
                  </a:srgbClr>
                </a:solidFill>
                <a:latin typeface="Wingdings"/>
                <a:ea typeface="Wingdings"/>
                <a:cs typeface="Wingdings"/>
              </a:rPr>
              <a:t> </a:t>
            </a:r>
            <a:r>
              <a:rPr sz="1500" kern="0" spc="80" dirty="0">
                <a:solidFill>
                  <a:srgbClr val="000000">
                    <a:alpha val="100000"/>
                  </a:srgbClr>
                </a:solidFill>
                <a:latin typeface="Microsoft YaHei"/>
                <a:ea typeface="Microsoft YaHei"/>
                <a:cs typeface="Microsoft YaHei"/>
              </a:rPr>
              <a:t>自动巡检-为巡检机器人提供定位和导航服务</a:t>
            </a:r>
            <a:r>
              <a:rPr sz="1500" kern="0" spc="-210" dirty="0">
                <a:solidFill>
                  <a:srgbClr val="000000">
                    <a:alpha val="100000"/>
                  </a:srgbClr>
                </a:solidFill>
                <a:latin typeface="Microsoft YaHei"/>
                <a:ea typeface="Microsoft YaHei"/>
                <a:cs typeface="Microsoft YaHei"/>
              </a:rPr>
              <a:t> </a:t>
            </a:r>
            <a:r>
              <a:rPr sz="1500" kern="0" spc="70" dirty="0">
                <a:solidFill>
                  <a:srgbClr val="000000">
                    <a:alpha val="100000"/>
                  </a:srgbClr>
                </a:solidFill>
                <a:latin typeface="Microsoft YaHei"/>
                <a:ea typeface="Microsoft YaHei"/>
                <a:cs typeface="Microsoft YaHei"/>
              </a:rPr>
              <a:t>，提升准确性和故</a:t>
            </a:r>
            <a:r>
              <a:rPr sz="1500" kern="0" spc="70" dirty="0">
                <a:solidFill>
                  <a:srgbClr val="000000">
                    <a:alpha val="100000"/>
                  </a:srgbClr>
                </a:solidFill>
                <a:latin typeface="Microsoft YaHei"/>
                <a:ea typeface="Microsoft YaHei"/>
                <a:cs typeface="Microsoft YaHei"/>
              </a:rPr>
              <a:t>障检测率</a:t>
            </a:r>
            <a:endParaRPr sz="1500" dirty="0">
              <a:latin typeface="Microsoft YaHei"/>
              <a:ea typeface="Microsoft YaHei"/>
              <a:cs typeface="Microsoft YaHei"/>
            </a:endParaRPr>
          </a:p>
        </p:txBody>
      </p:sp>
      <p:pic>
        <p:nvPicPr>
          <p:cNvPr id="6" name="picture 6"/>
          <p:cNvPicPr>
            <a:picLocks noChangeAspect="1"/>
          </p:cNvPicPr>
          <p:nvPr/>
        </p:nvPicPr>
        <p:blipFill>
          <a:blip r:embed="rId3"/>
          <a:stretch>
            <a:fillRect/>
          </a:stretch>
        </p:blipFill>
        <p:spPr>
          <a:xfrm rot="21600000">
            <a:off x="286511" y="4337303"/>
            <a:ext cx="5993891" cy="2490216"/>
          </a:xfrm>
          <a:prstGeom prst="rect">
            <a:avLst/>
          </a:prstGeom>
        </p:spPr>
      </p:pic>
      <p:sp>
        <p:nvSpPr>
          <p:cNvPr id="8" name="textbox 8"/>
          <p:cNvSpPr/>
          <p:nvPr/>
        </p:nvSpPr>
        <p:spPr>
          <a:xfrm>
            <a:off x="38100" y="0"/>
            <a:ext cx="12153900" cy="647700"/>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22000"/>
              </a:lnSpc>
              <a:tabLst/>
            </a:pPr>
            <a:endParaRPr sz="400" dirty="0">
              <a:latin typeface="Arial"/>
              <a:ea typeface="Arial"/>
              <a:cs typeface="Arial"/>
            </a:endParaRPr>
          </a:p>
          <a:p>
            <a:pPr marL="111125" algn="l" rtl="0" eaLnBrk="0">
              <a:lnSpc>
                <a:spcPts val="3608"/>
              </a:lnSpc>
              <a:spcBef>
                <a:spcPts val="1"/>
              </a:spcBef>
              <a:tabLst/>
            </a:pPr>
            <a:r>
              <a:rPr sz="2700" kern="0" spc="80" dirty="0">
                <a:solidFill>
                  <a:srgbClr val="FFFFFF">
                    <a:alpha val="100000"/>
                  </a:srgbClr>
                </a:solidFill>
                <a:latin typeface="Microsoft YaHei"/>
                <a:ea typeface="Microsoft YaHei"/>
                <a:cs typeface="Microsoft YaHei"/>
              </a:rPr>
              <a:t>2.8 三峡水运新通道守时时间基准管理系统</a:t>
            </a:r>
            <a:endParaRPr sz="2700" dirty="0">
              <a:latin typeface="Microsoft YaHei"/>
              <a:ea typeface="Microsoft YaHei"/>
              <a:cs typeface="Microsoft YaHei"/>
            </a:endParaRPr>
          </a:p>
        </p:txBody>
      </p:sp>
      <p:sp>
        <p:nvSpPr>
          <p:cNvPr id="10" name="textbox 10"/>
          <p:cNvSpPr/>
          <p:nvPr/>
        </p:nvSpPr>
        <p:spPr>
          <a:xfrm>
            <a:off x="4741900" y="711771"/>
            <a:ext cx="2761614" cy="490219"/>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ath 12"/>
          <p:cNvSpPr/>
          <p:nvPr/>
        </p:nvSpPr>
        <p:spPr>
          <a:xfrm>
            <a:off x="6836905" y="5615546"/>
            <a:ext cx="286525" cy="171450"/>
          </a:xfrm>
          <a:custGeom>
            <a:avLst/>
            <a:gdLst/>
            <a:ahLst/>
            <a:cxnLst/>
            <a:rect l="0" t="0" r="0" b="0"/>
            <a:pathLst>
              <a:path w="451" h="270">
                <a:moveTo>
                  <a:pt x="44" y="127"/>
                </a:moveTo>
                <a:lnTo>
                  <a:pt x="93" y="233"/>
                </a:lnTo>
                <a:lnTo>
                  <a:pt x="160" y="0"/>
                </a:lnTo>
                <a:lnTo>
                  <a:pt x="451" y="0"/>
                </a:lnTo>
                <a:lnTo>
                  <a:pt x="451" y="18"/>
                </a:lnTo>
                <a:lnTo>
                  <a:pt x="178" y="18"/>
                </a:lnTo>
                <a:lnTo>
                  <a:pt x="178" y="17"/>
                </a:lnTo>
                <a:lnTo>
                  <a:pt x="170" y="17"/>
                </a:lnTo>
                <a:lnTo>
                  <a:pt x="97" y="270"/>
                </a:lnTo>
                <a:lnTo>
                  <a:pt x="83" y="270"/>
                </a:lnTo>
                <a:lnTo>
                  <a:pt x="27" y="148"/>
                </a:lnTo>
                <a:lnTo>
                  <a:pt x="4" y="158"/>
                </a:lnTo>
                <a:lnTo>
                  <a:pt x="0" y="148"/>
                </a:lnTo>
                <a:lnTo>
                  <a:pt x="44" y="127"/>
                </a:lnTo>
              </a:path>
            </a:pathLst>
          </a:custGeom>
          <a:solidFill>
            <a:srgbClr val="000000">
              <a:alpha val="100000"/>
            </a:srgbClr>
          </a:solidFill>
          <a:ln w="0" cap="flat">
            <a:noFill/>
            <a:prstDash val="solid"/>
            <a:miter lim="0"/>
          </a:ln>
        </p:spPr>
        <p:txBody>
          <a:bodyPr rtlCol="0"/>
          <a:lstStyle/>
          <a:p>
            <a:pPr algn="ctr"/>
            <a:endParaRPr lang="zh-CN" altLang="en-US"/>
          </a:p>
        </p:txBody>
      </p:sp>
      <p:sp>
        <p:nvSpPr>
          <p:cNvPr id="14" name="textbox 14"/>
          <p:cNvSpPr/>
          <p:nvPr/>
        </p:nvSpPr>
        <p:spPr>
          <a:xfrm>
            <a:off x="6328977" y="1457242"/>
            <a:ext cx="5230495" cy="4354195"/>
          </a:xfrm>
          <a:prstGeom prst="rect">
            <a:avLst/>
          </a:prstGeom>
          <a:noFill/>
          <a:ln w="0" cap="flat">
            <a:noFill/>
            <a:prstDash val="solid"/>
            <a:miter lim="0"/>
          </a:ln>
        </p:spPr>
        <p:txBody>
          <a:bodyPr vert="horz" wrap="square" lIns="0" tIns="0" rIns="0" bIns="0"/>
          <a:lstStyle/>
          <a:p>
            <a:pPr algn="l" rtl="0" eaLnBrk="0">
              <a:lnSpc>
                <a:spcPct val="88608"/>
              </a:lnSpc>
              <a:tabLst/>
            </a:pPr>
            <a:endParaRPr sz="100" dirty="0">
              <a:latin typeface="Arial"/>
              <a:ea typeface="Arial"/>
              <a:cs typeface="Arial"/>
            </a:endParaRPr>
          </a:p>
          <a:p>
            <a:pPr marL="12700" algn="l" rtl="0" eaLnBrk="0">
              <a:lnSpc>
                <a:spcPct val="87000"/>
              </a:lnSpc>
              <a:tabLst/>
            </a:pPr>
            <a:r>
              <a:rPr sz="1400" kern="0" spc="-10" dirty="0">
                <a:solidFill>
                  <a:srgbClr val="000000">
                    <a:alpha val="100000"/>
                  </a:srgbClr>
                </a:solidFill>
                <a:latin typeface="Arial"/>
                <a:ea typeface="Arial"/>
                <a:cs typeface="Arial"/>
              </a:rPr>
              <a:t>•    </a:t>
            </a:r>
            <a:r>
              <a:rPr sz="1400" b="1" kern="0" spc="-10" dirty="0">
                <a:solidFill>
                  <a:srgbClr val="000000">
                    <a:alpha val="100000"/>
                  </a:srgbClr>
                </a:solidFill>
                <a:latin typeface="Microsoft YaHei"/>
                <a:ea typeface="Microsoft YaHei"/>
                <a:cs typeface="Microsoft YaHei"/>
              </a:rPr>
              <a:t>支</a:t>
            </a:r>
            <a:r>
              <a:rPr sz="1400" b="1" kern="0" spc="-100" dirty="0">
                <a:solidFill>
                  <a:srgbClr val="000000">
                    <a:alpha val="100000"/>
                  </a:srgbClr>
                </a:solidFill>
                <a:latin typeface="Microsoft YaHei"/>
                <a:ea typeface="Microsoft YaHei"/>
                <a:cs typeface="Microsoft YaHei"/>
              </a:rPr>
              <a:t> </a:t>
            </a:r>
            <a:r>
              <a:rPr sz="1400" b="1" kern="0" spc="-10" dirty="0">
                <a:solidFill>
                  <a:srgbClr val="000000">
                    <a:alpha val="100000"/>
                  </a:srgbClr>
                </a:solidFill>
                <a:latin typeface="Microsoft YaHei"/>
                <a:ea typeface="Microsoft YaHei"/>
                <a:cs typeface="Microsoft YaHei"/>
              </a:rPr>
              <a:t>持</a:t>
            </a:r>
            <a:r>
              <a:rPr sz="1400" b="1" kern="0" spc="-100" dirty="0">
                <a:solidFill>
                  <a:srgbClr val="000000">
                    <a:alpha val="100000"/>
                  </a:srgbClr>
                </a:solidFill>
                <a:latin typeface="Microsoft YaHei"/>
                <a:ea typeface="Microsoft YaHei"/>
                <a:cs typeface="Microsoft YaHei"/>
              </a:rPr>
              <a:t> </a:t>
            </a:r>
            <a:r>
              <a:rPr sz="1400" b="1" kern="0" spc="-10" dirty="0">
                <a:solidFill>
                  <a:srgbClr val="000000">
                    <a:alpha val="100000"/>
                  </a:srgbClr>
                </a:solidFill>
                <a:latin typeface="Microsoft YaHei"/>
                <a:ea typeface="Microsoft YaHei"/>
                <a:cs typeface="Microsoft YaHei"/>
              </a:rPr>
              <a:t>星</a:t>
            </a:r>
            <a:r>
              <a:rPr sz="1400" b="1" kern="0" spc="-90" dirty="0">
                <a:solidFill>
                  <a:srgbClr val="000000">
                    <a:alpha val="100000"/>
                  </a:srgbClr>
                </a:solidFill>
                <a:latin typeface="Microsoft YaHei"/>
                <a:ea typeface="Microsoft YaHei"/>
                <a:cs typeface="Microsoft YaHei"/>
              </a:rPr>
              <a:t> </a:t>
            </a:r>
            <a:r>
              <a:rPr sz="1400" b="1" kern="0" spc="-10" dirty="0">
                <a:solidFill>
                  <a:srgbClr val="000000">
                    <a:alpha val="100000"/>
                  </a:srgbClr>
                </a:solidFill>
                <a:latin typeface="Microsoft YaHei"/>
                <a:ea typeface="Microsoft YaHei"/>
                <a:cs typeface="Microsoft YaHei"/>
              </a:rPr>
              <a:t>型 、</a:t>
            </a:r>
            <a:r>
              <a:rPr sz="1400" b="1" kern="0" spc="-100" dirty="0">
                <a:solidFill>
                  <a:srgbClr val="000000">
                    <a:alpha val="100000"/>
                  </a:srgbClr>
                </a:solidFill>
                <a:latin typeface="Microsoft YaHei"/>
                <a:ea typeface="Microsoft YaHei"/>
                <a:cs typeface="Microsoft YaHei"/>
              </a:rPr>
              <a:t> </a:t>
            </a:r>
            <a:r>
              <a:rPr sz="1400" b="1" kern="0" spc="-10" dirty="0">
                <a:solidFill>
                  <a:srgbClr val="000000">
                    <a:alpha val="100000"/>
                  </a:srgbClr>
                </a:solidFill>
                <a:latin typeface="Microsoft YaHei"/>
                <a:ea typeface="Microsoft YaHei"/>
                <a:cs typeface="Microsoft YaHei"/>
              </a:rPr>
              <a:t>链</a:t>
            </a:r>
            <a:r>
              <a:rPr sz="1400" b="1" kern="0" spc="-9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型 、</a:t>
            </a:r>
            <a:r>
              <a:rPr sz="1400" b="1" kern="0" spc="-10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环</a:t>
            </a:r>
            <a:r>
              <a:rPr sz="1400" b="1" kern="0" spc="-9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型 、</a:t>
            </a:r>
            <a:r>
              <a:rPr sz="1400" b="1" kern="0" spc="-9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树</a:t>
            </a:r>
            <a:r>
              <a:rPr sz="1400" b="1" kern="0" spc="-9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型</a:t>
            </a:r>
            <a:r>
              <a:rPr sz="1400" b="1" kern="0" spc="-10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和 M ES H</a:t>
            </a:r>
            <a:r>
              <a:rPr sz="1400" b="1" kern="0" spc="-10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拓</a:t>
            </a:r>
            <a:r>
              <a:rPr sz="1400" b="1" kern="0" spc="-10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扑</a:t>
            </a:r>
            <a:r>
              <a:rPr sz="1400" b="1" kern="0" spc="-110" dirty="0">
                <a:solidFill>
                  <a:srgbClr val="000000">
                    <a:alpha val="100000"/>
                  </a:srgbClr>
                </a:solidFill>
                <a:latin typeface="Microsoft YaHei"/>
                <a:ea typeface="Microsoft YaHei"/>
                <a:cs typeface="Microsoft YaHei"/>
              </a:rPr>
              <a:t> </a:t>
            </a:r>
            <a:r>
              <a:rPr sz="1400" b="1" kern="0" spc="-20" dirty="0">
                <a:solidFill>
                  <a:srgbClr val="000000">
                    <a:alpha val="100000"/>
                  </a:srgbClr>
                </a:solidFill>
                <a:latin typeface="Microsoft YaHei"/>
                <a:ea typeface="Microsoft YaHei"/>
                <a:cs typeface="Microsoft YaHei"/>
              </a:rPr>
              <a:t>组 网</a:t>
            </a:r>
            <a:endParaRPr sz="14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12700" algn="l" rtl="0" eaLnBrk="0">
              <a:lnSpc>
                <a:spcPct val="87000"/>
              </a:lnSpc>
              <a:spcBef>
                <a:spcPts val="420"/>
              </a:spcBef>
              <a:tabLst/>
            </a:pPr>
            <a:r>
              <a:rPr sz="1400" kern="0" spc="-30" dirty="0">
                <a:solidFill>
                  <a:srgbClr val="000000">
                    <a:alpha val="100000"/>
                  </a:srgbClr>
                </a:solidFill>
                <a:latin typeface="Arial"/>
                <a:ea typeface="Arial"/>
                <a:cs typeface="Arial"/>
              </a:rPr>
              <a:t>•</a:t>
            </a:r>
            <a:r>
              <a:rPr sz="1400" kern="0" spc="60" dirty="0">
                <a:solidFill>
                  <a:srgbClr val="000000">
                    <a:alpha val="100000"/>
                  </a:srgbClr>
                </a:solidFill>
                <a:latin typeface="Arial"/>
                <a:ea typeface="Arial"/>
                <a:cs typeface="Arial"/>
              </a:rPr>
              <a:t>    </a:t>
            </a:r>
            <a:r>
              <a:rPr sz="1400" b="1" kern="0" spc="-30" dirty="0">
                <a:solidFill>
                  <a:srgbClr val="000000">
                    <a:alpha val="100000"/>
                  </a:srgbClr>
                </a:solidFill>
                <a:latin typeface="Microsoft YaHei"/>
                <a:ea typeface="Microsoft YaHei"/>
                <a:cs typeface="Microsoft YaHei"/>
              </a:rPr>
              <a:t>支</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持</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多 时</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钟</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源</a:t>
            </a:r>
            <a:r>
              <a:rPr sz="1400" b="1" kern="0" spc="-11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综</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合</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守 时</a:t>
            </a:r>
            <a:endParaRPr sz="1400" dirty="0">
              <a:latin typeface="Microsoft YaHei"/>
              <a:ea typeface="Microsoft YaHei"/>
              <a:cs typeface="Microsoft YaHei"/>
            </a:endParaRPr>
          </a:p>
          <a:p>
            <a:pPr marL="461644" indent="17145" algn="l" rtl="0" eaLnBrk="0">
              <a:lnSpc>
                <a:spcPct val="199000"/>
              </a:lnSpc>
              <a:spcBef>
                <a:spcPts val="117"/>
              </a:spcBef>
              <a:tabLst/>
            </a:pPr>
            <a:r>
              <a:rPr sz="1400" kern="0" spc="-40" dirty="0">
                <a:solidFill>
                  <a:srgbClr val="000000">
                    <a:alpha val="100000"/>
                  </a:srgbClr>
                </a:solidFill>
                <a:latin typeface="Microsoft YaHei"/>
                <a:ea typeface="Microsoft YaHei"/>
                <a:cs typeface="Microsoft YaHei"/>
              </a:rPr>
              <a:t>1 .</a:t>
            </a:r>
            <a:r>
              <a:rPr sz="1400" kern="0" spc="-6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整 网</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选</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择</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一</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个 时</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钟</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源</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作 为 时</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钟</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源</a:t>
            </a:r>
            <a:r>
              <a:rPr sz="1400" kern="0" spc="-12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该 时</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钟</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源</a:t>
            </a:r>
            <a:r>
              <a:rPr sz="1400" kern="0" spc="-9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可 以</a:t>
            </a:r>
            <a:r>
              <a:rPr sz="1400" kern="0" spc="260" dirty="0">
                <a:solidFill>
                  <a:srgbClr val="000000">
                    <a:alpha val="100000"/>
                  </a:srgbClr>
                </a:solidFill>
                <a:latin typeface="Microsoft YaHei"/>
                <a:ea typeface="Microsoft YaHei"/>
                <a:cs typeface="Microsoft YaHei"/>
              </a:rPr>
              <a:t>是一个指定的时钟</a:t>
            </a:r>
            <a:r>
              <a:rPr sz="1400" kern="0" spc="-130" dirty="0">
                <a:solidFill>
                  <a:srgbClr val="000000">
                    <a:alpha val="100000"/>
                  </a:srgbClr>
                </a:solidFill>
                <a:latin typeface="Microsoft YaHei"/>
                <a:ea typeface="Microsoft YaHei"/>
                <a:cs typeface="Microsoft YaHei"/>
              </a:rPr>
              <a:t> </a:t>
            </a:r>
            <a:r>
              <a:rPr sz="1400" kern="0" spc="260" dirty="0">
                <a:solidFill>
                  <a:srgbClr val="000000">
                    <a:alpha val="100000"/>
                  </a:srgbClr>
                </a:solidFill>
                <a:latin typeface="Microsoft YaHei"/>
                <a:ea typeface="Microsoft YaHei"/>
                <a:cs typeface="Microsoft YaHei"/>
              </a:rPr>
              <a:t>，</a:t>
            </a:r>
            <a:r>
              <a:rPr sz="1400" kern="0" spc="-90" dirty="0">
                <a:solidFill>
                  <a:srgbClr val="000000">
                    <a:alpha val="100000"/>
                  </a:srgbClr>
                </a:solidFill>
                <a:latin typeface="Microsoft YaHei"/>
                <a:ea typeface="Microsoft YaHei"/>
                <a:cs typeface="Microsoft YaHei"/>
              </a:rPr>
              <a:t> </a:t>
            </a:r>
            <a:r>
              <a:rPr sz="1400" kern="0" spc="260" dirty="0">
                <a:solidFill>
                  <a:srgbClr val="000000">
                    <a:alpha val="100000"/>
                  </a:srgbClr>
                </a:solidFill>
                <a:latin typeface="Microsoft YaHei"/>
                <a:ea typeface="Microsoft YaHei"/>
                <a:cs typeface="Microsoft YaHei"/>
              </a:rPr>
              <a:t>也可以是多时钟源</a:t>
            </a:r>
            <a:r>
              <a:rPr sz="1400" kern="0" spc="250" dirty="0">
                <a:solidFill>
                  <a:srgbClr val="000000">
                    <a:alpha val="100000"/>
                  </a:srgbClr>
                </a:solidFill>
                <a:latin typeface="Microsoft YaHei"/>
                <a:ea typeface="Microsoft YaHei"/>
                <a:cs typeface="Microsoft YaHei"/>
              </a:rPr>
              <a:t>综合出的一</a:t>
            </a:r>
            <a:r>
              <a:rPr sz="1400" kern="0" spc="140" dirty="0">
                <a:solidFill>
                  <a:srgbClr val="000000">
                    <a:alpha val="100000"/>
                  </a:srgbClr>
                </a:solidFill>
                <a:latin typeface="Microsoft YaHei"/>
                <a:ea typeface="Microsoft YaHei"/>
                <a:cs typeface="Microsoft YaHei"/>
              </a:rPr>
              <a:t>个时钟</a:t>
            </a:r>
            <a:r>
              <a:rPr sz="1400" kern="0" spc="-100" dirty="0">
                <a:solidFill>
                  <a:srgbClr val="000000">
                    <a:alpha val="100000"/>
                  </a:srgbClr>
                </a:solidFill>
                <a:latin typeface="Microsoft YaHei"/>
                <a:ea typeface="Microsoft YaHei"/>
                <a:cs typeface="Microsoft YaHei"/>
              </a:rPr>
              <a:t> </a:t>
            </a:r>
            <a:r>
              <a:rPr sz="1400" kern="0" spc="140" dirty="0">
                <a:solidFill>
                  <a:srgbClr val="000000">
                    <a:alpha val="100000"/>
                  </a:srgbClr>
                </a:solidFill>
                <a:latin typeface="Microsoft YaHei"/>
                <a:ea typeface="Microsoft YaHei"/>
                <a:cs typeface="Microsoft YaHei"/>
              </a:rPr>
              <a:t>。</a:t>
            </a:r>
            <a:endParaRPr sz="1400" dirty="0">
              <a:latin typeface="Microsoft YaHei"/>
              <a:ea typeface="Microsoft YaHei"/>
              <a:cs typeface="Microsoft YaHei"/>
            </a:endParaRPr>
          </a:p>
          <a:p>
            <a:pPr marL="470534" algn="l" rtl="0" eaLnBrk="0">
              <a:lnSpc>
                <a:spcPts val="1813"/>
              </a:lnSpc>
              <a:spcBef>
                <a:spcPts val="1570"/>
              </a:spcBef>
              <a:tabLst/>
            </a:pPr>
            <a:r>
              <a:rPr sz="1400" kern="0" spc="-30" dirty="0">
                <a:solidFill>
                  <a:srgbClr val="000000">
                    <a:alpha val="100000"/>
                  </a:srgbClr>
                </a:solidFill>
                <a:latin typeface="Microsoft YaHei"/>
                <a:ea typeface="Microsoft YaHei"/>
                <a:cs typeface="Microsoft YaHei"/>
              </a:rPr>
              <a:t>2 .</a:t>
            </a:r>
            <a:r>
              <a:rPr sz="1400" kern="0" spc="-12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是 唯</a:t>
            </a:r>
            <a:r>
              <a:rPr sz="1400" kern="0" spc="-9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一</a:t>
            </a:r>
            <a:r>
              <a:rPr sz="1400" kern="0" spc="-10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可</a:t>
            </a:r>
            <a:r>
              <a:rPr sz="1400" kern="0" spc="-9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实</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现 多 时</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钟</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源</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综</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合 的</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方</a:t>
            </a:r>
            <a:r>
              <a:rPr sz="1400" kern="0" spc="-9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案</a:t>
            </a:r>
            <a:r>
              <a:rPr sz="1400" kern="0" spc="-12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a:t>
            </a:r>
            <a:endParaRPr sz="1400" dirty="0">
              <a:latin typeface="Microsoft YaHei"/>
              <a:ea typeface="Microsoft YaHei"/>
              <a:cs typeface="Microsoft YaHei"/>
            </a:endParaRPr>
          </a:p>
          <a:p>
            <a:pPr marL="462280" indent="10160" algn="l" rtl="0" eaLnBrk="0">
              <a:lnSpc>
                <a:spcPct val="191000"/>
              </a:lnSpc>
              <a:spcBef>
                <a:spcPts val="280"/>
              </a:spcBef>
              <a:tabLst/>
            </a:pPr>
            <a:r>
              <a:rPr sz="1400" kern="0" spc="-30" dirty="0">
                <a:solidFill>
                  <a:srgbClr val="000000">
                    <a:alpha val="100000"/>
                  </a:srgbClr>
                </a:solidFill>
                <a:latin typeface="Microsoft YaHei"/>
                <a:ea typeface="Microsoft YaHei"/>
                <a:cs typeface="Microsoft YaHei"/>
              </a:rPr>
              <a:t>3 . 当</a:t>
            </a:r>
            <a:r>
              <a:rPr sz="1400" kern="0" spc="-12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整 网</a:t>
            </a:r>
            <a:r>
              <a:rPr sz="1400" kern="0" spc="-11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选</a:t>
            </a:r>
            <a:r>
              <a:rPr sz="1400" kern="0" spc="-100" dirty="0">
                <a:solidFill>
                  <a:srgbClr val="000000">
                    <a:alpha val="100000"/>
                  </a:srgbClr>
                </a:solidFill>
                <a:latin typeface="Microsoft YaHei"/>
                <a:ea typeface="Microsoft YaHei"/>
                <a:cs typeface="Microsoft YaHei"/>
              </a:rPr>
              <a:t> </a:t>
            </a:r>
            <a:r>
              <a:rPr sz="1400" kern="0" spc="-30" dirty="0">
                <a:solidFill>
                  <a:srgbClr val="000000">
                    <a:alpha val="100000"/>
                  </a:srgbClr>
                </a:solidFill>
                <a:latin typeface="Microsoft YaHei"/>
                <a:ea typeface="Microsoft YaHei"/>
                <a:cs typeface="Microsoft YaHei"/>
              </a:rPr>
              <a:t>择 </a:t>
            </a:r>
            <a:r>
              <a:rPr sz="1400" kern="0" spc="-40" dirty="0">
                <a:solidFill>
                  <a:srgbClr val="000000">
                    <a:alpha val="100000"/>
                  </a:srgbClr>
                </a:solidFill>
                <a:latin typeface="Microsoft YaHei"/>
                <a:ea typeface="Microsoft YaHei"/>
                <a:cs typeface="Microsoft YaHei"/>
              </a:rPr>
              <a:t>的 时</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钟</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源 出</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现</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故 障</a:t>
            </a:r>
            <a:r>
              <a:rPr sz="1400" kern="0" spc="-12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则</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依</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据</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算</a:t>
            </a:r>
            <a:r>
              <a:rPr sz="1400" kern="0" spc="-10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法</a:t>
            </a:r>
            <a:r>
              <a:rPr sz="1400" kern="0" spc="-9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规</a:t>
            </a:r>
            <a:r>
              <a:rPr sz="1400" kern="0" spc="-110" dirty="0">
                <a:solidFill>
                  <a:srgbClr val="000000">
                    <a:alpha val="100000"/>
                  </a:srgbClr>
                </a:solidFill>
                <a:latin typeface="Microsoft YaHei"/>
                <a:ea typeface="Microsoft YaHei"/>
                <a:cs typeface="Microsoft YaHei"/>
              </a:rPr>
              <a:t> </a:t>
            </a:r>
            <a:r>
              <a:rPr sz="1400" kern="0" spc="-40" dirty="0">
                <a:solidFill>
                  <a:srgbClr val="000000">
                    <a:alpha val="100000"/>
                  </a:srgbClr>
                </a:solidFill>
                <a:latin typeface="Microsoft YaHei"/>
                <a:ea typeface="Microsoft YaHei"/>
                <a:cs typeface="Microsoft YaHei"/>
              </a:rPr>
              <a:t>则</a:t>
            </a:r>
            <a:r>
              <a:rPr sz="1400" kern="0" spc="250" dirty="0">
                <a:solidFill>
                  <a:srgbClr val="000000">
                    <a:alpha val="100000"/>
                  </a:srgbClr>
                </a:solidFill>
                <a:latin typeface="Microsoft YaHei"/>
                <a:ea typeface="Microsoft YaHei"/>
                <a:cs typeface="Microsoft YaHei"/>
              </a:rPr>
              <a:t>选择另外一个作为主时钟源</a:t>
            </a:r>
            <a:r>
              <a:rPr sz="1400" kern="0" spc="-100" dirty="0">
                <a:solidFill>
                  <a:srgbClr val="000000">
                    <a:alpha val="100000"/>
                  </a:srgbClr>
                </a:solidFill>
                <a:latin typeface="Microsoft YaHei"/>
                <a:ea typeface="Microsoft YaHei"/>
                <a:cs typeface="Microsoft YaHei"/>
              </a:rPr>
              <a:t> </a:t>
            </a:r>
            <a:r>
              <a:rPr sz="1400" kern="0" spc="250" dirty="0">
                <a:solidFill>
                  <a:srgbClr val="000000">
                    <a:alpha val="100000"/>
                  </a:srgbClr>
                </a:solidFill>
                <a:latin typeface="Microsoft YaHei"/>
                <a:ea typeface="Microsoft YaHei"/>
                <a:cs typeface="Microsoft YaHei"/>
              </a:rPr>
              <a:t>。</a:t>
            </a:r>
            <a:endParaRPr sz="14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marL="12700" algn="l" rtl="0" eaLnBrk="0">
              <a:lnSpc>
                <a:spcPct val="83000"/>
              </a:lnSpc>
              <a:spcBef>
                <a:spcPts val="422"/>
              </a:spcBef>
              <a:tabLst/>
            </a:pPr>
            <a:r>
              <a:rPr sz="1400" kern="0" spc="-30" dirty="0">
                <a:solidFill>
                  <a:srgbClr val="000000">
                    <a:alpha val="100000"/>
                  </a:srgbClr>
                </a:solidFill>
                <a:latin typeface="Arial"/>
                <a:ea typeface="Arial"/>
                <a:cs typeface="Arial"/>
              </a:rPr>
              <a:t>•</a:t>
            </a:r>
            <a:r>
              <a:rPr sz="1400" kern="0" spc="60" dirty="0">
                <a:solidFill>
                  <a:srgbClr val="000000">
                    <a:alpha val="100000"/>
                  </a:srgbClr>
                </a:solidFill>
                <a:latin typeface="Arial"/>
                <a:ea typeface="Arial"/>
                <a:cs typeface="Arial"/>
              </a:rPr>
              <a:t>    </a:t>
            </a:r>
            <a:r>
              <a:rPr sz="1400" b="1" kern="0" spc="-30" dirty="0">
                <a:solidFill>
                  <a:srgbClr val="000000">
                    <a:alpha val="100000"/>
                  </a:srgbClr>
                </a:solidFill>
                <a:latin typeface="Microsoft YaHei"/>
                <a:ea typeface="Microsoft YaHei"/>
                <a:cs typeface="Microsoft YaHei"/>
              </a:rPr>
              <a:t>当</a:t>
            </a:r>
            <a:r>
              <a:rPr sz="1400" b="1" kern="0" spc="-7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级</a:t>
            </a:r>
            <a:r>
              <a:rPr sz="1400" b="1" kern="0" spc="-11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联</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传</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递</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授 时</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信</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号 时 ，</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授</a:t>
            </a:r>
            <a:r>
              <a:rPr sz="1400" b="1" kern="0" spc="-40" dirty="0">
                <a:solidFill>
                  <a:srgbClr val="000000">
                    <a:alpha val="100000"/>
                  </a:srgbClr>
                </a:solidFill>
                <a:latin typeface="Microsoft YaHei"/>
                <a:ea typeface="Microsoft YaHei"/>
                <a:cs typeface="Microsoft YaHei"/>
              </a:rPr>
              <a:t> 时</a:t>
            </a:r>
            <a:r>
              <a:rPr sz="1400" b="1" kern="0" spc="-12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精</a:t>
            </a:r>
            <a:r>
              <a:rPr sz="1400" b="1" kern="0" spc="-11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度 的</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均</a:t>
            </a:r>
            <a:r>
              <a:rPr sz="1400" b="1" kern="0" spc="-11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值</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不</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变 ，</a:t>
            </a:r>
            <a:r>
              <a:rPr sz="1400" b="1" kern="0" spc="-9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方</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差</a:t>
            </a:r>
            <a:endParaRPr sz="1400" dirty="0">
              <a:latin typeface="Microsoft YaHei"/>
              <a:ea typeface="Microsoft YaHei"/>
              <a:cs typeface="Microsoft YaHei"/>
            </a:endParaRPr>
          </a:p>
          <a:p>
            <a:pPr marL="291465" algn="l" rtl="0" eaLnBrk="0">
              <a:lnSpc>
                <a:spcPts val="3410"/>
              </a:lnSpc>
              <a:tabLst/>
            </a:pPr>
            <a:r>
              <a:rPr sz="1400" b="1" kern="0" spc="-30" dirty="0">
                <a:solidFill>
                  <a:srgbClr val="000000">
                    <a:alpha val="100000"/>
                  </a:srgbClr>
                </a:solidFill>
                <a:latin typeface="Microsoft YaHei"/>
                <a:ea typeface="Microsoft YaHei"/>
                <a:cs typeface="Microsoft YaHei"/>
              </a:rPr>
              <a:t>是   </a:t>
            </a:r>
            <a:r>
              <a:rPr sz="1400" kern="0" spc="-30" dirty="0">
                <a:solidFill>
                  <a:srgbClr val="000000">
                    <a:alpha val="100000"/>
                  </a:srgbClr>
                </a:solidFill>
                <a:latin typeface="Cambria Math"/>
                <a:ea typeface="Cambria Math"/>
                <a:cs typeface="Cambria Math"/>
              </a:rPr>
              <a:t>N  ∗ </a:t>
            </a:r>
            <a:r>
              <a:rPr sz="1400" b="1" kern="0" spc="-30" dirty="0">
                <a:solidFill>
                  <a:srgbClr val="000000">
                    <a:alpha val="100000"/>
                  </a:srgbClr>
                </a:solidFill>
                <a:latin typeface="Microsoft YaHei"/>
                <a:ea typeface="Microsoft YaHei"/>
                <a:cs typeface="Microsoft YaHei"/>
              </a:rPr>
              <a:t>σ</a:t>
            </a:r>
            <a:r>
              <a:rPr sz="1400" b="1" kern="0" spc="6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a:t>
            </a:r>
            <a:r>
              <a:rPr sz="1400" b="1" kern="0" spc="4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N</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是</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跳</a:t>
            </a:r>
            <a:r>
              <a:rPr sz="1400" b="1" kern="0" spc="-11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数</a:t>
            </a:r>
            <a:r>
              <a:rPr sz="1400" b="1" kern="0" spc="6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 σ</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是</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单</a:t>
            </a:r>
            <a:r>
              <a:rPr sz="1400" b="1" kern="0" spc="-9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跳 的</a:t>
            </a:r>
            <a:r>
              <a:rPr sz="1400" b="1" kern="0" spc="-100" dirty="0">
                <a:solidFill>
                  <a:srgbClr val="000000">
                    <a:alpha val="100000"/>
                  </a:srgbClr>
                </a:solidFill>
                <a:latin typeface="Microsoft YaHei"/>
                <a:ea typeface="Microsoft YaHei"/>
                <a:cs typeface="Microsoft YaHei"/>
              </a:rPr>
              <a:t> </a:t>
            </a:r>
            <a:r>
              <a:rPr sz="1400" b="1" kern="0" spc="-30" dirty="0">
                <a:solidFill>
                  <a:srgbClr val="000000">
                    <a:alpha val="100000"/>
                  </a:srgbClr>
                </a:solidFill>
                <a:latin typeface="Microsoft YaHei"/>
                <a:ea typeface="Microsoft YaHei"/>
                <a:cs typeface="Microsoft YaHei"/>
              </a:rPr>
              <a:t>授 </a:t>
            </a:r>
            <a:r>
              <a:rPr sz="1400" b="1" kern="0" spc="-40" dirty="0">
                <a:solidFill>
                  <a:srgbClr val="000000">
                    <a:alpha val="100000"/>
                  </a:srgbClr>
                </a:solidFill>
                <a:latin typeface="Microsoft YaHei"/>
                <a:ea typeface="Microsoft YaHei"/>
                <a:cs typeface="Microsoft YaHei"/>
              </a:rPr>
              <a:t>时</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方</a:t>
            </a:r>
            <a:r>
              <a:rPr sz="1400" b="1" kern="0" spc="-10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差</a:t>
            </a:r>
            <a:r>
              <a:rPr sz="1400" b="1" kern="0" spc="-120" dirty="0">
                <a:solidFill>
                  <a:srgbClr val="000000">
                    <a:alpha val="100000"/>
                  </a:srgbClr>
                </a:solidFill>
                <a:latin typeface="Microsoft YaHei"/>
                <a:ea typeface="Microsoft YaHei"/>
                <a:cs typeface="Microsoft YaHei"/>
              </a:rPr>
              <a:t> </a:t>
            </a:r>
            <a:r>
              <a:rPr sz="1400" b="1" kern="0" spc="-40" dirty="0">
                <a:solidFill>
                  <a:srgbClr val="000000">
                    <a:alpha val="100000"/>
                  </a:srgbClr>
                </a:solidFill>
                <a:latin typeface="Microsoft YaHei"/>
                <a:ea typeface="Microsoft YaHei"/>
                <a:cs typeface="Microsoft YaHei"/>
              </a:rPr>
              <a:t>。</a:t>
            </a:r>
            <a:endParaRPr sz="1400" dirty="0">
              <a:latin typeface="Microsoft YaHei"/>
              <a:ea typeface="Microsoft YaHei"/>
              <a:cs typeface="Microsoft YaHei"/>
            </a:endParaRPr>
          </a:p>
        </p:txBody>
      </p:sp>
      <p:pic>
        <p:nvPicPr>
          <p:cNvPr id="16" name="picture 16"/>
          <p:cNvPicPr>
            <a:picLocks noChangeAspect="1"/>
          </p:cNvPicPr>
          <p:nvPr/>
        </p:nvPicPr>
        <p:blipFill>
          <a:blip r:embed="rId2"/>
          <a:stretch>
            <a:fillRect/>
          </a:stretch>
        </p:blipFill>
        <p:spPr>
          <a:xfrm rot="21600000">
            <a:off x="1011936" y="1101323"/>
            <a:ext cx="4102368" cy="2821593"/>
          </a:xfrm>
          <a:prstGeom prst="rect">
            <a:avLst/>
          </a:prstGeom>
        </p:spPr>
      </p:pic>
      <p:pic>
        <p:nvPicPr>
          <p:cNvPr id="18" name="picture 18"/>
          <p:cNvPicPr>
            <a:picLocks noChangeAspect="1"/>
          </p:cNvPicPr>
          <p:nvPr/>
        </p:nvPicPr>
        <p:blipFill>
          <a:blip r:embed="rId3"/>
          <a:stretch>
            <a:fillRect/>
          </a:stretch>
        </p:blipFill>
        <p:spPr>
          <a:xfrm rot="21600000">
            <a:off x="1017490" y="4351881"/>
            <a:ext cx="4147396" cy="2246839"/>
          </a:xfrm>
          <a:prstGeom prst="rect">
            <a:avLst/>
          </a:prstGeom>
        </p:spPr>
      </p:pic>
      <p:sp>
        <p:nvSpPr>
          <p:cNvPr id="20" name="textbox 20"/>
          <p:cNvSpPr/>
          <p:nvPr/>
        </p:nvSpPr>
        <p:spPr>
          <a:xfrm>
            <a:off x="4036250" y="168414"/>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p:nvPr/>
        </p:nvSpPr>
        <p:spPr>
          <a:xfrm>
            <a:off x="5462558" y="1805768"/>
            <a:ext cx="5952490" cy="1933575"/>
          </a:xfrm>
          <a:prstGeom prst="rect">
            <a:avLst/>
          </a:prstGeom>
          <a:noFill/>
          <a:ln w="0" cap="flat">
            <a:noFill/>
            <a:prstDash val="solid"/>
            <a:miter lim="0"/>
          </a:ln>
        </p:spPr>
        <p:txBody>
          <a:bodyPr vert="horz" wrap="square" lIns="0" tIns="0" rIns="0" bIns="0"/>
          <a:lstStyle/>
          <a:p>
            <a:pPr algn="l" rtl="0" eaLnBrk="0">
              <a:lnSpc>
                <a:spcPct val="79126"/>
              </a:lnSpc>
              <a:tabLst/>
            </a:pPr>
            <a:endParaRPr sz="100" dirty="0">
              <a:latin typeface="Arial"/>
              <a:ea typeface="Arial"/>
              <a:cs typeface="Arial"/>
            </a:endParaRPr>
          </a:p>
          <a:p>
            <a:pPr marL="19050" algn="l" rtl="0" eaLnBrk="0">
              <a:lnSpc>
                <a:spcPct val="87000"/>
              </a:lnSpc>
              <a:tabLst/>
            </a:pPr>
            <a:r>
              <a:rPr sz="2000" b="1" kern="0" spc="210" dirty="0">
                <a:solidFill>
                  <a:srgbClr val="0C0C14">
                    <a:alpha val="100000"/>
                  </a:srgbClr>
                </a:solidFill>
                <a:latin typeface="Microsoft YaHei"/>
                <a:ea typeface="Microsoft YaHei"/>
                <a:cs typeface="Microsoft YaHei"/>
              </a:rPr>
              <a:t>市场进展</a:t>
            </a:r>
            <a:endParaRPr sz="2000" dirty="0">
              <a:latin typeface="Microsoft YaHei"/>
              <a:ea typeface="Microsoft YaHei"/>
              <a:cs typeface="Microsoft YaHei"/>
            </a:endParaRPr>
          </a:p>
          <a:p>
            <a:pPr marL="28575" algn="l" rtl="0" eaLnBrk="0">
              <a:lnSpc>
                <a:spcPts val="1813"/>
              </a:lnSpc>
              <a:spcBef>
                <a:spcPts val="1070"/>
              </a:spcBef>
              <a:tabLst/>
            </a:pPr>
            <a:r>
              <a:rPr sz="1400" kern="0" spc="240" dirty="0">
                <a:solidFill>
                  <a:srgbClr val="0C0C14">
                    <a:alpha val="100000"/>
                  </a:srgbClr>
                </a:solidFill>
                <a:latin typeface="Microsoft YaHei"/>
                <a:ea typeface="Microsoft YaHei"/>
                <a:cs typeface="Microsoft YaHei"/>
              </a:rPr>
              <a:t>1</a:t>
            </a:r>
            <a:r>
              <a:rPr sz="1400" kern="0" spc="-30" dirty="0">
                <a:solidFill>
                  <a:srgbClr val="0C0C14">
                    <a:alpha val="100000"/>
                  </a:srgbClr>
                </a:solidFill>
                <a:latin typeface="Microsoft YaHei"/>
                <a:ea typeface="Microsoft YaHei"/>
                <a:cs typeface="Microsoft YaHei"/>
              </a:rPr>
              <a:t> </a:t>
            </a:r>
            <a:r>
              <a:rPr sz="1400" kern="0" spc="240" dirty="0">
                <a:solidFill>
                  <a:srgbClr val="0C0C14">
                    <a:alpha val="100000"/>
                  </a:srgbClr>
                </a:solidFill>
                <a:latin typeface="Microsoft YaHei"/>
                <a:ea typeface="Microsoft YaHei"/>
                <a:cs typeface="Microsoft YaHei"/>
              </a:rPr>
              <a:t>、</a:t>
            </a:r>
            <a:r>
              <a:rPr sz="1400" kern="0" spc="-20" dirty="0">
                <a:solidFill>
                  <a:srgbClr val="0C0C14">
                    <a:alpha val="100000"/>
                  </a:srgbClr>
                </a:solidFill>
                <a:latin typeface="Microsoft YaHei"/>
                <a:ea typeface="Microsoft YaHei"/>
                <a:cs typeface="Microsoft YaHei"/>
              </a:rPr>
              <a:t> </a:t>
            </a:r>
            <a:r>
              <a:rPr sz="1400" kern="0" spc="240" dirty="0">
                <a:solidFill>
                  <a:srgbClr val="0C0C14">
                    <a:alpha val="100000"/>
                  </a:srgbClr>
                </a:solidFill>
                <a:latin typeface="Microsoft YaHei"/>
                <a:ea typeface="Microsoft YaHei"/>
                <a:cs typeface="Microsoft YaHei"/>
              </a:rPr>
              <a:t>国内唯一通过泰尔实验室多场景长时间测</a:t>
            </a:r>
            <a:r>
              <a:rPr sz="1400" kern="0" spc="230" dirty="0">
                <a:solidFill>
                  <a:srgbClr val="0C0C14">
                    <a:alpha val="100000"/>
                  </a:srgbClr>
                </a:solidFill>
                <a:latin typeface="Microsoft YaHei"/>
                <a:ea typeface="Microsoft YaHei"/>
                <a:cs typeface="Microsoft YaHei"/>
              </a:rPr>
              <a:t>试的厂家</a:t>
            </a:r>
            <a:r>
              <a:rPr sz="1400" kern="0" spc="-120" dirty="0">
                <a:solidFill>
                  <a:srgbClr val="0C0C14">
                    <a:alpha val="100000"/>
                  </a:srgbClr>
                </a:solidFill>
                <a:latin typeface="Microsoft YaHei"/>
                <a:ea typeface="Microsoft YaHei"/>
                <a:cs typeface="Microsoft YaHei"/>
              </a:rPr>
              <a:t> </a:t>
            </a:r>
            <a:r>
              <a:rPr sz="1400" kern="0" spc="23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a:p>
            <a:pPr marL="12700" indent="7620" algn="l" rtl="0" eaLnBrk="0">
              <a:lnSpc>
                <a:spcPct val="147000"/>
              </a:lnSpc>
              <a:spcBef>
                <a:spcPts val="78"/>
              </a:spcBef>
              <a:tabLst/>
            </a:pPr>
            <a:r>
              <a:rPr sz="1400" kern="0" spc="-10" dirty="0">
                <a:solidFill>
                  <a:srgbClr val="0C0C14">
                    <a:alpha val="100000"/>
                  </a:srgbClr>
                </a:solidFill>
                <a:latin typeface="Microsoft YaHei"/>
                <a:ea typeface="Microsoft YaHei"/>
                <a:cs typeface="Microsoft YaHei"/>
              </a:rPr>
              <a:t>2 、</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JW LC</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确</a:t>
            </a:r>
            <a:r>
              <a:rPr sz="1400" kern="0" spc="-10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定 为</a:t>
            </a:r>
            <a:r>
              <a:rPr sz="1400" kern="0" spc="-10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能</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满</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足</a:t>
            </a:r>
            <a:r>
              <a:rPr sz="1400" kern="0" spc="-10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其</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a:t>
            </a:r>
            <a:r>
              <a:rPr sz="1400" kern="0" spc="-9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十 四</a:t>
            </a:r>
            <a:r>
              <a:rPr sz="1400" kern="0" spc="-9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五 ”</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a:t>
            </a:r>
            <a:r>
              <a:rPr sz="1400" kern="0" spc="-9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十</a:t>
            </a:r>
            <a:r>
              <a:rPr sz="1400" kern="0" spc="-9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五</a:t>
            </a:r>
            <a:r>
              <a:rPr sz="1400" kern="0" spc="-9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五 ”</a:t>
            </a:r>
            <a:r>
              <a:rPr sz="1400" kern="0" spc="-18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大</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规</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模</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建</a:t>
            </a:r>
            <a:r>
              <a:rPr sz="1400" kern="0" spc="-9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设</a:t>
            </a:r>
            <a:r>
              <a:rPr sz="1400" kern="0" spc="260" dirty="0">
                <a:solidFill>
                  <a:srgbClr val="0C0C14">
                    <a:alpha val="100000"/>
                  </a:srgbClr>
                </a:solidFill>
                <a:latin typeface="Microsoft YaHei"/>
                <a:ea typeface="Microsoft YaHei"/>
                <a:cs typeface="Microsoft YaHei"/>
              </a:rPr>
              <a:t>新一代光纤授时网唯一</a:t>
            </a:r>
            <a:r>
              <a:rPr sz="1400" kern="0" spc="250" dirty="0">
                <a:solidFill>
                  <a:srgbClr val="0C0C14">
                    <a:alpha val="100000"/>
                  </a:srgbClr>
                </a:solidFill>
                <a:latin typeface="Microsoft YaHei"/>
                <a:ea typeface="Microsoft YaHei"/>
                <a:cs typeface="Microsoft YaHei"/>
              </a:rPr>
              <a:t>厂家</a:t>
            </a:r>
            <a:r>
              <a:rPr sz="1400" kern="0" spc="-130" dirty="0">
                <a:solidFill>
                  <a:srgbClr val="0C0C14">
                    <a:alpha val="100000"/>
                  </a:srgbClr>
                </a:solidFill>
                <a:latin typeface="Microsoft YaHei"/>
                <a:ea typeface="Microsoft YaHei"/>
                <a:cs typeface="Microsoft YaHei"/>
              </a:rPr>
              <a:t> </a:t>
            </a:r>
            <a:r>
              <a:rPr sz="1400" kern="0" spc="250" dirty="0">
                <a:solidFill>
                  <a:srgbClr val="0C0C14">
                    <a:alpha val="100000"/>
                  </a:srgbClr>
                </a:solidFill>
                <a:latin typeface="Microsoft YaHei"/>
                <a:ea typeface="Microsoft YaHei"/>
                <a:cs typeface="Microsoft YaHei"/>
              </a:rPr>
              <a:t>，</a:t>
            </a:r>
            <a:r>
              <a:rPr sz="1400" kern="0" spc="-80" dirty="0">
                <a:solidFill>
                  <a:srgbClr val="0C0C14">
                    <a:alpha val="100000"/>
                  </a:srgbClr>
                </a:solidFill>
                <a:latin typeface="Microsoft YaHei"/>
                <a:ea typeface="Microsoft YaHei"/>
                <a:cs typeface="Microsoft YaHei"/>
              </a:rPr>
              <a:t> </a:t>
            </a:r>
            <a:r>
              <a:rPr sz="1400" kern="0" spc="250" dirty="0">
                <a:solidFill>
                  <a:srgbClr val="0C0C14">
                    <a:alpha val="100000"/>
                  </a:srgbClr>
                </a:solidFill>
                <a:latin typeface="Microsoft YaHei"/>
                <a:ea typeface="Microsoft YaHei"/>
                <a:cs typeface="Microsoft YaHei"/>
              </a:rPr>
              <a:t>并在重大专题中给予经费支持</a:t>
            </a:r>
            <a:r>
              <a:rPr sz="1400" kern="0" spc="-120" dirty="0">
                <a:solidFill>
                  <a:srgbClr val="0C0C14">
                    <a:alpha val="100000"/>
                  </a:srgbClr>
                </a:solidFill>
                <a:latin typeface="Microsoft YaHei"/>
                <a:ea typeface="Microsoft YaHei"/>
                <a:cs typeface="Microsoft YaHei"/>
              </a:rPr>
              <a:t> </a:t>
            </a:r>
            <a:r>
              <a:rPr sz="1400" kern="0" spc="25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a:p>
            <a:pPr marL="12700" indent="9525" algn="l" rtl="0" eaLnBrk="0">
              <a:lnSpc>
                <a:spcPct val="147000"/>
              </a:lnSpc>
              <a:spcBef>
                <a:spcPts val="101"/>
              </a:spcBef>
              <a:tabLst/>
            </a:pPr>
            <a:r>
              <a:rPr sz="1400" kern="0" spc="-20" dirty="0">
                <a:solidFill>
                  <a:srgbClr val="0C0C14">
                    <a:alpha val="100000"/>
                  </a:srgbClr>
                </a:solidFill>
                <a:latin typeface="Microsoft YaHei"/>
                <a:ea typeface="Microsoft YaHei"/>
                <a:cs typeface="Microsoft YaHei"/>
              </a:rPr>
              <a:t>3 、</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高</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精</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度</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地</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基</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授 时</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系</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统 ”</a:t>
            </a:r>
            <a:r>
              <a:rPr sz="1400" kern="0" spc="-18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列</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入 国</a:t>
            </a:r>
            <a:r>
              <a:rPr sz="1400" kern="0" spc="-8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家</a:t>
            </a:r>
            <a:r>
              <a:rPr sz="1400" kern="0" spc="-12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a:t>
            </a:r>
            <a:r>
              <a:rPr sz="1400" kern="0" spc="-8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十 四</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五</a:t>
            </a:r>
            <a:r>
              <a:rPr sz="1400" kern="0" spc="-30" dirty="0">
                <a:solidFill>
                  <a:srgbClr val="0C0C14">
                    <a:alpha val="100000"/>
                  </a:srgbClr>
                </a:solidFill>
                <a:latin typeface="Microsoft YaHei"/>
                <a:ea typeface="Microsoft YaHei"/>
                <a:cs typeface="Microsoft YaHei"/>
              </a:rPr>
              <a:t> ”</a:t>
            </a:r>
            <a:r>
              <a:rPr sz="1400" kern="0" spc="-170" dirty="0">
                <a:solidFill>
                  <a:srgbClr val="0C0C14">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规</a:t>
            </a:r>
            <a:r>
              <a:rPr sz="1400" kern="0" spc="-110" dirty="0">
                <a:solidFill>
                  <a:srgbClr val="0C0C14">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划 10 2</a:t>
            </a:r>
            <a:r>
              <a:rPr sz="1400" kern="0" spc="-100" dirty="0">
                <a:solidFill>
                  <a:srgbClr val="0C0C14">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项</a:t>
            </a:r>
            <a:r>
              <a:rPr sz="1400" kern="0" spc="-100" dirty="0">
                <a:solidFill>
                  <a:srgbClr val="0C0C14">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重</a:t>
            </a:r>
            <a:r>
              <a:rPr sz="1400" kern="0" spc="170" dirty="0">
                <a:solidFill>
                  <a:srgbClr val="0C0C14">
                    <a:alpha val="100000"/>
                  </a:srgbClr>
                </a:solidFill>
                <a:latin typeface="Microsoft YaHei"/>
                <a:ea typeface="Microsoft YaHei"/>
                <a:cs typeface="Microsoft YaHei"/>
              </a:rPr>
              <a:t>大工程中</a:t>
            </a:r>
            <a:r>
              <a:rPr sz="1400" kern="0" spc="-100" dirty="0">
                <a:solidFill>
                  <a:srgbClr val="0C0C14">
                    <a:alpha val="100000"/>
                  </a:srgbClr>
                </a:solidFill>
                <a:latin typeface="Microsoft YaHei"/>
                <a:ea typeface="Microsoft YaHei"/>
                <a:cs typeface="Microsoft YaHei"/>
              </a:rPr>
              <a:t> </a:t>
            </a:r>
            <a:r>
              <a:rPr sz="1400" kern="0" spc="17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p:txBody>
      </p:sp>
      <p:pic>
        <p:nvPicPr>
          <p:cNvPr id="24" name="picture 24"/>
          <p:cNvPicPr>
            <a:picLocks noChangeAspect="1"/>
          </p:cNvPicPr>
          <p:nvPr/>
        </p:nvPicPr>
        <p:blipFill>
          <a:blip r:embed="rId2"/>
          <a:stretch>
            <a:fillRect/>
          </a:stretch>
        </p:blipFill>
        <p:spPr>
          <a:xfrm rot="21600000">
            <a:off x="5594603" y="4021835"/>
            <a:ext cx="4101083" cy="2203704"/>
          </a:xfrm>
          <a:prstGeom prst="rect">
            <a:avLst/>
          </a:prstGeom>
        </p:spPr>
      </p:pic>
      <p:sp>
        <p:nvSpPr>
          <p:cNvPr id="26" name="path 26"/>
          <p:cNvSpPr/>
          <p:nvPr/>
        </p:nvSpPr>
        <p:spPr>
          <a:xfrm>
            <a:off x="1855114" y="2595422"/>
            <a:ext cx="281444" cy="171450"/>
          </a:xfrm>
          <a:custGeom>
            <a:avLst/>
            <a:gdLst/>
            <a:ahLst/>
            <a:cxnLst/>
            <a:rect l="0" t="0" r="0" b="0"/>
            <a:pathLst>
              <a:path w="443" h="270">
                <a:moveTo>
                  <a:pt x="44" y="127"/>
                </a:moveTo>
                <a:lnTo>
                  <a:pt x="93" y="233"/>
                </a:lnTo>
                <a:lnTo>
                  <a:pt x="160" y="0"/>
                </a:lnTo>
                <a:lnTo>
                  <a:pt x="443" y="0"/>
                </a:lnTo>
                <a:lnTo>
                  <a:pt x="443" y="18"/>
                </a:lnTo>
                <a:lnTo>
                  <a:pt x="178" y="18"/>
                </a:lnTo>
                <a:lnTo>
                  <a:pt x="178" y="17"/>
                </a:lnTo>
                <a:lnTo>
                  <a:pt x="170" y="17"/>
                </a:lnTo>
                <a:lnTo>
                  <a:pt x="97" y="270"/>
                </a:lnTo>
                <a:lnTo>
                  <a:pt x="83" y="270"/>
                </a:lnTo>
                <a:lnTo>
                  <a:pt x="27" y="148"/>
                </a:lnTo>
                <a:lnTo>
                  <a:pt x="4" y="158"/>
                </a:lnTo>
                <a:lnTo>
                  <a:pt x="0" y="148"/>
                </a:lnTo>
                <a:lnTo>
                  <a:pt x="44" y="127"/>
                </a:lnTo>
              </a:path>
            </a:pathLst>
          </a:custGeom>
          <a:solidFill>
            <a:srgbClr val="0C0C14">
              <a:alpha val="100000"/>
            </a:srgbClr>
          </a:solidFill>
          <a:ln w="0" cap="flat">
            <a:noFill/>
            <a:prstDash val="solid"/>
            <a:miter lim="0"/>
          </a:ln>
        </p:spPr>
        <p:txBody>
          <a:bodyPr rtlCol="0"/>
          <a:lstStyle/>
          <a:p>
            <a:pPr algn="ctr"/>
            <a:endParaRPr lang="zh-CN" altLang="en-US"/>
          </a:p>
        </p:txBody>
      </p:sp>
      <p:sp>
        <p:nvSpPr>
          <p:cNvPr id="28" name="textbox 28"/>
          <p:cNvSpPr/>
          <p:nvPr/>
        </p:nvSpPr>
        <p:spPr>
          <a:xfrm>
            <a:off x="795700" y="1809870"/>
            <a:ext cx="4195445" cy="1962785"/>
          </a:xfrm>
          <a:prstGeom prst="rect">
            <a:avLst/>
          </a:prstGeom>
          <a:noFill/>
          <a:ln w="0" cap="flat">
            <a:noFill/>
            <a:prstDash val="solid"/>
            <a:miter lim="0"/>
          </a:ln>
        </p:spPr>
        <p:txBody>
          <a:bodyPr vert="horz" wrap="square" lIns="0" tIns="0" rIns="0" bIns="0"/>
          <a:lstStyle/>
          <a:p>
            <a:pPr algn="l" rtl="0" eaLnBrk="0">
              <a:lnSpc>
                <a:spcPct val="82424"/>
              </a:lnSpc>
              <a:tabLst/>
            </a:pPr>
            <a:endParaRPr sz="100" dirty="0">
              <a:latin typeface="Arial"/>
              <a:ea typeface="Arial"/>
              <a:cs typeface="Arial"/>
            </a:endParaRPr>
          </a:p>
          <a:p>
            <a:pPr marL="12700" algn="l" rtl="0" eaLnBrk="0">
              <a:lnSpc>
                <a:spcPct val="87000"/>
              </a:lnSpc>
              <a:tabLst/>
            </a:pPr>
            <a:r>
              <a:rPr sz="2000" b="1" kern="0" spc="220" dirty="0">
                <a:solidFill>
                  <a:srgbClr val="0C0C14">
                    <a:alpha val="100000"/>
                  </a:srgbClr>
                </a:solidFill>
                <a:latin typeface="Microsoft YaHei"/>
                <a:ea typeface="Microsoft YaHei"/>
                <a:cs typeface="Microsoft YaHei"/>
              </a:rPr>
              <a:t>产品优势</a:t>
            </a:r>
            <a:endParaRPr sz="2000" dirty="0">
              <a:latin typeface="Microsoft YaHei"/>
              <a:ea typeface="Microsoft YaHei"/>
              <a:cs typeface="Microsoft YaHei"/>
            </a:endParaRPr>
          </a:p>
          <a:p>
            <a:pPr marL="27305" indent="635" algn="l" rtl="0" eaLnBrk="0">
              <a:lnSpc>
                <a:spcPct val="147000"/>
              </a:lnSpc>
              <a:spcBef>
                <a:spcPts val="806"/>
              </a:spcBef>
              <a:tabLst/>
            </a:pPr>
            <a:r>
              <a:rPr sz="1400" kern="0" spc="-40" dirty="0">
                <a:solidFill>
                  <a:srgbClr val="0C0C14">
                    <a:alpha val="100000"/>
                  </a:srgbClr>
                </a:solidFill>
                <a:latin typeface="Microsoft YaHei"/>
                <a:ea typeface="Microsoft YaHei"/>
                <a:cs typeface="Microsoft YaHei"/>
              </a:rPr>
              <a:t>1 、 </a:t>
            </a:r>
            <a:r>
              <a:rPr sz="1400" b="1" kern="0" spc="-40" dirty="0">
                <a:solidFill>
                  <a:srgbClr val="C00000">
                    <a:alpha val="100000"/>
                  </a:srgbClr>
                </a:solidFill>
                <a:latin typeface="Microsoft YaHei"/>
                <a:ea typeface="Microsoft YaHei"/>
                <a:cs typeface="Microsoft YaHei"/>
              </a:rPr>
              <a:t>超</a:t>
            </a:r>
            <a:r>
              <a:rPr sz="1400" b="1" kern="0" spc="-90" dirty="0">
                <a:solidFill>
                  <a:srgbClr val="C00000">
                    <a:alpha val="100000"/>
                  </a:srgbClr>
                </a:solidFill>
                <a:latin typeface="Microsoft YaHei"/>
                <a:ea typeface="Microsoft YaHei"/>
                <a:cs typeface="Microsoft YaHei"/>
              </a:rPr>
              <a:t> </a:t>
            </a:r>
            <a:r>
              <a:rPr sz="1400" b="1" kern="0" spc="-40" dirty="0">
                <a:solidFill>
                  <a:srgbClr val="C00000">
                    <a:alpha val="100000"/>
                  </a:srgbClr>
                </a:solidFill>
                <a:latin typeface="Microsoft YaHei"/>
                <a:ea typeface="Microsoft YaHei"/>
                <a:cs typeface="Microsoft YaHei"/>
              </a:rPr>
              <a:t>高</a:t>
            </a:r>
            <a:r>
              <a:rPr sz="1400" b="1" kern="0" spc="-110" dirty="0">
                <a:solidFill>
                  <a:srgbClr val="C00000">
                    <a:alpha val="100000"/>
                  </a:srgbClr>
                </a:solidFill>
                <a:latin typeface="Microsoft YaHei"/>
                <a:ea typeface="Microsoft YaHei"/>
                <a:cs typeface="Microsoft YaHei"/>
              </a:rPr>
              <a:t> </a:t>
            </a:r>
            <a:r>
              <a:rPr sz="1400" b="1" kern="0" spc="-40" dirty="0">
                <a:solidFill>
                  <a:srgbClr val="C00000">
                    <a:alpha val="100000"/>
                  </a:srgbClr>
                </a:solidFill>
                <a:latin typeface="Microsoft YaHei"/>
                <a:ea typeface="Microsoft YaHei"/>
                <a:cs typeface="Microsoft YaHei"/>
              </a:rPr>
              <a:t>精</a:t>
            </a:r>
            <a:r>
              <a:rPr sz="1400" b="1" kern="0" spc="-120" dirty="0">
                <a:solidFill>
                  <a:srgbClr val="C00000">
                    <a:alpha val="100000"/>
                  </a:srgbClr>
                </a:solidFill>
                <a:latin typeface="Microsoft YaHei"/>
                <a:ea typeface="Microsoft YaHei"/>
                <a:cs typeface="Microsoft YaHei"/>
              </a:rPr>
              <a:t> </a:t>
            </a:r>
            <a:r>
              <a:rPr sz="1400" b="1" kern="0" spc="-40" dirty="0">
                <a:solidFill>
                  <a:srgbClr val="C00000">
                    <a:alpha val="100000"/>
                  </a:srgbClr>
                </a:solidFill>
                <a:latin typeface="Microsoft YaHei"/>
                <a:ea typeface="Microsoft YaHei"/>
                <a:cs typeface="Microsoft YaHei"/>
              </a:rPr>
              <a:t>度</a:t>
            </a:r>
            <a:r>
              <a:rPr sz="1400" b="1" kern="0" spc="-120" dirty="0">
                <a:solidFill>
                  <a:srgbClr val="C00000">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a:t>
            </a:r>
            <a:r>
              <a:rPr sz="1400" kern="0" spc="-9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单</a:t>
            </a:r>
            <a:r>
              <a:rPr sz="1400" kern="0" spc="-10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跳 时</a:t>
            </a:r>
            <a:r>
              <a:rPr sz="1400" kern="0" spc="-11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钟 同 步</a:t>
            </a:r>
            <a:r>
              <a:rPr sz="1400" kern="0" spc="-11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精</a:t>
            </a:r>
            <a:r>
              <a:rPr sz="1400" kern="0" spc="-11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度 3 0</a:t>
            </a:r>
            <a:r>
              <a:rPr sz="1400" kern="0" spc="-10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皮</a:t>
            </a:r>
            <a:r>
              <a:rPr sz="1400" kern="0" spc="-11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秒</a:t>
            </a:r>
            <a:r>
              <a:rPr sz="1400" kern="0" spc="-110" dirty="0">
                <a:solidFill>
                  <a:srgbClr val="0C0C14">
                    <a:alpha val="100000"/>
                  </a:srgbClr>
                </a:solidFill>
                <a:latin typeface="Microsoft YaHei"/>
                <a:ea typeface="Microsoft YaHei"/>
                <a:cs typeface="Microsoft YaHei"/>
              </a:rPr>
              <a:t> </a:t>
            </a:r>
            <a:r>
              <a:rPr sz="1400" kern="0" spc="-40" dirty="0">
                <a:solidFill>
                  <a:srgbClr val="0C0C14">
                    <a:alpha val="100000"/>
                  </a:srgbClr>
                </a:solidFill>
                <a:latin typeface="Microsoft YaHei"/>
                <a:ea typeface="Microsoft YaHei"/>
                <a:cs typeface="Microsoft YaHei"/>
              </a:rPr>
              <a:t>，</a:t>
            </a:r>
            <a:r>
              <a:rPr sz="1400" kern="0" spc="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N</a:t>
            </a:r>
            <a:r>
              <a:rPr sz="1400" kern="0" spc="-10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跳</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精</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度</a:t>
            </a:r>
            <a:r>
              <a:rPr sz="1400" kern="0" spc="-110" dirty="0">
                <a:solidFill>
                  <a:srgbClr val="0C0C14">
                    <a:alpha val="100000"/>
                  </a:srgbClr>
                </a:solidFill>
                <a:latin typeface="Microsoft YaHei"/>
                <a:ea typeface="Microsoft YaHei"/>
                <a:cs typeface="Microsoft YaHei"/>
              </a:rPr>
              <a:t> </a:t>
            </a:r>
            <a:r>
              <a:rPr sz="1400" kern="0" spc="-10" dirty="0">
                <a:solidFill>
                  <a:srgbClr val="0C0C14">
                    <a:alpha val="100000"/>
                  </a:srgbClr>
                </a:solidFill>
                <a:latin typeface="Microsoft YaHei"/>
                <a:ea typeface="Microsoft YaHei"/>
                <a:cs typeface="Microsoft YaHei"/>
              </a:rPr>
              <a:t>是   </a:t>
            </a:r>
            <a:r>
              <a:rPr sz="1400" kern="0" spc="-10" dirty="0">
                <a:solidFill>
                  <a:srgbClr val="0C0C14">
                    <a:alpha val="100000"/>
                  </a:srgbClr>
                </a:solidFill>
                <a:latin typeface="Cambria Math"/>
                <a:ea typeface="Cambria Math"/>
                <a:cs typeface="Cambria Math"/>
              </a:rPr>
              <a:t>N  </a:t>
            </a:r>
            <a:r>
              <a:rPr sz="1400" kern="0" spc="-20" dirty="0">
                <a:solidFill>
                  <a:srgbClr val="0C0C14">
                    <a:alpha val="100000"/>
                  </a:srgbClr>
                </a:solidFill>
                <a:latin typeface="Cambria Math"/>
                <a:ea typeface="Cambria Math"/>
                <a:cs typeface="Cambria Math"/>
              </a:rPr>
              <a:t> </a:t>
            </a:r>
            <a:r>
              <a:rPr sz="1400" kern="0" spc="-20" dirty="0">
                <a:solidFill>
                  <a:srgbClr val="0C0C14">
                    <a:alpha val="100000"/>
                  </a:srgbClr>
                </a:solidFill>
                <a:latin typeface="Microsoft YaHei"/>
                <a:ea typeface="Microsoft YaHei"/>
                <a:cs typeface="Microsoft YaHei"/>
              </a:rPr>
              <a:t>* 3 0</a:t>
            </a:r>
            <a:r>
              <a:rPr sz="1400" kern="0" spc="-10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皮</a:t>
            </a:r>
            <a:r>
              <a:rPr sz="1400" kern="0" spc="-11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秒</a:t>
            </a:r>
            <a:r>
              <a:rPr sz="1400" kern="0" spc="-120" dirty="0">
                <a:solidFill>
                  <a:srgbClr val="0C0C14">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a:t>
            </a:r>
            <a:r>
              <a:rPr sz="1400" kern="0" spc="-100" dirty="0">
                <a:solidFill>
                  <a:srgbClr val="0C0C14">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全</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球</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领</a:t>
            </a:r>
            <a:r>
              <a:rPr sz="1400" b="1" kern="0" spc="-9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先</a:t>
            </a:r>
            <a:r>
              <a:rPr sz="1400" b="1" kern="0" spc="-120" dirty="0">
                <a:solidFill>
                  <a:srgbClr val="C00000">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a:p>
            <a:pPr algn="r" rtl="0" eaLnBrk="0">
              <a:lnSpc>
                <a:spcPts val="1813"/>
              </a:lnSpc>
              <a:spcBef>
                <a:spcPts val="591"/>
              </a:spcBef>
              <a:tabLst/>
            </a:pPr>
            <a:r>
              <a:rPr sz="1400" kern="0" spc="140" dirty="0">
                <a:solidFill>
                  <a:srgbClr val="0C0C14">
                    <a:alpha val="100000"/>
                  </a:srgbClr>
                </a:solidFill>
                <a:latin typeface="Microsoft YaHei"/>
                <a:ea typeface="Microsoft YaHei"/>
                <a:cs typeface="Microsoft YaHei"/>
              </a:rPr>
              <a:t>2 、</a:t>
            </a:r>
            <a:r>
              <a:rPr sz="1400" kern="0" spc="-110" dirty="0">
                <a:solidFill>
                  <a:srgbClr val="0C0C14">
                    <a:alpha val="100000"/>
                  </a:srgbClr>
                </a:solidFill>
                <a:latin typeface="Microsoft YaHei"/>
                <a:ea typeface="Microsoft YaHei"/>
                <a:cs typeface="Microsoft YaHei"/>
              </a:rPr>
              <a:t> </a:t>
            </a:r>
            <a:r>
              <a:rPr sz="1400" b="1" kern="0" spc="140" dirty="0">
                <a:solidFill>
                  <a:srgbClr val="C00000">
                    <a:alpha val="100000"/>
                  </a:srgbClr>
                </a:solidFill>
                <a:latin typeface="Microsoft YaHei"/>
                <a:ea typeface="Microsoft YaHei"/>
                <a:cs typeface="Microsoft YaHei"/>
              </a:rPr>
              <a:t>组网灵活</a:t>
            </a:r>
            <a:r>
              <a:rPr sz="1400" b="1" kern="0" spc="-120" dirty="0">
                <a:solidFill>
                  <a:srgbClr val="C00000">
                    <a:alpha val="100000"/>
                  </a:srgbClr>
                </a:solidFill>
                <a:latin typeface="Microsoft YaHei"/>
                <a:ea typeface="Microsoft YaHei"/>
                <a:cs typeface="Microsoft YaHei"/>
              </a:rPr>
              <a:t> </a:t>
            </a:r>
            <a:r>
              <a:rPr sz="1400" kern="0" spc="140" dirty="0">
                <a:solidFill>
                  <a:srgbClr val="0C0C14">
                    <a:alpha val="100000"/>
                  </a:srgbClr>
                </a:solidFill>
                <a:latin typeface="Microsoft YaHei"/>
                <a:ea typeface="Microsoft YaHei"/>
                <a:cs typeface="Microsoft YaHei"/>
              </a:rPr>
              <a:t>，</a:t>
            </a:r>
            <a:r>
              <a:rPr sz="1400" kern="0" spc="-40" dirty="0">
                <a:solidFill>
                  <a:srgbClr val="0C0C14">
                    <a:alpha val="100000"/>
                  </a:srgbClr>
                </a:solidFill>
                <a:latin typeface="Microsoft YaHei"/>
                <a:ea typeface="Microsoft YaHei"/>
                <a:cs typeface="Microsoft YaHei"/>
              </a:rPr>
              <a:t> </a:t>
            </a:r>
            <a:r>
              <a:rPr sz="1400" kern="0" spc="140" dirty="0">
                <a:solidFill>
                  <a:srgbClr val="0C0C14">
                    <a:alpha val="100000"/>
                  </a:srgbClr>
                </a:solidFill>
                <a:latin typeface="Microsoft YaHei"/>
                <a:ea typeface="Microsoft YaHei"/>
                <a:cs typeface="Microsoft YaHei"/>
              </a:rPr>
              <a:t>当前唯一可大规模组网产品</a:t>
            </a:r>
            <a:r>
              <a:rPr sz="1400" kern="0" spc="-120" dirty="0">
                <a:solidFill>
                  <a:srgbClr val="0C0C14">
                    <a:alpha val="100000"/>
                  </a:srgbClr>
                </a:solidFill>
                <a:latin typeface="Microsoft YaHei"/>
                <a:ea typeface="Microsoft YaHei"/>
                <a:cs typeface="Microsoft YaHei"/>
              </a:rPr>
              <a:t> </a:t>
            </a:r>
            <a:r>
              <a:rPr sz="1400" kern="0" spc="14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a:p>
            <a:pPr marL="12700" indent="8889" algn="l" rtl="0" eaLnBrk="0">
              <a:lnSpc>
                <a:spcPct val="147000"/>
              </a:lnSpc>
              <a:spcBef>
                <a:spcPts val="78"/>
              </a:spcBef>
              <a:tabLst/>
            </a:pPr>
            <a:r>
              <a:rPr sz="1400" kern="0" spc="-20" dirty="0">
                <a:solidFill>
                  <a:srgbClr val="0C0C14">
                    <a:alpha val="100000"/>
                  </a:srgbClr>
                </a:solidFill>
                <a:latin typeface="Microsoft YaHei"/>
                <a:ea typeface="Microsoft YaHei"/>
                <a:cs typeface="Microsoft YaHei"/>
              </a:rPr>
              <a:t>3 、</a:t>
            </a:r>
            <a:r>
              <a:rPr sz="1400" kern="0" spc="-120" dirty="0">
                <a:solidFill>
                  <a:srgbClr val="0C0C14">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经</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济</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性</a:t>
            </a:r>
            <a:r>
              <a:rPr sz="1400" b="1" kern="0" spc="-110" dirty="0">
                <a:solidFill>
                  <a:srgbClr val="C00000">
                    <a:alpha val="100000"/>
                  </a:srgbClr>
                </a:solidFill>
                <a:latin typeface="Microsoft YaHei"/>
                <a:ea typeface="Microsoft YaHei"/>
                <a:cs typeface="Microsoft YaHei"/>
              </a:rPr>
              <a:t> </a:t>
            </a:r>
            <a:r>
              <a:rPr sz="1400" kern="0" spc="-20" dirty="0">
                <a:solidFill>
                  <a:srgbClr val="0C0C14">
                    <a:alpha val="100000"/>
                  </a:srgbClr>
                </a:solidFill>
                <a:latin typeface="Microsoft YaHei"/>
                <a:ea typeface="Microsoft YaHei"/>
                <a:cs typeface="Microsoft YaHei"/>
              </a:rPr>
              <a:t>，</a:t>
            </a:r>
            <a:r>
              <a:rPr sz="1400" kern="0" spc="-80" dirty="0">
                <a:solidFill>
                  <a:srgbClr val="0C0C14">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与</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现</a:t>
            </a:r>
            <a:r>
              <a:rPr sz="1400" b="1" kern="0" spc="-100" dirty="0">
                <a:solidFill>
                  <a:srgbClr val="C00000">
                    <a:alpha val="100000"/>
                  </a:srgbClr>
                </a:solidFill>
                <a:latin typeface="Microsoft YaHei"/>
                <a:ea typeface="Microsoft YaHei"/>
                <a:cs typeface="Microsoft YaHei"/>
              </a:rPr>
              <a:t> </a:t>
            </a:r>
            <a:r>
              <a:rPr sz="1400" b="1" kern="0" spc="-20" dirty="0">
                <a:solidFill>
                  <a:srgbClr val="C00000">
                    <a:alpha val="100000"/>
                  </a:srgbClr>
                </a:solidFill>
                <a:latin typeface="Microsoft YaHei"/>
                <a:ea typeface="Microsoft YaHei"/>
                <a:cs typeface="Microsoft YaHei"/>
              </a:rPr>
              <a:t>有 OT N</a:t>
            </a:r>
            <a:r>
              <a:rPr sz="1400" b="1" kern="0" spc="-30" dirty="0">
                <a:solidFill>
                  <a:srgbClr val="C00000">
                    <a:alpha val="100000"/>
                  </a:srgbClr>
                </a:solidFill>
                <a:latin typeface="Microsoft YaHei"/>
                <a:ea typeface="Microsoft YaHei"/>
                <a:cs typeface="Microsoft YaHei"/>
              </a:rPr>
              <a:t> 网</a:t>
            </a:r>
            <a:r>
              <a:rPr sz="1400" b="1" kern="0" spc="-90" dirty="0">
                <a:solidFill>
                  <a:srgbClr val="C00000">
                    <a:alpha val="100000"/>
                  </a:srgbClr>
                </a:solidFill>
                <a:latin typeface="Microsoft YaHei"/>
                <a:ea typeface="Microsoft YaHei"/>
                <a:cs typeface="Microsoft YaHei"/>
              </a:rPr>
              <a:t> </a:t>
            </a:r>
            <a:r>
              <a:rPr sz="1400" b="1" kern="0" spc="-30" dirty="0">
                <a:solidFill>
                  <a:srgbClr val="C00000">
                    <a:alpha val="100000"/>
                  </a:srgbClr>
                </a:solidFill>
                <a:latin typeface="Microsoft YaHei"/>
                <a:ea typeface="Microsoft YaHei"/>
                <a:cs typeface="Microsoft YaHei"/>
              </a:rPr>
              <a:t>完</a:t>
            </a:r>
            <a:r>
              <a:rPr sz="1400" b="1" kern="0" spc="-100" dirty="0">
                <a:solidFill>
                  <a:srgbClr val="C00000">
                    <a:alpha val="100000"/>
                  </a:srgbClr>
                </a:solidFill>
                <a:latin typeface="Microsoft YaHei"/>
                <a:ea typeface="Microsoft YaHei"/>
                <a:cs typeface="Microsoft YaHei"/>
              </a:rPr>
              <a:t> </a:t>
            </a:r>
            <a:r>
              <a:rPr sz="1400" b="1" kern="0" spc="-30" dirty="0">
                <a:solidFill>
                  <a:srgbClr val="C00000">
                    <a:alpha val="100000"/>
                  </a:srgbClr>
                </a:solidFill>
                <a:latin typeface="Microsoft YaHei"/>
                <a:ea typeface="Microsoft YaHei"/>
                <a:cs typeface="Microsoft YaHei"/>
              </a:rPr>
              <a:t>美</a:t>
            </a:r>
            <a:r>
              <a:rPr sz="1400" b="1" kern="0" spc="-100" dirty="0">
                <a:solidFill>
                  <a:srgbClr val="C00000">
                    <a:alpha val="100000"/>
                  </a:srgbClr>
                </a:solidFill>
                <a:latin typeface="Microsoft YaHei"/>
                <a:ea typeface="Microsoft YaHei"/>
                <a:cs typeface="Microsoft YaHei"/>
              </a:rPr>
              <a:t> </a:t>
            </a:r>
            <a:r>
              <a:rPr sz="1400" b="1" kern="0" spc="-30" dirty="0">
                <a:solidFill>
                  <a:srgbClr val="C00000">
                    <a:alpha val="100000"/>
                  </a:srgbClr>
                </a:solidFill>
                <a:latin typeface="Microsoft YaHei"/>
                <a:ea typeface="Microsoft YaHei"/>
                <a:cs typeface="Microsoft YaHei"/>
              </a:rPr>
              <a:t>兼</a:t>
            </a:r>
            <a:r>
              <a:rPr sz="1400" b="1" kern="0" spc="-100" dirty="0">
                <a:solidFill>
                  <a:srgbClr val="C00000">
                    <a:alpha val="100000"/>
                  </a:srgbClr>
                </a:solidFill>
                <a:latin typeface="Microsoft YaHei"/>
                <a:ea typeface="Microsoft YaHei"/>
                <a:cs typeface="Microsoft YaHei"/>
              </a:rPr>
              <a:t> </a:t>
            </a:r>
            <a:r>
              <a:rPr sz="1400" b="1" kern="0" spc="-30" dirty="0">
                <a:solidFill>
                  <a:srgbClr val="C00000">
                    <a:alpha val="100000"/>
                  </a:srgbClr>
                </a:solidFill>
                <a:latin typeface="Microsoft YaHei"/>
                <a:ea typeface="Microsoft YaHei"/>
                <a:cs typeface="Microsoft YaHei"/>
              </a:rPr>
              <a:t>容</a:t>
            </a:r>
            <a:r>
              <a:rPr sz="1400" b="1" kern="0" spc="-120" dirty="0">
                <a:solidFill>
                  <a:srgbClr val="C00000">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a:t>
            </a:r>
            <a:r>
              <a:rPr sz="1400" kern="0" spc="-90" dirty="0">
                <a:solidFill>
                  <a:srgbClr val="0C0C14">
                    <a:alpha val="100000"/>
                  </a:srgbClr>
                </a:solidFill>
                <a:latin typeface="Microsoft YaHei"/>
                <a:ea typeface="Microsoft YaHei"/>
                <a:cs typeface="Microsoft YaHei"/>
              </a:rPr>
              <a:t> </a:t>
            </a:r>
            <a:r>
              <a:rPr sz="1400" kern="0" spc="-30" dirty="0">
                <a:solidFill>
                  <a:srgbClr val="0C0C14">
                    <a:alpha val="100000"/>
                  </a:srgbClr>
                </a:solidFill>
                <a:latin typeface="Microsoft YaHei"/>
                <a:ea typeface="Microsoft YaHei"/>
                <a:cs typeface="Microsoft YaHei"/>
              </a:rPr>
              <a:t>节</a:t>
            </a:r>
            <a:r>
              <a:rPr sz="1400" kern="0" spc="0" dirty="0">
                <a:solidFill>
                  <a:srgbClr val="0C0C14">
                    <a:alpha val="100000"/>
                  </a:srgbClr>
                </a:solidFill>
                <a:latin typeface="Microsoft YaHei"/>
                <a:ea typeface="Microsoft YaHei"/>
                <a:cs typeface="Microsoft YaHei"/>
              </a:rPr>
              <a:t>   </a:t>
            </a:r>
            <a:r>
              <a:rPr sz="1400" kern="0" spc="210" dirty="0">
                <a:solidFill>
                  <a:srgbClr val="0C0C14">
                    <a:alpha val="100000"/>
                  </a:srgbClr>
                </a:solidFill>
                <a:latin typeface="Microsoft YaHei"/>
                <a:ea typeface="Microsoft YaHei"/>
                <a:cs typeface="Microsoft YaHei"/>
              </a:rPr>
              <a:t>省光纤资源</a:t>
            </a:r>
            <a:r>
              <a:rPr sz="1400" kern="0" spc="-100" dirty="0">
                <a:solidFill>
                  <a:srgbClr val="0C0C14">
                    <a:alpha val="100000"/>
                  </a:srgbClr>
                </a:solidFill>
                <a:latin typeface="Microsoft YaHei"/>
                <a:ea typeface="Microsoft YaHei"/>
                <a:cs typeface="Microsoft YaHei"/>
              </a:rPr>
              <a:t> </a:t>
            </a:r>
            <a:r>
              <a:rPr sz="1400" kern="0" spc="210" dirty="0">
                <a:solidFill>
                  <a:srgbClr val="0C0C14">
                    <a:alpha val="100000"/>
                  </a:srgbClr>
                </a:solidFill>
                <a:latin typeface="Microsoft YaHei"/>
                <a:ea typeface="Microsoft YaHei"/>
                <a:cs typeface="Microsoft YaHei"/>
              </a:rPr>
              <a:t>，</a:t>
            </a:r>
            <a:r>
              <a:rPr sz="1400" kern="0" spc="-110" dirty="0">
                <a:solidFill>
                  <a:srgbClr val="0C0C14">
                    <a:alpha val="100000"/>
                  </a:srgbClr>
                </a:solidFill>
                <a:latin typeface="Microsoft YaHei"/>
                <a:ea typeface="Microsoft YaHei"/>
                <a:cs typeface="Microsoft YaHei"/>
              </a:rPr>
              <a:t> </a:t>
            </a:r>
            <a:r>
              <a:rPr sz="1400" kern="0" spc="210" dirty="0">
                <a:solidFill>
                  <a:srgbClr val="0C0C14">
                    <a:alpha val="100000"/>
                  </a:srgbClr>
                </a:solidFill>
                <a:latin typeface="Microsoft YaHei"/>
                <a:ea typeface="Microsoft YaHei"/>
                <a:cs typeface="Microsoft YaHei"/>
              </a:rPr>
              <a:t>避免网络大割接</a:t>
            </a:r>
            <a:r>
              <a:rPr sz="1400" kern="0" spc="-120" dirty="0">
                <a:solidFill>
                  <a:srgbClr val="0C0C14">
                    <a:alpha val="100000"/>
                  </a:srgbClr>
                </a:solidFill>
                <a:latin typeface="Microsoft YaHei"/>
                <a:ea typeface="Microsoft YaHei"/>
                <a:cs typeface="Microsoft YaHei"/>
              </a:rPr>
              <a:t> </a:t>
            </a:r>
            <a:r>
              <a:rPr sz="1400" kern="0" spc="210" dirty="0">
                <a:solidFill>
                  <a:srgbClr val="0C0C14">
                    <a:alpha val="100000"/>
                  </a:srgbClr>
                </a:solidFill>
                <a:latin typeface="Microsoft YaHei"/>
                <a:ea typeface="Microsoft YaHei"/>
                <a:cs typeface="Microsoft YaHei"/>
              </a:rPr>
              <a:t>。</a:t>
            </a:r>
            <a:endParaRPr sz="1400" dirty="0">
              <a:latin typeface="Microsoft YaHei"/>
              <a:ea typeface="Microsoft YaHei"/>
              <a:cs typeface="Microsoft YaHei"/>
            </a:endParaRPr>
          </a:p>
        </p:txBody>
      </p:sp>
      <p:sp>
        <p:nvSpPr>
          <p:cNvPr id="30" name="textbox 30"/>
          <p:cNvSpPr/>
          <p:nvPr/>
        </p:nvSpPr>
        <p:spPr>
          <a:xfrm>
            <a:off x="1038520" y="321627"/>
            <a:ext cx="6332854" cy="108648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algn="r"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27000"/>
              </a:lnSpc>
              <a:tabLst/>
            </a:pPr>
            <a:endParaRPr sz="300" dirty="0">
              <a:latin typeface="Arial"/>
              <a:ea typeface="Arial"/>
              <a:cs typeface="Arial"/>
            </a:endParaRPr>
          </a:p>
          <a:p>
            <a:pPr marL="12700" algn="l" rtl="0" eaLnBrk="0">
              <a:lnSpc>
                <a:spcPct val="88000"/>
              </a:lnSpc>
              <a:spcBef>
                <a:spcPts val="2"/>
              </a:spcBef>
              <a:tabLst/>
            </a:pPr>
            <a:r>
              <a:rPr sz="1500" b="1" kern="0" spc="300" dirty="0">
                <a:solidFill>
                  <a:srgbClr val="C00000">
                    <a:alpha val="100000"/>
                  </a:srgbClr>
                </a:solidFill>
                <a:latin typeface="Microsoft YaHei"/>
                <a:ea typeface="Microsoft YaHei"/>
                <a:cs typeface="Microsoft YaHei"/>
              </a:rPr>
              <a:t>全球领先 ：</a:t>
            </a:r>
            <a:r>
              <a:rPr sz="1500" b="1" kern="0" spc="0" dirty="0">
                <a:solidFill>
                  <a:srgbClr val="C00000">
                    <a:alpha val="100000"/>
                  </a:srgbClr>
                </a:solidFill>
                <a:latin typeface="Microsoft YaHei"/>
                <a:ea typeface="Microsoft YaHei"/>
                <a:cs typeface="Microsoft YaHei"/>
              </a:rPr>
              <a:t> </a:t>
            </a:r>
            <a:r>
              <a:rPr sz="1500" b="1" kern="0" spc="300" dirty="0">
                <a:solidFill>
                  <a:srgbClr val="C00000">
                    <a:alpha val="100000"/>
                  </a:srgbClr>
                </a:solidFill>
                <a:latin typeface="Microsoft YaHei"/>
                <a:ea typeface="Microsoft YaHei"/>
                <a:cs typeface="Microsoft YaHei"/>
              </a:rPr>
              <a:t>唯一可实现大规模背靠背组网 ，</a:t>
            </a:r>
            <a:r>
              <a:rPr sz="1500" b="1" kern="0" spc="-80" dirty="0">
                <a:solidFill>
                  <a:srgbClr val="C00000">
                    <a:alpha val="100000"/>
                  </a:srgbClr>
                </a:solidFill>
                <a:latin typeface="Microsoft YaHei"/>
                <a:ea typeface="Microsoft YaHei"/>
                <a:cs typeface="Microsoft YaHei"/>
              </a:rPr>
              <a:t> </a:t>
            </a:r>
            <a:r>
              <a:rPr sz="1500" b="1" kern="0" spc="290" dirty="0">
                <a:solidFill>
                  <a:srgbClr val="C00000">
                    <a:alpha val="100000"/>
                  </a:srgbClr>
                </a:solidFill>
                <a:latin typeface="Microsoft YaHei"/>
                <a:ea typeface="Microsoft YaHei"/>
                <a:cs typeface="Microsoft YaHei"/>
              </a:rPr>
              <a:t>精确度全球第一</a:t>
            </a:r>
            <a:endParaRPr sz="1500" dirty="0">
              <a:latin typeface="Microsoft YaHei"/>
              <a:ea typeface="Microsoft YaHei"/>
              <a:cs typeface="Microsoft YaHei"/>
            </a:endParaRPr>
          </a:p>
        </p:txBody>
      </p:sp>
      <p:pic>
        <p:nvPicPr>
          <p:cNvPr id="32" name="picture 32"/>
          <p:cNvPicPr>
            <a:picLocks noChangeAspect="1"/>
          </p:cNvPicPr>
          <p:nvPr/>
        </p:nvPicPr>
        <p:blipFill>
          <a:blip r:embed="rId3"/>
          <a:stretch>
            <a:fillRect/>
          </a:stretch>
        </p:blipFill>
        <p:spPr>
          <a:xfrm rot="21600000">
            <a:off x="1485900" y="4279391"/>
            <a:ext cx="2474976" cy="1764791"/>
          </a:xfrm>
          <a:prstGeom prst="rect">
            <a:avLst/>
          </a:prstGeom>
        </p:spPr>
      </p:pic>
      <p:pic>
        <p:nvPicPr>
          <p:cNvPr id="34" name="picture 34"/>
          <p:cNvPicPr>
            <a:picLocks noChangeAspect="1"/>
          </p:cNvPicPr>
          <p:nvPr/>
        </p:nvPicPr>
        <p:blipFill>
          <a:blip r:embed="rId4"/>
          <a:stretch>
            <a:fillRect/>
          </a:stretch>
        </p:blipFill>
        <p:spPr>
          <a:xfrm rot="21600000">
            <a:off x="9909047" y="4006595"/>
            <a:ext cx="1557528" cy="2203704"/>
          </a:xfrm>
          <a:prstGeom prst="rect">
            <a:avLst/>
          </a:prstGeom>
        </p:spPr>
      </p:pic>
      <p:sp>
        <p:nvSpPr>
          <p:cNvPr id="36" name="textbox 36"/>
          <p:cNvSpPr/>
          <p:nvPr/>
        </p:nvSpPr>
        <p:spPr>
          <a:xfrm>
            <a:off x="1754065" y="6139791"/>
            <a:ext cx="1664335" cy="132714"/>
          </a:xfrm>
          <a:prstGeom prst="rect">
            <a:avLst/>
          </a:prstGeom>
          <a:noFill/>
          <a:ln w="0" cap="flat">
            <a:noFill/>
            <a:prstDash val="solid"/>
            <a:miter lim="0"/>
          </a:ln>
        </p:spPr>
        <p:txBody>
          <a:bodyPr vert="horz" wrap="square" lIns="0" tIns="0" rIns="0" bIns="0"/>
          <a:lstStyle/>
          <a:p>
            <a:pPr algn="l" rtl="0" eaLnBrk="0">
              <a:lnSpc>
                <a:spcPct val="82032"/>
              </a:lnSpc>
              <a:tabLst/>
            </a:pPr>
            <a:endParaRPr sz="100" dirty="0">
              <a:latin typeface="Arial"/>
              <a:ea typeface="Arial"/>
              <a:cs typeface="Arial"/>
            </a:endParaRPr>
          </a:p>
          <a:p>
            <a:pPr marL="12700" algn="l" rtl="0" eaLnBrk="0">
              <a:lnSpc>
                <a:spcPct val="88000"/>
              </a:lnSpc>
              <a:tabLst/>
            </a:pPr>
            <a:r>
              <a:rPr sz="800" kern="0" spc="-20" dirty="0">
                <a:solidFill>
                  <a:srgbClr val="0C0C14">
                    <a:alpha val="100000"/>
                  </a:srgbClr>
                </a:solidFill>
                <a:latin typeface="Microsoft YaHei"/>
                <a:ea typeface="Microsoft YaHei"/>
                <a:cs typeface="Microsoft YaHei"/>
              </a:rPr>
              <a:t>光</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纤</a:t>
            </a:r>
            <a:r>
              <a:rPr sz="800" kern="0" spc="6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授</a:t>
            </a:r>
            <a:r>
              <a:rPr sz="800" kern="0" spc="10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时</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级</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联</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传</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递</a:t>
            </a:r>
            <a:r>
              <a:rPr sz="800" kern="0" spc="7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设</a:t>
            </a:r>
            <a:r>
              <a:rPr sz="800" kern="0" spc="6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备</a:t>
            </a:r>
            <a:r>
              <a:rPr sz="800" kern="0" spc="14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F</a:t>
            </a:r>
            <a:r>
              <a:rPr sz="800" kern="0" spc="14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F</a:t>
            </a:r>
            <a:r>
              <a:rPr sz="800" kern="0" spc="80" dirty="0">
                <a:solidFill>
                  <a:srgbClr val="0C0C14">
                    <a:alpha val="100000"/>
                  </a:srgbClr>
                </a:solidFill>
                <a:latin typeface="Microsoft YaHei"/>
                <a:ea typeface="Microsoft YaHei"/>
                <a:cs typeface="Microsoft YaHei"/>
              </a:rPr>
              <a:t> </a:t>
            </a:r>
            <a:r>
              <a:rPr sz="800" kern="0" spc="-20" dirty="0">
                <a:solidFill>
                  <a:srgbClr val="0C0C14">
                    <a:alpha val="100000"/>
                  </a:srgbClr>
                </a:solidFill>
                <a:latin typeface="Microsoft YaHei"/>
                <a:ea typeface="Microsoft YaHei"/>
                <a:cs typeface="Microsoft YaHei"/>
              </a:rPr>
              <a:t>T</a:t>
            </a:r>
            <a:endParaRPr sz="800" dirty="0">
              <a:latin typeface="Microsoft YaHei"/>
              <a:ea typeface="Microsoft YaHei"/>
              <a:cs typeface="Microsoft YaHei"/>
            </a:endParaRPr>
          </a:p>
        </p:txBody>
      </p:sp>
      <p:pic>
        <p:nvPicPr>
          <p:cNvPr id="38" name="picture 38"/>
          <p:cNvPicPr>
            <a:picLocks noChangeAspect="1"/>
          </p:cNvPicPr>
          <p:nvPr/>
        </p:nvPicPr>
        <p:blipFill>
          <a:blip r:embed="rId5"/>
          <a:stretch>
            <a:fillRect/>
          </a:stretch>
        </p:blipFill>
        <p:spPr>
          <a:xfrm rot="21600000">
            <a:off x="5080000" y="1727200"/>
            <a:ext cx="25400" cy="44829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6310883" y="1978151"/>
            <a:ext cx="5769864" cy="4072128"/>
          </a:xfrm>
          <a:prstGeom prst="rect">
            <a:avLst/>
          </a:prstGeom>
        </p:spPr>
      </p:pic>
      <p:sp>
        <p:nvSpPr>
          <p:cNvPr id="4" name="textbox 4"/>
          <p:cNvSpPr/>
          <p:nvPr/>
        </p:nvSpPr>
        <p:spPr>
          <a:xfrm>
            <a:off x="594159" y="1971014"/>
            <a:ext cx="5681979" cy="3604259"/>
          </a:xfrm>
          <a:prstGeom prst="rect">
            <a:avLst/>
          </a:prstGeom>
          <a:noFill/>
          <a:ln w="0" cap="flat">
            <a:noFill/>
            <a:prstDash val="solid"/>
            <a:miter lim="0"/>
          </a:ln>
        </p:spPr>
        <p:txBody>
          <a:bodyPr vert="horz" wrap="square" lIns="0" tIns="0" rIns="0" bIns="0"/>
          <a:lstStyle/>
          <a:p>
            <a:pPr algn="l" rtl="0" eaLnBrk="0">
              <a:lnSpc>
                <a:spcPct val="84948"/>
              </a:lnSpc>
              <a:tabLst/>
            </a:pPr>
            <a:endParaRPr sz="100" dirty="0">
              <a:latin typeface="Arial"/>
              <a:ea typeface="Arial"/>
              <a:cs typeface="Arial"/>
            </a:endParaRPr>
          </a:p>
          <a:p>
            <a:pPr marL="45719" algn="l" rtl="0" eaLnBrk="0">
              <a:lnSpc>
                <a:spcPct val="87000"/>
              </a:lnSpc>
              <a:tabLst/>
            </a:pPr>
            <a:r>
              <a:rPr sz="2300" b="1" kern="0" spc="80" dirty="0">
                <a:solidFill>
                  <a:srgbClr val="000000">
                    <a:alpha val="100000"/>
                  </a:srgbClr>
                </a:solidFill>
                <a:latin typeface="Microsoft YaHei"/>
                <a:ea typeface="Microsoft YaHei"/>
                <a:cs typeface="Microsoft YaHei"/>
              </a:rPr>
              <a:t>管控等新的需求。</a:t>
            </a:r>
            <a:endParaRPr sz="23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marL="12700" algn="l" rtl="0" eaLnBrk="0">
              <a:lnSpc>
                <a:spcPct val="93000"/>
              </a:lnSpc>
              <a:spcBef>
                <a:spcPts val="610"/>
              </a:spcBef>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船闸联合调度规则设计及优</a:t>
            </a:r>
            <a:r>
              <a:rPr sz="2000" kern="0" spc="30" dirty="0">
                <a:solidFill>
                  <a:srgbClr val="000000">
                    <a:alpha val="100000"/>
                  </a:srgbClr>
                </a:solidFill>
                <a:latin typeface="Microsoft YaHei"/>
                <a:ea typeface="Microsoft YaHei"/>
                <a:cs typeface="Microsoft YaHei"/>
              </a:rPr>
              <a:t>化</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30" dirty="0">
                <a:solidFill>
                  <a:srgbClr val="000000">
                    <a:alpha val="100000"/>
                  </a:srgbClr>
                </a:solidFill>
                <a:latin typeface="Wingdings"/>
                <a:ea typeface="Wingdings"/>
                <a:cs typeface="Wingdings"/>
              </a:rPr>
              <a:t>u</a:t>
            </a:r>
            <a:r>
              <a:rPr sz="2000" kern="0" spc="30" dirty="0">
                <a:solidFill>
                  <a:srgbClr val="000000">
                    <a:alpha val="100000"/>
                  </a:srgbClr>
                </a:solidFill>
                <a:latin typeface="Microsoft YaHei"/>
                <a:ea typeface="Microsoft YaHei"/>
                <a:cs typeface="Microsoft YaHei"/>
              </a:rPr>
              <a:t>联动控制区的设计及运行组织优化</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待闸船舶运行组织与智能管</a:t>
            </a:r>
            <a:r>
              <a:rPr sz="2000" kern="0" spc="30" dirty="0">
                <a:solidFill>
                  <a:srgbClr val="000000">
                    <a:alpha val="100000"/>
                  </a:srgbClr>
                </a:solidFill>
                <a:latin typeface="Microsoft YaHei"/>
                <a:ea typeface="Microsoft YaHei"/>
                <a:cs typeface="Microsoft YaHei"/>
              </a:rPr>
              <a:t>控</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30" dirty="0">
                <a:solidFill>
                  <a:srgbClr val="000000">
                    <a:alpha val="100000"/>
                  </a:srgbClr>
                </a:solidFill>
                <a:latin typeface="Wingdings"/>
                <a:ea typeface="Wingdings"/>
                <a:cs typeface="Wingdings"/>
              </a:rPr>
              <a:t>u</a:t>
            </a:r>
            <a:r>
              <a:rPr sz="2000" kern="0" spc="30" dirty="0">
                <a:solidFill>
                  <a:srgbClr val="000000">
                    <a:alpha val="100000"/>
                  </a:srgbClr>
                </a:solidFill>
                <a:latin typeface="Microsoft YaHei"/>
                <a:ea typeface="Microsoft YaHei"/>
                <a:cs typeface="Microsoft YaHei"/>
              </a:rPr>
              <a:t>调度算法、运行组织算法测试与验证</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algn="l" rtl="0" eaLnBrk="0">
              <a:lnSpc>
                <a:spcPct val="100000"/>
              </a:lnSpc>
              <a:tabLst/>
            </a:pPr>
            <a:endParaRPr sz="500" dirty="0">
              <a:latin typeface="Arial"/>
              <a:ea typeface="Arial"/>
              <a:cs typeface="Arial"/>
            </a:endParaRPr>
          </a:p>
          <a:p>
            <a:pPr marL="12700" algn="l" rtl="0" eaLnBrk="0">
              <a:lnSpc>
                <a:spcPct val="93000"/>
              </a:lnSpc>
              <a:tabLst/>
            </a:pPr>
            <a:r>
              <a:rPr sz="2000" kern="0" spc="30" dirty="0">
                <a:solidFill>
                  <a:srgbClr val="000000">
                    <a:alpha val="100000"/>
                  </a:srgbClr>
                </a:solidFill>
                <a:latin typeface="Wingdings"/>
                <a:ea typeface="Wingdings"/>
                <a:cs typeface="Wingdings"/>
              </a:rPr>
              <a:t>u</a:t>
            </a:r>
            <a:r>
              <a:rPr sz="2000" kern="0" spc="30" dirty="0">
                <a:solidFill>
                  <a:srgbClr val="000000">
                    <a:alpha val="100000"/>
                  </a:srgbClr>
                </a:solidFill>
                <a:latin typeface="Microsoft YaHei"/>
                <a:ea typeface="Microsoft YaHei"/>
                <a:cs typeface="Microsoft YaHei"/>
              </a:rPr>
              <a:t>过闸船舶全域运行过程</a:t>
            </a:r>
            <a:r>
              <a:rPr sz="2000" kern="0" spc="20" dirty="0">
                <a:solidFill>
                  <a:srgbClr val="000000">
                    <a:alpha val="100000"/>
                  </a:srgbClr>
                </a:solidFill>
                <a:latin typeface="Microsoft YaHei"/>
                <a:ea typeface="Microsoft YaHei"/>
                <a:cs typeface="Microsoft YaHei"/>
              </a:rPr>
              <a:t>可观、可测、可控、可视</a:t>
            </a:r>
            <a:endParaRPr sz="2000" dirty="0">
              <a:latin typeface="Microsoft YaHei"/>
              <a:ea typeface="Microsoft YaHei"/>
              <a:cs typeface="Microsoft YaHei"/>
            </a:endParaRPr>
          </a:p>
        </p:txBody>
      </p:sp>
      <p:sp>
        <p:nvSpPr>
          <p:cNvPr id="6" name="textbox 6"/>
          <p:cNvSpPr/>
          <p:nvPr/>
        </p:nvSpPr>
        <p:spPr>
          <a:xfrm>
            <a:off x="631139" y="711771"/>
            <a:ext cx="10380344" cy="1041400"/>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marL="4123054" algn="l"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algn="l" rtl="0" eaLnBrk="0">
              <a:lnSpc>
                <a:spcPct val="101000"/>
              </a:lnSpc>
              <a:tabLst/>
            </a:pPr>
            <a:endParaRPr sz="1000" dirty="0">
              <a:latin typeface="Arial"/>
              <a:ea typeface="Arial"/>
              <a:cs typeface="Arial"/>
            </a:endParaRPr>
          </a:p>
          <a:p>
            <a:pPr algn="l" rtl="0" eaLnBrk="0">
              <a:lnSpc>
                <a:spcPct val="116000"/>
              </a:lnSpc>
              <a:tabLst/>
            </a:pPr>
            <a:endParaRPr sz="500" dirty="0">
              <a:latin typeface="Arial"/>
              <a:ea typeface="Arial"/>
              <a:cs typeface="Arial"/>
            </a:endParaRPr>
          </a:p>
          <a:p>
            <a:pPr marL="12700" algn="l" rtl="0" eaLnBrk="0">
              <a:lnSpc>
                <a:spcPct val="88000"/>
              </a:lnSpc>
              <a:spcBef>
                <a:spcPts val="5"/>
              </a:spcBef>
              <a:tabLst/>
            </a:pPr>
            <a:r>
              <a:rPr sz="2300" b="1" kern="0" spc="90" dirty="0">
                <a:solidFill>
                  <a:srgbClr val="000000">
                    <a:alpha val="100000"/>
                  </a:srgbClr>
                </a:solidFill>
                <a:latin typeface="Microsoft YaHei"/>
                <a:ea typeface="Microsoft YaHei"/>
                <a:cs typeface="Microsoft YaHei"/>
              </a:rPr>
              <a:t>三峡水运新通道建成后</a:t>
            </a:r>
            <a:r>
              <a:rPr sz="2300" b="1" kern="0" spc="-3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，整个三峡</a:t>
            </a:r>
            <a:r>
              <a:rPr sz="2300" b="1" kern="0" spc="80" dirty="0">
                <a:solidFill>
                  <a:srgbClr val="000000">
                    <a:alpha val="100000"/>
                  </a:srgbClr>
                </a:solidFill>
                <a:latin typeface="Microsoft YaHei"/>
                <a:ea typeface="Microsoft YaHei"/>
                <a:cs typeface="Microsoft YaHei"/>
              </a:rPr>
              <a:t>枢纽群将面临多船闸的联合调度、</a:t>
            </a:r>
            <a:r>
              <a:rPr sz="2300" b="1" kern="0" spc="-55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船舶智能</a:t>
            </a:r>
            <a:endParaRPr sz="2300" dirty="0">
              <a:latin typeface="Microsoft YaHei"/>
              <a:ea typeface="Microsoft YaHei"/>
              <a:cs typeface="Microsoft YaHei"/>
            </a:endParaRPr>
          </a:p>
        </p:txBody>
      </p:sp>
      <p:sp>
        <p:nvSpPr>
          <p:cNvPr id="8" name="textbox 8"/>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80" dirty="0">
                <a:solidFill>
                  <a:srgbClr val="FFFFFF">
                    <a:alpha val="100000"/>
                  </a:srgbClr>
                </a:solidFill>
                <a:latin typeface="Microsoft YaHei"/>
                <a:ea typeface="Microsoft YaHei"/>
                <a:cs typeface="Microsoft YaHei"/>
              </a:rPr>
              <a:t>2.1 通航枢纽数字孪生智能调度关键</a:t>
            </a:r>
            <a:r>
              <a:rPr sz="2700" kern="0" spc="70" dirty="0">
                <a:solidFill>
                  <a:srgbClr val="FFFFFF">
                    <a:alpha val="100000"/>
                  </a:srgbClr>
                </a:solidFill>
                <a:latin typeface="Microsoft YaHei"/>
                <a:ea typeface="Microsoft YaHei"/>
                <a:cs typeface="Microsoft YaHei"/>
              </a:rPr>
              <a:t>技术</a:t>
            </a:r>
            <a:endParaRPr sz="2700" dirty="0">
              <a:latin typeface="Microsoft YaHei"/>
              <a:ea typeface="Microsoft YaHei"/>
              <a:cs typeface="Microsoft YaHe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655726" y="420509"/>
            <a:ext cx="7511415" cy="270637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algn="r"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a:p>
            <a:pPr marL="12700" algn="l" rtl="0" eaLnBrk="0">
              <a:lnSpc>
                <a:spcPct val="96000"/>
              </a:lnSpc>
              <a:spcBef>
                <a:spcPts val="183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过闸船舶全域运行数</a:t>
            </a:r>
            <a:r>
              <a:rPr sz="2300" b="1" kern="0" spc="90" dirty="0">
                <a:solidFill>
                  <a:srgbClr val="000000">
                    <a:alpha val="100000"/>
                  </a:srgbClr>
                </a:solidFill>
                <a:latin typeface="Microsoft YaHei"/>
                <a:ea typeface="Microsoft YaHei"/>
                <a:cs typeface="Microsoft YaHei"/>
              </a:rPr>
              <a:t>字孪生技术</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130" dirty="0">
                <a:solidFill>
                  <a:srgbClr val="000000">
                    <a:alpha val="100000"/>
                  </a:srgbClr>
                </a:solidFill>
                <a:latin typeface="Microsoft YaHei"/>
                <a:ea typeface="Microsoft YaHei"/>
                <a:cs typeface="Microsoft YaHei"/>
              </a:rPr>
              <a:t>    </a:t>
            </a:r>
            <a:r>
              <a:rPr sz="2300" b="1" kern="0" spc="70" dirty="0">
                <a:solidFill>
                  <a:srgbClr val="000000">
                    <a:alpha val="100000"/>
                  </a:srgbClr>
                </a:solidFill>
                <a:latin typeface="Microsoft YaHei"/>
                <a:ea typeface="Microsoft YaHei"/>
                <a:cs typeface="Microsoft YaHei"/>
              </a:rPr>
              <a:t>自演化规则引擎技术</a:t>
            </a:r>
            <a:endParaRPr sz="2300" dirty="0">
              <a:latin typeface="Microsoft YaHei"/>
              <a:ea typeface="Microsoft YaHei"/>
              <a:cs typeface="Microsoft YaHei"/>
            </a:endParaRPr>
          </a:p>
          <a:p>
            <a:pPr marL="12700" algn="l" rtl="0" eaLnBrk="0">
              <a:lnSpc>
                <a:spcPct val="96000"/>
              </a:lnSpc>
              <a:spcBef>
                <a:spcPts val="1671"/>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船闸调度多目标优化技术</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基于数字孪生的船闸调度运行仿真与</a:t>
            </a:r>
            <a:r>
              <a:rPr sz="2300" b="1" kern="0" spc="90" dirty="0">
                <a:solidFill>
                  <a:srgbClr val="000000">
                    <a:alpha val="100000"/>
                  </a:srgbClr>
                </a:solidFill>
                <a:latin typeface="Microsoft YaHei"/>
                <a:ea typeface="Microsoft YaHei"/>
                <a:cs typeface="Microsoft YaHei"/>
              </a:rPr>
              <a:t>推演技术</a:t>
            </a:r>
            <a:endParaRPr sz="2300" dirty="0">
              <a:latin typeface="Microsoft YaHei"/>
              <a:ea typeface="Microsoft YaHei"/>
              <a:cs typeface="Microsoft YaHei"/>
            </a:endParaRPr>
          </a:p>
        </p:txBody>
      </p:sp>
      <p:pic>
        <p:nvPicPr>
          <p:cNvPr id="12" name="picture 12"/>
          <p:cNvPicPr>
            <a:picLocks noChangeAspect="1"/>
          </p:cNvPicPr>
          <p:nvPr/>
        </p:nvPicPr>
        <p:blipFill>
          <a:blip r:embed="rId2"/>
          <a:stretch>
            <a:fillRect/>
          </a:stretch>
        </p:blipFill>
        <p:spPr>
          <a:xfrm rot="21600000">
            <a:off x="668426" y="2776232"/>
            <a:ext cx="216408" cy="337718"/>
          </a:xfrm>
          <a:prstGeom prst="rect">
            <a:avLst/>
          </a:prstGeom>
        </p:spPr>
      </p:pic>
      <p:pic>
        <p:nvPicPr>
          <p:cNvPr id="14" name="picture 14"/>
          <p:cNvPicPr>
            <a:picLocks noChangeAspect="1"/>
          </p:cNvPicPr>
          <p:nvPr/>
        </p:nvPicPr>
        <p:blipFill>
          <a:blip r:embed="rId3"/>
          <a:stretch>
            <a:fillRect/>
          </a:stretch>
        </p:blipFill>
        <p:spPr>
          <a:xfrm rot="21600000">
            <a:off x="668426" y="2227592"/>
            <a:ext cx="216408" cy="337718"/>
          </a:xfrm>
          <a:prstGeom prst="rect">
            <a:avLst/>
          </a:prstGeom>
        </p:spPr>
      </p:pic>
      <p:pic>
        <p:nvPicPr>
          <p:cNvPr id="16" name="picture 16"/>
          <p:cNvPicPr>
            <a:picLocks noChangeAspect="1"/>
          </p:cNvPicPr>
          <p:nvPr/>
        </p:nvPicPr>
        <p:blipFill>
          <a:blip r:embed="rId4"/>
          <a:stretch>
            <a:fillRect/>
          </a:stretch>
        </p:blipFill>
        <p:spPr>
          <a:xfrm rot="21600000">
            <a:off x="668426" y="1678952"/>
            <a:ext cx="216408" cy="337718"/>
          </a:xfrm>
          <a:prstGeom prst="rect">
            <a:avLst/>
          </a:prstGeom>
        </p:spPr>
      </p:pic>
      <p:pic>
        <p:nvPicPr>
          <p:cNvPr id="18" name="picture 18"/>
          <p:cNvPicPr>
            <a:picLocks noChangeAspect="1"/>
          </p:cNvPicPr>
          <p:nvPr/>
        </p:nvPicPr>
        <p:blipFill>
          <a:blip r:embed="rId5"/>
          <a:stretch>
            <a:fillRect/>
          </a:stretch>
        </p:blipFill>
        <p:spPr>
          <a:xfrm rot="21600000">
            <a:off x="668426" y="1130312"/>
            <a:ext cx="216408" cy="337718"/>
          </a:xfrm>
          <a:prstGeom prst="rect">
            <a:avLst/>
          </a:prstGeom>
        </p:spPr>
      </p:pic>
      <p:pic>
        <p:nvPicPr>
          <p:cNvPr id="20" name="picture 20"/>
          <p:cNvPicPr>
            <a:picLocks noChangeAspect="1"/>
          </p:cNvPicPr>
          <p:nvPr/>
        </p:nvPicPr>
        <p:blipFill>
          <a:blip r:embed="rId6"/>
          <a:stretch>
            <a:fillRect/>
          </a:stretch>
        </p:blipFill>
        <p:spPr>
          <a:xfrm rot="21600000">
            <a:off x="560282" y="3479547"/>
            <a:ext cx="6104742" cy="2742242"/>
          </a:xfrm>
          <a:prstGeom prst="rect">
            <a:avLst/>
          </a:prstGeom>
        </p:spPr>
      </p:pic>
      <p:pic>
        <p:nvPicPr>
          <p:cNvPr id="22" name="picture 22"/>
          <p:cNvPicPr>
            <a:picLocks noChangeAspect="1"/>
          </p:cNvPicPr>
          <p:nvPr/>
        </p:nvPicPr>
        <p:blipFill>
          <a:blip r:embed="rId7"/>
          <a:stretch>
            <a:fillRect/>
          </a:stretch>
        </p:blipFill>
        <p:spPr>
          <a:xfrm rot="21600000">
            <a:off x="6698405" y="3593217"/>
            <a:ext cx="5211229" cy="237666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5082159" y="1610486"/>
            <a:ext cx="6915150" cy="4650485"/>
            <a:chOff x="0" y="0"/>
            <a:chExt cx="6915150" cy="4650485"/>
          </a:xfrm>
        </p:grpSpPr>
        <p:sp>
          <p:nvSpPr>
            <p:cNvPr id="24" name="textbox 24"/>
            <p:cNvSpPr/>
            <p:nvPr/>
          </p:nvSpPr>
          <p:spPr>
            <a:xfrm>
              <a:off x="1883977" y="3339733"/>
              <a:ext cx="722630" cy="958850"/>
            </a:xfrm>
            <a:prstGeom prst="rect">
              <a:avLst/>
            </a:prstGeom>
            <a:noFill/>
            <a:ln w="0" cap="flat">
              <a:noFill/>
              <a:prstDash val="solid"/>
              <a:miter lim="0"/>
            </a:ln>
          </p:spPr>
          <p:txBody>
            <a:bodyPr vert="horz" wrap="square" lIns="0" tIns="0" rIns="0" bIns="0"/>
            <a:lstStyle/>
            <a:p>
              <a:pPr algn="l" rtl="0" eaLnBrk="0">
                <a:lnSpc>
                  <a:spcPct val="78464"/>
                </a:lnSpc>
                <a:tabLst/>
              </a:pPr>
              <a:endParaRPr sz="100" dirty="0">
                <a:latin typeface="Arial"/>
                <a:ea typeface="Arial"/>
                <a:cs typeface="Arial"/>
              </a:endParaRPr>
            </a:p>
            <a:p>
              <a:pPr marL="13334" algn="l" rtl="0" eaLnBrk="0">
                <a:lnSpc>
                  <a:spcPct val="89000"/>
                </a:lnSpc>
                <a:tabLst/>
              </a:pPr>
              <a:r>
                <a:rPr sz="1300" kern="0" spc="60" dirty="0">
                  <a:solidFill>
                    <a:srgbClr val="000000">
                      <a:alpha val="100000"/>
                    </a:srgbClr>
                  </a:solidFill>
                  <a:latin typeface="SimSun"/>
                  <a:ea typeface="SimSun"/>
                  <a:cs typeface="SimSun"/>
                </a:rPr>
                <a:t>北线船闸</a:t>
              </a:r>
              <a:endParaRPr sz="1300" dirty="0">
                <a:latin typeface="SimSun"/>
                <a:ea typeface="SimSun"/>
                <a:cs typeface="SimSun"/>
              </a:endParaRPr>
            </a:p>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1000"/>
                </a:lnSpc>
                <a:tabLst/>
              </a:pPr>
              <a:endParaRPr sz="300" dirty="0">
                <a:latin typeface="Arial"/>
                <a:ea typeface="Arial"/>
                <a:cs typeface="Arial"/>
              </a:endParaRPr>
            </a:p>
            <a:p>
              <a:pPr marL="12700" algn="l" rtl="0" eaLnBrk="0">
                <a:lnSpc>
                  <a:spcPct val="89000"/>
                </a:lnSpc>
                <a:spcBef>
                  <a:spcPts val="1"/>
                </a:spcBef>
                <a:tabLst/>
              </a:pPr>
              <a:r>
                <a:rPr sz="1300" kern="0" spc="60" dirty="0">
                  <a:solidFill>
                    <a:srgbClr val="000000">
                      <a:alpha val="100000"/>
                    </a:srgbClr>
                  </a:solidFill>
                  <a:latin typeface="SimSun"/>
                  <a:ea typeface="SimSun"/>
                  <a:cs typeface="SimSun"/>
                </a:rPr>
                <a:t>南线船闸</a:t>
              </a:r>
              <a:endParaRPr sz="1300" dirty="0">
                <a:latin typeface="SimSun"/>
                <a:ea typeface="SimSun"/>
                <a:cs typeface="SimSun"/>
              </a:endParaRPr>
            </a:p>
          </p:txBody>
        </p:sp>
        <p:sp>
          <p:nvSpPr>
            <p:cNvPr id="26" name="textbox 26"/>
            <p:cNvSpPr/>
            <p:nvPr/>
          </p:nvSpPr>
          <p:spPr>
            <a:xfrm>
              <a:off x="4296292" y="3354795"/>
              <a:ext cx="546100" cy="914400"/>
            </a:xfrm>
            <a:prstGeom prst="rect">
              <a:avLst/>
            </a:prstGeom>
            <a:noFill/>
            <a:ln w="0" cap="flat">
              <a:noFill/>
              <a:prstDash val="solid"/>
              <a:miter lim="0"/>
            </a:ln>
          </p:spPr>
          <p:txBody>
            <a:bodyPr vert="horz" wrap="square" lIns="0" tIns="0" rIns="0" bIns="0"/>
            <a:lstStyle/>
            <a:p>
              <a:pPr algn="l" rtl="0" eaLnBrk="0">
                <a:lnSpc>
                  <a:spcPct val="78464"/>
                </a:lnSpc>
                <a:tabLst/>
              </a:pPr>
              <a:endParaRPr sz="100" dirty="0">
                <a:latin typeface="Arial"/>
                <a:ea typeface="Arial"/>
                <a:cs typeface="Arial"/>
              </a:endParaRPr>
            </a:p>
            <a:p>
              <a:pPr marL="13970" algn="l" rtl="0" eaLnBrk="0">
                <a:lnSpc>
                  <a:spcPct val="89000"/>
                </a:lnSpc>
                <a:tabLst/>
              </a:pPr>
              <a:r>
                <a:rPr sz="1300" kern="0" spc="40" dirty="0">
                  <a:solidFill>
                    <a:srgbClr val="000000">
                      <a:alpha val="100000"/>
                    </a:srgbClr>
                  </a:solidFill>
                  <a:latin typeface="SimSun"/>
                  <a:ea typeface="SimSun"/>
                  <a:cs typeface="SimSun"/>
                </a:rPr>
                <a:t>3#船闸</a:t>
              </a:r>
              <a:endParaRPr sz="1300" dirty="0">
                <a:latin typeface="SimSun"/>
                <a:ea typeface="SimSun"/>
                <a:cs typeface="SimSun"/>
              </a:endParaRPr>
            </a:p>
            <a:p>
              <a:pPr marL="12700" algn="l" rtl="0" eaLnBrk="0">
                <a:lnSpc>
                  <a:spcPct val="89000"/>
                </a:lnSpc>
                <a:spcBef>
                  <a:spcPts val="1420"/>
                </a:spcBef>
                <a:tabLst/>
              </a:pPr>
              <a:r>
                <a:rPr sz="1300" kern="0" spc="40" dirty="0">
                  <a:solidFill>
                    <a:srgbClr val="000000">
                      <a:alpha val="100000"/>
                    </a:srgbClr>
                  </a:solidFill>
                  <a:latin typeface="SimSun"/>
                  <a:ea typeface="SimSun"/>
                  <a:cs typeface="SimSun"/>
                </a:rPr>
                <a:t>2#船闸</a:t>
              </a:r>
              <a:endParaRPr sz="1300" dirty="0">
                <a:latin typeface="SimSun"/>
                <a:ea typeface="SimSun"/>
                <a:cs typeface="SimSun"/>
              </a:endParaRPr>
            </a:p>
            <a:p>
              <a:pPr algn="l" rtl="0" eaLnBrk="0">
                <a:lnSpc>
                  <a:spcPct val="107000"/>
                </a:lnSpc>
                <a:tabLst/>
              </a:pPr>
              <a:endParaRPr sz="1100" dirty="0">
                <a:latin typeface="Arial"/>
                <a:ea typeface="Arial"/>
                <a:cs typeface="Arial"/>
              </a:endParaRPr>
            </a:p>
            <a:p>
              <a:pPr algn="l" rtl="0" eaLnBrk="0">
                <a:lnSpc>
                  <a:spcPct val="6389"/>
                </a:lnSpc>
                <a:tabLst/>
              </a:pPr>
              <a:endParaRPr sz="100" dirty="0">
                <a:latin typeface="Arial"/>
                <a:ea typeface="Arial"/>
                <a:cs typeface="Arial"/>
              </a:endParaRPr>
            </a:p>
            <a:p>
              <a:pPr marL="23495" algn="l" rtl="0" eaLnBrk="0">
                <a:lnSpc>
                  <a:spcPct val="89000"/>
                </a:lnSpc>
                <a:tabLst/>
              </a:pPr>
              <a:r>
                <a:rPr sz="1300" kern="0" spc="20" dirty="0">
                  <a:solidFill>
                    <a:srgbClr val="000000">
                      <a:alpha val="100000"/>
                    </a:srgbClr>
                  </a:solidFill>
                  <a:latin typeface="SimSun"/>
                  <a:ea typeface="SimSun"/>
                  <a:cs typeface="SimSun"/>
                </a:rPr>
                <a:t>1#船闸</a:t>
              </a:r>
              <a:endParaRPr sz="1300" dirty="0">
                <a:latin typeface="SimSun"/>
                <a:ea typeface="SimSun"/>
                <a:cs typeface="SimSun"/>
              </a:endParaRPr>
            </a:p>
          </p:txBody>
        </p:sp>
        <p:pic>
          <p:nvPicPr>
            <p:cNvPr id="28" name="picture 28"/>
            <p:cNvPicPr>
              <a:picLocks noChangeAspect="1"/>
            </p:cNvPicPr>
            <p:nvPr/>
          </p:nvPicPr>
          <p:blipFill>
            <a:blip r:embed="rId2"/>
            <a:stretch>
              <a:fillRect/>
            </a:stretch>
          </p:blipFill>
          <p:spPr>
            <a:xfrm rot="21600000">
              <a:off x="0" y="0"/>
              <a:ext cx="6915150" cy="4650485"/>
            </a:xfrm>
            <a:prstGeom prst="rect">
              <a:avLst/>
            </a:prstGeom>
          </p:spPr>
        </p:pic>
        <p:sp>
          <p:nvSpPr>
            <p:cNvPr id="30" name="textbox 30"/>
            <p:cNvSpPr/>
            <p:nvPr/>
          </p:nvSpPr>
          <p:spPr>
            <a:xfrm>
              <a:off x="5538237" y="2985600"/>
              <a:ext cx="1013460" cy="1136650"/>
            </a:xfrm>
            <a:prstGeom prst="rect">
              <a:avLst/>
            </a:prstGeom>
            <a:noFill/>
            <a:ln w="0" cap="flat">
              <a:noFill/>
              <a:prstDash val="solid"/>
              <a:miter lim="0"/>
            </a:ln>
          </p:spPr>
          <p:txBody>
            <a:bodyPr vert="horz" wrap="square" lIns="0" tIns="0" rIns="0" bIns="0"/>
            <a:lstStyle/>
            <a:p>
              <a:pPr algn="l" rtl="0" eaLnBrk="0">
                <a:lnSpc>
                  <a:spcPct val="78944"/>
                </a:lnSpc>
                <a:tabLst/>
              </a:pPr>
              <a:endParaRPr sz="100" dirty="0">
                <a:latin typeface="Arial"/>
                <a:ea typeface="Arial"/>
                <a:cs typeface="Arial"/>
              </a:endParaRPr>
            </a:p>
            <a:p>
              <a:pPr algn="r" rtl="0" eaLnBrk="0">
                <a:lnSpc>
                  <a:spcPct val="89000"/>
                </a:lnSpc>
                <a:tabLst/>
              </a:pPr>
              <a:r>
                <a:rPr sz="1700" b="1" kern="0" spc="20" dirty="0">
                  <a:solidFill>
                    <a:srgbClr val="FF0000">
                      <a:alpha val="100000"/>
                    </a:srgbClr>
                  </a:solidFill>
                  <a:latin typeface="SimHei"/>
                  <a:ea typeface="SimHei"/>
                  <a:cs typeface="SimHei"/>
                </a:rPr>
                <a:t>中水门</a:t>
              </a:r>
              <a:endParaRPr sz="1700" dirty="0">
                <a:latin typeface="SimHei"/>
                <a:ea typeface="SimHei"/>
                <a:cs typeface="SimHei"/>
              </a:endParaRPr>
            </a:p>
            <a:p>
              <a:pPr algn="l" rtl="0" eaLnBrk="0">
                <a:lnSpc>
                  <a:spcPct val="152000"/>
                </a:lnSpc>
                <a:tabLst/>
              </a:pPr>
              <a:endParaRPr sz="1000" dirty="0">
                <a:latin typeface="Arial"/>
                <a:ea typeface="Arial"/>
                <a:cs typeface="Arial"/>
              </a:endParaRPr>
            </a:p>
            <a:p>
              <a:pPr marL="15875" algn="l" rtl="0" eaLnBrk="0">
                <a:lnSpc>
                  <a:spcPct val="89000"/>
                </a:lnSpc>
                <a:spcBef>
                  <a:spcPts val="401"/>
                </a:spcBef>
                <a:tabLst/>
              </a:pPr>
              <a:r>
                <a:rPr sz="1300" kern="0" spc="30" dirty="0">
                  <a:solidFill>
                    <a:srgbClr val="000000">
                      <a:alpha val="100000"/>
                    </a:srgbClr>
                  </a:solidFill>
                  <a:latin typeface="SimSun"/>
                  <a:ea typeface="SimSun"/>
                  <a:cs typeface="SimSun"/>
                </a:rPr>
                <a:t>下游</a:t>
              </a:r>
              <a:endParaRPr sz="1300" dirty="0">
                <a:latin typeface="SimSun"/>
                <a:ea typeface="SimSun"/>
                <a:cs typeface="SimSun"/>
              </a:endParaRPr>
            </a:p>
            <a:p>
              <a:pPr algn="l" rtl="0" eaLnBrk="0">
                <a:lnSpc>
                  <a:spcPct val="129000"/>
                </a:lnSpc>
                <a:tabLst/>
              </a:pPr>
              <a:endParaRPr sz="1000" dirty="0">
                <a:latin typeface="Arial"/>
                <a:ea typeface="Arial"/>
                <a:cs typeface="Arial"/>
              </a:endParaRPr>
            </a:p>
            <a:p>
              <a:pPr algn="l" rtl="0" eaLnBrk="0">
                <a:lnSpc>
                  <a:spcPct val="108000"/>
                </a:lnSpc>
                <a:tabLst/>
              </a:pPr>
              <a:endParaRPr sz="300" dirty="0">
                <a:latin typeface="Arial"/>
                <a:ea typeface="Arial"/>
                <a:cs typeface="Arial"/>
              </a:endParaRPr>
            </a:p>
            <a:p>
              <a:pPr marL="12700" algn="l" rtl="0" eaLnBrk="0">
                <a:lnSpc>
                  <a:spcPct val="89000"/>
                </a:lnSpc>
                <a:spcBef>
                  <a:spcPts val="2"/>
                </a:spcBef>
                <a:tabLst/>
              </a:pPr>
              <a:r>
                <a:rPr sz="1300" kern="0" spc="40" dirty="0">
                  <a:solidFill>
                    <a:srgbClr val="000000">
                      <a:alpha val="100000"/>
                    </a:srgbClr>
                  </a:solidFill>
                  <a:latin typeface="SimSun"/>
                  <a:ea typeface="SimSun"/>
                  <a:cs typeface="SimSun"/>
                </a:rPr>
                <a:t>水域</a:t>
              </a:r>
              <a:endParaRPr sz="1300" dirty="0">
                <a:latin typeface="SimSun"/>
                <a:ea typeface="SimSun"/>
                <a:cs typeface="SimSun"/>
              </a:endParaRPr>
            </a:p>
          </p:txBody>
        </p:sp>
        <p:sp>
          <p:nvSpPr>
            <p:cNvPr id="32" name="textbox 32"/>
            <p:cNvSpPr/>
            <p:nvPr/>
          </p:nvSpPr>
          <p:spPr>
            <a:xfrm>
              <a:off x="1953433" y="4410610"/>
              <a:ext cx="2888614" cy="201295"/>
            </a:xfrm>
            <a:prstGeom prst="rect">
              <a:avLst/>
            </a:prstGeom>
            <a:noFill/>
            <a:ln w="0" cap="flat">
              <a:noFill/>
              <a:prstDash val="solid"/>
              <a:miter lim="0"/>
            </a:ln>
          </p:spPr>
          <p:txBody>
            <a:bodyPr vert="horz" wrap="square" lIns="0" tIns="0" rIns="0" bIns="0"/>
            <a:lstStyle/>
            <a:p>
              <a:pPr algn="l" rtl="0" eaLnBrk="0">
                <a:lnSpc>
                  <a:spcPct val="78464"/>
                </a:lnSpc>
                <a:tabLst/>
              </a:pPr>
              <a:endParaRPr sz="100" dirty="0">
                <a:latin typeface="Arial"/>
                <a:ea typeface="Arial"/>
                <a:cs typeface="Arial"/>
              </a:endParaRPr>
            </a:p>
            <a:p>
              <a:pPr marL="12700" algn="l" rtl="0" eaLnBrk="0">
                <a:lnSpc>
                  <a:spcPct val="89000"/>
                </a:lnSpc>
                <a:tabLst/>
              </a:pPr>
              <a:r>
                <a:rPr sz="1300" kern="0" spc="60" dirty="0">
                  <a:solidFill>
                    <a:srgbClr val="000000">
                      <a:alpha val="100000"/>
                    </a:srgbClr>
                  </a:solidFill>
                  <a:latin typeface="SimSun"/>
                  <a:ea typeface="SimSun"/>
                  <a:cs typeface="SimSun"/>
                </a:rPr>
                <a:t>三峡大坝</a:t>
              </a:r>
              <a:r>
                <a:rPr sz="1300" kern="0" spc="30" dirty="0">
                  <a:solidFill>
                    <a:srgbClr val="000000">
                      <a:alpha val="100000"/>
                    </a:srgbClr>
                  </a:solidFill>
                  <a:latin typeface="SimSun"/>
                  <a:ea typeface="SimSun"/>
                  <a:cs typeface="SimSun"/>
                </a:rPr>
                <a:t>                   </a:t>
              </a:r>
              <a:r>
                <a:rPr sz="1300" kern="0" spc="60" dirty="0">
                  <a:solidFill>
                    <a:srgbClr val="000000">
                      <a:alpha val="100000"/>
                    </a:srgbClr>
                  </a:solidFill>
                  <a:latin typeface="SimSun"/>
                  <a:ea typeface="SimSun"/>
                  <a:cs typeface="SimSun"/>
                </a:rPr>
                <a:t>葛洲坝</a:t>
              </a:r>
              <a:endParaRPr sz="1300" dirty="0">
                <a:latin typeface="SimSun"/>
                <a:ea typeface="SimSun"/>
                <a:cs typeface="SimSun"/>
              </a:endParaRPr>
            </a:p>
          </p:txBody>
        </p:sp>
        <p:sp>
          <p:nvSpPr>
            <p:cNvPr id="34" name="textbox 34"/>
            <p:cNvSpPr/>
            <p:nvPr/>
          </p:nvSpPr>
          <p:spPr>
            <a:xfrm>
              <a:off x="3115093" y="3501595"/>
              <a:ext cx="547369" cy="624840"/>
            </a:xfrm>
            <a:prstGeom prst="rect">
              <a:avLst/>
            </a:prstGeom>
            <a:noFill/>
            <a:ln w="0" cap="flat">
              <a:noFill/>
              <a:prstDash val="solid"/>
              <a:miter lim="0"/>
            </a:ln>
          </p:spPr>
          <p:txBody>
            <a:bodyPr vert="horz" wrap="square" lIns="0" tIns="0" rIns="0" bIns="0"/>
            <a:lstStyle/>
            <a:p>
              <a:pPr algn="l" rtl="0" eaLnBrk="0">
                <a:lnSpc>
                  <a:spcPct val="78464"/>
                </a:lnSpc>
                <a:tabLst/>
              </a:pPr>
              <a:endParaRPr sz="100" dirty="0">
                <a:latin typeface="Arial"/>
                <a:ea typeface="Arial"/>
                <a:cs typeface="Arial"/>
              </a:endParaRPr>
            </a:p>
            <a:p>
              <a:pPr marL="12700" algn="l" rtl="0" eaLnBrk="0">
                <a:lnSpc>
                  <a:spcPct val="89000"/>
                </a:lnSpc>
                <a:tabLst/>
              </a:pPr>
              <a:r>
                <a:rPr sz="1300" kern="0" spc="60" dirty="0">
                  <a:solidFill>
                    <a:srgbClr val="000000">
                      <a:alpha val="100000"/>
                    </a:srgbClr>
                  </a:solidFill>
                  <a:latin typeface="SimSun"/>
                  <a:ea typeface="SimSun"/>
                  <a:cs typeface="SimSun"/>
                </a:rPr>
                <a:t>两坝间</a:t>
              </a:r>
              <a:endParaRPr sz="1300" dirty="0">
                <a:latin typeface="SimSun"/>
                <a:ea typeface="SimSun"/>
                <a:cs typeface="SimSun"/>
              </a:endParaRPr>
            </a:p>
            <a:p>
              <a:pPr algn="l" rtl="0" eaLnBrk="0">
                <a:lnSpc>
                  <a:spcPct val="129000"/>
                </a:lnSpc>
                <a:tabLst/>
              </a:pPr>
              <a:endParaRPr sz="1000" dirty="0">
                <a:latin typeface="Arial"/>
                <a:ea typeface="Arial"/>
                <a:cs typeface="Arial"/>
              </a:endParaRPr>
            </a:p>
            <a:p>
              <a:pPr algn="l" rtl="0" eaLnBrk="0">
                <a:lnSpc>
                  <a:spcPct val="110000"/>
                </a:lnSpc>
                <a:tabLst/>
              </a:pPr>
              <a:endParaRPr sz="300" dirty="0">
                <a:latin typeface="Arial"/>
                <a:ea typeface="Arial"/>
                <a:cs typeface="Arial"/>
              </a:endParaRPr>
            </a:p>
            <a:p>
              <a:pPr marL="102235" algn="l" rtl="0" eaLnBrk="0">
                <a:lnSpc>
                  <a:spcPct val="89000"/>
                </a:lnSpc>
                <a:spcBef>
                  <a:spcPts val="2"/>
                </a:spcBef>
                <a:tabLst/>
              </a:pPr>
              <a:r>
                <a:rPr sz="1300" kern="0" spc="40" dirty="0">
                  <a:solidFill>
                    <a:srgbClr val="000000">
                      <a:alpha val="100000"/>
                    </a:srgbClr>
                  </a:solidFill>
                  <a:latin typeface="SimSun"/>
                  <a:ea typeface="SimSun"/>
                  <a:cs typeface="SimSun"/>
                </a:rPr>
                <a:t>水域</a:t>
              </a:r>
              <a:endParaRPr sz="1300" dirty="0">
                <a:latin typeface="SimSun"/>
                <a:ea typeface="SimSun"/>
                <a:cs typeface="SimSun"/>
              </a:endParaRPr>
            </a:p>
          </p:txBody>
        </p:sp>
        <p:sp>
          <p:nvSpPr>
            <p:cNvPr id="36" name="textbox 36"/>
            <p:cNvSpPr/>
            <p:nvPr/>
          </p:nvSpPr>
          <p:spPr>
            <a:xfrm>
              <a:off x="825885" y="3501595"/>
              <a:ext cx="369570" cy="624840"/>
            </a:xfrm>
            <a:prstGeom prst="rect">
              <a:avLst/>
            </a:prstGeom>
            <a:noFill/>
            <a:ln w="0" cap="flat">
              <a:noFill/>
              <a:prstDash val="solid"/>
              <a:miter lim="0"/>
            </a:ln>
          </p:spPr>
          <p:txBody>
            <a:bodyPr vert="horz" wrap="square" lIns="0" tIns="0" rIns="0" bIns="0"/>
            <a:lstStyle/>
            <a:p>
              <a:pPr algn="l" rtl="0" eaLnBrk="0">
                <a:lnSpc>
                  <a:spcPct val="78464"/>
                </a:lnSpc>
                <a:tabLst/>
              </a:pPr>
              <a:endParaRPr sz="100" dirty="0">
                <a:latin typeface="Arial"/>
                <a:ea typeface="Arial"/>
                <a:cs typeface="Arial"/>
              </a:endParaRPr>
            </a:p>
            <a:p>
              <a:pPr marL="12700" algn="l" rtl="0" eaLnBrk="0">
                <a:lnSpc>
                  <a:spcPct val="89000"/>
                </a:lnSpc>
                <a:tabLst/>
              </a:pPr>
              <a:r>
                <a:rPr sz="1300" kern="0" spc="40" dirty="0">
                  <a:solidFill>
                    <a:srgbClr val="000000">
                      <a:alpha val="100000"/>
                    </a:srgbClr>
                  </a:solidFill>
                  <a:latin typeface="SimSun"/>
                  <a:ea typeface="SimSun"/>
                  <a:cs typeface="SimSun"/>
                </a:rPr>
                <a:t>上游</a:t>
              </a:r>
              <a:endParaRPr sz="1300" dirty="0">
                <a:latin typeface="SimSun"/>
                <a:ea typeface="SimSun"/>
                <a:cs typeface="SimSun"/>
              </a:endParaRPr>
            </a:p>
            <a:p>
              <a:pPr algn="l" rtl="0" eaLnBrk="0">
                <a:lnSpc>
                  <a:spcPct val="129000"/>
                </a:lnSpc>
                <a:tabLst/>
              </a:pPr>
              <a:endParaRPr sz="1000" dirty="0">
                <a:latin typeface="Arial"/>
                <a:ea typeface="Arial"/>
                <a:cs typeface="Arial"/>
              </a:endParaRPr>
            </a:p>
            <a:p>
              <a:pPr algn="l" rtl="0" eaLnBrk="0">
                <a:lnSpc>
                  <a:spcPct val="110000"/>
                </a:lnSpc>
                <a:tabLst/>
              </a:pPr>
              <a:endParaRPr sz="300" dirty="0">
                <a:latin typeface="Arial"/>
                <a:ea typeface="Arial"/>
                <a:cs typeface="Arial"/>
              </a:endParaRPr>
            </a:p>
            <a:p>
              <a:pPr marL="13334" algn="l" rtl="0" eaLnBrk="0">
                <a:lnSpc>
                  <a:spcPct val="89000"/>
                </a:lnSpc>
                <a:spcBef>
                  <a:spcPts val="2"/>
                </a:spcBef>
                <a:tabLst/>
              </a:pPr>
              <a:r>
                <a:rPr sz="1300" kern="0" spc="40" dirty="0">
                  <a:solidFill>
                    <a:srgbClr val="000000">
                      <a:alpha val="100000"/>
                    </a:srgbClr>
                  </a:solidFill>
                  <a:latin typeface="SimSun"/>
                  <a:ea typeface="SimSun"/>
                  <a:cs typeface="SimSun"/>
                </a:rPr>
                <a:t>水域</a:t>
              </a:r>
              <a:endParaRPr sz="1300" dirty="0">
                <a:latin typeface="SimSun"/>
                <a:ea typeface="SimSun"/>
                <a:cs typeface="SimSun"/>
              </a:endParaRPr>
            </a:p>
          </p:txBody>
        </p:sp>
        <p:sp>
          <p:nvSpPr>
            <p:cNvPr id="38" name="textbox 38"/>
            <p:cNvSpPr/>
            <p:nvPr/>
          </p:nvSpPr>
          <p:spPr>
            <a:xfrm>
              <a:off x="565672" y="1582542"/>
              <a:ext cx="475615" cy="255904"/>
            </a:xfrm>
            <a:prstGeom prst="rect">
              <a:avLst/>
            </a:prstGeom>
            <a:noFill/>
            <a:ln w="0" cap="flat">
              <a:noFill/>
              <a:prstDash val="solid"/>
              <a:miter lim="0"/>
            </a:ln>
          </p:spPr>
          <p:txBody>
            <a:bodyPr vert="horz" wrap="square" lIns="0" tIns="0" rIns="0" bIns="0"/>
            <a:lstStyle/>
            <a:p>
              <a:pPr algn="l" rtl="0" eaLnBrk="0">
                <a:lnSpc>
                  <a:spcPct val="78943"/>
                </a:lnSpc>
                <a:tabLst/>
              </a:pPr>
              <a:endParaRPr sz="100" dirty="0">
                <a:latin typeface="Arial"/>
                <a:ea typeface="Arial"/>
                <a:cs typeface="Arial"/>
              </a:endParaRPr>
            </a:p>
            <a:p>
              <a:pPr marL="12700" algn="l" rtl="0" eaLnBrk="0">
                <a:lnSpc>
                  <a:spcPct val="89000"/>
                </a:lnSpc>
                <a:tabLst/>
              </a:pPr>
              <a:r>
                <a:rPr sz="1700" b="1" kern="0" spc="50" dirty="0">
                  <a:solidFill>
                    <a:srgbClr val="FF0000">
                      <a:alpha val="100000"/>
                    </a:srgbClr>
                  </a:solidFill>
                  <a:latin typeface="SimHei"/>
                  <a:ea typeface="SimHei"/>
                  <a:cs typeface="SimHei"/>
                </a:rPr>
                <a:t>庙河</a:t>
              </a:r>
              <a:endParaRPr sz="1700" dirty="0">
                <a:latin typeface="SimHei"/>
                <a:ea typeface="SimHei"/>
                <a:cs typeface="SimHei"/>
              </a:endParaRPr>
            </a:p>
          </p:txBody>
        </p:sp>
      </p:grpSp>
      <p:pic>
        <p:nvPicPr>
          <p:cNvPr id="40" name="picture 40"/>
          <p:cNvPicPr>
            <a:picLocks noChangeAspect="1"/>
          </p:cNvPicPr>
          <p:nvPr/>
        </p:nvPicPr>
        <p:blipFill>
          <a:blip r:embed="rId3"/>
          <a:stretch>
            <a:fillRect/>
          </a:stretch>
        </p:blipFill>
        <p:spPr>
          <a:xfrm rot="21600000">
            <a:off x="408431" y="1620011"/>
            <a:ext cx="4578095" cy="5163311"/>
          </a:xfrm>
          <a:prstGeom prst="rect">
            <a:avLst/>
          </a:prstGeom>
        </p:spPr>
      </p:pic>
      <p:sp>
        <p:nvSpPr>
          <p:cNvPr id="42" name="textbox 42"/>
          <p:cNvSpPr/>
          <p:nvPr/>
        </p:nvSpPr>
        <p:spPr>
          <a:xfrm>
            <a:off x="2077211" y="1025652"/>
            <a:ext cx="8037830" cy="447040"/>
          </a:xfrm>
          <a:prstGeom prst="rect">
            <a:avLst/>
          </a:prstGeom>
          <a:solidFill>
            <a:srgbClr val="0070C0">
              <a:alpha val="100000"/>
            </a:srgbClr>
          </a:solidFill>
          <a:ln w="0" cap="flat">
            <a:noFill/>
            <a:prstDash val="solid"/>
            <a:miter lim="0"/>
          </a:ln>
        </p:spPr>
        <p:txBody>
          <a:bodyPr vert="horz" wrap="square" lIns="0" tIns="0" rIns="0" bIns="0"/>
          <a:lstStyle/>
          <a:p>
            <a:pPr algn="l" rtl="0" eaLnBrk="0">
              <a:lnSpc>
                <a:spcPct val="120000"/>
              </a:lnSpc>
              <a:tabLst/>
            </a:pPr>
            <a:endParaRPr sz="400" dirty="0">
              <a:latin typeface="Arial"/>
              <a:ea typeface="Arial"/>
              <a:cs typeface="Arial"/>
            </a:endParaRPr>
          </a:p>
          <a:p>
            <a:pPr marL="95250" algn="l" rtl="0" eaLnBrk="0">
              <a:lnSpc>
                <a:spcPct val="88000"/>
              </a:lnSpc>
              <a:spcBef>
                <a:spcPts val="3"/>
              </a:spcBef>
              <a:tabLst/>
            </a:pPr>
            <a:r>
              <a:rPr sz="2000" kern="0" spc="0" dirty="0">
                <a:solidFill>
                  <a:srgbClr val="FFFFFF">
                    <a:alpha val="100000"/>
                  </a:srgbClr>
                </a:solidFill>
                <a:latin typeface="Microsoft YaHei"/>
                <a:ea typeface="Microsoft YaHei"/>
                <a:cs typeface="Microsoft YaHei"/>
              </a:rPr>
              <a:t>相关技术和成果已经在三峡通航管理局、长江海事局业务系</a:t>
            </a:r>
            <a:r>
              <a:rPr sz="2000" kern="0" spc="-10" dirty="0">
                <a:solidFill>
                  <a:srgbClr val="FFFFFF">
                    <a:alpha val="100000"/>
                  </a:srgbClr>
                </a:solidFill>
                <a:latin typeface="Microsoft YaHei"/>
                <a:ea typeface="Microsoft YaHei"/>
                <a:cs typeface="Microsoft YaHei"/>
              </a:rPr>
              <a:t>统中应用</a:t>
            </a:r>
            <a:endParaRPr sz="2000" dirty="0">
              <a:latin typeface="Microsoft YaHei"/>
              <a:ea typeface="Microsoft YaHei"/>
              <a:cs typeface="Microsoft YaHei"/>
            </a:endParaRPr>
          </a:p>
        </p:txBody>
      </p:sp>
      <p:sp>
        <p:nvSpPr>
          <p:cNvPr id="44" name="textbox 44"/>
          <p:cNvSpPr/>
          <p:nvPr/>
        </p:nvSpPr>
        <p:spPr>
          <a:xfrm>
            <a:off x="6277648" y="6375692"/>
            <a:ext cx="4124325" cy="321309"/>
          </a:xfrm>
          <a:prstGeom prst="rect">
            <a:avLst/>
          </a:prstGeom>
          <a:noFill/>
          <a:ln w="0" cap="flat">
            <a:noFill/>
            <a:prstDash val="solid"/>
            <a:miter lim="0"/>
          </a:ln>
        </p:spPr>
        <p:txBody>
          <a:bodyPr vert="horz" wrap="square" lIns="0" tIns="0" rIns="0" bIns="0"/>
          <a:lstStyle/>
          <a:p>
            <a:pPr algn="l" rtl="0" eaLnBrk="0">
              <a:lnSpc>
                <a:spcPct val="89525"/>
              </a:lnSpc>
              <a:tabLst/>
            </a:pPr>
            <a:endParaRPr sz="100" dirty="0">
              <a:latin typeface="Arial"/>
              <a:ea typeface="Arial"/>
              <a:cs typeface="Arial"/>
            </a:endParaRPr>
          </a:p>
          <a:p>
            <a:pPr marL="12700" algn="l" rtl="0" eaLnBrk="0">
              <a:lnSpc>
                <a:spcPct val="84000"/>
              </a:lnSpc>
              <a:tabLst/>
            </a:pPr>
            <a:r>
              <a:rPr sz="2300" b="1" kern="0" spc="90" dirty="0">
                <a:solidFill>
                  <a:srgbClr val="C00000">
                    <a:alpha val="100000"/>
                  </a:srgbClr>
                </a:solidFill>
                <a:latin typeface="DengXian"/>
                <a:ea typeface="DengXian"/>
                <a:cs typeface="DengXian"/>
              </a:rPr>
              <a:t>三峡-葛洲坝联合通</a:t>
            </a:r>
            <a:r>
              <a:rPr sz="2300" b="1" kern="0" spc="80" dirty="0">
                <a:solidFill>
                  <a:srgbClr val="C00000">
                    <a:alpha val="100000"/>
                  </a:srgbClr>
                </a:solidFill>
                <a:latin typeface="DengXian"/>
                <a:ea typeface="DengXian"/>
                <a:cs typeface="DengXian"/>
              </a:rPr>
              <a:t>航调度系统</a:t>
            </a:r>
            <a:endParaRPr sz="2300" dirty="0">
              <a:latin typeface="DengXian"/>
              <a:ea typeface="DengXian"/>
              <a:cs typeface="DengXian"/>
            </a:endParaRPr>
          </a:p>
        </p:txBody>
      </p:sp>
      <p:sp>
        <p:nvSpPr>
          <p:cNvPr id="46" name="textbox 46"/>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2</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、信息技术与人工智能</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4392167" y="1862328"/>
            <a:ext cx="7725156" cy="4538471"/>
          </a:xfrm>
          <a:prstGeom prst="rect">
            <a:avLst/>
          </a:prstGeom>
        </p:spPr>
      </p:pic>
      <p:pic>
        <p:nvPicPr>
          <p:cNvPr id="4" name="picture 4"/>
          <p:cNvPicPr>
            <a:picLocks noChangeAspect="1"/>
          </p:cNvPicPr>
          <p:nvPr/>
        </p:nvPicPr>
        <p:blipFill>
          <a:blip r:embed="rId3"/>
          <a:stretch>
            <a:fillRect/>
          </a:stretch>
        </p:blipFill>
        <p:spPr>
          <a:xfrm rot="21600000">
            <a:off x="544068" y="3646932"/>
            <a:ext cx="3520440" cy="3150107"/>
          </a:xfrm>
          <a:prstGeom prst="rect">
            <a:avLst/>
          </a:prstGeom>
        </p:spPr>
      </p:pic>
      <p:sp>
        <p:nvSpPr>
          <p:cNvPr id="6" name="textbox 6"/>
          <p:cNvSpPr/>
          <p:nvPr/>
        </p:nvSpPr>
        <p:spPr>
          <a:xfrm>
            <a:off x="1524" y="0"/>
            <a:ext cx="12190730" cy="620394"/>
          </a:xfrm>
          <a:prstGeom prst="rect">
            <a:avLst/>
          </a:prstGeom>
          <a:solidFill>
            <a:srgbClr val="004698">
              <a:alpha val="100000"/>
            </a:srgbClr>
          </a:solidFill>
          <a:ln w="0" cap="flat">
            <a:noFill/>
            <a:prstDash val="solid"/>
            <a:miter lim="0"/>
          </a:ln>
        </p:spPr>
        <p:txBody>
          <a:bodyPr vert="horz" wrap="square" lIns="0" tIns="0" rIns="0" bIns="0"/>
          <a:lstStyle/>
          <a:p>
            <a:pPr algn="l" rtl="0" eaLnBrk="0">
              <a:lnSpc>
                <a:spcPct val="103000"/>
              </a:lnSpc>
              <a:tabLst/>
            </a:pPr>
            <a:endParaRPr sz="300" dirty="0">
              <a:latin typeface="Arial"/>
              <a:ea typeface="Arial"/>
              <a:cs typeface="Arial"/>
            </a:endParaRPr>
          </a:p>
          <a:p>
            <a:pPr marL="111760" algn="l" rtl="0" eaLnBrk="0">
              <a:lnSpc>
                <a:spcPts val="3608"/>
              </a:lnSpc>
              <a:spcBef>
                <a:spcPts val="1"/>
              </a:spcBef>
              <a:tabLst/>
            </a:pPr>
            <a:r>
              <a:rPr sz="2700" kern="0" spc="70" dirty="0">
                <a:solidFill>
                  <a:srgbClr val="FFFFFF">
                    <a:alpha val="100000"/>
                  </a:srgbClr>
                </a:solidFill>
                <a:latin typeface="Microsoft YaHei"/>
                <a:ea typeface="Microsoft YaHei"/>
                <a:cs typeface="Microsoft YaHei"/>
              </a:rPr>
              <a:t>2.9 大坝三维数字化探测技术</a:t>
            </a:r>
            <a:endParaRPr sz="2700" dirty="0">
              <a:latin typeface="Microsoft YaHei"/>
              <a:ea typeface="Microsoft YaHei"/>
              <a:cs typeface="Microsoft YaHei"/>
            </a:endParaRPr>
          </a:p>
        </p:txBody>
      </p:sp>
      <p:sp>
        <p:nvSpPr>
          <p:cNvPr id="8" name="textbox 8"/>
          <p:cNvSpPr/>
          <p:nvPr/>
        </p:nvSpPr>
        <p:spPr>
          <a:xfrm>
            <a:off x="627316" y="711771"/>
            <a:ext cx="6876415" cy="831214"/>
          </a:xfrm>
          <a:prstGeom prst="rect">
            <a:avLst/>
          </a:prstGeom>
          <a:noFill/>
          <a:ln w="0" cap="flat">
            <a:noFill/>
            <a:prstDash val="solid"/>
            <a:miter lim="0"/>
          </a:ln>
        </p:spPr>
        <p:txBody>
          <a:bodyPr vert="horz" wrap="square" lIns="0" tIns="0" rIns="0" bIns="0"/>
          <a:lstStyle/>
          <a:p>
            <a:pPr algn="l" rtl="0" eaLnBrk="0">
              <a:lnSpc>
                <a:spcPct val="86386"/>
              </a:lnSpc>
              <a:tabLst/>
            </a:pPr>
            <a:endParaRPr sz="100" dirty="0">
              <a:latin typeface="Arial"/>
              <a:ea typeface="Arial"/>
              <a:cs typeface="Arial"/>
            </a:endParaRPr>
          </a:p>
          <a:p>
            <a:pPr algn="r" rtl="0" eaLnBrk="0">
              <a:lnSpc>
                <a:spcPct val="87000"/>
              </a:lnSpc>
              <a:tabLst/>
            </a:pPr>
            <a:r>
              <a:rPr sz="3500" b="1" kern="0" spc="80" dirty="0">
                <a:solidFill>
                  <a:srgbClr val="C00000">
                    <a:alpha val="100000"/>
                  </a:srgbClr>
                </a:solidFill>
                <a:latin typeface="Microsoft YaHei"/>
                <a:ea typeface="Microsoft YaHei"/>
                <a:cs typeface="Microsoft YaHei"/>
              </a:rPr>
              <a:t>技术需求背景</a:t>
            </a:r>
            <a:endParaRPr sz="3500" dirty="0">
              <a:latin typeface="Microsoft YaHei"/>
              <a:ea typeface="Microsoft YaHei"/>
              <a:cs typeface="Microsoft YaHei"/>
            </a:endParaRPr>
          </a:p>
          <a:p>
            <a:pPr marL="12700" algn="l" rtl="0" eaLnBrk="0">
              <a:lnSpc>
                <a:spcPct val="87000"/>
              </a:lnSpc>
              <a:spcBef>
                <a:spcPts val="283"/>
              </a:spcBef>
              <a:tabLst/>
            </a:pPr>
            <a:r>
              <a:rPr sz="2300" b="1" kern="0" spc="90" dirty="0">
                <a:solidFill>
                  <a:srgbClr val="000000">
                    <a:alpha val="100000"/>
                  </a:srgbClr>
                </a:solidFill>
                <a:latin typeface="Microsoft YaHei"/>
                <a:ea typeface="Microsoft YaHei"/>
                <a:cs typeface="Microsoft YaHei"/>
              </a:rPr>
              <a:t>大坝三维数字化探测技术</a:t>
            </a:r>
            <a:endParaRPr sz="2300" dirty="0">
              <a:latin typeface="Microsoft YaHei"/>
              <a:ea typeface="Microsoft YaHei"/>
              <a:cs typeface="Microsoft YaHei"/>
            </a:endParaRPr>
          </a:p>
        </p:txBody>
      </p:sp>
      <p:sp>
        <p:nvSpPr>
          <p:cNvPr id="10" name="textbox 10"/>
          <p:cNvSpPr/>
          <p:nvPr/>
        </p:nvSpPr>
        <p:spPr>
          <a:xfrm>
            <a:off x="730049" y="1942186"/>
            <a:ext cx="3649979" cy="1527175"/>
          </a:xfrm>
          <a:prstGeom prst="rect">
            <a:avLst/>
          </a:prstGeom>
          <a:noFill/>
          <a:ln w="0" cap="flat">
            <a:noFill/>
            <a:prstDash val="solid"/>
            <a:miter lim="0"/>
          </a:ln>
        </p:spPr>
        <p:txBody>
          <a:bodyPr vert="horz" wrap="square" lIns="0" tIns="0" rIns="0" bIns="0"/>
          <a:lstStyle/>
          <a:p>
            <a:pPr algn="l" rtl="0" eaLnBrk="0">
              <a:lnSpc>
                <a:spcPct val="74802"/>
              </a:lnSpc>
              <a:tabLst/>
            </a:pPr>
            <a:endParaRPr sz="100" dirty="0">
              <a:latin typeface="Arial"/>
              <a:ea typeface="Arial"/>
              <a:cs typeface="Arial"/>
            </a:endParaRPr>
          </a:p>
          <a:p>
            <a:pPr marL="12700" algn="l" rtl="0" eaLnBrk="0">
              <a:lnSpc>
                <a:spcPct val="93000"/>
              </a:lnSpc>
              <a:tabLst/>
            </a:pPr>
            <a:r>
              <a:rPr sz="2000" kern="0" spc="50" dirty="0">
                <a:solidFill>
                  <a:srgbClr val="000000">
                    <a:alpha val="100000"/>
                  </a:srgbClr>
                </a:solidFill>
                <a:latin typeface="Wingdings"/>
                <a:ea typeface="Wingdings"/>
                <a:cs typeface="Wingdings"/>
              </a:rPr>
              <a:t>u</a:t>
            </a:r>
            <a:r>
              <a:rPr sz="2000" kern="0" spc="50" dirty="0">
                <a:solidFill>
                  <a:srgbClr val="000000">
                    <a:alpha val="100000"/>
                  </a:srgbClr>
                </a:solidFill>
                <a:latin typeface="Microsoft YaHei"/>
                <a:ea typeface="Microsoft YaHei"/>
                <a:cs typeface="Microsoft YaHei"/>
              </a:rPr>
              <a:t>水下结构完整性检测</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12700" algn="l" rtl="0" eaLnBrk="0">
              <a:lnSpc>
                <a:spcPct val="93000"/>
              </a:lnSpc>
              <a:spcBef>
                <a:spcPts val="600"/>
              </a:spcBef>
              <a:tabLst/>
            </a:pPr>
            <a:r>
              <a:rPr sz="2000" kern="0" spc="50" dirty="0">
                <a:solidFill>
                  <a:srgbClr val="000000">
                    <a:alpha val="100000"/>
                  </a:srgbClr>
                </a:solidFill>
                <a:latin typeface="Wingdings"/>
                <a:ea typeface="Wingdings"/>
                <a:cs typeface="Wingdings"/>
              </a:rPr>
              <a:t>u</a:t>
            </a:r>
            <a:r>
              <a:rPr sz="2000" kern="0" spc="50" dirty="0">
                <a:solidFill>
                  <a:srgbClr val="000000">
                    <a:alpha val="100000"/>
                  </a:srgbClr>
                </a:solidFill>
                <a:latin typeface="Microsoft YaHei"/>
                <a:ea typeface="Microsoft YaHei"/>
                <a:cs typeface="Microsoft YaHei"/>
              </a:rPr>
              <a:t>水库库容与淤积分析</a:t>
            </a:r>
            <a:endParaRPr sz="20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algn="l" rtl="0" eaLnBrk="0">
              <a:lnSpc>
                <a:spcPct val="100000"/>
              </a:lnSpc>
              <a:tabLst/>
            </a:pPr>
            <a:endParaRPr sz="500" dirty="0">
              <a:latin typeface="Arial"/>
              <a:ea typeface="Arial"/>
              <a:cs typeface="Arial"/>
            </a:endParaRPr>
          </a:p>
          <a:p>
            <a:pPr marL="12700" algn="l" rtl="0" eaLnBrk="0">
              <a:lnSpc>
                <a:spcPct val="93000"/>
              </a:lnSpc>
              <a:tabLst/>
            </a:pPr>
            <a:r>
              <a:rPr sz="2000" kern="0" spc="40" dirty="0">
                <a:solidFill>
                  <a:srgbClr val="000000">
                    <a:alpha val="100000"/>
                  </a:srgbClr>
                </a:solidFill>
                <a:latin typeface="Wingdings"/>
                <a:ea typeface="Wingdings"/>
                <a:cs typeface="Wingdings"/>
              </a:rPr>
              <a:t>u</a:t>
            </a:r>
            <a:r>
              <a:rPr sz="2000" kern="0" spc="40" dirty="0">
                <a:solidFill>
                  <a:srgbClr val="000000">
                    <a:alpha val="100000"/>
                  </a:srgbClr>
                </a:solidFill>
                <a:latin typeface="Microsoft YaHei"/>
                <a:ea typeface="Microsoft YaHei"/>
                <a:cs typeface="Microsoft YaHei"/>
              </a:rPr>
              <a:t>大坝安全管理三维数字化监</a:t>
            </a:r>
            <a:r>
              <a:rPr sz="2000" kern="0" spc="30" dirty="0">
                <a:solidFill>
                  <a:srgbClr val="000000">
                    <a:alpha val="100000"/>
                  </a:srgbClr>
                </a:solidFill>
                <a:latin typeface="Microsoft YaHei"/>
                <a:ea typeface="Microsoft YaHei"/>
                <a:cs typeface="Microsoft YaHei"/>
              </a:rPr>
              <a:t>测</a:t>
            </a:r>
            <a:endParaRPr sz="2000" dirty="0">
              <a:latin typeface="Microsoft YaHei"/>
              <a:ea typeface="Microsoft YaHei"/>
              <a:cs typeface="Microsoft YaHe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7252728" y="1114958"/>
            <a:ext cx="4732096" cy="5032933"/>
            <a:chOff x="0" y="0"/>
            <a:chExt cx="4732096" cy="5032933"/>
          </a:xfrm>
        </p:grpSpPr>
        <p:pic>
          <p:nvPicPr>
            <p:cNvPr id="12" name="picture 12"/>
            <p:cNvPicPr>
              <a:picLocks noChangeAspect="1"/>
            </p:cNvPicPr>
            <p:nvPr/>
          </p:nvPicPr>
          <p:blipFill>
            <a:blip r:embed="rId2"/>
            <a:stretch>
              <a:fillRect/>
            </a:stretch>
          </p:blipFill>
          <p:spPr>
            <a:xfrm rot="21600000">
              <a:off x="0" y="0"/>
              <a:ext cx="4732096" cy="5032933"/>
            </a:xfrm>
            <a:prstGeom prst="rect">
              <a:avLst/>
            </a:prstGeom>
          </p:spPr>
        </p:pic>
        <p:sp>
          <p:nvSpPr>
            <p:cNvPr id="14" name="textbox 14"/>
            <p:cNvSpPr/>
            <p:nvPr/>
          </p:nvSpPr>
          <p:spPr>
            <a:xfrm>
              <a:off x="638340" y="892467"/>
              <a:ext cx="3771900" cy="4000500"/>
            </a:xfrm>
            <a:prstGeom prst="rect">
              <a:avLst/>
            </a:prstGeom>
            <a:noFill/>
            <a:ln w="0" cap="flat">
              <a:noFill/>
              <a:prstDash val="solid"/>
              <a:miter lim="0"/>
            </a:ln>
          </p:spPr>
          <p:txBody>
            <a:bodyPr vert="horz" wrap="square" lIns="0" tIns="0" rIns="0" bIns="0"/>
            <a:lstStyle/>
            <a:p>
              <a:pPr algn="l" rtl="0" eaLnBrk="0">
                <a:lnSpc>
                  <a:spcPct val="33653"/>
                </a:lnSpc>
                <a:tabLst/>
              </a:pPr>
              <a:endParaRPr sz="100" dirty="0">
                <a:latin typeface="Arial"/>
                <a:ea typeface="Arial"/>
                <a:cs typeface="Arial"/>
              </a:endParaRPr>
            </a:p>
            <a:p>
              <a:pPr marL="2847339" indent="3810" algn="l" rtl="0" eaLnBrk="0">
                <a:lnSpc>
                  <a:spcPct val="98000"/>
                </a:lnSpc>
                <a:tabLst/>
              </a:pPr>
              <a:r>
                <a:rPr sz="1700" kern="0" spc="80" dirty="0">
                  <a:solidFill>
                    <a:srgbClr val="000000">
                      <a:alpha val="100000"/>
                    </a:srgbClr>
                  </a:solidFill>
                  <a:latin typeface="Microsoft YaHei"/>
                  <a:ea typeface="Microsoft YaHei"/>
                  <a:cs typeface="Microsoft YaHei"/>
                </a:rPr>
                <a:t>三维激光</a:t>
              </a:r>
              <a:r>
                <a:rPr sz="1700" kern="0" spc="90" dirty="0">
                  <a:solidFill>
                    <a:srgbClr val="000000">
                      <a:alpha val="100000"/>
                    </a:srgbClr>
                  </a:solidFill>
                  <a:latin typeface="Microsoft YaHei"/>
                  <a:ea typeface="Microsoft YaHei"/>
                  <a:cs typeface="Microsoft YaHei"/>
                </a:rPr>
                <a:t>扫描技术</a:t>
              </a:r>
              <a:endParaRPr sz="1700" dirty="0">
                <a:latin typeface="Microsoft YaHei"/>
                <a:ea typeface="Microsoft YaHei"/>
                <a:cs typeface="Microsoft YaHei"/>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12700" algn="l" rtl="0" eaLnBrk="0">
                <a:lnSpc>
                  <a:spcPct val="88000"/>
                </a:lnSpc>
                <a:spcBef>
                  <a:spcPts val="510"/>
                </a:spcBef>
                <a:tabLst/>
              </a:pPr>
              <a:r>
                <a:rPr sz="1700" kern="0" spc="80" dirty="0">
                  <a:solidFill>
                    <a:srgbClr val="000000">
                      <a:alpha val="100000"/>
                    </a:srgbClr>
                  </a:solidFill>
                  <a:latin typeface="Microsoft YaHei"/>
                  <a:ea typeface="Microsoft YaHei"/>
                  <a:cs typeface="Microsoft YaHei"/>
                </a:rPr>
                <a:t>无人机、</a:t>
              </a:r>
              <a:r>
                <a:rPr sz="1700" kern="0" spc="-300" dirty="0">
                  <a:solidFill>
                    <a:srgbClr val="000000">
                      <a:alpha val="100000"/>
                    </a:srgbClr>
                  </a:solidFill>
                  <a:latin typeface="Microsoft YaHei"/>
                  <a:ea typeface="Microsoft YaHei"/>
                  <a:cs typeface="Microsoft YaHei"/>
                </a:rPr>
                <a:t> </a:t>
              </a:r>
              <a:r>
                <a:rPr sz="1700" kern="0" spc="80" dirty="0">
                  <a:solidFill>
                    <a:srgbClr val="000000">
                      <a:alpha val="100000"/>
                    </a:srgbClr>
                  </a:solidFill>
                  <a:latin typeface="Microsoft YaHei"/>
                  <a:ea typeface="Microsoft YaHei"/>
                  <a:cs typeface="Microsoft YaHei"/>
                </a:rPr>
                <a:t>车、船搭载进行扫描</a:t>
              </a:r>
              <a:endParaRPr sz="17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8000"/>
                </a:lnSpc>
                <a:tabLst/>
              </a:pPr>
              <a:endParaRPr sz="400" dirty="0">
                <a:latin typeface="Arial"/>
                <a:ea typeface="Arial"/>
                <a:cs typeface="Arial"/>
              </a:endParaRPr>
            </a:p>
            <a:p>
              <a:pPr marL="1667510" algn="l" rtl="0" eaLnBrk="0">
                <a:lnSpc>
                  <a:spcPct val="88000"/>
                </a:lnSpc>
                <a:spcBef>
                  <a:spcPts val="1"/>
                </a:spcBef>
                <a:tabLst/>
              </a:pPr>
              <a:r>
                <a:rPr sz="1700" kern="0" spc="90" dirty="0">
                  <a:solidFill>
                    <a:srgbClr val="000000">
                      <a:alpha val="100000"/>
                    </a:srgbClr>
                  </a:solidFill>
                  <a:latin typeface="Microsoft YaHei"/>
                  <a:ea typeface="Microsoft YaHei"/>
                  <a:cs typeface="Microsoft YaHei"/>
                </a:rPr>
                <a:t>浅地层剖面探测技术</a:t>
              </a:r>
              <a:endParaRPr sz="1700" dirty="0">
                <a:latin typeface="Microsoft YaHei"/>
                <a:ea typeface="Microsoft YaHei"/>
                <a:cs typeface="Microsoft YaHei"/>
              </a:endParaRPr>
            </a:p>
          </p:txBody>
        </p:sp>
        <p:pic>
          <p:nvPicPr>
            <p:cNvPr id="16" name="picture 16"/>
            <p:cNvPicPr>
              <a:picLocks noChangeAspect="1"/>
            </p:cNvPicPr>
            <p:nvPr/>
          </p:nvPicPr>
          <p:blipFill>
            <a:blip r:embed="rId3"/>
            <a:stretch>
              <a:fillRect/>
            </a:stretch>
          </p:blipFill>
          <p:spPr>
            <a:xfrm rot="21600000">
              <a:off x="2025383" y="2757525"/>
              <a:ext cx="2362200" cy="1565147"/>
            </a:xfrm>
            <a:prstGeom prst="rect">
              <a:avLst/>
            </a:prstGeom>
          </p:spPr>
        </p:pic>
        <p:pic>
          <p:nvPicPr>
            <p:cNvPr id="18" name="picture 18"/>
            <p:cNvPicPr>
              <a:picLocks noChangeAspect="1"/>
            </p:cNvPicPr>
            <p:nvPr/>
          </p:nvPicPr>
          <p:blipFill>
            <a:blip r:embed="rId4"/>
            <a:stretch>
              <a:fillRect/>
            </a:stretch>
          </p:blipFill>
          <p:spPr>
            <a:xfrm rot="21600000">
              <a:off x="446519" y="2762097"/>
              <a:ext cx="1373632" cy="2151012"/>
            </a:xfrm>
            <a:prstGeom prst="rect">
              <a:avLst/>
            </a:prstGeom>
          </p:spPr>
        </p:pic>
        <p:pic>
          <p:nvPicPr>
            <p:cNvPr id="20" name="picture 20"/>
            <p:cNvPicPr>
              <a:picLocks noChangeAspect="1"/>
            </p:cNvPicPr>
            <p:nvPr/>
          </p:nvPicPr>
          <p:blipFill>
            <a:blip r:embed="rId5"/>
            <a:stretch>
              <a:fillRect/>
            </a:stretch>
          </p:blipFill>
          <p:spPr>
            <a:xfrm rot="21600000">
              <a:off x="1988807" y="70713"/>
              <a:ext cx="1292352" cy="1866900"/>
            </a:xfrm>
            <a:prstGeom prst="rect">
              <a:avLst/>
            </a:prstGeom>
          </p:spPr>
        </p:pic>
        <p:pic>
          <p:nvPicPr>
            <p:cNvPr id="22" name="picture 22"/>
            <p:cNvPicPr>
              <a:picLocks noChangeAspect="1"/>
            </p:cNvPicPr>
            <p:nvPr/>
          </p:nvPicPr>
          <p:blipFill>
            <a:blip r:embed="rId6"/>
            <a:stretch>
              <a:fillRect/>
            </a:stretch>
          </p:blipFill>
          <p:spPr>
            <a:xfrm rot="21600000">
              <a:off x="595871" y="159105"/>
              <a:ext cx="1152143" cy="1778507"/>
            </a:xfrm>
            <a:prstGeom prst="rect">
              <a:avLst/>
            </a:prstGeom>
          </p:spPr>
        </p:pic>
      </p:grpSp>
      <p:grpSp>
        <p:nvGrpSpPr>
          <p:cNvPr id="4" name="group 4"/>
          <p:cNvGrpSpPr/>
          <p:nvPr/>
        </p:nvGrpSpPr>
        <p:grpSpPr>
          <a:xfrm rot="21600000">
            <a:off x="488238" y="3211360"/>
            <a:ext cx="6602843" cy="1581454"/>
            <a:chOff x="0" y="0"/>
            <a:chExt cx="6602843" cy="1581454"/>
          </a:xfrm>
        </p:grpSpPr>
        <p:pic>
          <p:nvPicPr>
            <p:cNvPr id="24" name="picture 24"/>
            <p:cNvPicPr>
              <a:picLocks noChangeAspect="1"/>
            </p:cNvPicPr>
            <p:nvPr/>
          </p:nvPicPr>
          <p:blipFill>
            <a:blip r:embed="rId7"/>
            <a:stretch>
              <a:fillRect/>
            </a:stretch>
          </p:blipFill>
          <p:spPr>
            <a:xfrm rot="21600000">
              <a:off x="0" y="0"/>
              <a:ext cx="6602843" cy="1581454"/>
            </a:xfrm>
            <a:prstGeom prst="rect">
              <a:avLst/>
            </a:prstGeom>
          </p:spPr>
        </p:pic>
        <p:sp>
          <p:nvSpPr>
            <p:cNvPr id="26" name="textbox 26"/>
            <p:cNvSpPr/>
            <p:nvPr/>
          </p:nvSpPr>
          <p:spPr>
            <a:xfrm>
              <a:off x="-12700" y="-12700"/>
              <a:ext cx="6628765" cy="1607185"/>
            </a:xfrm>
            <a:prstGeom prst="rect">
              <a:avLst/>
            </a:prstGeom>
            <a:noFill/>
            <a:ln w="0" cap="flat">
              <a:noFill/>
              <a:prstDash val="solid"/>
              <a:miter lim="0"/>
            </a:ln>
          </p:spPr>
          <p:txBody>
            <a:bodyPr vert="horz" wrap="square" lIns="0" tIns="0" rIns="0" bIns="0"/>
            <a:lstStyle/>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7099"/>
                </a:lnSpc>
                <a:tabLst/>
              </a:pPr>
              <a:endParaRPr sz="100" dirty="0">
                <a:latin typeface="Arial"/>
                <a:ea typeface="Arial"/>
                <a:cs typeface="Arial"/>
              </a:endParaRPr>
            </a:p>
            <a:p>
              <a:pPr marL="4304665" algn="l" rtl="0" eaLnBrk="0">
                <a:lnSpc>
                  <a:spcPct val="85000"/>
                </a:lnSpc>
                <a:tabLst>
                  <a:tab pos="4544059" algn="l"/>
                </a:tabLst>
              </a:pPr>
              <a:r>
                <a:rPr sz="2000" kern="0" spc="0" dirty="0">
                  <a:solidFill>
                    <a:srgbClr val="000000">
                      <a:alpha val="100000"/>
                    </a:srgbClr>
                  </a:solidFill>
                  <a:latin typeface="Microsoft YaHei"/>
                  <a:ea typeface="Microsoft YaHei"/>
                  <a:cs typeface="Microsoft YaHei"/>
                </a:rPr>
                <a:t>	</a:t>
              </a:r>
              <a:r>
                <a:rPr sz="2000" kern="0" spc="-140" dirty="0">
                  <a:solidFill>
                    <a:srgbClr val="000000">
                      <a:alpha val="100000"/>
                    </a:srgbClr>
                  </a:solidFill>
                  <a:latin typeface="Microsoft YaHei"/>
                  <a:ea typeface="Microsoft YaHei"/>
                  <a:cs typeface="Microsoft YaHei"/>
                </a:rPr>
                <a:t>多波束探测技术</a:t>
              </a:r>
              <a:endParaRPr sz="2000" dirty="0">
                <a:latin typeface="Microsoft YaHei"/>
                <a:ea typeface="Microsoft YaHei"/>
                <a:cs typeface="Microsoft YaHei"/>
              </a:endParaRPr>
            </a:p>
            <a:p>
              <a:pPr algn="l" rtl="0" eaLnBrk="0">
                <a:lnSpc>
                  <a:spcPct val="188000"/>
                </a:lnSpc>
                <a:tabLst/>
              </a:pPr>
              <a:endParaRPr sz="1000" dirty="0">
                <a:latin typeface="Arial"/>
                <a:ea typeface="Arial"/>
                <a:cs typeface="Arial"/>
              </a:endParaRPr>
            </a:p>
            <a:p>
              <a:pPr algn="l" rtl="0" eaLnBrk="0">
                <a:lnSpc>
                  <a:spcPct val="106000"/>
                </a:lnSpc>
                <a:tabLst/>
              </a:pPr>
              <a:endParaRPr sz="400" dirty="0">
                <a:latin typeface="Arial"/>
                <a:ea typeface="Arial"/>
                <a:cs typeface="Arial"/>
              </a:endParaRPr>
            </a:p>
            <a:p>
              <a:pPr marL="1642745" algn="l" rtl="0" eaLnBrk="0">
                <a:lnSpc>
                  <a:spcPts val="2674"/>
                </a:lnSpc>
                <a:spcBef>
                  <a:spcPts val="1"/>
                </a:spcBef>
                <a:tabLst/>
              </a:pPr>
              <a:r>
                <a:rPr sz="1700" kern="0" spc="90" dirty="0">
                  <a:solidFill>
                    <a:srgbClr val="000000">
                      <a:alpha val="100000"/>
                    </a:srgbClr>
                  </a:solidFill>
                  <a:latin typeface="Microsoft YaHei"/>
                  <a:ea typeface="Microsoft YaHei"/>
                  <a:cs typeface="Microsoft YaHei"/>
                </a:rPr>
                <a:t>三维数字化点云</a:t>
              </a:r>
              <a:endParaRPr sz="1700" dirty="0">
                <a:latin typeface="Microsoft YaHei"/>
                <a:ea typeface="Microsoft YaHei"/>
                <a:cs typeface="Microsoft YaHei"/>
              </a:endParaRPr>
            </a:p>
          </p:txBody>
        </p:sp>
        <p:pic>
          <p:nvPicPr>
            <p:cNvPr id="28" name="picture 28"/>
            <p:cNvPicPr>
              <a:picLocks noChangeAspect="1"/>
            </p:cNvPicPr>
            <p:nvPr/>
          </p:nvPicPr>
          <p:blipFill>
            <a:blip r:embed="rId8"/>
            <a:stretch>
              <a:fillRect/>
            </a:stretch>
          </p:blipFill>
          <p:spPr>
            <a:xfrm rot="21600000">
              <a:off x="470357" y="53047"/>
              <a:ext cx="3822191" cy="1181100"/>
            </a:xfrm>
            <a:prstGeom prst="rect">
              <a:avLst/>
            </a:prstGeom>
          </p:spPr>
        </p:pic>
      </p:grpSp>
      <p:grpSp>
        <p:nvGrpSpPr>
          <p:cNvPr id="6" name="group 6"/>
          <p:cNvGrpSpPr/>
          <p:nvPr/>
        </p:nvGrpSpPr>
        <p:grpSpPr>
          <a:xfrm rot="21600000">
            <a:off x="537095" y="4876228"/>
            <a:ext cx="6631927" cy="1499590"/>
            <a:chOff x="0" y="0"/>
            <a:chExt cx="6631927" cy="1499590"/>
          </a:xfrm>
        </p:grpSpPr>
        <p:pic>
          <p:nvPicPr>
            <p:cNvPr id="30" name="picture 30"/>
            <p:cNvPicPr>
              <a:picLocks noChangeAspect="1"/>
            </p:cNvPicPr>
            <p:nvPr/>
          </p:nvPicPr>
          <p:blipFill>
            <a:blip r:embed="rId9"/>
            <a:stretch>
              <a:fillRect/>
            </a:stretch>
          </p:blipFill>
          <p:spPr>
            <a:xfrm rot="21600000">
              <a:off x="0" y="0"/>
              <a:ext cx="6631927" cy="1499590"/>
            </a:xfrm>
            <a:prstGeom prst="rect">
              <a:avLst/>
            </a:prstGeom>
          </p:spPr>
        </p:pic>
        <p:sp>
          <p:nvSpPr>
            <p:cNvPr id="32" name="textbox 32"/>
            <p:cNvSpPr/>
            <p:nvPr/>
          </p:nvSpPr>
          <p:spPr>
            <a:xfrm>
              <a:off x="4699482" y="416102"/>
              <a:ext cx="1622425" cy="567690"/>
            </a:xfrm>
            <a:prstGeom prst="rect">
              <a:avLst/>
            </a:prstGeom>
            <a:noFill/>
            <a:ln w="0" cap="flat">
              <a:noFill/>
              <a:prstDash val="solid"/>
              <a:miter lim="0"/>
            </a:ln>
          </p:spPr>
          <p:txBody>
            <a:bodyPr vert="horz" wrap="square" lIns="0" tIns="0" rIns="0" bIns="0"/>
            <a:lstStyle/>
            <a:p>
              <a:pPr algn="l" rtl="0" eaLnBrk="0">
                <a:lnSpc>
                  <a:spcPct val="70657"/>
                </a:lnSpc>
                <a:tabLst/>
              </a:pPr>
              <a:endParaRPr sz="100" dirty="0">
                <a:latin typeface="Arial"/>
                <a:ea typeface="Arial"/>
                <a:cs typeface="Arial"/>
              </a:endParaRPr>
            </a:p>
            <a:p>
              <a:pPr marL="157479" indent="-145414" algn="l" rtl="0" eaLnBrk="0">
                <a:lnSpc>
                  <a:spcPct val="105000"/>
                </a:lnSpc>
                <a:tabLst/>
              </a:pPr>
              <a:r>
                <a:rPr sz="1700" kern="0" spc="90" dirty="0">
                  <a:solidFill>
                    <a:srgbClr val="000000">
                      <a:alpha val="100000"/>
                    </a:srgbClr>
                  </a:solidFill>
                  <a:latin typeface="Microsoft YaHei"/>
                  <a:ea typeface="Microsoft YaHei"/>
                  <a:cs typeface="Microsoft YaHei"/>
                </a:rPr>
                <a:t>水下无人潜航器</a:t>
              </a:r>
              <a:r>
                <a:rPr sz="1700" kern="0" spc="-110" dirty="0">
                  <a:solidFill>
                    <a:srgbClr val="000000">
                      <a:alpha val="100000"/>
                    </a:srgbClr>
                  </a:solidFill>
                  <a:latin typeface="Microsoft YaHei"/>
                  <a:ea typeface="Microsoft YaHei"/>
                  <a:cs typeface="Microsoft YaHei"/>
                </a:rPr>
                <a:t>（ROV）</a:t>
              </a:r>
              <a:r>
                <a:rPr sz="1700" kern="0" spc="-340" dirty="0">
                  <a:solidFill>
                    <a:srgbClr val="000000">
                      <a:alpha val="100000"/>
                    </a:srgbClr>
                  </a:solidFill>
                  <a:latin typeface="Microsoft YaHei"/>
                  <a:ea typeface="Microsoft YaHei"/>
                  <a:cs typeface="Microsoft YaHei"/>
                </a:rPr>
                <a:t> </a:t>
              </a:r>
              <a:r>
                <a:rPr sz="1700" kern="0" spc="-110" dirty="0">
                  <a:solidFill>
                    <a:srgbClr val="000000">
                      <a:alpha val="100000"/>
                    </a:srgbClr>
                  </a:solidFill>
                  <a:latin typeface="Microsoft YaHei"/>
                  <a:ea typeface="Microsoft YaHei"/>
                  <a:cs typeface="Microsoft YaHei"/>
                </a:rPr>
                <a:t>系统</a:t>
              </a:r>
              <a:endParaRPr sz="1700" dirty="0">
                <a:latin typeface="Microsoft YaHei"/>
                <a:ea typeface="Microsoft YaHei"/>
                <a:cs typeface="Microsoft YaHei"/>
              </a:endParaRPr>
            </a:p>
          </p:txBody>
        </p:sp>
      </p:grpSp>
      <p:sp>
        <p:nvSpPr>
          <p:cNvPr id="34" name="textbox 34"/>
          <p:cNvSpPr/>
          <p:nvPr/>
        </p:nvSpPr>
        <p:spPr>
          <a:xfrm>
            <a:off x="655726" y="1117612"/>
            <a:ext cx="4657725" cy="2009139"/>
          </a:xfrm>
          <a:prstGeom prst="rect">
            <a:avLst/>
          </a:prstGeom>
          <a:noFill/>
          <a:ln w="0" cap="flat">
            <a:noFill/>
            <a:prstDash val="solid"/>
            <a:miter lim="0"/>
          </a:ln>
        </p:spPr>
        <p:txBody>
          <a:bodyPr vert="horz" wrap="square" lIns="0" tIns="0" rIns="0" bIns="0"/>
          <a:lstStyle/>
          <a:p>
            <a:pPr algn="l" rtl="0" eaLnBrk="0">
              <a:lnSpc>
                <a:spcPct val="91552"/>
              </a:lnSpc>
              <a:tabLst/>
            </a:pPr>
            <a:endParaRPr sz="100" dirty="0">
              <a:latin typeface="Arial"/>
              <a:ea typeface="Arial"/>
              <a:cs typeface="Arial"/>
            </a:endParaRPr>
          </a:p>
          <a:p>
            <a:pPr marL="12700" algn="l" rtl="0" eaLnBrk="0">
              <a:lnSpc>
                <a:spcPct val="96000"/>
              </a:lnSpc>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多波束探测技术</a:t>
            </a:r>
            <a:endParaRPr sz="2300" dirty="0">
              <a:latin typeface="Microsoft YaHei"/>
              <a:ea typeface="Microsoft YaHei"/>
              <a:cs typeface="Microsoft YaHei"/>
            </a:endParaRPr>
          </a:p>
          <a:p>
            <a:pPr marL="12700" algn="l" rtl="0" eaLnBrk="0">
              <a:lnSpc>
                <a:spcPts val="3165"/>
              </a:lnSpc>
              <a:spcBef>
                <a:spcPts val="1277"/>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8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水下无人潜航器（</a:t>
            </a:r>
            <a:r>
              <a:rPr sz="2300" b="1" kern="0" spc="0" dirty="0">
                <a:solidFill>
                  <a:srgbClr val="000000">
                    <a:alpha val="100000"/>
                  </a:srgbClr>
                </a:solidFill>
                <a:latin typeface="Microsoft YaHei"/>
                <a:ea typeface="Microsoft YaHei"/>
                <a:cs typeface="Microsoft YaHei"/>
              </a:rPr>
              <a:t>ROV</a:t>
            </a:r>
            <a:r>
              <a:rPr sz="2300" b="1" kern="0" spc="100" dirty="0">
                <a:solidFill>
                  <a:srgbClr val="000000">
                    <a:alpha val="100000"/>
                  </a:srgbClr>
                </a:solidFill>
                <a:latin typeface="Microsoft YaHei"/>
                <a:ea typeface="Microsoft YaHei"/>
                <a:cs typeface="Microsoft YaHei"/>
              </a:rPr>
              <a:t>）</a:t>
            </a:r>
            <a:r>
              <a:rPr sz="2300" b="1" kern="0" spc="-550" dirty="0">
                <a:solidFill>
                  <a:srgbClr val="000000">
                    <a:alpha val="100000"/>
                  </a:srgbClr>
                </a:solidFill>
                <a:latin typeface="Microsoft YaHei"/>
                <a:ea typeface="Microsoft YaHei"/>
                <a:cs typeface="Microsoft YaHei"/>
              </a:rPr>
              <a:t> </a:t>
            </a:r>
            <a:r>
              <a:rPr sz="2300" b="1" kern="0" spc="100" dirty="0">
                <a:solidFill>
                  <a:srgbClr val="000000">
                    <a:alpha val="100000"/>
                  </a:srgbClr>
                </a:solidFill>
                <a:latin typeface="Microsoft YaHei"/>
                <a:ea typeface="Microsoft YaHei"/>
                <a:cs typeface="Microsoft YaHei"/>
              </a:rPr>
              <a:t>系统</a:t>
            </a:r>
            <a:endParaRPr sz="2300" dirty="0">
              <a:latin typeface="Microsoft YaHei"/>
              <a:ea typeface="Microsoft YaHei"/>
              <a:cs typeface="Microsoft YaHei"/>
            </a:endParaRPr>
          </a:p>
          <a:p>
            <a:pPr marL="12700" algn="l" rtl="0" eaLnBrk="0">
              <a:lnSpc>
                <a:spcPct val="96000"/>
              </a:lnSpc>
              <a:spcBef>
                <a:spcPts val="1548"/>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三维激光扫描技术</a:t>
            </a:r>
            <a:endParaRPr sz="2300" dirty="0">
              <a:latin typeface="Microsoft YaHei"/>
              <a:ea typeface="Microsoft YaHei"/>
              <a:cs typeface="Microsoft YaHei"/>
            </a:endParaRPr>
          </a:p>
          <a:p>
            <a:pPr algn="l" rtl="0" eaLnBrk="0">
              <a:lnSpc>
                <a:spcPct val="107000"/>
              </a:lnSpc>
              <a:tabLst/>
            </a:pPr>
            <a:endParaRPr sz="1300" dirty="0">
              <a:latin typeface="Arial"/>
              <a:ea typeface="Arial"/>
              <a:cs typeface="Arial"/>
            </a:endParaRPr>
          </a:p>
          <a:p>
            <a:pPr marL="12700" algn="l" rtl="0" eaLnBrk="0">
              <a:lnSpc>
                <a:spcPct val="96000"/>
              </a:lnSpc>
              <a:spcBef>
                <a:spcPts val="2"/>
              </a:spcBef>
              <a:tabLst>
                <a:tab pos="228600" algn="l"/>
              </a:tabLst>
            </a:pPr>
            <a:r>
              <a:rPr sz="2300" b="1" kern="0" spc="0" dirty="0">
                <a:solidFill>
                  <a:srgbClr val="000000">
                    <a:alpha val="100000"/>
                  </a:srgbClr>
                </a:solidFill>
                <a:latin typeface="Microsoft YaHei"/>
                <a:ea typeface="Microsoft YaHei"/>
                <a:cs typeface="Microsoft YaHei"/>
              </a:rPr>
              <a:t>	</a:t>
            </a:r>
            <a:r>
              <a:rPr sz="2300" b="1" kern="0" spc="90" dirty="0">
                <a:solidFill>
                  <a:srgbClr val="000000">
                    <a:alpha val="100000"/>
                  </a:srgbClr>
                </a:solidFill>
                <a:latin typeface="Microsoft YaHei"/>
                <a:ea typeface="Microsoft YaHei"/>
                <a:cs typeface="Microsoft YaHei"/>
              </a:rPr>
              <a:t>    浅地层剖面探测技术</a:t>
            </a:r>
            <a:endParaRPr sz="2300" dirty="0">
              <a:latin typeface="Microsoft YaHei"/>
              <a:ea typeface="Microsoft YaHei"/>
              <a:cs typeface="Microsoft YaHei"/>
            </a:endParaRPr>
          </a:p>
        </p:txBody>
      </p:sp>
      <p:pic>
        <p:nvPicPr>
          <p:cNvPr id="36" name="picture 36"/>
          <p:cNvPicPr>
            <a:picLocks noChangeAspect="1"/>
          </p:cNvPicPr>
          <p:nvPr/>
        </p:nvPicPr>
        <p:blipFill>
          <a:blip r:embed="rId10"/>
          <a:stretch>
            <a:fillRect/>
          </a:stretch>
        </p:blipFill>
        <p:spPr>
          <a:xfrm rot="21600000">
            <a:off x="668426" y="2776232"/>
            <a:ext cx="216408" cy="337718"/>
          </a:xfrm>
          <a:prstGeom prst="rect">
            <a:avLst/>
          </a:prstGeom>
        </p:spPr>
      </p:pic>
      <p:pic>
        <p:nvPicPr>
          <p:cNvPr id="38" name="picture 38"/>
          <p:cNvPicPr>
            <a:picLocks noChangeAspect="1"/>
          </p:cNvPicPr>
          <p:nvPr/>
        </p:nvPicPr>
        <p:blipFill>
          <a:blip r:embed="rId11"/>
          <a:stretch>
            <a:fillRect/>
          </a:stretch>
        </p:blipFill>
        <p:spPr>
          <a:xfrm rot="21600000">
            <a:off x="668426" y="2227592"/>
            <a:ext cx="216408" cy="337718"/>
          </a:xfrm>
          <a:prstGeom prst="rect">
            <a:avLst/>
          </a:prstGeom>
        </p:spPr>
      </p:pic>
      <p:pic>
        <p:nvPicPr>
          <p:cNvPr id="40" name="picture 40"/>
          <p:cNvPicPr>
            <a:picLocks noChangeAspect="1"/>
          </p:cNvPicPr>
          <p:nvPr/>
        </p:nvPicPr>
        <p:blipFill>
          <a:blip r:embed="rId12"/>
          <a:stretch>
            <a:fillRect/>
          </a:stretch>
        </p:blipFill>
        <p:spPr>
          <a:xfrm rot="21600000">
            <a:off x="668426" y="1678952"/>
            <a:ext cx="216408" cy="337718"/>
          </a:xfrm>
          <a:prstGeom prst="rect">
            <a:avLst/>
          </a:prstGeom>
        </p:spPr>
      </p:pic>
      <p:pic>
        <p:nvPicPr>
          <p:cNvPr id="42" name="picture 42"/>
          <p:cNvPicPr>
            <a:picLocks noChangeAspect="1"/>
          </p:cNvPicPr>
          <p:nvPr/>
        </p:nvPicPr>
        <p:blipFill>
          <a:blip r:embed="rId13"/>
          <a:stretch>
            <a:fillRect/>
          </a:stretch>
        </p:blipFill>
        <p:spPr>
          <a:xfrm rot="21600000">
            <a:off x="668426" y="1130312"/>
            <a:ext cx="216408" cy="337718"/>
          </a:xfrm>
          <a:prstGeom prst="rect">
            <a:avLst/>
          </a:prstGeom>
        </p:spPr>
      </p:pic>
      <p:sp>
        <p:nvSpPr>
          <p:cNvPr id="44" name="textbox 44"/>
          <p:cNvSpPr/>
          <p:nvPr/>
        </p:nvSpPr>
        <p:spPr>
          <a:xfrm>
            <a:off x="4036250" y="420509"/>
            <a:ext cx="4130675" cy="491490"/>
          </a:xfrm>
          <a:prstGeom prst="rect">
            <a:avLst/>
          </a:prstGeom>
          <a:noFill/>
          <a:ln w="0" cap="flat">
            <a:noFill/>
            <a:prstDash val="solid"/>
            <a:miter lim="0"/>
          </a:ln>
        </p:spPr>
        <p:txBody>
          <a:bodyPr vert="horz" wrap="square" lIns="0" tIns="0" rIns="0" bIns="0"/>
          <a:lstStyle/>
          <a:p>
            <a:pPr algn="l" rtl="0" eaLnBrk="0">
              <a:lnSpc>
                <a:spcPct val="95395"/>
              </a:lnSpc>
              <a:tabLst/>
            </a:pPr>
            <a:endParaRPr sz="100" dirty="0">
              <a:latin typeface="Arial"/>
              <a:ea typeface="Arial"/>
              <a:cs typeface="Arial"/>
            </a:endParaRPr>
          </a:p>
          <a:p>
            <a:pPr marL="12700" algn="l" rtl="0" eaLnBrk="0">
              <a:lnSpc>
                <a:spcPct val="87000"/>
              </a:lnSpc>
              <a:tabLst/>
            </a:pPr>
            <a:r>
              <a:rPr sz="3500" b="1" kern="0" spc="90" dirty="0">
                <a:solidFill>
                  <a:srgbClr val="C00000">
                    <a:alpha val="100000"/>
                  </a:srgbClr>
                </a:solidFill>
                <a:latin typeface="Microsoft YaHei"/>
                <a:ea typeface="Microsoft YaHei"/>
                <a:cs typeface="Microsoft YaHei"/>
              </a:rPr>
              <a:t>主要内容与关键技术</a:t>
            </a:r>
            <a:endParaRPr sz="3500" dirty="0">
              <a:latin typeface="Microsoft YaHei"/>
              <a:ea typeface="Microsoft YaHei"/>
              <a:cs typeface="Microsoft YaHe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6"/>
          <p:cNvPicPr>
            <a:picLocks noChangeAspect="1"/>
          </p:cNvPicPr>
          <p:nvPr/>
        </p:nvPicPr>
        <p:blipFill>
          <a:blip r:embed="rId2"/>
          <a:stretch>
            <a:fillRect/>
          </a:stretch>
        </p:blipFill>
        <p:spPr>
          <a:xfrm rot="21600000">
            <a:off x="9101060" y="355092"/>
            <a:ext cx="2638044" cy="5783579"/>
          </a:xfrm>
          <a:prstGeom prst="rect">
            <a:avLst/>
          </a:prstGeom>
        </p:spPr>
      </p:pic>
      <p:pic>
        <p:nvPicPr>
          <p:cNvPr id="48" name="picture 48"/>
          <p:cNvPicPr>
            <a:picLocks noChangeAspect="1"/>
          </p:cNvPicPr>
          <p:nvPr/>
        </p:nvPicPr>
        <p:blipFill>
          <a:blip r:embed="rId3"/>
          <a:stretch>
            <a:fillRect/>
          </a:stretch>
        </p:blipFill>
        <p:spPr>
          <a:xfrm rot="21600000">
            <a:off x="835151" y="848867"/>
            <a:ext cx="3599688" cy="2520696"/>
          </a:xfrm>
          <a:prstGeom prst="rect">
            <a:avLst/>
          </a:prstGeom>
        </p:spPr>
      </p:pic>
      <p:pic>
        <p:nvPicPr>
          <p:cNvPr id="50" name="picture 50"/>
          <p:cNvPicPr>
            <a:picLocks noChangeAspect="1"/>
          </p:cNvPicPr>
          <p:nvPr/>
        </p:nvPicPr>
        <p:blipFill>
          <a:blip r:embed="rId4"/>
          <a:stretch>
            <a:fillRect/>
          </a:stretch>
        </p:blipFill>
        <p:spPr>
          <a:xfrm rot="21600000">
            <a:off x="4858511" y="859535"/>
            <a:ext cx="3599688" cy="2520696"/>
          </a:xfrm>
          <a:prstGeom prst="rect">
            <a:avLst/>
          </a:prstGeom>
        </p:spPr>
      </p:pic>
      <p:pic>
        <p:nvPicPr>
          <p:cNvPr id="52" name="picture 52"/>
          <p:cNvPicPr>
            <a:picLocks noChangeAspect="1"/>
          </p:cNvPicPr>
          <p:nvPr/>
        </p:nvPicPr>
        <p:blipFill>
          <a:blip r:embed="rId5"/>
          <a:stretch>
            <a:fillRect/>
          </a:stretch>
        </p:blipFill>
        <p:spPr>
          <a:xfrm rot="21600000">
            <a:off x="835151" y="3782567"/>
            <a:ext cx="3599688" cy="2520695"/>
          </a:xfrm>
          <a:prstGeom prst="rect">
            <a:avLst/>
          </a:prstGeom>
        </p:spPr>
      </p:pic>
      <p:pic>
        <p:nvPicPr>
          <p:cNvPr id="54" name="picture 54"/>
          <p:cNvPicPr>
            <a:picLocks noChangeAspect="1"/>
          </p:cNvPicPr>
          <p:nvPr/>
        </p:nvPicPr>
        <p:blipFill>
          <a:blip r:embed="rId6"/>
          <a:stretch>
            <a:fillRect/>
          </a:stretch>
        </p:blipFill>
        <p:spPr>
          <a:xfrm rot="21600000">
            <a:off x="4858511" y="3781044"/>
            <a:ext cx="3599688" cy="2520695"/>
          </a:xfrm>
          <a:prstGeom prst="rect">
            <a:avLst/>
          </a:prstGeom>
        </p:spPr>
      </p:pic>
      <p:sp>
        <p:nvSpPr>
          <p:cNvPr id="56" name="textbox 56"/>
          <p:cNvSpPr/>
          <p:nvPr/>
        </p:nvSpPr>
        <p:spPr>
          <a:xfrm>
            <a:off x="5065991" y="321627"/>
            <a:ext cx="2305050" cy="492125"/>
          </a:xfrm>
          <a:prstGeom prst="rect">
            <a:avLst/>
          </a:prstGeom>
          <a:noFill/>
          <a:ln w="0" cap="flat">
            <a:noFill/>
            <a:prstDash val="solid"/>
            <a:miter lim="0"/>
          </a:ln>
        </p:spPr>
        <p:txBody>
          <a:bodyPr vert="horz" wrap="square" lIns="0" tIns="0" rIns="0" bIns="0"/>
          <a:lstStyle/>
          <a:p>
            <a:pPr algn="l" rtl="0" eaLnBrk="0">
              <a:lnSpc>
                <a:spcPct val="98236"/>
              </a:lnSpc>
              <a:tabLst/>
            </a:pPr>
            <a:endParaRPr sz="100" dirty="0">
              <a:latin typeface="Arial"/>
              <a:ea typeface="Arial"/>
              <a:cs typeface="Arial"/>
            </a:endParaRPr>
          </a:p>
          <a:p>
            <a:pPr marL="12700" algn="l" rtl="0" eaLnBrk="0">
              <a:lnSpc>
                <a:spcPct val="87000"/>
              </a:lnSpc>
              <a:tabLst/>
            </a:pPr>
            <a:r>
              <a:rPr sz="3500" b="1" kern="0" spc="80" dirty="0">
                <a:solidFill>
                  <a:srgbClr val="C00000">
                    <a:alpha val="100000"/>
                  </a:srgbClr>
                </a:solidFill>
                <a:latin typeface="Microsoft YaHei"/>
                <a:ea typeface="Microsoft YaHei"/>
                <a:cs typeface="Microsoft YaHei"/>
              </a:rPr>
              <a:t>成果与应用</a:t>
            </a:r>
            <a:endParaRPr sz="3500" dirty="0">
              <a:latin typeface="Microsoft YaHei"/>
              <a:ea typeface="Microsoft YaHei"/>
              <a:cs typeface="Microsoft YaHei"/>
            </a:endParaRPr>
          </a:p>
        </p:txBody>
      </p:sp>
      <p:sp>
        <p:nvSpPr>
          <p:cNvPr id="58" name="textbox 58"/>
          <p:cNvSpPr/>
          <p:nvPr/>
        </p:nvSpPr>
        <p:spPr>
          <a:xfrm>
            <a:off x="4942509" y="6424574"/>
            <a:ext cx="3448684" cy="252729"/>
          </a:xfrm>
          <a:prstGeom prst="rect">
            <a:avLst/>
          </a:prstGeom>
          <a:noFill/>
          <a:ln w="0" cap="flat">
            <a:noFill/>
            <a:prstDash val="solid"/>
            <a:miter lim="0"/>
          </a:ln>
        </p:spPr>
        <p:txBody>
          <a:bodyPr vert="horz" wrap="square" lIns="0" tIns="0" rIns="0" bIns="0"/>
          <a:lstStyle/>
          <a:p>
            <a:pPr algn="l" rtl="0" eaLnBrk="0">
              <a:lnSpc>
                <a:spcPct val="75482"/>
              </a:lnSpc>
              <a:tabLst/>
            </a:pPr>
            <a:endParaRPr sz="100" dirty="0">
              <a:latin typeface="Arial"/>
              <a:ea typeface="Arial"/>
              <a:cs typeface="Arial"/>
            </a:endParaRPr>
          </a:p>
          <a:p>
            <a:pPr marL="12700" algn="l" rtl="0" eaLnBrk="0">
              <a:lnSpc>
                <a:spcPct val="88000"/>
              </a:lnSpc>
              <a:tabLst/>
            </a:pPr>
            <a:r>
              <a:rPr sz="1700" kern="0" spc="100" dirty="0">
                <a:solidFill>
                  <a:srgbClr val="0070C0">
                    <a:alpha val="100000"/>
                  </a:srgbClr>
                </a:solidFill>
                <a:latin typeface="Microsoft YaHei"/>
                <a:ea typeface="Microsoft YaHei"/>
                <a:cs typeface="Microsoft YaHei"/>
              </a:rPr>
              <a:t>上游坝面混凝土表观</a:t>
            </a:r>
            <a:r>
              <a:rPr sz="1700" kern="0" spc="90" dirty="0">
                <a:solidFill>
                  <a:srgbClr val="0070C0">
                    <a:alpha val="100000"/>
                  </a:srgbClr>
                </a:solidFill>
                <a:latin typeface="Microsoft YaHei"/>
                <a:ea typeface="Microsoft YaHei"/>
                <a:cs typeface="Microsoft YaHei"/>
              </a:rPr>
              <a:t>完整情况检测</a:t>
            </a:r>
            <a:endParaRPr sz="1700" dirty="0">
              <a:latin typeface="Microsoft YaHei"/>
              <a:ea typeface="Microsoft YaHei"/>
              <a:cs typeface="Microsoft YaHei"/>
            </a:endParaRPr>
          </a:p>
        </p:txBody>
      </p:sp>
      <p:sp>
        <p:nvSpPr>
          <p:cNvPr id="60" name="textbox 60"/>
          <p:cNvSpPr/>
          <p:nvPr/>
        </p:nvSpPr>
        <p:spPr>
          <a:xfrm>
            <a:off x="8964371" y="6361201"/>
            <a:ext cx="2992120" cy="254634"/>
          </a:xfrm>
          <a:prstGeom prst="rect">
            <a:avLst/>
          </a:prstGeom>
          <a:noFill/>
          <a:ln w="0" cap="flat">
            <a:noFill/>
            <a:prstDash val="solid"/>
            <a:miter lim="0"/>
          </a:ln>
        </p:spPr>
        <p:txBody>
          <a:bodyPr vert="horz" wrap="square" lIns="0" tIns="0" rIns="0" bIns="0"/>
          <a:lstStyle/>
          <a:p>
            <a:pPr algn="l" rtl="0" eaLnBrk="0">
              <a:lnSpc>
                <a:spcPct val="88017"/>
              </a:lnSpc>
              <a:tabLst/>
            </a:pPr>
            <a:endParaRPr sz="100" dirty="0">
              <a:latin typeface="Arial"/>
              <a:ea typeface="Arial"/>
              <a:cs typeface="Arial"/>
            </a:endParaRPr>
          </a:p>
          <a:p>
            <a:pPr marL="12700" algn="l" rtl="0" eaLnBrk="0">
              <a:lnSpc>
                <a:spcPct val="88000"/>
              </a:lnSpc>
              <a:tabLst/>
            </a:pPr>
            <a:r>
              <a:rPr sz="1700" kern="0" spc="90" dirty="0">
                <a:solidFill>
                  <a:srgbClr val="0070C0">
                    <a:alpha val="100000"/>
                  </a:srgbClr>
                </a:solidFill>
                <a:latin typeface="Microsoft YaHei"/>
                <a:ea typeface="Microsoft YaHei"/>
                <a:cs typeface="Microsoft YaHei"/>
              </a:rPr>
              <a:t>龚嘴水电站上游库区探测成果</a:t>
            </a:r>
            <a:endParaRPr sz="1700" dirty="0">
              <a:latin typeface="Microsoft YaHei"/>
              <a:ea typeface="Microsoft YaHei"/>
              <a:cs typeface="Microsoft YaHei"/>
            </a:endParaRPr>
          </a:p>
        </p:txBody>
      </p:sp>
      <p:sp>
        <p:nvSpPr>
          <p:cNvPr id="62" name="textbox 62"/>
          <p:cNvSpPr/>
          <p:nvPr/>
        </p:nvSpPr>
        <p:spPr>
          <a:xfrm>
            <a:off x="5584532" y="3429558"/>
            <a:ext cx="2307589" cy="255270"/>
          </a:xfrm>
          <a:prstGeom prst="rect">
            <a:avLst/>
          </a:prstGeom>
          <a:noFill/>
          <a:ln w="0" cap="flat">
            <a:noFill/>
            <a:prstDash val="solid"/>
            <a:miter lim="0"/>
          </a:ln>
        </p:spPr>
        <p:txBody>
          <a:bodyPr vert="horz" wrap="square" lIns="0" tIns="0" rIns="0" bIns="0"/>
          <a:lstStyle/>
          <a:p>
            <a:pPr algn="l" rtl="0" eaLnBrk="0">
              <a:lnSpc>
                <a:spcPct val="75517"/>
              </a:lnSpc>
              <a:tabLst/>
            </a:pPr>
            <a:endParaRPr sz="100" dirty="0">
              <a:latin typeface="Arial"/>
              <a:ea typeface="Arial"/>
              <a:cs typeface="Arial"/>
            </a:endParaRPr>
          </a:p>
          <a:p>
            <a:pPr marL="12700" algn="l" rtl="0" eaLnBrk="0">
              <a:lnSpc>
                <a:spcPct val="89000"/>
              </a:lnSpc>
              <a:tabLst/>
            </a:pPr>
            <a:r>
              <a:rPr sz="1700" kern="0" spc="90" dirty="0">
                <a:solidFill>
                  <a:srgbClr val="0070C0">
                    <a:alpha val="100000"/>
                  </a:srgbClr>
                </a:solidFill>
                <a:latin typeface="Microsoft YaHei"/>
                <a:ea typeface="Microsoft YaHei"/>
                <a:cs typeface="Microsoft YaHei"/>
              </a:rPr>
              <a:t>近坝库区水底地形探测</a:t>
            </a:r>
            <a:endParaRPr sz="1700" dirty="0">
              <a:latin typeface="Microsoft YaHei"/>
              <a:ea typeface="Microsoft YaHei"/>
              <a:cs typeface="Microsoft YaHei"/>
            </a:endParaRPr>
          </a:p>
        </p:txBody>
      </p:sp>
      <p:sp>
        <p:nvSpPr>
          <p:cNvPr id="64" name="textbox 64"/>
          <p:cNvSpPr/>
          <p:nvPr/>
        </p:nvSpPr>
        <p:spPr>
          <a:xfrm>
            <a:off x="1569935" y="6425717"/>
            <a:ext cx="2081529" cy="251459"/>
          </a:xfrm>
          <a:prstGeom prst="rect">
            <a:avLst/>
          </a:prstGeom>
          <a:noFill/>
          <a:ln w="0" cap="flat">
            <a:noFill/>
            <a:prstDash val="solid"/>
            <a:miter lim="0"/>
          </a:ln>
        </p:spPr>
        <p:txBody>
          <a:bodyPr vert="horz" wrap="square" lIns="0" tIns="0" rIns="0" bIns="0"/>
          <a:lstStyle/>
          <a:p>
            <a:pPr algn="l" rtl="0" eaLnBrk="0">
              <a:lnSpc>
                <a:spcPct val="84497"/>
              </a:lnSpc>
              <a:tabLst/>
            </a:pPr>
            <a:endParaRPr sz="100" dirty="0">
              <a:latin typeface="Arial"/>
              <a:ea typeface="Arial"/>
              <a:cs typeface="Arial"/>
            </a:endParaRPr>
          </a:p>
          <a:p>
            <a:pPr marL="12700" algn="l" rtl="0" eaLnBrk="0">
              <a:lnSpc>
                <a:spcPct val="87000"/>
              </a:lnSpc>
              <a:tabLst/>
            </a:pPr>
            <a:r>
              <a:rPr sz="1700" kern="0" spc="90" dirty="0">
                <a:solidFill>
                  <a:srgbClr val="0070C0">
                    <a:alpha val="100000"/>
                  </a:srgbClr>
                </a:solidFill>
                <a:latin typeface="Microsoft YaHei"/>
                <a:ea typeface="Microsoft YaHei"/>
                <a:cs typeface="Microsoft YaHei"/>
              </a:rPr>
              <a:t>尾水渠水下检测成果</a:t>
            </a:r>
            <a:endParaRPr sz="1700" dirty="0">
              <a:latin typeface="Microsoft YaHei"/>
              <a:ea typeface="Microsoft YaHei"/>
              <a:cs typeface="Microsoft YaHei"/>
            </a:endParaRPr>
          </a:p>
        </p:txBody>
      </p:sp>
      <p:sp>
        <p:nvSpPr>
          <p:cNvPr id="66" name="textbox 66"/>
          <p:cNvSpPr/>
          <p:nvPr/>
        </p:nvSpPr>
        <p:spPr>
          <a:xfrm>
            <a:off x="1571307" y="3422002"/>
            <a:ext cx="1622425" cy="251459"/>
          </a:xfrm>
          <a:prstGeom prst="rect">
            <a:avLst/>
          </a:prstGeom>
          <a:noFill/>
          <a:ln w="0" cap="flat">
            <a:noFill/>
            <a:prstDash val="solid"/>
            <a:miter lim="0"/>
          </a:ln>
        </p:spPr>
        <p:txBody>
          <a:bodyPr vert="horz" wrap="square" lIns="0" tIns="0" rIns="0" bIns="0"/>
          <a:lstStyle/>
          <a:p>
            <a:pPr algn="l" rtl="0" eaLnBrk="0">
              <a:lnSpc>
                <a:spcPct val="87381"/>
              </a:lnSpc>
              <a:tabLst/>
            </a:pPr>
            <a:endParaRPr sz="100" dirty="0">
              <a:latin typeface="Arial"/>
              <a:ea typeface="Arial"/>
              <a:cs typeface="Arial"/>
            </a:endParaRPr>
          </a:p>
          <a:p>
            <a:pPr marL="12700" algn="l" rtl="0" eaLnBrk="0">
              <a:lnSpc>
                <a:spcPct val="87000"/>
              </a:lnSpc>
              <a:tabLst/>
            </a:pPr>
            <a:r>
              <a:rPr sz="1700" kern="0" spc="90" dirty="0">
                <a:solidFill>
                  <a:srgbClr val="0070C0">
                    <a:alpha val="100000"/>
                  </a:srgbClr>
                </a:solidFill>
                <a:latin typeface="Microsoft YaHei"/>
                <a:ea typeface="Microsoft YaHei"/>
                <a:cs typeface="Microsoft YaHei"/>
              </a:rPr>
              <a:t>消力塘水下检测</a:t>
            </a:r>
            <a:endParaRPr sz="1700" dirty="0">
              <a:latin typeface="Microsoft YaHei"/>
              <a:ea typeface="Microsoft YaHei"/>
              <a:cs typeface="Microsoft YaHei"/>
            </a:endParaRPr>
          </a:p>
        </p:txBody>
      </p:sp>
    </p:spTree>
  </p:cSld>
  <p:clrMapOvr>
    <a:masterClrMapping/>
  </p:clrMapOvr>
</p:sld>
</file>

<file path=ppt/tags/tag1.xml><?xml version="1.0" encoding="utf-8"?>
<p:tagLst xmlns:p="http://schemas.openxmlformats.org/presentationml/2006/main">
  <p:tag name="KSO_WM_UNIT_PLACING_PICTURE_USER_VIEWPORT" val="{&quot;height&quot;:6350.311811023622,&quot;width&quot;:1920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2026-05-21T21:38:47</vt:filetime>
  </property>
</Properties>
</file>