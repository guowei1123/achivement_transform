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charset="0"/>
                <a:cs typeface="Arial" panose="020B0604020202020204" pitchFamily="34" charset="0"/>
              </a:endParaRPr>
            </a:p>
          </p:txBody>
        </p:sp>
      </p:grpSp>
      <p:sp>
        <p:nvSpPr>
          <p:cNvPr id="8196" name="矩形 1"/>
          <p:cNvSpPr>
            <a:spLocks noChangeArrowheads="1"/>
          </p:cNvSpPr>
          <p:nvPr/>
        </p:nvSpPr>
        <p:spPr bwMode="auto">
          <a:xfrm>
            <a:off x="3282791" y="2527290"/>
            <a:ext cx="6393160" cy="646331"/>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rPr>
              <a:t>一、武汉理工大学</a:t>
            </a:r>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rPr>
              <a:t>基本情况</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79376" y="763938"/>
            <a:ext cx="11233248" cy="5617390"/>
          </a:xfrm>
          <a:prstGeom prst="roundRect">
            <a:avLst>
              <a:gd name="adj" fmla="val 5362"/>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defRPr/>
            </a:pPr>
            <a:endParaRPr lang="zh-CN" altLang="en-US" dirty="0"/>
          </a:p>
        </p:txBody>
      </p:sp>
      <p:sp>
        <p:nvSpPr>
          <p:cNvPr id="2" name="矩形 1"/>
          <p:cNvSpPr/>
          <p:nvPr/>
        </p:nvSpPr>
        <p:spPr>
          <a:xfrm>
            <a:off x="911806" y="1444784"/>
            <a:ext cx="10501386" cy="3969385"/>
          </a:xfrm>
          <a:prstGeom prst="rect">
            <a:avLst/>
          </a:prstGeom>
        </p:spPr>
        <p:txBody>
          <a:bodyPr wrap="square">
            <a:spAutoFit/>
          </a:bodyPr>
          <a:lstStyle/>
          <a:p>
            <a:pPr algn="just">
              <a:lnSpc>
                <a:spcPct val="150000"/>
              </a:lnSpc>
            </a:pPr>
            <a:r>
              <a:rPr lang="zh-CN" altLang="zh-CN" sz="2400" dirty="0">
                <a:solidFill>
                  <a:srgbClr val="C00000"/>
                </a:solidFill>
                <a:latin typeface="微软雅黑" panose="020B0503020204020204" charset="-122"/>
                <a:ea typeface="微软雅黑" panose="020B0503020204020204" charset="-122"/>
              </a:rPr>
              <a:t>武汉理工大学</a:t>
            </a:r>
            <a:r>
              <a:rPr altLang="zh-CN" sz="2400" dirty="0">
                <a:solidFill>
                  <a:srgbClr val="00469A"/>
                </a:solidFill>
                <a:latin typeface="微软雅黑" panose="020B0503020204020204" charset="-122"/>
                <a:ea typeface="微软雅黑" panose="020B0503020204020204" charset="-122"/>
              </a:rPr>
              <a:t>是首批列入国家“211工程”重点建设的教育部直属全国重点大学，首批列入国家“双一流计划”建设高校，是教育部和交通运输部、国防科技工业局共建高校。学校在建材建工、交通船舶、汽车机电三大行业和战略新兴产业技术领域具有领先的科技与人才优势。办学122年特别是近70年来，学校共培养毕业生60余万人，是教育部直属高校中为三大行业培养人才规模最大的学校，已成为我国三大行业高层次人才培养和科技创新的重要基地。</a:t>
            </a:r>
            <a:endParaRPr altLang="zh-CN" sz="2400" dirty="0">
              <a:solidFill>
                <a:srgbClr val="00469A"/>
              </a:solidFill>
              <a:latin typeface="微软雅黑" panose="020B0503020204020204" charset="-122"/>
              <a:ea typeface="微软雅黑" panose="020B0503020204020204" charset="-122"/>
            </a:endParaRPr>
          </a:p>
        </p:txBody>
      </p:sp>
      <p:sp>
        <p:nvSpPr>
          <p:cNvPr id="7" name="矩形 6"/>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endParaRPr lang="zh-CN" altLang="en-US" sz="28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4"/>
          <p:cNvSpPr/>
          <p:nvPr/>
        </p:nvSpPr>
        <p:spPr bwMode="auto">
          <a:xfrm>
            <a:off x="342983" y="1156318"/>
            <a:ext cx="5544616" cy="5078329"/>
          </a:xfrm>
          <a:prstGeom prst="roundRect">
            <a:avLst>
              <a:gd name="adj" fmla="val 3676"/>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2" name="矩形 1"/>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r>
              <a:rPr lang="en-US" altLang="zh-CN" sz="2800" dirty="0">
                <a:solidFill>
                  <a:schemeClr val="bg1"/>
                </a:solidFill>
                <a:latin typeface="微软雅黑" panose="020B0503020204020204" charset="-122"/>
                <a:ea typeface="微软雅黑" panose="020B0503020204020204" charset="-122"/>
              </a:rPr>
              <a:t>-</a:t>
            </a:r>
            <a:r>
              <a:rPr lang="zh-CN" altLang="en-US" sz="2800" dirty="0">
                <a:solidFill>
                  <a:schemeClr val="bg1"/>
                </a:solidFill>
                <a:latin typeface="微软雅黑" panose="020B0503020204020204" charset="-122"/>
                <a:ea typeface="微软雅黑" panose="020B0503020204020204" charset="-122"/>
              </a:rPr>
              <a:t>平台优势</a:t>
            </a:r>
            <a:endParaRPr lang="zh-CN" altLang="en-US" sz="2800" dirty="0">
              <a:solidFill>
                <a:schemeClr val="bg1"/>
              </a:solidFill>
            </a:endParaRPr>
          </a:p>
        </p:txBody>
      </p:sp>
      <p:sp>
        <p:nvSpPr>
          <p:cNvPr id="3" name="矩形 2"/>
          <p:cNvSpPr/>
          <p:nvPr/>
        </p:nvSpPr>
        <p:spPr>
          <a:xfrm>
            <a:off x="460590" y="1139021"/>
            <a:ext cx="5283577" cy="5023619"/>
          </a:xfrm>
          <a:prstGeom prst="rect">
            <a:avLst/>
          </a:prstGeom>
        </p:spPr>
        <p:txBody>
          <a:bodyPr wrap="square">
            <a:spAutoFit/>
          </a:bodyPr>
          <a:lstStyle/>
          <a:p>
            <a:pPr algn="ctr">
              <a:lnSpc>
                <a:spcPct val="125000"/>
              </a:lnSpc>
              <a:spcAft>
                <a:spcPts val="1200"/>
              </a:spcAft>
            </a:pPr>
            <a:r>
              <a:rPr lang="zh-CN" altLang="en-US" sz="2400" dirty="0">
                <a:solidFill>
                  <a:srgbClr val="C00000"/>
                </a:solidFill>
                <a:latin typeface="微软雅黑" panose="020B0503020204020204" charset="-122"/>
                <a:ea typeface="微软雅黑" panose="020B0503020204020204" charset="-122"/>
              </a:rPr>
              <a:t>国家级和省部级科研基地</a:t>
            </a:r>
            <a:endParaRPr lang="zh-CN" altLang="en-US" sz="2400" dirty="0">
              <a:solidFill>
                <a:srgbClr val="C00000"/>
              </a:solidFill>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学校拥有</a:t>
            </a:r>
            <a:r>
              <a:rPr lang="en-US" altLang="zh-CN" dirty="0">
                <a:latin typeface="微软雅黑" panose="020B0503020204020204" charset="-122"/>
                <a:ea typeface="微软雅黑" panose="020B0503020204020204" charset="-122"/>
              </a:rPr>
              <a:t>52</a:t>
            </a:r>
            <a:r>
              <a:rPr lang="zh-CN" altLang="en-US" b="0" dirty="0">
                <a:latin typeface="微软雅黑" panose="020B0503020204020204" charset="-122"/>
                <a:ea typeface="微软雅黑" panose="020B0503020204020204" charset="-122"/>
              </a:rPr>
              <a:t>个国家级与省部级科研基地，</a:t>
            </a:r>
            <a:endParaRPr lang="en-US" altLang="zh-CN" b="0" dirty="0">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涵盖材料、建筑、交通、智能航运等多个关键领域：</a:t>
            </a:r>
            <a:endParaRPr lang="zh-CN" altLang="en-US"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材料复合新技术国家重点实验室、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硅酸盐建筑材料国家重点实验室、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国家水运安全工程技术研究中心、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水路交通控制全国重点实验室、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光纤传感技术与网络国家工程研究中心、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港口物流技术与装备教育部工程研究中心、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船舶动力工程技术交通运输行业重点实验室。</a:t>
            </a:r>
            <a:endParaRPr lang="zh-CN" altLang="en-US" b="0" dirty="0">
              <a:latin typeface="微软雅黑" panose="020B0503020204020204" charset="-122"/>
              <a:ea typeface="微软雅黑" panose="020B0503020204020204" charset="-122"/>
            </a:endParaRPr>
          </a:p>
        </p:txBody>
      </p:sp>
      <p:sp>
        <p:nvSpPr>
          <p:cNvPr id="6" name="圆角矩形 34"/>
          <p:cNvSpPr/>
          <p:nvPr/>
        </p:nvSpPr>
        <p:spPr bwMode="auto">
          <a:xfrm>
            <a:off x="6106399" y="1156319"/>
            <a:ext cx="5544616" cy="2126001"/>
          </a:xfrm>
          <a:prstGeom prst="roundRect">
            <a:avLst>
              <a:gd name="adj" fmla="val 5363"/>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7" name="矩形 6"/>
          <p:cNvSpPr/>
          <p:nvPr/>
        </p:nvSpPr>
        <p:spPr>
          <a:xfrm>
            <a:off x="6012635" y="1194088"/>
            <a:ext cx="5688632" cy="1971502"/>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省部级协同创新平台</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内河智能航运交通运输行业协同创新平台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汽车零部件技术湖北省协同创新中心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安全预警与应急联动技术湖北省协同创新中心</a:t>
            </a:r>
            <a:endParaRPr lang="zh-CN" altLang="en-US" b="0" dirty="0">
              <a:latin typeface="微软雅黑" panose="020B0503020204020204" charset="-122"/>
              <a:ea typeface="微软雅黑" panose="020B0503020204020204" charset="-122"/>
            </a:endParaRPr>
          </a:p>
        </p:txBody>
      </p:sp>
      <p:sp>
        <p:nvSpPr>
          <p:cNvPr id="8" name="圆角矩形 34"/>
          <p:cNvSpPr/>
          <p:nvPr/>
        </p:nvSpPr>
        <p:spPr bwMode="auto">
          <a:xfrm>
            <a:off x="6106399" y="3525606"/>
            <a:ext cx="5544616" cy="2709042"/>
          </a:xfrm>
          <a:prstGeom prst="roundRect">
            <a:avLst>
              <a:gd name="adj" fmla="val 4744"/>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9" name="矩形 8"/>
          <p:cNvSpPr/>
          <p:nvPr/>
        </p:nvSpPr>
        <p:spPr>
          <a:xfrm>
            <a:off x="6023992" y="3604565"/>
            <a:ext cx="5688632" cy="2317750"/>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科技成果</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与企业、政府共建</a:t>
            </a:r>
            <a:r>
              <a:rPr lang="en-US" altLang="zh-CN" b="0" dirty="0">
                <a:latin typeface="微软雅黑" panose="020B0503020204020204" charset="-122"/>
                <a:ea typeface="微软雅黑" panose="020B0503020204020204" charset="-122"/>
              </a:rPr>
              <a:t>204</a:t>
            </a:r>
            <a:r>
              <a:rPr lang="zh-CN" altLang="en-US" b="0" dirty="0">
                <a:latin typeface="微软雅黑" panose="020B0503020204020204" charset="-122"/>
                <a:ea typeface="微软雅黑" panose="020B0503020204020204" charset="-122"/>
              </a:rPr>
              <a:t>个产学研合作服务平台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入选首批国家知识产权示范高校</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近五年获得国家自然科学奖</a:t>
            </a:r>
            <a:r>
              <a:rPr lang="en-US" altLang="zh-CN" b="0" dirty="0">
                <a:latin typeface="微软雅黑" panose="020B0503020204020204" charset="-122"/>
                <a:ea typeface="微软雅黑" panose="020B0503020204020204" charset="-122"/>
              </a:rPr>
              <a:t>2</a:t>
            </a:r>
            <a:r>
              <a:rPr lang="zh-CN" altLang="en-US" b="0" dirty="0">
                <a:latin typeface="微软雅黑" panose="020B0503020204020204" charset="-122"/>
                <a:ea typeface="微软雅黑" panose="020B0503020204020204" charset="-122"/>
              </a:rPr>
              <a:t>项、国家技术发明奖</a:t>
            </a:r>
            <a:r>
              <a:rPr lang="en-US" altLang="zh-CN" b="0" dirty="0">
                <a:latin typeface="微软雅黑" panose="020B0503020204020204" charset="-122"/>
                <a:ea typeface="微软雅黑" panose="020B0503020204020204" charset="-122"/>
              </a:rPr>
              <a:t>3</a:t>
            </a:r>
            <a:r>
              <a:rPr lang="zh-CN" altLang="en-US" b="0" dirty="0">
                <a:latin typeface="微软雅黑" panose="020B0503020204020204" charset="-122"/>
                <a:ea typeface="微软雅黑" panose="020B0503020204020204" charset="-122"/>
              </a:rPr>
              <a:t>项、国家科技进步奖</a:t>
            </a:r>
            <a:r>
              <a:rPr lang="en-US" altLang="zh-CN" b="0" dirty="0">
                <a:latin typeface="微软雅黑" panose="020B0503020204020204" charset="-122"/>
                <a:ea typeface="微软雅黑" panose="020B0503020204020204" charset="-122"/>
              </a:rPr>
              <a:t>4</a:t>
            </a:r>
            <a:r>
              <a:rPr lang="zh-CN" altLang="en-US" b="0" dirty="0">
                <a:latin typeface="微软雅黑" panose="020B0503020204020204" charset="-122"/>
                <a:ea typeface="微软雅黑" panose="020B0503020204020204" charset="-122"/>
              </a:rPr>
              <a:t>项</a:t>
            </a:r>
            <a:endParaRPr lang="en-US" altLang="zh-CN" b="0" dirty="0">
              <a:latin typeface="微软雅黑" panose="020B0503020204020204" charset="-122"/>
              <a:ea typeface="微软雅黑" panose="020B0503020204020204" charset="-122"/>
            </a:endParaRPr>
          </a:p>
        </p:txBody>
      </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543</Words>
  <Application>WPS 演示</Application>
  <PresentationFormat>宽屏</PresentationFormat>
  <Paragraphs>29</Paragraphs>
  <Slides>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郭海艳0650</cp:lastModifiedBy>
  <cp:revision>157</cp:revision>
  <dcterms:created xsi:type="dcterms:W3CDTF">2019-06-19T02:08:00Z</dcterms:created>
  <dcterms:modified xsi:type="dcterms:W3CDTF">2026-04-29T11:04:12Z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73BC42008012467FA36B679790F92C25_11</vt:lpwstr>
  </property>
</Properties>
</file>